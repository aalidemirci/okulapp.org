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5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61"/>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61" Type="http://schemas.openxmlformats.org/officeDocument/2006/relationships/slide" Target="slides/slide54.xml"/><Relationship Id="rId175" Type="http://schemas.openxmlformats.org/officeDocument/2006/relationships/slide" Target="slides/slide1.xml"/><Relationship Id="rId176" Type="http://schemas.openxmlformats.org/officeDocument/2006/relationships/slide" Target="slides/slide2.xml"/><Relationship Id="rId177" Type="http://schemas.openxmlformats.org/officeDocument/2006/relationships/slide" Target="slides/slide3.xml"/><Relationship Id="rId178" Type="http://schemas.openxmlformats.org/officeDocument/2006/relationships/slide" Target="slides/slide4.xml"/><Relationship Id="rId179" Type="http://schemas.openxmlformats.org/officeDocument/2006/relationships/slide" Target="slides/slide5.xml"/><Relationship Id="rId180" Type="http://schemas.openxmlformats.org/officeDocument/2006/relationships/slide" Target="slides/slide6.xml"/><Relationship Id="rId181" Type="http://schemas.openxmlformats.org/officeDocument/2006/relationships/slide" Target="slides/slide7.xml"/><Relationship Id="rId182" Type="http://schemas.openxmlformats.org/officeDocument/2006/relationships/slide" Target="slides/slide8.xml"/><Relationship Id="rId183" Type="http://schemas.openxmlformats.org/officeDocument/2006/relationships/slide" Target="slides/slide9.xml"/><Relationship Id="rId184" Type="http://schemas.openxmlformats.org/officeDocument/2006/relationships/slide" Target="slides/slide10.xml"/><Relationship Id="rId185" Type="http://schemas.openxmlformats.org/officeDocument/2006/relationships/slide" Target="slides/slide11.xml"/><Relationship Id="rId186" Type="http://schemas.openxmlformats.org/officeDocument/2006/relationships/slide" Target="slides/slide12.xml"/><Relationship Id="rId187" Type="http://schemas.openxmlformats.org/officeDocument/2006/relationships/slide" Target="slides/slide13.xml"/><Relationship Id="rId188" Type="http://schemas.openxmlformats.org/officeDocument/2006/relationships/slide" Target="slides/slide14.xml"/><Relationship Id="rId189" Type="http://schemas.openxmlformats.org/officeDocument/2006/relationships/slide" Target="slides/slide15.xml"/><Relationship Id="rId190" Type="http://schemas.openxmlformats.org/officeDocument/2006/relationships/slide" Target="slides/slide16.xml"/><Relationship Id="rId191" Type="http://schemas.openxmlformats.org/officeDocument/2006/relationships/slide" Target="slides/slide17.xml"/><Relationship Id="rId192" Type="http://schemas.openxmlformats.org/officeDocument/2006/relationships/slide" Target="slides/slide18.xml"/><Relationship Id="rId193" Type="http://schemas.openxmlformats.org/officeDocument/2006/relationships/slide" Target="slides/slide19.xml"/><Relationship Id="rId194" Type="http://schemas.openxmlformats.org/officeDocument/2006/relationships/slide" Target="slides/slide20.xml"/><Relationship Id="rId195" Type="http://schemas.openxmlformats.org/officeDocument/2006/relationships/slide" Target="slides/slide21.xml"/><Relationship Id="rId196" Type="http://schemas.openxmlformats.org/officeDocument/2006/relationships/slide" Target="slides/slide22.xml"/><Relationship Id="rId197" Type="http://schemas.openxmlformats.org/officeDocument/2006/relationships/slide" Target="slides/slide23.xml"/><Relationship Id="rId198" Type="http://schemas.openxmlformats.org/officeDocument/2006/relationships/slide" Target="slides/slide24.xml"/><Relationship Id="rId199" Type="http://schemas.openxmlformats.org/officeDocument/2006/relationships/slide" Target="slides/slide25.xml"/><Relationship Id="rId200" Type="http://schemas.openxmlformats.org/officeDocument/2006/relationships/slide" Target="slides/slide26.xml"/><Relationship Id="rId201" Type="http://schemas.openxmlformats.org/officeDocument/2006/relationships/slide" Target="slides/slide27.xml"/><Relationship Id="rId202" Type="http://schemas.openxmlformats.org/officeDocument/2006/relationships/slide" Target="slides/slide28.xml"/><Relationship Id="rId203" Type="http://schemas.openxmlformats.org/officeDocument/2006/relationships/slide" Target="slides/slide29.xml"/><Relationship Id="rId204" Type="http://schemas.openxmlformats.org/officeDocument/2006/relationships/slide" Target="slides/slide30.xml"/><Relationship Id="rId205" Type="http://schemas.openxmlformats.org/officeDocument/2006/relationships/slide" Target="slides/slide31.xml"/><Relationship Id="rId206" Type="http://schemas.openxmlformats.org/officeDocument/2006/relationships/slide" Target="slides/slide32.xml"/><Relationship Id="rId207" Type="http://schemas.openxmlformats.org/officeDocument/2006/relationships/slide" Target="slides/slide33.xml"/><Relationship Id="rId208" Type="http://schemas.openxmlformats.org/officeDocument/2006/relationships/slide" Target="slides/slide34.xml"/><Relationship Id="rId209" Type="http://schemas.openxmlformats.org/officeDocument/2006/relationships/slide" Target="slides/slide35.xml"/><Relationship Id="rId210" Type="http://schemas.openxmlformats.org/officeDocument/2006/relationships/slide" Target="slides/slide36.xml"/><Relationship Id="rId211" Type="http://schemas.openxmlformats.org/officeDocument/2006/relationships/slide" Target="slides/slide37.xml"/><Relationship Id="rId212" Type="http://schemas.openxmlformats.org/officeDocument/2006/relationships/slide" Target="slides/slide38.xml"/><Relationship Id="rId213" Type="http://schemas.openxmlformats.org/officeDocument/2006/relationships/slide" Target="slides/slide39.xml"/><Relationship Id="rId214" Type="http://schemas.openxmlformats.org/officeDocument/2006/relationships/slide" Target="slides/slide40.xml"/><Relationship Id="rId215" Type="http://schemas.openxmlformats.org/officeDocument/2006/relationships/slide" Target="slides/slide41.xml"/><Relationship Id="rId216" Type="http://schemas.openxmlformats.org/officeDocument/2006/relationships/slide" Target="slides/slide42.xml"/><Relationship Id="rId217" Type="http://schemas.openxmlformats.org/officeDocument/2006/relationships/slide" Target="slides/slide43.xml"/><Relationship Id="rId218" Type="http://schemas.openxmlformats.org/officeDocument/2006/relationships/slide" Target="slides/slide44.xml"/><Relationship Id="rId219" Type="http://schemas.openxmlformats.org/officeDocument/2006/relationships/slide" Target="slides/slide45.xml"/><Relationship Id="rId220" Type="http://schemas.openxmlformats.org/officeDocument/2006/relationships/slide" Target="slides/slide46.xml"/><Relationship Id="rId221" Type="http://schemas.openxmlformats.org/officeDocument/2006/relationships/slide" Target="slides/slide47.xml"/><Relationship Id="rId222" Type="http://schemas.openxmlformats.org/officeDocument/2006/relationships/slide" Target="slides/slide48.xml"/><Relationship Id="rId223" Type="http://schemas.openxmlformats.org/officeDocument/2006/relationships/slide" Target="slides/slide49.xml"/><Relationship Id="rId224" Type="http://schemas.openxmlformats.org/officeDocument/2006/relationships/slide" Target="slides/slide50.xml"/><Relationship Id="rId225" Type="http://schemas.openxmlformats.org/officeDocument/2006/relationships/slide" Target="slides/slide51.xml"/><Relationship Id="rId226" Type="http://schemas.openxmlformats.org/officeDocument/2006/relationships/slide" Target="slides/slide52.xml"/><Relationship Id="rId227"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iki süreç bileşenini tanıtmak: geçen hafta döngünün bileşenlerini anlamlandırıp çözümledik (a-b); bu hafta bileşenlerle ilgili sonuç çıkaracak (c) ve ulaştığımız sonuçları karşılaştıracağız (ç). Ünite bu hafta biter.</a:t>
            </a:r>
          </a:p>
          <a:p/>
          <a:p>
            <a:r>
              <a:t>SÜRE: 80 dakikalık akış (ders planı, 33. hafta): giriş (E) 4 · istasyon kurulumu 3 · istasyon çalışması 15 · dönüş ve son düzenleme 5 · paylaşım 7 · doğru bilgi ve haklar 6 (40. dk) · yansıtma (E) 4 · senaryo 1-2. adım 12 · temsil (E) 5 · sunum ve öz değerlendirme 7 · dayanışma ve teknoloji (E) 8 · kapanış 4. Giriş 4 dk (esnek): ayraç ve yol haritası 1 · aile afet planı beyanı ve Etik Günü 2 · geçen haftadan dönüt 1.</a:t>
            </a:r>
          </a:p>
          <a:p/>
          <a:p>
            <a:r>
              <a:t>NASIL: Çıktıyı öğrencinin diliyle söyleyin: 'Bugün afet öncesi, esnası ve sonrası için afiş hazırlayıp karşılaştıracağız; bir deprem senaryosunun tablosundan sonuç çıkarıp öneri sunacağız.' KISA HAFTA REÇETESİ: 32. haftada dersi olmayan (pazartesi-çarşamba) şubelerde bu haftanın esnek aşamaları — giriş (4), yansıtma (4), coğrafi temsil (5), dayanışma ve teknoloji (8) = 21 dk — yerine 32. haftanın çekirdeği (döngü şeması 9 + dört aşama 9 + kavram kontrolü 3 = 21 dk; 32. haftanın slaytları) ders başında uygulanır; s. 208 kartları istasyon başlangıç kartı olur; s. 205-207 konuları çalışma kâğıdının 15. maddesiyle evde çalışılır.</a:t>
            </a:r>
          </a:p>
          <a:p/>
          <a:p>
            <a:r>
              <a:t>KAYNAK: Program (2026) COĞ.9.6.3 c-ç (birebir); ders planı 33. hafta; kitap 6.1.3 (s. 203-209, 2026-2027 baskısı).</a:t>
            </a:r>
          </a:p>
          <a:p/>
          <a:p>
            <a:r>
              <a:t>NOT: Yeni baskı: s. 205 'Afetlerde Dayanışma' uygulamasının ikinci haberi değişti (orman yangınlarına altı ülkeden hava desteği; 2. soruda 'Yeşil Vatan' bilinci); s. 206'da Freddy Kasırgası için '2023 yılında' eklendi. Önceki baskının Kahramanmaraş depremlerine gelen arama kurtarma ekipleri haberi bu baskıda yoktur. Hassasiyet: sınıfta afet yaşamış ya da yakınını kaybetmiş öğrenci bulunabilir; kişisel deprem ya da afet anlatımı istenmez, isteyen dinlenir; gerektiğinde rehberlik servisiyle eşgüdüm.</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Dersin ilk yarısı (40. dk) 'doğru bilgi ve haklar' bölümüyle biter; ikinci yarıda deprem senaryosu (performans görevi) ve dayanışma vardır. Ünitenin ölçme soruları (s. 210-213) sunumun ünite sonu bölümündedir.</a:t>
            </a:r>
          </a:p>
          <a:p/>
          <a:p>
            <a:r>
              <a:t>KAYNAK: Ders planı 33.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32. haftada dağıtılan aile afet planı kontrol listelerini toplamak (P2 derse hazırlık beyanı); 25 Mayıs Etik Günü'nün sorusunu açmak.</a:t>
            </a:r>
          </a:p>
          <a:p/>
          <a:p>
            <a:r>
              <a:t>NASIL: Yazıcılar listeleri toplar. Listede YALNIZ işaretli kutular vardır: adres, telefon, kişi adı yazılmaz ve sınıfa getirilmez (kişisel veri yok). 'Planı ailece konuşan' sayısı sınıfça alkışlanır; listesini getirmeyen ya da ailesiyle konuşamamış öğrenci sorgulanmaz. Etik Günü sorusunu okuyun, cevabı dersin sonundaki dayanışma bölümüne bırakın (207-217).</a:t>
            </a:r>
          </a:p>
          <a:p/>
          <a:p>
            <a:r>
              <a:t>KAYNAK: Ders planı 33. hafta 1. aşama; 32. hafta materyali (kontrol listesi: kişisel bilgi alanı yok); Etik Günü 25 Mayıs (SEY EK-8, arac/belirli_gun_ve_haftalar.py).</a:t>
            </a:r>
          </a:p>
          <a:p/>
          <a:p>
            <a:r>
              <a:t>NOT: Afet farkındalığı temalı sosyal sorumluluk faaliyeti (aile afet planının yaygınlaştırılması) kulüp danışman öğretmenlerince yürütülür; ders yalnız yönlendirir (zümre kararı).</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32. haftanın döngüsünü hatırlatmak ve çıkış kartlarından tek cümle dönüt vermek; istasyonların konusuna (afet öncesi, esnası, sonrası) köprü kurmak.</a:t>
            </a:r>
          </a:p>
          <a:p/>
          <a:p>
            <a:r>
              <a:t>NASIL: Bir öğrenciye dört aşamayı döngü sırasıyla söyletin. 32. hafta çıkış kartlarında en sık görülen hatayı isimsiz ve tek cümleyle söyleyin (ör. 'risk yönetimi ile kriz yönetimini karıştırdık: risk yönetimi afet öncesidir'). Sağdaki kitap cümlesini okutun: bugün bu üç zaman için istasyonlarda çalışacağız.</a:t>
            </a:r>
          </a:p>
          <a:p/>
          <a:p>
            <a:r>
              <a:t>BEKLENEN CEVAP: Risk ve zarar azaltma → hazırlıklı olma → (AFET) → müdahale → iyileştirme → tecrübeyle başa dönüş. Risk yönetimi: ilk iki aşama (afet öncesi); kriz yönetimi: son iki aşama (afet esnası ve sonrası).</a:t>
            </a:r>
          </a:p>
          <a:p/>
          <a:p>
            <a:r>
              <a:t>KAYNAK: Kitap s. 202 döngü şeması ve RİSK YÖNETİMİ / KRİZ YÖNETİMİ kutuları; s. 203 ilk paragraf (birebir). Şema sadeleştirilmiş çizimdir (renkler ve yerleşim kitaptaki gibi; ok etiketleri 32. haftada).</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'Bütüncül Afet Yönetimi İstasyon Çalışması' etkinliğini künyesi ve altı adımıyla tanıtmak (süreç bileşenleri c ve ç; SDB2.2, SDB2.3).</a:t>
            </a:r>
          </a:p>
          <a:p/>
          <a:p>
            <a:r>
              <a:t>SÜRE: İstasyon kurulumu 3 dk: künye ve adımlar 1 · yerleşim 1 · roller ve konu kartları 1.</a:t>
            </a:r>
          </a:p>
          <a:p/>
          <a:p>
            <a:r>
              <a:t>NASIL: Künyeyi ve yönergeyi okutun; altı adımı tek tek gösterin: 1-2. adım şimdi (gruplar ve istasyonlar), 3-5. adım üç tur × 5 dakika, 6. adım dönüş ve paylaşım. Kitap üç istasyon der; 34 kişilik sınıfımızda her konudan iki istasyon kurulur (altı istasyon, iki halka — sonraki slayt). Konu kartlarını istasyonlara koyun.</a:t>
            </a:r>
          </a:p>
          <a:p/>
          <a:p>
            <a:r>
              <a:t>KAYNAK: Kitap s. 204 ETKİNLİK (amaç, beceri, yönerge, altı adım birebir); program COĞ.9.6.3 öğrenme-öğretme uygulaması: Konuya ilişkin istasyon çalışması yapılabilir. Her beş dakikada bir öğrencilerin yeri değiştirilir, diğer istasyona geçen öğrencilerin o istasyonda başlanmış olan çalışmaya devam etmesi sağlanır.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Altı istasyonun yerini, iki halkayı ve tek yönlü dolaşımı göstermek; güvenlik kurallarını söylemek.</a:t>
            </a:r>
          </a:p>
          <a:p/>
          <a:p>
            <a:r>
              <a:t>NASIL: Plan örnektir: sınıfın sol yarısı A halkası (Ö1 ön, E1 orta, S1 arka), sağ yarısı B halkası (Ö2, E2, S2). Her grup bir istasyondan başlar; 'değiş' işaretinde kendi halkasında sıradaki istasyona geçer: Ö → E → S → Ö. İki halka sınıfın farklı yarılarında olduğundan yollar kesişmez. Kalemler istasyonda kalır, öğrenci elinde bir şey taşımaz; çantalar sıra altında, kablolar duvar kenarında. Öğretmen sınıfın ortasında durur, süreyi tutar.</a:t>
            </a:r>
          </a:p>
          <a:p/>
          <a:p>
            <a:r>
              <a:t>KAYNAK: Kitap s. 204 1. adım (üç istasyon); ders planı 33. hafta ön hazırlık (6 istasyon, iki halka) ve sınıf yönetimi; zümre kararı (güvenli sınıf düzeni).</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Kurulumun son dakikası: gruplar başlangıç istasyonuna geçer.</a:t>
            </a:r>
          </a:p>
          <a:p/>
          <a:p>
            <a:r>
              <a:t>NASIL: Ayağa kalkma molası; gruplar başlangıç istasyonuna geçer — istasyon masaları kurulum aşamasında hazırlanmıştır, sıra düzeni ayrıca değişmez. Rolleri grup kendi içinde paylaşır. Bu haftaya özgü 6 heterojen grup listesini öğretmen bilgisayarından yansıtın (sunuma öğrenci adı yazılmaz). Aynı gruplar performans görevini de yapar. Birleştirilen şubelerde s. 208 kartları istasyonlara başlangıç kartı olarak konur.</a:t>
            </a:r>
          </a:p>
          <a:p/>
          <a:p>
            <a:r>
              <a:t>KAYNAK: Ders planı (33. haftaya özgü 6 heterojen grup: 4 × 6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Her istasyonun konusunu (döngünün hangi aşamaları) ve üç anahtar soruyu göstermek; afişlerde 'kim yapar?' sütununu istemek (SDB2.3 sosyal farkındalık).</a:t>
            </a:r>
          </a:p>
          <a:p/>
          <a:p>
            <a:r>
              <a:t>SÜRE: İstasyon çalışması 15 dk: üç tur × 5 dk. Bu slayt ve sonraki 'üç tur' slaytı çalışma boyunca açık kalabilir.</a:t>
            </a:r>
          </a:p>
          <a:p/>
          <a:p>
            <a:r>
              <a:t>NASIL: Konu kartlarının basılı kopyası istasyondadır; bu slaytı 30 saniye gösterip 'üç tur' slaytına geçin. Afet öncesi istasyonu risk ve zarar azaltma ile hazırlıklı olmayı, afet esnası müdahaleyi, afet sonrası iyileştirmeyi kapsar (s. 202). Her maddenin yanına 'kim yapar?' yazılır: birey, aile, okul ya da kurumlar.</a:t>
            </a:r>
          </a:p>
          <a:p/>
          <a:p>
            <a:r>
              <a:t>KAYNAK: Kitap s. 202 dört aşamanın kutuları, s. 203 (döngü, bilgi kirliliği, savunmasız gruplar), s. 204 istasyon adları; ders planı 33. hafta materyali (konu kartı: üç anahtar soru, 'kimin görevi' sütunu). Soruların yazımı sunumundur.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turun düzenini ve afiş kurallarını çalışma boyunca ekranda tutmak (3-5. adımlar).</a:t>
            </a:r>
          </a:p>
          <a:p/>
          <a:p>
            <a:r>
              <a:t>NASIL: 1. tur: başlangıç istasyonunun afişine başlık ve ilk maddeler. 'Değiş' → halkada sıradaki istasyon. 2 ve 3. turda başlanmış afişe devam edilir: silmek yok, eklemek ve düzeltmek var (farklı renk kalem). Her istasyonda bir kez 'Bunu kim yapar?' sorusunu hatırlatın. 4. ve 9. dakikada '1 dakika kaldı' uyarısını zaman sorumluları verir. Kişisel afet anlatımı istenmez; afiş genel önlemleri içerir.</a:t>
            </a:r>
          </a:p>
          <a:p/>
          <a:p>
            <a:r>
              <a:t>KAYNAK: Kitap s. 204 3-5. adımlar (birebir alt yazılar); ders planı 33. hafta 3. aşama; program: Öğrenciler, oluşturulan istasyonlara atanır ve her istasyon için belirlenen konulara göre afiş hazırlama çalışması başlatılır.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 adım: başlangıç istasyonunda son düzenleme; afişleri karşılaştırmaya uygun asmak.</a:t>
            </a:r>
          </a:p>
          <a:p/>
          <a:p>
            <a:r>
              <a:t>SÜRE: Dönüş ve son düzenleme 5 dk: düzenleme 3 · asma ve yerleşme 2.</a:t>
            </a:r>
          </a:p>
          <a:p/>
          <a:p>
            <a:r>
              <a:t>NASIL: Herkes başlangıç istasyonuna döner; 3 dakikada soldaki kontrol listesiyle afiş tamamlanır. Sözcüler afişleri aynı konunun iki kopyası yan yana gelecek biçimde panoya ya da tahtaya asar (Ö1-Ö2, E1-E2, S1-S2); gruplar sınıf düzenine oturur.</a:t>
            </a:r>
          </a:p>
          <a:p/>
          <a:p>
            <a:r>
              <a:t>KAYNAK: Kitap s. 204 6. adım (Başlangıç istasyonunuza döndüğünüzde son düzenlemeleri yapınız); program: Herkes ilk istasyonuna döndüğünde son düzenleme için süre verilir ve ardından çalışmalar paylaşılır. Ders planı 33. hafta 4. aşama.</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bileşeni ç: afişlerden ulaşılan sonuçları karşılaştırmak; istasyon değiştirerek yapılan süreci ve farklı bakış açılarının afişe etkisini sorgulamak.</a:t>
            </a:r>
          </a:p>
          <a:p/>
          <a:p>
            <a:r>
              <a:t>SÜRE: Paylaşım 7 dk: üç afiş çifti için sözcüler 1'er dk · iki soru ve tahtadaki tablo 3 · YOKLAMA 13 1.</a:t>
            </a:r>
          </a:p>
          <a:p/>
          <a:p>
            <a:r>
              <a:t>NASIL: Her istasyon çifti için iki sözcü 1'er dakika sunar. Ardından iki soruyu sorun; cevapları tahtadaki üç sütunlu tabloya yazın: örtüşen maddeleri iki sütunda da işaretleyin. Öğrenciler tabloyu deftere geçirir ve 'kim yapar?' sütununu tartışır. Örnek cevaplar sonraki iki slaytta.</a:t>
            </a:r>
          </a:p>
          <a:p/>
          <a:p>
            <a:r>
              <a:t>KAYNAK: Program (2026) COĞ.9.6.3: Öğrencilerden istasyon değiştirerek gerçekleştirilen bu süreci değerlendirmeleri, farklı bakış açılarının afişlerde meydana getirdiği değişiklikleri sorgulamaları istenir. Ardından afişler paylaşılarak afet öncesi, afet esnası ve afet sonrasında yapılması gerekenler karşılaştırılır. Ders planı 33. hafta 5. aşama.</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istasyonun afişleri için ölçütlü örnek ürün: her istasyonda neler bulunmalı ve kimin görevi (doğru cevap değil, örnek).</a:t>
            </a:r>
          </a:p>
          <a:p/>
          <a:p>
            <a:r>
              <a:t>NASIL: Sınıfın tablosunu yazdıktan sonra açın; afişlerde olmayan maddeleri gruplar kendi afişine ekleyebilir. Sütun başlıkları döngüyle eşlemedir: afet öncesi = risk yönetimi (risk ve zarar azaltma, hazırlıklı olma), esnası ve sonrası = kriz yönetimi (müdahale, iyileştirme). Müdahale afetin hemen ardından da sürer (hasar tespiti, enkaz kaldırma): aşamalar iç içedir.</a:t>
            </a:r>
          </a:p>
          <a:p/>
          <a:p>
            <a:r>
              <a:t>BEKLENEN CEVAP: Öncesi: tehlike haritası ve yapı denetimi (kurumlar), aile afet planı ve çanta (aile), tahliye planı ve tatbikat (okul), erken uyarıyı izlemek (birey) · Esnası: güvenli yere geçmek (birey), arama kurtarma ve ilk yardım, gıda-barınma-ilaç-güvenlik (kurumlar), resmî kaynaktan bilgi (birey) · Sonrası: altyapının onarımı, psikososyal destek ve eğitimin sürmesi, kalıcı konut (kurumlar, okul), tecrübeyle başa dönüş (herkes).</a:t>
            </a:r>
          </a:p>
          <a:p/>
          <a:p>
            <a:r>
              <a:t>KAYNAK: Kitap s. 202 dört aşamanın kutuları (tehlike haritalarının hazırlanması; tahliye sürecinin şekillendirilmesi, toplanma merkezinin belirlenmesi, acil eylem planının hazırlanması; arama kurtarma faaliyetlerinin gerçekleştirilmesi; gıda, barınma, ilaç, güvenlik gibi zaruri ihtiyaçların; temel ihtiyaçlar, haberleşme, ulaşım, elektrik, kanalizasyon, eğitim, kalıcı konut, ekonomik ve sosyal hayat gibi hususların normale dönmesi), s. 203 (bilgi kirliliği, çocuk dostu alanlar, psikososyal destek), s. 208 ('Aile afet planı hazırlanırken sel ve taşkın riskinin göz önünde bulundurulması'), s. 188 (Afet ve Acil Durum Çantası). 'Güvenli yere geçmek', 'tatbikat', 'ilk yardım': bilimsel; kitapta yok (afet bilinci eğitimi).</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paylaşım sorusunun örnek cevabı: istasyon değiştirmenin afişe katkısı; örtüşen ve ayrışan maddelerin döngüyle açıklanması.</a:t>
            </a:r>
          </a:p>
          <a:p/>
          <a:p>
            <a:r>
              <a:t>NASIL: Önce sınıfın cevaplarını alın, sonra açın. Alttaki iki kitap cümlesini okutun: aşamalar iç içedir; bir aşamada yapılan, sonrakini etkiler. Öğrencinin kendi afişinden örnek vermesini isteyin ('bizim afişimize 2. turdaki grup … ekledi').</a:t>
            </a:r>
          </a:p>
          <a:p/>
          <a:p>
            <a:r>
              <a:t>BEKLENEN CEVAP: 1) Her afiş üç grubun ortak ürünüdür: ilk grup iskeleti kurdu, sonraki gruplar farklı bakış açılarıyla (birey, aile, okul, kurum; farklı afet türleri) ekledi ve düzeltti; bu yüzden aynı konudaki iki afiş farklı ama daha zengin oldu. 2) Örtüşen: toplanma alanı (öncesinde belirlenir, esnasında kullanılır), bilgi (öncesinde erken uyarı, esnasında doğru bilgi), barınma ve sağlık (esnasında başlar, sonrasında sürer). Ayrışan: öncesi önlem ve hazırlık (zaman var: planla), esnası hız ve can kurtarma (zaman yok: uygula), sonrası uzun süreli yeniden yapılanma (kriz yönetiminin en uzun evresi).</a:t>
            </a:r>
          </a:p>
          <a:p/>
          <a:p>
            <a:r>
              <a:t>KAYNAK: Kitap s. 202 (Aşamalar, her zaman birbirini takip etmek zorunda olmayıp genellikle iç içedir. · Sosyal ve ekonomik hayatın normale dönmesiyle yeniden yapılanma faaliyeti, kriz yönetiminin en uzun süren evresidir.) ve s. 203 döngü paragrafı; program COĞ.9.6.3 (bakış açılarının afişe etkisi). Örnek cevap sunumundur.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çıkış kartı yerine geçer (ders planı). Paylaşımın sonunda; yanlış çoğunluktaysa s. 202'deki müdahale kutusunu okutun.</a:t>
            </a:r>
          </a:p>
          <a:p/>
          <a:p>
            <a:r>
              <a:t>BEKLENEN CEVAP: B) Arama kurtarma faaliyetlerinin gerçekleştirilmesi</a:t>
            </a:r>
          </a:p>
          <a:p/>
          <a:p>
            <a:r>
              <a:t>KAYNAK: Kitap s. 202: Bu aşamanın amacı olaya en kısa sürede müdahale edilmesi, arama kurtarma faaliyetlerinin gerçekleştirilmesi (müdahale); risk ve zarar azaltma, hazırlıklı olma ve iyileştirme kutuları.</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Arama kurtarma, afet esnasındaki müdahale aşamasının işidir. A ve D afet öncesine (risk ve zarar azaltma, hazırlıklı olma), C ve E afet sonrasına (iyileştirme) aittir.</a:t>
            </a:r>
          </a:p>
          <a:p/>
          <a:p>
            <a:r>
              <a:t>BEKLENEN CEVAP: B) Arama kurtarma faaliyetlerinin gerçekleştirilmesi</a:t>
            </a:r>
          </a:p>
          <a:p/>
          <a:p>
            <a:r>
              <a:t>KAYNAK: Kitap s. 202: Bu aşamanın amacı olaya en kısa sürede müdahale edilmesi, arama kurtarma faaliyetlerinin gerçekleştirilmesi (müdahale); risk ve zarar azaltma, hazırlıklı olma ve iyileştirme kutuları.</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Afette doğru bilginin önemini kitabın metniyle kurmak; s. 204 Değerlendirme 2. soruyu sormak (OB1 bilgi okuryazarlığı).</a:t>
            </a:r>
          </a:p>
          <a:p/>
          <a:p>
            <a:r>
              <a:t>SÜRE: Doğru bilgi, savunmasız gruplar ve çocuk hakları 6 dk: bilgi kirliliği 1,5 · savunmasız gruplar 1,5 · çocuk hakları 2 · YOKLAMA 14 1. Sorular isim kartıyla 4-5 öğrenciye sorulur.</a:t>
            </a:r>
          </a:p>
          <a:p/>
          <a:p>
            <a:r>
              <a:t>NASIL: Üç kartı üç öğrenciye okutun. Soruyu isim kartıyla iki öğrenciye sorun (sözlü); cevapları 'nereden?' ve 'nasıl paylaşırım?' diye ikiye ayırın. Örnek cevap sonraki slaytta.</a:t>
            </a:r>
          </a:p>
          <a:p/>
          <a:p>
            <a:r>
              <a:t>KAYNAK: Kitap s. 203 'Afetler ve Bilgi Kirliliği' (birebir), s. 204 DEĞERLENDİRME 2; program: Afet ve acil durumlarda yaşanan bilgi kirliliğine karşı doğru bilgiye nereden veya nasıl ulaşılacağına ilişkin görüşlerin paylaşıldığı bir tartışma ortamı yapılandırılabilir.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 2'nin örnek cevabı: güvenilir kaynaklar ve sorumlu paylaşım.</a:t>
            </a:r>
          </a:p>
          <a:p/>
          <a:p>
            <a:r>
              <a:t>NASIL: Öğrencilerin cevaplarından sonra açın. 'Bir mesajı paylaşmadan önce kendine üç soru sor: Kim yazdı? Ne zaman? Resmî kaynak doğruluyor mu?' Afetzedenin görüntüsünü ya da adını izinsiz paylaşmanın kişiye zarar verdiğini vurgulayın (s. 203).</a:t>
            </a:r>
          </a:p>
          <a:p/>
          <a:p>
            <a:r>
              <a:t>BEKLENEN CEVAP: Nereden: AFAD gibi resmî kurumlar (www.afad.gov.tr, s. 207), valilik, belediye ve okulun resmî duyuruları. Nasıl: paylaşmadan önce kaynağı ve tarihi kontrol etmek, resmî kaynaktan doğrulamak; doğrulanmamış ve yanıltıcı haberi yaymamak; mahremiyet, özel hayatın gizliliği ve açık rızaya dikkat etmek: afetzedelerin görüntüsünü ve kişisel bilgisini izinsiz paylaşmamak.</a:t>
            </a:r>
          </a:p>
          <a:p/>
          <a:p>
            <a:r>
              <a:t>KAYNAK: Kitap s. 203 (bilgi kirliliği), s. 207 (Afet ve Acil Durum Yönetimi Başkanlığının genel ağ adresinden (www.afad.gov.tr) ulaşılabilecek başlıca hizmetler şunlardır:). Valilik, belediye ve doğrulama adımları: bilimsel (bilgi okuryazarlığı);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Afetlerin herkesi aynı biçimde etkilemediğini kitabın metniyle göstermek; Değerlendirme 3'ü sormak (D5 duyarlılık, SDB2.3 sosyal farkındalık).</a:t>
            </a:r>
          </a:p>
          <a:p/>
          <a:p>
            <a:r>
              <a:t>NASIL: Kartları okutun; 'savunmasız' kelimesini açın: afetin olumsuz etkilerine daha fazla maruz kalan, özel ihtiyacı olan kişiler. Soruyu sorun; cevapları öncesi, esnası ve sonrası diye üçe ayırın. Sınıfta özel gereksinimli öğrenci varsa örnekler genel tutulur, kimse örnek gösterilmez.</a:t>
            </a:r>
          </a:p>
          <a:p/>
          <a:p>
            <a:r>
              <a:t>KAYNAK: Kitap s. 203 'Afetler ve Savunmasız Gruplar' (birebir), s. 204 DEĞERLENDİRME 3; program: Afet öncesi, afet esnası ve afet sonrasında savunmasız grupların (yaşlılar, özel gereksinimi olan bireyler vb.) ihtiyaçlarının karşılanması gerektiği ifade edilir.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 3'ün örnek cevabı: savunmasız grupların ihtiyaçları için öncesi, esnası ve sonrasında yapılabilecekler.</a:t>
            </a:r>
          </a:p>
          <a:p/>
          <a:p>
            <a:r>
              <a:t>NASIL: Sınıfın cevaplarından sonra açın; her sütundan bir maddeyi 'kim yapar?' sorusuyla bağlayın (aile, okul, kurumlar).</a:t>
            </a:r>
          </a:p>
          <a:p/>
          <a:p>
            <a:r>
              <a:t>BEKLENEN CEVAP: Öncesi: aile afet planına yaşlı ve özel gereksinimli bireylerin ihtiyaçları (ilaç, tıbbi cihaz, gözlük, işitme cihazı) yazılır; tahliye yolu ve toplanma alanı herkesin erişebileceği biçimde planlanır; uyarılar sesli ve yazılı verilir. Esnası: tahliyede ve yardımda öncelik; çocuklar ailelerinden ayrılmaz; kadınların ve çocukların güvenliği gözetilir. Sonrası: barınma alanlarında erişilebilirlik ve sağlık hizmeti; çocuk dostu alanlar, psikososyal destek, eğitimin sürdürülmesi.</a:t>
            </a:r>
          </a:p>
          <a:p/>
          <a:p>
            <a:r>
              <a:t>KAYNAK: Kitap s. 203 (savunmasız gruplar; çocuk dostu alanlar oluşturulması, psikososyal destek hizmetlerinin sağlanması, eğitim olanaklarının devam ettirilmesi). İlaç, tıbbi cihaz, erişilebilirlik ve sesli-yazılı uyarı ayrıntıları: bilimsel (afet yönetiminde erişilebilirlik);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Çocukların afetlerden en fazla etkilenen grup olduğunu ve çocuk hakları temelli yaklaşımı kitabın metniyle göstermek; Değerlendirme 4'ü sözlü sordurmak.</a:t>
            </a:r>
          </a:p>
          <a:p/>
          <a:p>
            <a:r>
              <a:t>NASIL: Görsel 6.7'yi gösterin: depremlerden sonra çocukların eğitimi için hazırlanmış bir sınıf. Kartları okutun; soruyu sözlü sorun (kitap 'sözlü olarak paylaşınız' der). HASSASİYET: Kahramanmaraş merkezli depremleri yaşamış ya da yakınını kaybetmiş öğrenci bulunabilir; kişisel anlatım istenmez, isteyen dinlenir; gerekirse rehberlik servisiyle eşgüdüm.</a:t>
            </a:r>
          </a:p>
          <a:p/>
          <a:p>
            <a:r>
              <a:t>KAYNAK: Kitap s. 203 (çocuklar, Görsel 6.7, BM Çocuk Hakları Sözleşmesi, hak temelli yaklaşım; birebir), s. 204 DEĞERLENDİRME 4; program: Ayrıca afet ve acil durumlarda çocuk hakları temelli yaklaşım kapsamında çocukların sahip olduğu hakların neler olduğu ve bu hakların nasıl korunabileceği konusunda öğrencilerin fikirleri alınır.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 4'ün örnek cevabı: afette çocukların hakları ve korunma yolları.</a:t>
            </a:r>
          </a:p>
          <a:p/>
          <a:p>
            <a:r>
              <a:t>NASIL: Sözlü cevaplardan sonra açın. 'Pozitif ayrımcılık' kavramını açın: ihtiyacı en fazla olana öncelik tanımak — kitap bunu etik bir sorumluluk sayar. Alttaki bant kitabın Türkiye'deki çalışmalar örneğidir (s. 204).</a:t>
            </a:r>
          </a:p>
          <a:p/>
          <a:p>
            <a:r>
              <a:t>BEKLENEN CEVAP: Haklar: beslenme, barınma, güvenlik, eğitim, sağlık (temel ihtiyaçlar); korunma ve psikososyal destek; iyileştirme sürecinde etkin rol alma. Korunma: pozitif ayrımcılık; çocuk dostu alanlar, psikososyal destek, eğitimin sürdürülmesi; BM Çocuk Hakları Sözleşmesi ve hak temelli yaklaşım; Türkiye'de 12. Kalkınma Planı, AFAD'ın 2024-2028 stratejik planı ve MEB projeleri.</a:t>
            </a:r>
          </a:p>
          <a:p/>
          <a:p>
            <a:r>
              <a:t>KAYNAK: Kitap s. 203: Çocukların beslenme, barınma, güvenlik, eğitim, sağlık gibi temel ihtiyaçlarının karşılanmasına yönelik pozitif ayrımcılık yapılması etik bir sorumluluktur. · çocukların iyileştirme süreçlerinde etkin rol almaları için · Çocuğun korunmasına yönelik faaliyetler, koruyucu çevre anlayışının yanı sıra hak temelli yaklaşımla da gerçekleştirilmelidir.; s. 204 ilk paragraf.</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çıkış kartı yerine geçer (ders planı). Yanlış seçenekleri kitabın cümleleriyle çürütün: etki herkeste aynı değildir; çocuklar dolaylı da etkilenir; paylaşım hem hızlı hem güvenilir olmalıdır; mahremiyet ve açık rıza gözetilir.</a:t>
            </a:r>
          </a:p>
          <a:p/>
          <a:p>
            <a:r>
              <a:t>BEKLENEN CEVAP: B) Savunmasız gruplar bu etkilere daha fazla maruz kalır.</a:t>
            </a:r>
          </a:p>
          <a:p/>
          <a:p>
            <a:r>
              <a:t>KAYNAK: Kitap s. 203 'Afetler ve Bilgi Kirliliği' ve 'Afetler ve Savunmasız Gruplar' paragrafları.</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Örneğin savunmasız gruplar (yaşlılar, kadınlar, çocuklar, özel gereksinimi olan bireyler vb.) afetlerin olumsuz etkilerine daha fazla maruz kalmaktadır.</a:t>
            </a:r>
          </a:p>
          <a:p/>
          <a:p>
            <a:r>
              <a:t>BEKLENEN CEVAP: B) Savunmasız gruplar bu etkilere daha fazla maruz kalır.</a:t>
            </a:r>
          </a:p>
          <a:p/>
          <a:p>
            <a:r>
              <a:t>KAYNAK: Kitap s. 203 'Afetler ve Bilgi Kirliliği' ve 'Afetler ve Savunmasız Gruplar' paragrafları.</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204 Değerlendirme 1: bütüncül afet yönetimi etkin uygulanmazsa insan ve topluma etkileri; kendini ve çevreni değerlendirerek duygu ve düşünceyi ayırma (SDB1.1, SDB1.2, SDB1.3, SDB3.3).</a:t>
            </a:r>
          </a:p>
          <a:p/>
          <a:p>
            <a:r>
              <a:t>SÜRE: Yansıtma 4 dk (esnek): bireysel yazma 2 · iki gönüllü okur 2. Kısaltılırsa soru çıkış kartına alınır.</a:t>
            </a:r>
          </a:p>
          <a:p/>
          <a:p>
            <a:r>
              <a:t>NASIL: 2 dakika sessiz yazma: bir 'düşünüyorum ki' ve bir 'hissediyorum ki' cümlesi. Duygu ile düşünce ayrımını gösterin. İki gönüllü okur; kimse okumaya zorlanmaz. Kişisel afet anlatımı istenmez; endişe dile getiren öğrenciye 'hazırlık bu endişeyi azaltır' çerçevesiyle karşılık verin, gerekirse rehberlik servisine yönlendirin.</a:t>
            </a:r>
          </a:p>
          <a:p/>
          <a:p>
            <a:r>
              <a:t>KAYNAK: Kitap s. 204 DEĞERLENDİRME 1 (birebir); program: Öğrencilerden bu konuda kendileri ve çevrelerini değerlendirmeleri istenerek bütüncül afet yönetiminin etkin şekilde yapılmamasının insan ve toplum üzerindeki etkilerine ilişkin duygu ve düşüncelerini ifade etmeleri istenebilir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 1'in örnek cevabı: insan ve toplum üzerindeki etkiler; duygu ve düşünce cümlesi örneği (doğru-yanlış aranmaz).</a:t>
            </a:r>
          </a:p>
          <a:p/>
          <a:p>
            <a:r>
              <a:t>NASIL: Gönüllüler okuduktan sonra açın. Alttaki örnek cümleler biçim örneğidir; her öğrencinin cümlesi kendisinindir. 'Hazırlık yapılırsa ne değişir?' sorusuyla umut çerçevesinde kapatın.</a:t>
            </a:r>
          </a:p>
          <a:p/>
          <a:p>
            <a:r>
              <a:t>BEKLENEN CEVAP: İnsan: can ve mal kaybı artar, yaralanma ve travma; savunmasız gruplar daha çok etkilenir. Toplum: yardım geç ve düzensiz ulaşır, bilgi kirliliği artar; okul, iş ve ulaşım uzun süre durur; ekonomik ve sosyal hayat geç normale döner; dayanışma ve güven zayıflar. Örnek: 'Düşünüyorum ki hazırlık yapılmazsa bir tehlike kolayca afete dönüşür.' 'Hissediyorum ki bu konuda endişeliyim; bu yüzden aile afet planımızı tamamlamak istiyorum.'</a:t>
            </a:r>
          </a:p>
          <a:p/>
          <a:p>
            <a:r>
              <a:t>KAYNAK: Kitap s. 203: Afetler insan hayatını sosyal, ekonomik ve psikolojik açıdan olumsuz etkilemektedir. Diğer maddeler kitabın dört aşama kutularından (s. 202) çıkarım; örnek cümleler sunumundur.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performans görevini sınıf içi grup çalışması olarak başlatmak: bir deprem senaryosu üzerinden bütüncül afet yönetimine ilişkin önerileri içeren sunum (SBAB11.1, KB3.2).</a:t>
            </a:r>
          </a:p>
          <a:p/>
          <a:p>
            <a:r>
              <a:t>SÜRE: Performans görevi 1-2. adım 12 dk: görev 1 · 1. adım tabloyu inceleme 4 · YOKLAMA 15 1 · 2. adım öneriler 6.</a:t>
            </a:r>
          </a:p>
          <a:p/>
          <a:p>
            <a:r>
              <a:t>NASIL: Görevi ve dört adımı okutun. A3 tabloyu altı gruba dağıtın; anahtarın beş ölçütü tahtada yazılıdır (bilgi inceleme, içerik, sonuç çıkarma, rapor hazırlama, rapor sunma). Roller: veri okuyucu tabloyu okur, yazıcı sonuçları, sözcü önerileri yazar; çizer 3. adımda temsili çizer. Malzemeyi okul sağlar.</a:t>
            </a:r>
          </a:p>
          <a:p/>
          <a:p>
            <a:r>
              <a:t>KAYNAK: Kitap s. 209 PERFORMANS GÖREVİ (beceri, görev, yönerge, dört adım birebir); program öğrenme kanıtları: Performans görevi olarak öğrencilerden örnek bir senaryo üzerinden bütüncül afet yönetimine ilişkin önerilerini içeren bir sunum hazırlamaları istenebilir. _x0001_ümre kararları.</a:t>
            </a:r>
          </a:p>
          <a:p/>
          <a:p>
            <a:r>
              <a:t>NOT: Zümre önerisi: bu görev P2 beceri temelli görevdir; öğretmen 2. dönem P1'ini bu üniteden vermeyi seçerse aynı ürün ve formlar P1 kanıtı olur (ders planı ölçme bölümü).</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Senaryonun ne olduğunu ve tablonun nasıl kurulduğunu kitabın metniyle anlamak; büyüklük ile şiddeti ayırmak.</a:t>
            </a:r>
          </a:p>
          <a:p/>
          <a:p>
            <a:r>
              <a:t>NASIL: Kartları okutun. Büyüklük (7,5) depremin kendisinin tek değeridir; şiddet (VI-IX), kitabın ifadesiyle her mahallenin depremde etkilenebileceği değerdir ve mahalleden mahalleye değişir. Senaryo kurgusaldır: mahalle adları ve konumları verilmemiştir; kendi mahallemizle eşleştirme yapılmaz.</a:t>
            </a:r>
          </a:p>
          <a:p/>
          <a:p>
            <a:r>
              <a:t>KAYNAK: Kitap s. 209 Deprem Senaryosu metni (birebir). Şiddetin Roma rakamıyla gösterilmesi ve büyüklükten farkı: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tablosunu okunur boyda yansıtmak (gruplarda A3 kopyası vardır).</a:t>
            </a:r>
          </a:p>
          <a:p/>
          <a:p>
            <a:r>
              <a:t>NASIL: Sütunları soldan sağa bir kez okutun; 'Hasar Durumu' üç sütundur (ağır, orta, hafif konut). Toplam satırını gösterin. Satır satır yorum bir sonraki slaytın sorularıyla grupta yapılır.</a:t>
            </a:r>
          </a:p>
          <a:p/>
          <a:p>
            <a:r>
              <a:t>KAYNAK: Kitap s. 209 tablosu: sayıların tamamı kitaptan, satır satır alıntı kilidiyle denetlendi; tablo okunurluk için yeniden dizildi.</a:t>
            </a:r>
          </a:p>
          <a:p/>
          <a:p>
            <a:r>
              <a:t>NOT: Kitabın Toplam satırı satırların toplamıyla birkaç birim tutmaz (senaryo tahminlerinin yuvarlanması olabilir): satırların toplamı nüfus 33.089 (kitap 33.085), ağır hasar 678 (kitap 677), orta hasar 893 (kitap 892), hafif hasar 1.101 (kitap 1.100), can kaybı 175 (kitap 176), yaralı 445 (kitap 443), yataklı tedavi 110 (kitap 111), ayakta tedavi 330 (kitap 332), çadır ihtiyacı 1.569 (kitap 1.570); konut 15.655 ve açıkta kalan 6.280 tutar. 8. Mahallede hafif hasar 27'dir; şiddeti aynı (VI) olan 3., 4. ve 9. mahallelerde 3-4'tür — olası dizgi hatası, kitabın sayısı yazıldı. Sınıfta kitabın sayıları kullanılır; farkı fark eden öğrenci 'sonuç çıkarma' ölçütü için takdir edilir. Yaralı sayısı yaklaşık 'yataklı + ayakta tedavi'dir (Toplam: 111 + 332 = 443); çadır ihtiyacı açıkta kalan insan sayısının yaklaşık dörtte biridir (6.280 ÷ 4 = 1.570) — tablodan hesap, kitapta yazmaz.</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Tablodan sonuç çıkarma (c) ve karşılaştırma (ç): dört yönlendirici soru (bilgi inceleme ölçütü).</a:t>
            </a:r>
          </a:p>
          <a:p/>
          <a:p>
            <a:r>
              <a:t>NASIL: Gruplar A3 tablo üzerinde 4 dakikada dört soruyu cevaplar; yazıcı cevapları yazar. Dolaşımda 'Bu sonucu hangi sayıdan çıkardınız?' diye sorun. Destek: okunacak satırlar (1., 6. mahalle ve Toplam) A3 kopyada işaretlidir.</a:t>
            </a:r>
          </a:p>
          <a:p/>
          <a:p>
            <a:r>
              <a:t>KAYNAK: Kitap s. 209 tablosu; ders planı 33. hafta 8. aşama (1. adım). Sorular sunumundur.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sorunun tablodan örnek cevabı; şiddet ile kayıplar arasındaki ilişki (sonuç çıkarma) ve mahallelerin karşılaştırılması.</a:t>
            </a:r>
          </a:p>
          <a:p/>
          <a:p>
            <a:r>
              <a:t>NASIL: Grupların cevaplarından sonra açın. Renkli şiddet sütununu gösterin: kayıplar şiddetle birlikte artıyor. 7. Mahalle en kalabalık olduğu hâlde 1. ve 6. mahalleden daha az kayıp veriyor: sonucu nüfustan çok şiddet belirliyor. Çadır-açıkta kalan ilişkisi tablodan hesaplanır (bir çadıra yaklaşık 4 kişi). Can kaybı: 63 + 81 = 144; Toplam satırı 176'dır (satır toplamı 175) → yaklaşık beşte dördü bu iki mahallede.</a:t>
            </a:r>
          </a:p>
          <a:p/>
          <a:p>
            <a:r>
              <a:t>BEKLENEN CEVAP: 1) 1. ve 6. mahalle (IX): ağır hasar 243 ve 311, can kaybı 63 ve 81, açıkta kalan 2.094 ve 2.684. 2) 7. Mahalle (6.447 kişi, VIII): can kaybı 21, ağır hasar 82 — şiddet daha düşük. 3) 3., 4., 8., 9. mahalle (VI): can kaybı 0, ağır hasar 1, açıkta kalan 16-20. 4) 6.280 kişi açıkta kalır, 1.570 çadır gerekir: çadır ihtiyacı ≈ açıkta kalan ÷ 4.</a:t>
            </a:r>
          </a:p>
          <a:p/>
          <a:p>
            <a:r>
              <a:t>KAYNAK: Kitap s. 209 tablosu; hesaplar tablodan (kitapta yazmaz).</a:t>
            </a:r>
          </a:p>
          <a:p/>
          <a:p>
            <a:r>
              <a:t>NOT: Kitabın Toplam satırı satırların toplamıyla birkaç birim tutmaz (senaryo tahminlerinin yuvarlanması olabilir): satırların toplamı nüfus 33.089 (kitap 33.085), ağır hasar 678 (kitap 677), orta hasar 893 (kitap 892), hafif hasar 1.101 (kitap 1.100), can kaybı 175 (kitap 176), yaralı 445 (kitap 443), yataklı tedavi 110 (kitap 111), ayakta tedavi 330 (kitap 332), çadır ihtiyacı 1.569 (kitap 1.570); konut 15.655 ve açıkta kalan 6.280 tutar. 8. Mahallede hafif hasar 27'dir; şiddeti aynı (VI) olan 3., 4. ve 9. mahallelerde 3-4'tür — olası dizgi hatası, kitabın sayısı yazıldı. Sınıfta kitabın sayıları kullanılır; farkı fark eden öğrenci 'sonuç çıkarma' ölçütü için takdir edilir. Yaralı sayısı yaklaşık 'yataklı + ayakta tedavi'dir (Toplam: 111 + 332 = 443); çadır ihtiyacı açıkta kalan insan sayısının yaklaşık dörtte biridir (6.280 ÷ 4 = 1.570) — tablodan hesap, kitapta yazmaz.</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çıkış kartı yerine geçer (ders planı). 1. adımın sonunda; yanlış çoğunluktaysa renkli şiddet sütununa dönün.</a:t>
            </a:r>
          </a:p>
          <a:p/>
          <a:p>
            <a:r>
              <a:t>BEKLENEN CEVAP: B) Şiddet arttıkça ağır hasarlı konut sayısı genel olarak artar.</a:t>
            </a:r>
          </a:p>
          <a:p/>
          <a:p>
            <a:r>
              <a:t>KAYNAK: Kitap s. 209 tablosu (sayılar kitaptan).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Ağır hasar VI şiddetli mahallelerde 1, VII'de 15 ve 23, VIII'de 82, IX'da 243 ve 311 konuttur. En kalabalık 7. mahallede can kaybı 21'dir (en yüksek 6. mahalle: 81); en çok açıkta kalan 6. mahalledir (2.684).</a:t>
            </a:r>
          </a:p>
          <a:p/>
          <a:p>
            <a:r>
              <a:t>BEKLENEN CEVAP: B) Şiddet arttıkça ağır hasarlı konut sayısı genel olarak artar.</a:t>
            </a:r>
          </a:p>
          <a:p/>
          <a:p>
            <a:r>
              <a:t>KAYNAK: Kitap s. 209 tablosu (sayılar kitaptan).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Tablodaki sonuçlardan döngünün dört aşamasına göre öneri geliştirmek (KB3.2 problem çözme; içerik ve sonuç çıkarma ölçütleri).</a:t>
            </a:r>
          </a:p>
          <a:p/>
          <a:p>
            <a:r>
              <a:t>NASIL: Her grup dört aşamanın her birine en az iki öneri yazar; her öneri tablodaki bir sayıya dayanmalıdır. Dolaşımda 'Öneriniz tablodaki hangi sayıya dayanıyor?' diye sorun. Destek: alttaki üç cümlelik kalıp. Zenginleştirme: can kaybı/nüfus ve ağır hasar/konut oranlarını hesaplayıp mahalleleri sıralamak.</a:t>
            </a:r>
          </a:p>
          <a:p/>
          <a:p>
            <a:r>
              <a:t>KAYNAK: Kitap s. 209 2. adım (birebir: Bütüncül afet yönetimine ilişkin öneriler oluşturunuz.); s. 202 dört aşama; ders planı 33. hafta 8. aşama ve farklılaştırma.</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adımın ölçütlü örnek ürünü: dört aşama × iki öneri, her biri tablodaki bir sayıya dayalı (doğru cevap değil, örnek).</a:t>
            </a:r>
          </a:p>
          <a:p/>
          <a:p>
            <a:r>
              <a:t>NASIL: Gruplar önerilerini yazdıktan sonra kısa gösterin; 'dayanak' satırının içerik ve sonuç çıkarma ölçütünü karşıladığını vurgulayın. Grupların farklı ve gerekçeli önerileri kabul edilir.</a:t>
            </a:r>
          </a:p>
          <a:p/>
          <a:p>
            <a:r>
              <a:t>BEKLENEN CEVAP: Risk ve zarar azaltma: 1. ve 6. mahallede binaları denetleyip güçlendirmek (ağır hasar 243 ve 311); yeni yapıları yönetmeliğe ve zemine uygun yapmak (VI'da 1 → IX'da 311). Hazırlıklı olma: 6.280 kişi ve 1.570 çadır için toplanma ve çadır alanı; 1. ve 6. mahallede tahliye planı ve tatbikat (açıkta kalan 2.094 ve 2.684). Müdahale: arama kurtarmayı önce 1. ve 6. mahalleye yönlendirmek (can kaybı 63 ve 81); 443 yaralı için ilk yardım, 111 yataklı ve 332 ayakta tedavi. İyileştirme: 677 ağır hasarlı konut için kalıcı konut, 892 orta hasarlı konutun onarımı; açıkta kalanlara psikososyal destek, çocuklar için eğitim ve çocuk dostu alan.</a:t>
            </a:r>
          </a:p>
          <a:p/>
          <a:p>
            <a:r>
              <a:t>KAYNAK: Kitap s. 209 tablosu (sayılar); s. 202 dört aşamanın kutuları; s. 203 (çocuk dostu alanlar, psikososyal destek). Öneriler sunumun örnek ürünüdür.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Önerileri amaca uygun bir coğrafi temsille zenginleştirmek (rapor hazırlama ölçütü; OB4 görsel okuryazarlık).</a:t>
            </a:r>
          </a:p>
          <a:p/>
          <a:p>
            <a:r>
              <a:t>SÜRE: Coğrafi temsil 5 dk (esnek): seçim 1 · çizim 4. Kısaltılırsa sunum yalnız tabloyla yapılır.</a:t>
            </a:r>
          </a:p>
          <a:p/>
          <a:p>
            <a:r>
              <a:t>NASIL: Çizer rolündeki üye temsili A3 sunum kâğıdına çizer; diğerleri sunumu hazırlar. Kroki çizilmez: tabloda mahallelerin konumu yoktur. Başlık, birim ve kaynak (kitap s. 209) yazılır.</a:t>
            </a:r>
          </a:p>
          <a:p/>
          <a:p>
            <a:r>
              <a:t>KAYNAK: Kitap s. 209 3. adım (birebir: Önerilerinizi amaca uygun coğrafi temsillerle (harita, tablo, grafik, şekil, diyagram vb.) zenginleştiriniz.); ders planı 33. hafta 9. aşama.</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adımın örnek ürünü: tablonun 'açıkta kalan insan sayısı' sütunundan çubuk grafik; şiddete göre renk (ısı) kodu.</a:t>
            </a:r>
          </a:p>
          <a:p/>
          <a:p>
            <a:r>
              <a:t>NASIL: Grafiğin başlık, eksen, birim ve kaynak taşıdığını gösterin. Çıkarımı okutun: açıkta kalanların yaklaşık %76'sı şiddeti IX olan iki mahallededir — hazırlık ve çadır alanı planı önce bu mahalleler için yapılmalıdır.</a:t>
            </a:r>
          </a:p>
          <a:p/>
          <a:p>
            <a:r>
              <a:t>BEKLENEN CEVAP: 1. ve 6. mahallenin çubukları (2.094 ve 2.684) diğerlerinden çok yüksektir; IX: 4.778 / 6.280 ≈ %76. Şiddet VI olan mahallelerde 16-20 kişi.</a:t>
            </a:r>
          </a:p>
          <a:p/>
          <a:p>
            <a:r>
              <a:t>KAYNAK: Kitap s. 209 tablosunun 'Açıkta Kalan İnsan Sayısı' ve 'Şiddet' sütunları; grafik bu sayılardan çizildi; yüzde hesabı: (4.778 ÷ 6.280) × 100 ≈ 76 (Toplam satırı).</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Sunumların düzenini ve kitabın beş değerlendirme ölçütünü göstermek (SDB2.1 iletişim).</a:t>
            </a:r>
          </a:p>
          <a:p/>
          <a:p>
            <a:r>
              <a:t>SÜRE: Sunum ve öz değerlendirme 7 dk: 6 grup × 1 dk sunum (kum saati) · öz değerlendirme 1.</a:t>
            </a:r>
          </a:p>
          <a:p/>
          <a:p>
            <a:r>
              <a:t>NASIL: Her sunumdan sonra sınıf tek cümle dönüt verir; siz anahtarın 'rapor sunma' ölçütüne göre not tutun. Analitik dereceli puanlama anahtarının çıktısı öğretmendedir (kitabın karekodu); puan ve düzey ifadeleri anahtardan okunur, bu sunumda yazılı değildir.</a:t>
            </a:r>
          </a:p>
          <a:p/>
          <a:p>
            <a:r>
              <a:t>KAYNAK: Kitap s. 209 4. adım ve DEĞERLENDİRME (birebir); program: Performans görevi; bilgi inceleme, içerik, sonuç çıkarma, rapor hazırlama ve sunma ölçütlerine göre değerlendirilebilir. Ders planı 33. hafta 10. aşama.</a:t>
            </a:r>
          </a:p>
          <a:p/>
          <a:p>
            <a:r>
              <a:t>NOT: Karekod içerikleri (EBA: analitik dereceli puanlama anahtarı, öz değerlendirme formu) bu sunum hazırlanırken indirilemedi (EBA içerik sunucusu dosya vermiyordu). Öğretmen karekoddan çıktısını getirir; sunuma puan yazılmadı.</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dakikalık sunumun ölçütlü örneği: her adım bir ölçütü karşılar (doğru cevap değil, biçim örneği).</a:t>
            </a:r>
          </a:p>
          <a:p/>
          <a:p>
            <a:r>
              <a:t>NASIL: İlk sunumdan önce 20 saniyede gösterin; sunumlar sırasında ekranda kalabilir. Kalın sözcükler kitabın ölçütleridir.</a:t>
            </a:r>
          </a:p>
          <a:p/>
          <a:p>
            <a:r>
              <a:t>BEKLENEN CEVAP: Bulgu: 1. ve 6. mahallede şiddet IX; 554 konut ağır hasarlı, can kaybı 144 · Öneri: binaların güçlendirilmesi ve 1.570 çadırlık alanın önceden belirlenmesi · Aşama: risk ve zarar azaltma ile hazırlıklı olma · Temsil: açıkta kalanların grafiği · Sunum: 1 dakika, açık ses, soru alma.</a:t>
            </a:r>
          </a:p>
          <a:p/>
          <a:p>
            <a:r>
              <a:t>KAYNAK: Kitap s. 209 tablosu (243 + 311 = 554; 63 + 81 = 144; Toplam satırı) ve beş ölçüt. Akış sunumun örneğidir.</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Performans görevinden sonra öz değerlendirme formunu bireysel ve sessiz doldurtmak (SDB1.2 öz düzenleme, SDB1.3 öz yansıtma).</a:t>
            </a:r>
          </a:p>
          <a:p/>
          <a:p>
            <a:r>
              <a:t>NASIL: Formun çıktısını dağıtın (karekoddan öğretmen çoğaltır; telefon yok). Formu indiremediyseniz çalışma kâğıdının 17. maddesi (öz değerlendirme) sınıfta doldurulur. Formlar grup ürünüyle birlikte toplanır, performans görevi dosyasına konur. 'Hayır' ya da 'kısmen' işaretlenen konular için ne yapacağını bir cümleyle yazmasını isteyin.</a:t>
            </a:r>
          </a:p>
          <a:p/>
          <a:p>
            <a:r>
              <a:t>BEKLENEN CEVAP: Doğru-yanlış aranmaz; öz değerlendirmedir.</a:t>
            </a:r>
          </a:p>
          <a:p/>
          <a:p>
            <a:r>
              <a:t>KAYNAK: Kitap s. 209: Ayrıca öz değerlendirme formunu doldurarak kendinizi değerlendiriniz. Program: öz değerlendirme formu (öğrenme kanıtı). Formun maddeleri EBA'dadır ve indirilemedi; bu sunuma yazılmadı.</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Afetlerde uluslararası iş birliğinin gerekçesini kitabın metniyle kurmak; 'Afetlerde Dayanışma' uygulamasının iki haberini okumak (D20.2 yardımseverlik).</a:t>
            </a:r>
          </a:p>
          <a:p/>
          <a:p>
            <a:r>
              <a:t>SÜRE: Dayanışma ve teknoloji 8 dk (esnek): haberler 1,5 · sorular ve slogan 2,5 · mekânsal bilgi teknolojileri ve Freddy 3 · AFAD ve YOKLAMA 16 1. Birleştirilen şubelerde bu bölüm çalışma kâğıdının 15. maddesiyle evdedir.</a:t>
            </a:r>
          </a:p>
          <a:p/>
          <a:p>
            <a:r>
              <a:t>NASIL: Üstteki kitap cümlesini okutun; iki haberi öğrencilere kitaptan okutun (kartlar haberlerin özetidir). İlk haberde Türkiye yardım götüren, ikincisinde yardım alan ülkedir: dayanışma karşılıklıdır. 'Yeşil Vatan' haberde orman yangınlarının sürdüğü yurdumuz için kullanılmıştır; kitapta tanımı yoktur (anahtar kavram, s. 187). Siyasi yorum yapılmaz; haberler kitabın ifadesiyle okunur, tarih ve yer ayrıntısı eklenmez.</a:t>
            </a:r>
          </a:p>
          <a:p/>
          <a:p>
            <a:r>
              <a:t>KAYNAK: Kitap s. 205 'Afetler ve Uluslararası İş Birliği' metni ve UYGULAMA 'Afetlerde Dayanışma' (iki haber; yeni baskı) — kart maddeleri haberlerin özetidir, sayılar ve yer adları kitaptan (750 ton; 6 ülke, 18 hava aracı; 45 helikopter ve 3 uçak); program: Afet ve acil durumlarda uluslararası iş birliğinin önemi Türkiye ve dünyadan örneklerle vurgulanır</a:t>
            </a:r>
          </a:p>
          <a:p/>
          <a:p>
            <a:r>
              <a:t>NOT: Eski baskıdaki 'Kahramanmaraş depremleri için birçok ülkeden Türkiye'ye yardım' haberi bu baskıda yoktur; yerine orman yangınlarına altı ülkeden hava desteği haberi gelmiştir. Zenginleştirme: 30. haftada araştırma görevi alan öğrenci varsa sonuç raporunu bu aşamada 2 dakikada sunar — 13 Ekim ve ülke uygulamaları konuları bu slaytın ardından, kurumlar konusu AFAD bilgi kutusunda; süre esnek aşamanın içinden alınır (Freddy'nin 2-3. soruları sözlüye iner). Birleştirilen şubelerde raporlar yazılı teslim alınır.</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205 uygulamasının iki sorusu: uluslararası iş birliğinin önemi (sözlü) ve slogan (grup).</a:t>
            </a:r>
          </a:p>
          <a:p/>
          <a:p>
            <a:r>
              <a:t>NASIL: 1. soruyu bir öğrenciye sorun. Slogan şeridi: her grup üç temadan birini seçer, 2 dakikada slogan yazar, şeridi panoya asar. Tek ölçüt: slogan seçilen özelliği vurguluyor mu? (D1.2, D16.2, D20.2, SDB2.1, E1.4). Etik Günü sorusu bu bölümde kapanır (örnek cevap slaytı).</a:t>
            </a:r>
          </a:p>
          <a:p/>
          <a:p>
            <a:r>
              <a:t>KAYNAK: Kitap s. 205 UYGULAMA soruları (birebir; 2. soru yeni baskı); program: Oluşturulan sloganlar belirtilen özellikleri vurgulaması açısından değerlendirilir.</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sorunun örnek cevabı ve üç temaya birer örnek slogan; Etik Günü sorusunun kapanışı.</a:t>
            </a:r>
          </a:p>
          <a:p/>
          <a:p>
            <a:r>
              <a:t>NASIL: Grupların sloganları asıldıktan sonra açın; örnek sloganlar ölçüt örneğidir, grupların sloganları esastır. Alttaki bantla dersin başındaki Etik Günü sorusunu kapatın.</a:t>
            </a:r>
          </a:p>
          <a:p/>
          <a:p>
            <a:r>
              <a:t>BEKLENEN CEVAP: 1) Afetler çoğu zaman bir şehrin ya da ülkenin müdahale becerisini aşar; uluslararası destekle arama kurtarma, insani yardım ve hava araçları gibi imkânlar artar, zararlar daha hızlı giderilir (İyilik Treni; yangınlara altı ülkeden 18 hava aracı). 2) İhtiyaç önce tespit edilir; yardım güvenilir kurumlar aracılığıyla, kayıtlı ve adil dağıtılır; savunmasız gruplara öncelik verilir; ihtiyaç dışı malzeme gönderilmez. Yeşil Vatan: ormanda ateş yakmamak, çöp ve cam bırakmamak, ağaç dikmek, yangını hemen haber vermek. Etik Günü: yardım ihtiyacı olana, amacına uygun, güvenilir kurumlar aracılığıyla ve herkesin hakkına saygıyla ulaşmalıdır.</a:t>
            </a:r>
          </a:p>
          <a:p/>
          <a:p>
            <a:r>
              <a:t>KAYNAK: Kitap s. 205 (Afetlerin olumsuz etkilerini asgari düzeye indirebilmek için afet bilincine sahip olmak ve ortak hareket etmek gerekir.; Bu destek kapsamında bütüncül afet yönetimine uygun olarak sosyal yardım ve hizmetlere öncelik verilmektedir.), s. 203 (savunmasız gruplar, pozitif ayrımcılık). Dağıtım ve Yeşil Vatan davranışları: bilimsel; kitapta yok. Sloganlar sunumun örneğidir.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CBS ve uzaktan algılamanın afet yönetimindeki yerini kitabın metniyle göstermek (OB2 dijital okuryazarlık; Bilişim Teknolojileri ve Yazılım bağı).</a:t>
            </a:r>
          </a:p>
          <a:p/>
          <a:p>
            <a:r>
              <a:t>NASIL: Kartları okutun. CBS: Coğrafi Bilgi Sistemleri (2. ünitede gördük). Uzaktan algılama: uydu ve hava fotoğraflarıyla yeryüzünün uzaktan incelenmesi. Sağdaki fotoğraf Freddy Kasırgası'nın Uluslararası Uzay İstasyonundan görünümüdür (kitap s. 206).</a:t>
            </a:r>
          </a:p>
          <a:p/>
          <a:p>
            <a:r>
              <a:t>KAYNAK: Kitap s. 206 'Afetler ve Mekânsal Bilgi Teknolojileri' (birebir) ve uygulamanın fotoğrafı; program: bu verilerden yeni bilgiler üretilmesi ve bu bilgilerin kullanılması bağlamında afete uğramış ve afet riski taşıyan bölgelerde yapılacak mekânsal sorgu ve analizler yoluyla hızlı karar verilebilmesine imkân sağlayan mekânsal bilgi teknolojilerinden bahsedilir.</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Haritadaki kasırga izinden (uzaktan algılama verisi) tedbir alması gereken ülkeleri çıkarmak (SBAB10.3 haritadan çıkarım; süreç bileşeni c).</a:t>
            </a:r>
          </a:p>
          <a:p/>
          <a:p>
            <a:r>
              <a:t>NASIL: Haritayı okutun: renkli çizgi kasırganın izidir, renkler hızını gösterir (lejant km/saat); tarihler izin o gün geçtiği yeri gösterir; gri oklar ilerleme yönüdür. 'Kasırga hangi ülkelerin üzerinden ya da yakınından geçiyor?' Bir öğrenci izi tahtada parmağıyla izler.</a:t>
            </a:r>
          </a:p>
          <a:p/>
          <a:p>
            <a:r>
              <a:t>KAYNAK: Kitap s. 206 UYGULAMA (giriş cümlesi ve 1. soru birebir; harita kırpıldı).</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haritadan okunan cevabı: izin geçtiği ve yaklaştığı ülkeler.</a:t>
            </a:r>
          </a:p>
          <a:p/>
          <a:p>
            <a:r>
              <a:t>NASIL: Numaraları sırayla gösterin: 1 Madagaskar (21 Şubat), 2 Mozambik (24 Şubat), 3 iç döngü Zimbabve'nin güneydoğusu, 4 Mozambik (11 Mart), 5 izin sonu Malavi'nin güney sınırı. Zambiya izden uzaktır. Uzaktan algılama, kasırganın yolunu ve hızını izleyerek bu ülkelere önceden uyarı verilmesini sağlar.</a:t>
            </a:r>
          </a:p>
          <a:p/>
          <a:p>
            <a:r>
              <a:t>BEKLENEN CEVAP: Haritaya göre: Madagaskar ve Mozambik (iz bu ülkelerden geçer; Mozambik'te iki kez karaya çıkar), Zimbabve (iç döngü güneydoğusuna girer) ve Malavi (iz güney sınırına ulaşır). Zambiya izden uzaktır.</a:t>
            </a:r>
          </a:p>
          <a:p/>
          <a:p>
            <a:r>
              <a:t>KAYNAK: Kitap s. 206 haritası (iz, tarihler ve ülke adları; sayfa görüntüsünden 600-1100 dpi okundu; numaralar yaklaşık yerlerdir); kitap s. 195 Harita 6.2: Freddy Kasırgası ve Sel Afeti (Malawi).</a:t>
            </a:r>
          </a:p>
          <a:p/>
          <a:p>
            <a:r>
              <a:t>NOT: Kitap s. 195'te 'Malawi', s. 206'da 'MALAVİ' yazar; Türkçe yazımı Malavi'dir. Kitap can kaybı ya da hasar sayısı vermez; sunuma ek veri eklenmedi.</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CBS'nin afet öncesi, esnası ve sonrasında sağladığı veriler ve afet yönetimine avantajları (süreç bileşeni c; OB2).</a:t>
            </a:r>
          </a:p>
          <a:p/>
          <a:p>
            <a:r>
              <a:t>NASIL: Zaman varsa iki soruyu sözlü sorun (kitabın metni cevaba kaynaktır); yoksa çalışma kâğıdının 15. maddesiyle evde. Zenginleştirme: iki soruyu yazılı cevaplamak.</a:t>
            </a:r>
          </a:p>
          <a:p/>
          <a:p>
            <a:r>
              <a:t>KAYNAK: Kitap s. 206 UYGULAMA 2. ve 3. sorular (birebir); ders planı 33. hafta farklılaştırma.</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ve 3. soruların örnek cevabı: CBS ile elde edilen veriler (üç zaman) ve avantajlar.</a:t>
            </a:r>
          </a:p>
          <a:p/>
          <a:p>
            <a:r>
              <a:t>NASIL: Sınıfın cevaplarından sonra açın; her sütunu kasırga örneğiyle bağlayın (öncesi: izin tahmini ve erken uyarı; esnası: su basan alanlar; sonrası: hasar).</a:t>
            </a:r>
          </a:p>
          <a:p/>
          <a:p>
            <a:r>
              <a:t>BEKLENEN CEVAP: 2) Öncesi: kasırganın izlediği yol, hızı ve yönü; tehlike altındaki kıyı ve alçak alanlar, yerleşmeler ve nüfus; tahliye yolları. Esnası: uydu ve hava fotoğraflarıyla etkilenen ve su basan alanlar, tahliye edilecek insanların yeri, açık ve kapalı yollar. Sonrası: hasar gören bina ve altyapı, yardım ve barınma noktaları, yeniden yapılanma planı. 3) Verilere hızlı ve doğru ulaşılır, yeni bilgi üretilir; veriler bir arada sunulur; erken uyarı ve önceden önlem; kurtarma ve yardım doğru yere yönlendirilir; afetin etkileri asgari düzeye iner.</a:t>
            </a:r>
          </a:p>
          <a:p/>
          <a:p>
            <a:r>
              <a:t>KAYNAK: Kitap s. 206: sahanın topoğrafya haritası, afet bölgesinin uydu fotoğrafları, tahliye edilecek insanların lokasyonu, bölgenin ayrıntılı ulaşım haritaları gibi veriler bir arada sunularak afetin etkileri asgari düzeye indirilebilmektedir · afete uğramış ve uğrayabilecek bölgelere yönelik mekânsal sorgu ve analizler yapılabilmektedir. Hasar ve yardım noktası verileri: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Türkiye'de afet ve acil durum hizmetlerini yürüten kurumu, görevlerini, hizmetlerini ve bazı projelerini tanımak (doğru bilgi kaynağı; döngünün aşamalarıyla bağ).</a:t>
            </a:r>
          </a:p>
          <a:p/>
          <a:p>
            <a:r>
              <a:t>NASIL: Üç görevi okutun: ikincisinde döngünün aşamaları sayılır (hazırlık ve risk azaltma, müdahale, iyileştirme). Projelerden bir-ikisini döngüyle eşleyin (ör. Türkiye Afet Risk Azaltma Planı → risk ve zarar azaltma; Bütünleşik İkaz Alarm Sistemi → hazırlıklı olma). Kitapta 18 proje vardır; slaytta dördü. Zenginleştirme: bütün projeleri aşamalara dağıtmak. 30. haftanın araştırma görevinde 'kurumlar' konusunu alan öğrenci varsa raporunu burada 2 dakikada sunar.</a:t>
            </a:r>
          </a:p>
          <a:p/>
          <a:p>
            <a:r>
              <a:t>KAYNAK: Kitap s. 207 Bilgi Kutusu (görevler, hizmetler ve proje adları birebir; logo kitaptan).</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çıkış kartı yerine geçer (ders planı). Freddy haritasına dönün: iz ve yön uydu verisinden çizilmiştir. Diğer seçenekler uydu ya da hava fotoğrafından okunamaz.</a:t>
            </a:r>
          </a:p>
          <a:p/>
          <a:p>
            <a:r>
              <a:t>BEKLENEN CEVAP: A) Bir kasırganın etkilediği bölgeler ve ilerleme yönü</a:t>
            </a:r>
          </a:p>
          <a:p/>
          <a:p>
            <a:r>
              <a:t>KAYNAK: Kitap s. 206 'Afetler ve Mekânsal Bilgi Teknolojileri' paragrafı.</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Örneğin volkanik bir faaliyet ve lav akışının etkileri, bir kasırganın etkilediği bölgeler ve bu afetin hangi yönde ilerlediği bu sayede tespit edilebilmektedir.</a:t>
            </a:r>
          </a:p>
          <a:p/>
          <a:p>
            <a:r>
              <a:t>BEKLENEN CEVAP: A) Bir kasırganın etkilediği bölgeler ve ilerleme yönü</a:t>
            </a:r>
          </a:p>
          <a:p/>
          <a:p>
            <a:r>
              <a:t>KAYNAK: Kitap s. 206 'Afetler ve Mekânsal Bilgi Teknolojileri' paragrafı.</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öğrenme çıktısını tek slaytta toplamak; 7. üniteye köprü kurmak.</a:t>
            </a:r>
          </a:p>
          <a:p/>
          <a:p>
            <a:r>
              <a:t>SÜRE: Kapanış 4 dk: ünite özeti 0,5 · çıkış kartı 3 · ev ve köprü 0,5.</a:t>
            </a:r>
          </a:p>
          <a:p/>
          <a:p>
            <a:r>
              <a:t>NASIL: Üç kartı hızla okutun: kavramlar → türler → yönetim. Köprü sorusunu okuyun; öğrenciler 'bölge' kelimesinin çağrıştırdığı bir kelimeyi deftere yazar. Ünite bitti: MEBİ ve EBA konu tekrarı ile etkinlik çözümleri P2 kalemidir; e-Okul gelişim raporu ünite bitişini izleyen sürede doldurulur (2026-2027 Genelgesi bent 20); kanıt dosyası (grid, şema yaprağı, performans ürünü ve formlar) zümre dosyasına konur. Ünitenin ölçme soruları (s. 210-213) ve çözümleri sunumun ünite sonu bölümündedir.</a:t>
            </a:r>
          </a:p>
          <a:p/>
          <a:p>
            <a:r>
              <a:t>BEKLENEN CEVAP: Özet kartlarının cümleleri kitaptandır. Köprü sorusu için örnek kelimeler: coğrafi bölge (ör. Marmara Bölgesi), iklim bölgesi, tarım ya da sanayi bölgesi, sınır, harita — her kelime kabul edilir; 7. ünitenin ilk dersi bu kelimelerle açılır (bölge ve bölge sınırı).</a:t>
            </a:r>
          </a:p>
          <a:p/>
          <a:p>
            <a:r>
              <a:t>KAYNAK: Kitap s. 191 Görsel 6.4 alt yazısı, s. 196 ilk cümle, s. 203 döngü cümlesi (birebir); program COĞ.9.6.1-9.6.3; ders planı 33. hafta 12. aşama ve notlar.</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 dördüncü soru yalnız 32. haftayla birleştirilen şubelerde.</a:t>
            </a:r>
          </a:p>
          <a:p/>
          <a:p>
            <a:r>
              <a:t>SÜRE: Çıkış kartı 3 dk; kitapsız.</a:t>
            </a:r>
          </a:p>
          <a:p/>
          <a:p>
            <a:r>
              <a:t>NASIL: Öğrenciler kâğıda yazar; yazıcılar kartları ve öz değerlendirme formlarını toplar. Kartlar P2 katılım gözlemine ve e-Okul gelişim raporuna kaynak olur. Dersi 32. haftada yapılan şubelerde 4. soru isteğe bağlıdır.</a:t>
            </a:r>
          </a:p>
          <a:p/>
          <a:p>
            <a:r>
              <a:t>BEKLENEN CEVAP: 1) öncesi: tehlike haritası, aile afet planı, tahliye planı, erken uyarı; esnası: arama kurtarma, zaruri ihtiyaçlar, güvenilir kaynaktan bilgi; sonrası: temel ihtiyaçlar ve altyapı, psikososyal destek, kalıcı konut, tecrübeyle başa dönüş. · 2) güvenilir/resmî kaynaklar (AFAD gibi); mahremiyet, özel hayatın gizliliği, açık rıza; yanıltıcı paylaşım yapmama. · 3) şiddet IX (en yüksek) ve nüfus-konut yoğunluğu; risk ve zarar azaltma (dayanıklı yapı), hazırlıklı olma (çadır ve toplanma alanı planı). · 4) risk yönetimi: risk ve zarar azaltma + hazırlıklı olma (afet öncesi); kriz yönetimi: müdahale + iyileştirme (afet esnası ve sonrası).</a:t>
            </a:r>
          </a:p>
          <a:p/>
          <a:p>
            <a:r>
              <a:t>KAYNAK: Ders planı 33. hafta çıkış kartı; kitap s. 202-209.</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ünite tekrarını ve 7. üniteye hazırlığı duyurmak.</a:t>
            </a:r>
          </a:p>
          <a:p/>
          <a:p>
            <a:r>
              <a:t>NASIL: Tahtaya da yazın. Çalışma kâğıdı ve ölçme soruları 34. haftanın başında cevap anahtarıyla kontrol edilir; ölçme sorularının çözümleri sunumun ünite sonu bölümündedir. MEBİ ve EBA tekrarı P2 'MEBİ ve EBA' kalemidir; erişimi olmayan öğrenci için okul laboratuvarında ders dışı saat planlanır (telefon gerekmez). 2. dönem 2. yazılı sınav dönemi 07-18 Haziran 2027'dir (35-36. haftalar): bu tekrar sınava hazırlıktır. Veliye mali yük getirilmez.</a:t>
            </a:r>
          </a:p>
          <a:p/>
          <a:p>
            <a:r>
              <a:t>KAYNAK: Ders planı 33. hafta ev çalışması ve notlar; çalışma kâğıdı COG9-CK-U6 13-17 (birleştirilen şubelerde 11-12 ve 15); kitap s. 210-213.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 Id="rId3" Type="http://schemas.openxmlformats.org/officeDocument/2006/relationships/image" Target="../media/image3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 Id="rId3" Type="http://schemas.openxmlformats.org/officeDocument/2006/relationships/image" Target="../media/image38.jpg"/><Relationship Id="rId4" Type="http://schemas.openxmlformats.org/officeDocument/2006/relationships/image" Target="../media/image3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 Id="rId3" Type="http://schemas.openxmlformats.org/officeDocument/2006/relationships/image" Target="../media/image4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 Id="rId3" Type="http://schemas.openxmlformats.org/officeDocument/2006/relationships/image" Target="../media/image4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 Id="rId3" Type="http://schemas.openxmlformats.org/officeDocument/2006/relationships/image" Target="../media/image4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 Id="rId3" Type="http://schemas.openxmlformats.org/officeDocument/2006/relationships/image" Target="../media/image4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7B6E"/>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33.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33</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150" b="1" i="0">
                <a:solidFill>
                  <a:srgbClr val="FFFFFF"/>
                </a:solidFill>
                <a:latin typeface="Calibri"/>
              </a:rPr>
              <a:t>Bütüncül Afet Yönetimi II: İstasyonlar ve Deprem Senaryosu</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24-28 Mayıs 2027 · 2 ders saati · Kitap s. 203-209</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COĞ.9.6.3</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Bütüncül afet yönetimi uygulamalarını tablo, grafik, şekil ve/veya diyagramlar aracılığıyla yorumlayabilme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09283" indent="-309283">
              <a:spcBef>
                <a:spcPts val="0"/>
              </a:spcBef>
              <a:spcAft>
                <a:spcPts val="500"/>
              </a:spcAft>
            </a:pPr>
            <a:r>
              <a:rPr lang="tr-TR" sz="2000" b="1" i="0">
                <a:solidFill>
                  <a:srgbClr val="FCC021"/>
                </a:solidFill>
                <a:latin typeface="Calibri"/>
              </a:rPr>
              <a:t>c)  </a:t>
            </a:r>
            <a:r>
              <a:rPr lang="tr-TR" sz="2000" b="0" i="0">
                <a:solidFill>
                  <a:srgbClr val="FFFFFF"/>
                </a:solidFill>
                <a:latin typeface="Calibri"/>
              </a:rPr>
              <a:t>Bütüncül afet yönetimi uygulamalarını gösteren tablo, grafik, şekil ve/veya diyagramlardaki bileşenlerle ilgili sonuçlar çıkarır.</a:t>
            </a:r>
          </a:p>
          <a:p>
            <a:pPr algn="l" marL="309283" indent="-309283">
              <a:spcBef>
                <a:spcPts val="0"/>
              </a:spcBef>
              <a:spcAft>
                <a:spcPts val="0"/>
              </a:spcAft>
            </a:pPr>
            <a:r>
              <a:rPr lang="tr-TR" sz="2000" b="1" i="0">
                <a:solidFill>
                  <a:srgbClr val="FCC021"/>
                </a:solidFill>
                <a:latin typeface="Calibri"/>
              </a:rPr>
              <a:t>ç)  </a:t>
            </a:r>
            <a:r>
              <a:rPr lang="tr-TR" sz="2000" b="0" i="0">
                <a:solidFill>
                  <a:srgbClr val="FFFFFF"/>
                </a:solidFill>
                <a:latin typeface="Calibri"/>
              </a:rPr>
              <a:t>Bütüncül afet yönetimi uygulamalarını gösteren tablo, grafik, şekil ve/veya diyagramlardaki bileşenlerle ilgili ulaştığı sonuçları karşılaştırır.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6. Ünite: Afetler ve Sürdürülebilir Çevre</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168 / 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33.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İstasyonlar</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Afet öncesi · esnası · sonrası afişleri (s. 204)</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Karşılaştırma</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Aynı konu, iki afiş</a:t>
            </a:r>
          </a:p>
        </p:txBody>
      </p:sp>
      <p:sp>
        <p:nvSpPr>
          <p:cNvPr id="13" name="Oval 12"/>
          <p:cNvSpPr/>
          <p:nvPr/>
        </p:nvSpPr>
        <p:spPr>
          <a:xfrm>
            <a:off x="4762880"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Doğru bilgi ve haklar</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Bilgi kirliliği, savunmasız gruplar, çocuklar (s. 203-204)</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Deprem senaryosu</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Performans görevi (s. 209)</a:t>
            </a:r>
          </a:p>
        </p:txBody>
      </p:sp>
      <p:sp>
        <p:nvSpPr>
          <p:cNvPr id="19" name="Oval 18"/>
          <p:cNvSpPr/>
          <p:nvPr/>
        </p:nvSpPr>
        <p:spPr>
          <a:xfrm>
            <a:off x="8558554" y="1828800"/>
            <a:ext cx="768096" cy="768096"/>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Dayanışma ve teknoloji</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İş birliği, slogan, CBS, AFAD (s. 205-207)</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Kapanış</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Ünite özeti ve çıkış kartı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169 /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Aile afet planı ve Etik Günü</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33. HAFTA</a:t>
            </a:r>
          </a:p>
        </p:txBody>
      </p:sp>
      <p:sp>
        <p:nvSpPr>
          <p:cNvPr id="6" name="Rounded Rectangle 5"/>
          <p:cNvSpPr/>
          <p:nvPr/>
        </p:nvSpPr>
        <p:spPr>
          <a:xfrm>
            <a:off x="502920" y="1261872"/>
            <a:ext cx="5455767" cy="4983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55767" cy="594360"/>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559052"/>
            <a:ext cx="5455767" cy="297180"/>
          </a:xfrm>
          <a:prstGeom prst="rect">
            <a:avLst/>
          </a:prstGeom>
          <a:solidFill>
            <a:srgbClr val="1E7B6E"/>
          </a:solidFill>
          <a:ln>
            <a:noFill/>
          </a:ln>
          <a:effectLst/>
        </p:spPr>
        <p:txBody>
          <a:bodyPr rtlCol="0" anchor="ctr"/>
          <a:lstStyle/>
          <a:p/>
        </p:txBody>
      </p:sp>
      <p:sp>
        <p:nvSpPr>
          <p:cNvPr id="9" name="TextBox 8"/>
          <p:cNvSpPr txBox="1"/>
          <p:nvPr/>
        </p:nvSpPr>
        <p:spPr>
          <a:xfrm>
            <a:off x="594360" y="1261872"/>
            <a:ext cx="5272887" cy="5943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Aile afet planı kontrol listesi</a:t>
            </a:r>
          </a:p>
        </p:txBody>
      </p:sp>
      <p:sp>
        <p:nvSpPr>
          <p:cNvPr id="10" name="Rectangle 9"/>
          <p:cNvSpPr/>
          <p:nvPr/>
        </p:nvSpPr>
        <p:spPr>
          <a:xfrm>
            <a:off x="777240" y="2258568"/>
            <a:ext cx="310896" cy="310896"/>
          </a:xfrm>
          <a:prstGeom prst="rect">
            <a:avLst/>
          </a:prstGeom>
          <a:solidFill>
            <a:srgbClr val="FFFFFF"/>
          </a:solidFill>
          <a:ln w="22225">
            <a:solidFill>
              <a:srgbClr val="1E7B6E"/>
            </a:solidFill>
          </a:ln>
          <a:effectLst/>
        </p:spPr>
        <p:txBody>
          <a:bodyPr rtlCol="0" anchor="ctr"/>
          <a:lstStyle/>
          <a:p/>
        </p:txBody>
      </p:sp>
      <p:sp>
        <p:nvSpPr>
          <p:cNvPr id="11" name="TextBox 10"/>
          <p:cNvSpPr txBox="1"/>
          <p:nvPr/>
        </p:nvSpPr>
        <p:spPr>
          <a:xfrm>
            <a:off x="1234440" y="2039112"/>
            <a:ext cx="4541367" cy="74980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Aile afet planı konuşuldu</a:t>
            </a:r>
          </a:p>
        </p:txBody>
      </p:sp>
      <p:sp>
        <p:nvSpPr>
          <p:cNvPr id="12" name="Rectangle 11"/>
          <p:cNvSpPr/>
          <p:nvPr/>
        </p:nvSpPr>
        <p:spPr>
          <a:xfrm>
            <a:off x="777240" y="3008376"/>
            <a:ext cx="310896" cy="310896"/>
          </a:xfrm>
          <a:prstGeom prst="rect">
            <a:avLst/>
          </a:prstGeom>
          <a:solidFill>
            <a:srgbClr val="FFFFFF"/>
          </a:solidFill>
          <a:ln w="22225">
            <a:solidFill>
              <a:srgbClr val="1E7B6E"/>
            </a:solidFill>
          </a:ln>
          <a:effectLst/>
        </p:spPr>
        <p:txBody>
          <a:bodyPr rtlCol="0" anchor="ctr"/>
          <a:lstStyle/>
          <a:p/>
        </p:txBody>
      </p:sp>
      <p:sp>
        <p:nvSpPr>
          <p:cNvPr id="13" name="TextBox 12"/>
          <p:cNvSpPr txBox="1"/>
          <p:nvPr/>
        </p:nvSpPr>
        <p:spPr>
          <a:xfrm>
            <a:off x="1234440" y="2788920"/>
            <a:ext cx="4541367" cy="74980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Ev içi güvenli yer ve toplanma yeri belirlendi</a:t>
            </a:r>
          </a:p>
        </p:txBody>
      </p:sp>
      <p:sp>
        <p:nvSpPr>
          <p:cNvPr id="14" name="Rectangle 13"/>
          <p:cNvSpPr/>
          <p:nvPr/>
        </p:nvSpPr>
        <p:spPr>
          <a:xfrm>
            <a:off x="777240" y="3758184"/>
            <a:ext cx="310896" cy="310896"/>
          </a:xfrm>
          <a:prstGeom prst="rect">
            <a:avLst/>
          </a:prstGeom>
          <a:solidFill>
            <a:srgbClr val="FFFFFF"/>
          </a:solidFill>
          <a:ln w="22225">
            <a:solidFill>
              <a:srgbClr val="1E7B6E"/>
            </a:solidFill>
          </a:ln>
          <a:effectLst/>
        </p:spPr>
        <p:txBody>
          <a:bodyPr rtlCol="0" anchor="ctr"/>
          <a:lstStyle/>
          <a:p/>
        </p:txBody>
      </p:sp>
      <p:sp>
        <p:nvSpPr>
          <p:cNvPr id="15" name="TextBox 14"/>
          <p:cNvSpPr txBox="1"/>
          <p:nvPr/>
        </p:nvSpPr>
        <p:spPr>
          <a:xfrm>
            <a:off x="1234440" y="3538728"/>
            <a:ext cx="4541367" cy="74980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Afet ve acil durum çantası hazırlandı ya da gözden geçirildi</a:t>
            </a:r>
          </a:p>
        </p:txBody>
      </p:sp>
      <p:sp>
        <p:nvSpPr>
          <p:cNvPr id="16" name="Rectangle 15"/>
          <p:cNvSpPr/>
          <p:nvPr/>
        </p:nvSpPr>
        <p:spPr>
          <a:xfrm>
            <a:off x="777240" y="4507992"/>
            <a:ext cx="310896" cy="310896"/>
          </a:xfrm>
          <a:prstGeom prst="rect">
            <a:avLst/>
          </a:prstGeom>
          <a:solidFill>
            <a:srgbClr val="FFFFFF"/>
          </a:solidFill>
          <a:ln w="22225">
            <a:solidFill>
              <a:srgbClr val="1E7B6E"/>
            </a:solidFill>
          </a:ln>
          <a:effectLst/>
        </p:spPr>
        <p:txBody>
          <a:bodyPr rtlCol="0" anchor="ctr"/>
          <a:lstStyle/>
          <a:p/>
        </p:txBody>
      </p:sp>
      <p:sp>
        <p:nvSpPr>
          <p:cNvPr id="17" name="TextBox 16"/>
          <p:cNvSpPr txBox="1"/>
          <p:nvPr/>
        </p:nvSpPr>
        <p:spPr>
          <a:xfrm>
            <a:off x="1234440" y="4288536"/>
            <a:ext cx="4541367" cy="74980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Aile iletişim planı yapıldı</a:t>
            </a:r>
          </a:p>
        </p:txBody>
      </p:sp>
      <p:sp>
        <p:nvSpPr>
          <p:cNvPr id="18" name="Rounded Rectangle 17"/>
          <p:cNvSpPr/>
          <p:nvPr/>
        </p:nvSpPr>
        <p:spPr>
          <a:xfrm>
            <a:off x="685800" y="5148071"/>
            <a:ext cx="5090007" cy="960120"/>
          </a:xfrm>
          <a:prstGeom prst="roundRect">
            <a:avLst>
              <a:gd name="adj" fmla="val 8000"/>
            </a:avLst>
          </a:prstGeom>
          <a:solidFill>
            <a:srgbClr val="F9E1E1"/>
          </a:solidFill>
          <a:ln>
            <a:noFill/>
          </a:ln>
          <a:effectLst/>
        </p:spPr>
        <p:txBody>
          <a:bodyPr rtlCol="0" anchor="ctr" wrap="square" lIns="201168" rIns="201168" tIns="73152" bIns="73152">
            <a:noAutofit/>
          </a:bodyPr>
          <a:lstStyle/>
          <a:p>
            <a:pPr algn="ctr">
              <a:spcBef>
                <a:spcPts val="0"/>
              </a:spcBef>
              <a:spcAft>
                <a:spcPts val="0"/>
              </a:spcAft>
            </a:pPr>
            <a:r>
              <a:rPr lang="tr-TR" sz="1900" b="0" i="0">
                <a:solidFill>
                  <a:srgbClr val="262626"/>
                </a:solidFill>
                <a:latin typeface="Calibri"/>
              </a:rPr>
              <a:t>Yalnız işaretli kutular · </a:t>
            </a:r>
            <a:r>
              <a:rPr lang="tr-TR" sz="1900" b="1" i="0">
                <a:solidFill>
                  <a:srgbClr val="262626"/>
                </a:solidFill>
                <a:latin typeface="Calibri"/>
              </a:rPr>
              <a:t>adres, telefon, ad yazılmaz</a:t>
            </a:r>
          </a:p>
        </p:txBody>
      </p:sp>
      <p:sp>
        <p:nvSpPr>
          <p:cNvPr id="19" name="Rounded Rectangle 18"/>
          <p:cNvSpPr/>
          <p:nvPr/>
        </p:nvSpPr>
        <p:spPr>
          <a:xfrm>
            <a:off x="6233007" y="1261872"/>
            <a:ext cx="5455767" cy="498348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6233007" y="1261872"/>
            <a:ext cx="5455767" cy="594360"/>
          </a:xfrm>
          <a:prstGeom prst="roundRect">
            <a:avLst>
              <a:gd name="adj" fmla="val 25000"/>
            </a:avLst>
          </a:prstGeom>
          <a:solidFill>
            <a:srgbClr val="4F4F4F"/>
          </a:solidFill>
          <a:ln>
            <a:noFill/>
          </a:ln>
          <a:effectLst/>
        </p:spPr>
        <p:txBody>
          <a:bodyPr rtlCol="0" anchor="ctr"/>
          <a:lstStyle/>
          <a:p/>
        </p:txBody>
      </p:sp>
      <p:sp>
        <p:nvSpPr>
          <p:cNvPr id="21" name="Rectangle 20"/>
          <p:cNvSpPr/>
          <p:nvPr/>
        </p:nvSpPr>
        <p:spPr>
          <a:xfrm>
            <a:off x="6233007" y="1559052"/>
            <a:ext cx="5455767" cy="297180"/>
          </a:xfrm>
          <a:prstGeom prst="rect">
            <a:avLst/>
          </a:prstGeom>
          <a:solidFill>
            <a:srgbClr val="4F4F4F"/>
          </a:solidFill>
          <a:ln>
            <a:noFill/>
          </a:ln>
          <a:effectLst/>
        </p:spPr>
        <p:txBody>
          <a:bodyPr rtlCol="0" anchor="ctr"/>
          <a:lstStyle/>
          <a:p/>
        </p:txBody>
      </p:sp>
      <p:sp>
        <p:nvSpPr>
          <p:cNvPr id="22" name="TextBox 21"/>
          <p:cNvSpPr txBox="1"/>
          <p:nvPr/>
        </p:nvSpPr>
        <p:spPr>
          <a:xfrm>
            <a:off x="6324447" y="1261872"/>
            <a:ext cx="5272887" cy="5943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25 Mayıs Etik Günü</a:t>
            </a:r>
          </a:p>
        </p:txBody>
      </p:sp>
      <p:sp>
        <p:nvSpPr>
          <p:cNvPr id="23" name="TextBox 22"/>
          <p:cNvSpPr txBox="1"/>
          <p:nvPr/>
        </p:nvSpPr>
        <p:spPr>
          <a:xfrm>
            <a:off x="6507327" y="2084832"/>
            <a:ext cx="4907127"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E7B6E"/>
                </a:solidFill>
                <a:latin typeface="Calibri"/>
              </a:rPr>
              <a:t>Bugünün sorusu</a:t>
            </a:r>
          </a:p>
        </p:txBody>
      </p:sp>
      <p:sp>
        <p:nvSpPr>
          <p:cNvPr id="24" name="Rounded Rectangle 23"/>
          <p:cNvSpPr/>
          <p:nvPr/>
        </p:nvSpPr>
        <p:spPr>
          <a:xfrm>
            <a:off x="6507327" y="2587752"/>
            <a:ext cx="4907127" cy="1828800"/>
          </a:xfrm>
          <a:prstGeom prst="roundRect">
            <a:avLst>
              <a:gd name="adj" fmla="val 8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3000" b="1" i="0">
                <a:solidFill>
                  <a:srgbClr val="262626"/>
                </a:solidFill>
                <a:latin typeface="Calibri"/>
              </a:rPr>
              <a:t>Afette yardım kime, nasıl ulaşmalı?</a:t>
            </a:r>
          </a:p>
        </p:txBody>
      </p:sp>
      <p:sp>
        <p:nvSpPr>
          <p:cNvPr id="25" name="TextBox 24"/>
          <p:cNvSpPr txBox="1"/>
          <p:nvPr/>
        </p:nvSpPr>
        <p:spPr>
          <a:xfrm>
            <a:off x="6507327" y="4599432"/>
            <a:ext cx="4907127" cy="150876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767676"/>
                </a:solidFill>
                <a:latin typeface="Calibri"/>
              </a:rPr>
              <a:t>Cevabını dersin sonunda, dayanışma bölümünde birlikte vereceğiz.</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170 /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Geçen haftadan: döngünün dört aşaması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HATIRLAYALIM</a:t>
            </a:r>
          </a:p>
        </p:txBody>
      </p:sp>
      <p:sp>
        <p:nvSpPr>
          <p:cNvPr id="6" name="Rounded Rectangle 5"/>
          <p:cNvSpPr/>
          <p:nvPr/>
        </p:nvSpPr>
        <p:spPr>
          <a:xfrm>
            <a:off x="502920" y="1719072"/>
            <a:ext cx="2880360" cy="1705356"/>
          </a:xfrm>
          <a:prstGeom prst="roundRect">
            <a:avLst>
              <a:gd name="adj" fmla="val 14000"/>
            </a:avLst>
          </a:prstGeom>
          <a:solidFill>
            <a:srgbClr val="1F86BF"/>
          </a:solidFill>
          <a:ln>
            <a:noFill/>
          </a:ln>
          <a:effectLst/>
        </p:spPr>
        <p:txBody>
          <a:bodyPr rtlCol="0" anchor="ctr" wrap="square" lIns="73152" rIns="73152" tIns="73152" bIns="73152">
            <a:noAutofit/>
          </a:bodyPr>
          <a:lstStyle/>
          <a:p>
            <a:pPr algn="ctr">
              <a:spcBef>
                <a:spcPts val="0"/>
              </a:spcBef>
              <a:spcAft>
                <a:spcPts val="0"/>
              </a:spcAft>
            </a:pPr>
            <a:r>
              <a:rPr lang="tr-TR" sz="2200" b="1" i="0">
                <a:solidFill>
                  <a:srgbClr val="FFFFFF"/>
                </a:solidFill>
                <a:latin typeface="Calibri"/>
              </a:rPr>
              <a:t>Risk ve zarar azaltma</a:t>
            </a:r>
          </a:p>
        </p:txBody>
      </p:sp>
      <p:sp>
        <p:nvSpPr>
          <p:cNvPr id="7" name="Rounded Rectangle 6"/>
          <p:cNvSpPr/>
          <p:nvPr/>
        </p:nvSpPr>
        <p:spPr>
          <a:xfrm>
            <a:off x="4297680" y="1719072"/>
            <a:ext cx="2880360" cy="1705356"/>
          </a:xfrm>
          <a:prstGeom prst="roundRect">
            <a:avLst>
              <a:gd name="adj" fmla="val 14000"/>
            </a:avLst>
          </a:prstGeom>
          <a:solidFill>
            <a:srgbClr val="D97316"/>
          </a:solidFill>
          <a:ln>
            <a:noFill/>
          </a:ln>
          <a:effectLst/>
        </p:spPr>
        <p:txBody>
          <a:bodyPr rtlCol="0" anchor="ctr" wrap="square" lIns="73152" rIns="73152" tIns="73152" bIns="73152">
            <a:noAutofit/>
          </a:bodyPr>
          <a:lstStyle/>
          <a:p>
            <a:pPr algn="ctr">
              <a:spcBef>
                <a:spcPts val="0"/>
              </a:spcBef>
              <a:spcAft>
                <a:spcPts val="0"/>
              </a:spcAft>
            </a:pPr>
            <a:r>
              <a:rPr lang="tr-TR" sz="2200" b="1" i="0">
                <a:solidFill>
                  <a:srgbClr val="FFFFFF"/>
                </a:solidFill>
                <a:latin typeface="Calibri"/>
              </a:rPr>
              <a:t>Hazırlıklı olma</a:t>
            </a:r>
          </a:p>
        </p:txBody>
      </p:sp>
      <p:sp>
        <p:nvSpPr>
          <p:cNvPr id="8" name="Rounded Rectangle 7"/>
          <p:cNvSpPr/>
          <p:nvPr/>
        </p:nvSpPr>
        <p:spPr>
          <a:xfrm>
            <a:off x="4297680" y="4064508"/>
            <a:ext cx="2880360" cy="1705356"/>
          </a:xfrm>
          <a:prstGeom prst="roundRect">
            <a:avLst>
              <a:gd name="adj" fmla="val 14000"/>
            </a:avLst>
          </a:prstGeom>
          <a:solidFill>
            <a:srgbClr val="CC3333"/>
          </a:solidFill>
          <a:ln>
            <a:noFill/>
          </a:ln>
          <a:effectLst/>
        </p:spPr>
        <p:txBody>
          <a:bodyPr rtlCol="0" anchor="ctr" wrap="square" lIns="73152" rIns="73152" tIns="73152" bIns="73152">
            <a:noAutofit/>
          </a:bodyPr>
          <a:lstStyle/>
          <a:p>
            <a:pPr algn="ctr">
              <a:spcBef>
                <a:spcPts val="0"/>
              </a:spcBef>
              <a:spcAft>
                <a:spcPts val="0"/>
              </a:spcAft>
            </a:pPr>
            <a:r>
              <a:rPr lang="tr-TR" sz="2200" b="1" i="0">
                <a:solidFill>
                  <a:srgbClr val="FFFFFF"/>
                </a:solidFill>
                <a:latin typeface="Calibri"/>
              </a:rPr>
              <a:t>Müdahale</a:t>
            </a:r>
          </a:p>
        </p:txBody>
      </p:sp>
      <p:sp>
        <p:nvSpPr>
          <p:cNvPr id="9" name="Rounded Rectangle 8"/>
          <p:cNvSpPr/>
          <p:nvPr/>
        </p:nvSpPr>
        <p:spPr>
          <a:xfrm>
            <a:off x="502920" y="4064508"/>
            <a:ext cx="2880360" cy="1705356"/>
          </a:xfrm>
          <a:prstGeom prst="roundRect">
            <a:avLst>
              <a:gd name="adj" fmla="val 14000"/>
            </a:avLst>
          </a:prstGeom>
          <a:solidFill>
            <a:srgbClr val="55992E"/>
          </a:solidFill>
          <a:ln>
            <a:noFill/>
          </a:ln>
          <a:effectLst/>
        </p:spPr>
        <p:txBody>
          <a:bodyPr rtlCol="0" anchor="ctr" wrap="square" lIns="73152" rIns="73152" tIns="73152" bIns="73152">
            <a:noAutofit/>
          </a:bodyPr>
          <a:lstStyle/>
          <a:p>
            <a:pPr algn="ctr">
              <a:spcBef>
                <a:spcPts val="0"/>
              </a:spcBef>
              <a:spcAft>
                <a:spcPts val="0"/>
              </a:spcAft>
            </a:pPr>
            <a:r>
              <a:rPr lang="tr-TR" sz="2200" b="1" i="0">
                <a:solidFill>
                  <a:srgbClr val="FFFFFF"/>
                </a:solidFill>
                <a:latin typeface="Calibri"/>
              </a:rPr>
              <a:t>İyileştirme</a:t>
            </a:r>
          </a:p>
        </p:txBody>
      </p:sp>
      <p:cxnSp>
        <p:nvCxnSpPr>
          <p:cNvPr id="10" name="Connector 9"/>
          <p:cNvCxnSpPr/>
          <p:nvPr/>
        </p:nvCxnSpPr>
        <p:spPr>
          <a:xfrm>
            <a:off x="3456432" y="2571750"/>
            <a:ext cx="768096" cy="0"/>
          </a:xfrm>
          <a:prstGeom prst="line">
            <a:avLst/>
          </a:prstGeom>
          <a:ln w="44450">
            <a:solidFill>
              <a:srgbClr val="4F4F4F"/>
            </a:solidFill>
            <a:tailEnd type="triangle" w="med" len="med"/>
          </a:ln>
        </p:spPr>
      </p:cxnSp>
      <p:cxnSp>
        <p:nvCxnSpPr>
          <p:cNvPr id="11" name="Connector 10"/>
          <p:cNvCxnSpPr/>
          <p:nvPr/>
        </p:nvCxnSpPr>
        <p:spPr>
          <a:xfrm flipH="1">
            <a:off x="3456432" y="4917186"/>
            <a:ext cx="768096" cy="0"/>
          </a:xfrm>
          <a:prstGeom prst="line">
            <a:avLst/>
          </a:prstGeom>
          <a:ln w="44450">
            <a:solidFill>
              <a:srgbClr val="4F4F4F"/>
            </a:solidFill>
            <a:tailEnd type="triangle" w="med" len="med"/>
          </a:ln>
        </p:spPr>
      </p:cxnSp>
      <p:cxnSp>
        <p:nvCxnSpPr>
          <p:cNvPr id="12" name="Connector 11"/>
          <p:cNvCxnSpPr/>
          <p:nvPr/>
        </p:nvCxnSpPr>
        <p:spPr>
          <a:xfrm>
            <a:off x="5737860" y="3479292"/>
            <a:ext cx="0" cy="530352"/>
          </a:xfrm>
          <a:prstGeom prst="line">
            <a:avLst/>
          </a:prstGeom>
          <a:ln w="44450">
            <a:solidFill>
              <a:srgbClr val="4F4F4F"/>
            </a:solidFill>
            <a:tailEnd type="triangle" w="med" len="med"/>
          </a:ln>
        </p:spPr>
      </p:cxnSp>
      <p:cxnSp>
        <p:nvCxnSpPr>
          <p:cNvPr id="13" name="Connector 12"/>
          <p:cNvCxnSpPr/>
          <p:nvPr/>
        </p:nvCxnSpPr>
        <p:spPr>
          <a:xfrm flipV="1">
            <a:off x="1943100" y="3479292"/>
            <a:ext cx="0" cy="530352"/>
          </a:xfrm>
          <a:prstGeom prst="line">
            <a:avLst/>
          </a:prstGeom>
          <a:ln w="44450">
            <a:solidFill>
              <a:srgbClr val="4F4F4F"/>
            </a:solidFill>
            <a:tailEnd type="triangle" w="med" len="med"/>
          </a:ln>
        </p:spPr>
      </p:cxnSp>
      <p:sp>
        <p:nvSpPr>
          <p:cNvPr id="14" name="Rounded Rectangle 13"/>
          <p:cNvSpPr/>
          <p:nvPr/>
        </p:nvSpPr>
        <p:spPr>
          <a:xfrm>
            <a:off x="5847588" y="3552444"/>
            <a:ext cx="1005840" cy="384048"/>
          </a:xfrm>
          <a:prstGeom prst="roundRect">
            <a:avLst>
              <a:gd name="adj" fmla="val 30000"/>
            </a:avLst>
          </a:prstGeom>
          <a:solidFill>
            <a:srgbClr val="D3373A"/>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AFET</a:t>
            </a:r>
          </a:p>
        </p:txBody>
      </p:sp>
      <p:sp>
        <p:nvSpPr>
          <p:cNvPr id="15" name="TextBox 14"/>
          <p:cNvSpPr txBox="1"/>
          <p:nvPr/>
        </p:nvSpPr>
        <p:spPr>
          <a:xfrm>
            <a:off x="2052828" y="3552444"/>
            <a:ext cx="1737360" cy="384048"/>
          </a:xfrm>
          <a:prstGeom prst="rect">
            <a:avLst/>
          </a:prstGeom>
          <a:noFill/>
        </p:spPr>
        <p:txBody>
          <a:bodyPr wrap="square" anchor="ctr" lIns="73152" rIns="73152" tIns="36576" bIns="36576">
            <a:noAutofit/>
          </a:bodyPr>
          <a:lstStyle/>
          <a:p>
            <a:pPr algn="l">
              <a:spcBef>
                <a:spcPts val="0"/>
              </a:spcBef>
              <a:spcAft>
                <a:spcPts val="0"/>
              </a:spcAft>
            </a:pPr>
            <a:r>
              <a:rPr lang="tr-TR" sz="1300" b="0" i="1">
                <a:solidFill>
                  <a:srgbClr val="767676"/>
                </a:solidFill>
                <a:latin typeface="Calibri"/>
              </a:rPr>
              <a:t>tecrübeyle başa dönüş</a:t>
            </a:r>
          </a:p>
        </p:txBody>
      </p:sp>
      <p:sp>
        <p:nvSpPr>
          <p:cNvPr id="16" name="Rounded Rectangle 15"/>
          <p:cNvSpPr/>
          <p:nvPr/>
        </p:nvSpPr>
        <p:spPr>
          <a:xfrm>
            <a:off x="502920" y="1243584"/>
            <a:ext cx="6675120" cy="402336"/>
          </a:xfrm>
          <a:prstGeom prst="roundRect">
            <a:avLst>
              <a:gd name="adj" fmla="val 30000"/>
            </a:avLst>
          </a:prstGeom>
          <a:solidFill>
            <a:srgbClr val="1F6E9E"/>
          </a:solidFill>
          <a:ln>
            <a:noFill/>
          </a:ln>
          <a:effectLst/>
        </p:spPr>
        <p:txBody>
          <a:bodyPr rtlCol="0" anchor="ctr" wrap="square" lIns="54864" rIns="54864" tIns="0" bIns="0">
            <a:noAutofit/>
          </a:bodyPr>
          <a:lstStyle/>
          <a:p>
            <a:pPr algn="ctr">
              <a:spcBef>
                <a:spcPts val="0"/>
              </a:spcBef>
              <a:spcAft>
                <a:spcPts val="0"/>
              </a:spcAft>
            </a:pPr>
            <a:r>
              <a:rPr lang="tr-TR" sz="1600" b="1" i="0">
                <a:solidFill>
                  <a:srgbClr val="FFFFFF"/>
                </a:solidFill>
                <a:latin typeface="Calibri"/>
              </a:rPr>
              <a:t>RİSK YÖNETİMİ</a:t>
            </a:r>
            <a:r>
              <a:rPr lang="tr-TR" sz="1600" b="0" i="0">
                <a:solidFill>
                  <a:srgbClr val="FFFFFF"/>
                </a:solidFill>
                <a:latin typeface="Calibri"/>
              </a:rPr>
              <a:t> · afet öncesi</a:t>
            </a:r>
          </a:p>
        </p:txBody>
      </p:sp>
      <p:sp>
        <p:nvSpPr>
          <p:cNvPr id="17" name="Rounded Rectangle 16"/>
          <p:cNvSpPr/>
          <p:nvPr/>
        </p:nvSpPr>
        <p:spPr>
          <a:xfrm>
            <a:off x="502920" y="5843016"/>
            <a:ext cx="6675120" cy="402336"/>
          </a:xfrm>
          <a:prstGeom prst="roundRect">
            <a:avLst>
              <a:gd name="adj" fmla="val 30000"/>
            </a:avLst>
          </a:prstGeom>
          <a:solidFill>
            <a:srgbClr val="A8322C"/>
          </a:solidFill>
          <a:ln>
            <a:noFill/>
          </a:ln>
          <a:effectLst/>
        </p:spPr>
        <p:txBody>
          <a:bodyPr rtlCol="0" anchor="ctr" wrap="square" lIns="54864" rIns="54864" tIns="0" bIns="0">
            <a:noAutofit/>
          </a:bodyPr>
          <a:lstStyle/>
          <a:p>
            <a:pPr algn="ctr">
              <a:spcBef>
                <a:spcPts val="0"/>
              </a:spcBef>
              <a:spcAft>
                <a:spcPts val="0"/>
              </a:spcAft>
            </a:pPr>
            <a:r>
              <a:rPr lang="tr-TR" sz="1600" b="1" i="0">
                <a:solidFill>
                  <a:srgbClr val="FFFFFF"/>
                </a:solidFill>
                <a:latin typeface="Calibri"/>
              </a:rPr>
              <a:t>KRİZ YÖNETİMİ</a:t>
            </a:r>
            <a:r>
              <a:rPr lang="tr-TR" sz="1600" b="0" i="0">
                <a:solidFill>
                  <a:srgbClr val="FFFFFF"/>
                </a:solidFill>
                <a:latin typeface="Calibri"/>
              </a:rPr>
              <a:t> · afet esnası ve sonrası</a:t>
            </a:r>
          </a:p>
        </p:txBody>
      </p:sp>
      <p:sp>
        <p:nvSpPr>
          <p:cNvPr id="18" name="Rounded Rectangle 17"/>
          <p:cNvSpPr/>
          <p:nvPr/>
        </p:nvSpPr>
        <p:spPr>
          <a:xfrm>
            <a:off x="7452360" y="1243584"/>
            <a:ext cx="4236415" cy="2377440"/>
          </a:xfrm>
          <a:prstGeom prst="roundRect">
            <a:avLst>
              <a:gd name="adj" fmla="val 8000"/>
            </a:avLst>
          </a:prstGeom>
          <a:solidFill>
            <a:srgbClr val="F0F0F0"/>
          </a:solidFill>
          <a:ln>
            <a:noFill/>
          </a:ln>
          <a:effectLst/>
        </p:spPr>
        <p:txBody>
          <a:bodyPr rtlCol="0" anchor="ctr"/>
          <a:lstStyle/>
          <a:p/>
        </p:txBody>
      </p:sp>
      <p:sp>
        <p:nvSpPr>
          <p:cNvPr id="19" name="Rectangle 18"/>
          <p:cNvSpPr/>
          <p:nvPr/>
        </p:nvSpPr>
        <p:spPr>
          <a:xfrm>
            <a:off x="7452360" y="1243584"/>
            <a:ext cx="118872" cy="2377440"/>
          </a:xfrm>
          <a:prstGeom prst="rect">
            <a:avLst/>
          </a:prstGeom>
          <a:solidFill>
            <a:srgbClr val="1E7B6E"/>
          </a:solidFill>
          <a:ln>
            <a:noFill/>
          </a:ln>
          <a:effectLst/>
        </p:spPr>
        <p:txBody>
          <a:bodyPr rtlCol="0" anchor="ctr"/>
          <a:lstStyle/>
          <a:p/>
        </p:txBody>
      </p:sp>
      <p:sp>
        <p:nvSpPr>
          <p:cNvPr id="20" name="TextBox 19"/>
          <p:cNvSpPr txBox="1"/>
          <p:nvPr/>
        </p:nvSpPr>
        <p:spPr>
          <a:xfrm>
            <a:off x="7726680" y="1243584"/>
            <a:ext cx="3824935" cy="23774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Bütüncül afet yönetiminin aşamaları; bir bütünlük içerisinde olup afet öncesi, esnası ve sonrasında uygulanabilecek niteliktedir.</a:t>
            </a:r>
          </a:p>
        </p:txBody>
      </p:sp>
      <p:sp>
        <p:nvSpPr>
          <p:cNvPr id="21" name="TextBox 20"/>
          <p:cNvSpPr txBox="1"/>
          <p:nvPr/>
        </p:nvSpPr>
        <p:spPr>
          <a:xfrm>
            <a:off x="7452360" y="3776472"/>
            <a:ext cx="4236415"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E7B6E"/>
                </a:solidFill>
                <a:latin typeface="Calibri"/>
              </a:rPr>
              <a:t>Bugün üç istasyon:</a:t>
            </a:r>
          </a:p>
        </p:txBody>
      </p:sp>
      <p:sp>
        <p:nvSpPr>
          <p:cNvPr id="22" name="Rounded Rectangle 21"/>
          <p:cNvSpPr/>
          <p:nvPr/>
        </p:nvSpPr>
        <p:spPr>
          <a:xfrm>
            <a:off x="7452360" y="4325112"/>
            <a:ext cx="4236415" cy="566928"/>
          </a:xfrm>
          <a:prstGeom prst="roundRect">
            <a:avLst>
              <a:gd name="adj" fmla="val 3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öncesi</a:t>
            </a:r>
          </a:p>
        </p:txBody>
      </p:sp>
      <p:sp>
        <p:nvSpPr>
          <p:cNvPr id="23" name="Rounded Rectangle 22"/>
          <p:cNvSpPr/>
          <p:nvPr/>
        </p:nvSpPr>
        <p:spPr>
          <a:xfrm>
            <a:off x="7452360" y="5001768"/>
            <a:ext cx="4236415" cy="566928"/>
          </a:xfrm>
          <a:prstGeom prst="roundRect">
            <a:avLst>
              <a:gd name="adj" fmla="val 3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esnası</a:t>
            </a:r>
          </a:p>
        </p:txBody>
      </p:sp>
      <p:sp>
        <p:nvSpPr>
          <p:cNvPr id="24" name="Rounded Rectangle 23"/>
          <p:cNvSpPr/>
          <p:nvPr/>
        </p:nvSpPr>
        <p:spPr>
          <a:xfrm>
            <a:off x="7452360" y="5678424"/>
            <a:ext cx="4236415" cy="566928"/>
          </a:xfrm>
          <a:prstGeom prst="roundRect">
            <a:avLst>
              <a:gd name="adj" fmla="val 3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sonrası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171 /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İstasyon Çalışması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502920" y="1216152"/>
            <a:ext cx="11185855" cy="128016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61264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61264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Bütüncül afet yönetimini coğrafi temsillerle yorumlayabilme</a:t>
            </a:r>
          </a:p>
        </p:txBody>
      </p:sp>
      <p:sp>
        <p:nvSpPr>
          <p:cNvPr id="9" name="TextBox 8"/>
          <p:cNvSpPr txBox="1"/>
          <p:nvPr/>
        </p:nvSpPr>
        <p:spPr>
          <a:xfrm>
            <a:off x="640080" y="1856232"/>
            <a:ext cx="1143000" cy="58521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856232"/>
            <a:ext cx="9722815" cy="585216"/>
          </a:xfrm>
          <a:prstGeom prst="rect">
            <a:avLst/>
          </a:prstGeom>
          <a:noFill/>
        </p:spPr>
        <p:txBody>
          <a:bodyPr wrap="square" anchor="ctr" lIns="73152" rIns="73152" tIns="36576" bIns="36576">
            <a:noAutofit/>
          </a:bodyPr>
          <a:lstStyle/>
          <a:p>
            <a:pPr algn="l">
              <a:spcBef>
                <a:spcPts val="0"/>
              </a:spcBef>
              <a:spcAft>
                <a:spcPts val="0"/>
              </a:spcAft>
            </a:pPr>
            <a:r>
              <a:rPr lang="tr-TR" sz="1450" b="0" i="1">
                <a:solidFill>
                  <a:srgbClr val="262626"/>
                </a:solidFill>
                <a:latin typeface="Calibri"/>
              </a:rPr>
              <a:t>Tablo, Grafik, Şekil ve/veya Diyagram; İletişim, İş Birliği, Kendini Tanıma (Öz Farkındalık), Kendini Düzenleme (Öz Düzenleme), Kendine Uyarlama (Öz Yansıtma), Sosyal Farkındalık, Sorumlu Karar Verme, Kendine İnanma (Öz Yeterlilik), Açık Fikirlilik</a:t>
            </a:r>
          </a:p>
        </p:txBody>
      </p:sp>
      <p:sp>
        <p:nvSpPr>
          <p:cNvPr id="11" name="TextBox 10"/>
          <p:cNvSpPr txBox="1"/>
          <p:nvPr/>
        </p:nvSpPr>
        <p:spPr>
          <a:xfrm>
            <a:off x="502920" y="2532888"/>
            <a:ext cx="11185855" cy="64008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Bütüncül Afet Yönetimi İstasyon Çalışması · Yönerge:</a:t>
            </a:r>
            <a:r>
              <a:rPr lang="tr-TR" sz="1800" b="0" i="0">
                <a:solidFill>
                  <a:srgbClr val="262626"/>
                </a:solidFill>
                <a:latin typeface="Calibri"/>
              </a:rPr>
              <a:t> Aşağıda verilen adımları takip ederek bütüncül afet yönetimiyle ilgili afiş hazırlayınız.</a:t>
            </a:r>
          </a:p>
        </p:txBody>
      </p:sp>
      <p:sp>
        <p:nvSpPr>
          <p:cNvPr id="12" name="Rounded Rectangle 11"/>
          <p:cNvSpPr/>
          <p:nvPr/>
        </p:nvSpPr>
        <p:spPr>
          <a:xfrm>
            <a:off x="502920" y="3227832"/>
            <a:ext cx="5501487" cy="94792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227832"/>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14" name="TextBox 13"/>
          <p:cNvSpPr txBox="1"/>
          <p:nvPr/>
        </p:nvSpPr>
        <p:spPr>
          <a:xfrm>
            <a:off x="2240280" y="3227832"/>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Sınıfta afet öncesi, afet esnası ve afet sonrası olmak üzere üç istasyon oluşturunuz.</a:t>
            </a:r>
          </a:p>
        </p:txBody>
      </p:sp>
      <p:sp>
        <p:nvSpPr>
          <p:cNvPr id="15" name="Rounded Rectangle 14"/>
          <p:cNvSpPr/>
          <p:nvPr/>
        </p:nvSpPr>
        <p:spPr>
          <a:xfrm>
            <a:off x="502920" y="4285488"/>
            <a:ext cx="5501487" cy="94792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4285488"/>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17" name="TextBox 16"/>
          <p:cNvSpPr txBox="1"/>
          <p:nvPr/>
        </p:nvSpPr>
        <p:spPr>
          <a:xfrm>
            <a:off x="2240280" y="4285488"/>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Ayrışık (heterojen) özelliklere sahip gruplar oluşturarak istasyonlara geçiniz.</a:t>
            </a:r>
          </a:p>
        </p:txBody>
      </p:sp>
      <p:sp>
        <p:nvSpPr>
          <p:cNvPr id="18" name="Rounded Rectangle 17"/>
          <p:cNvSpPr/>
          <p:nvPr/>
        </p:nvSpPr>
        <p:spPr>
          <a:xfrm>
            <a:off x="502920" y="5343144"/>
            <a:ext cx="5501487" cy="947928"/>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5343144"/>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Adım</a:t>
            </a:r>
          </a:p>
        </p:txBody>
      </p:sp>
      <p:sp>
        <p:nvSpPr>
          <p:cNvPr id="20" name="TextBox 19"/>
          <p:cNvSpPr txBox="1"/>
          <p:nvPr/>
        </p:nvSpPr>
        <p:spPr>
          <a:xfrm>
            <a:off x="2240280" y="5343144"/>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Her istasyonda belirlenen konuya göre afiş hazırlama çalışması yapınız.</a:t>
            </a:r>
          </a:p>
        </p:txBody>
      </p:sp>
      <p:sp>
        <p:nvSpPr>
          <p:cNvPr id="21" name="Rounded Rectangle 20"/>
          <p:cNvSpPr/>
          <p:nvPr/>
        </p:nvSpPr>
        <p:spPr>
          <a:xfrm>
            <a:off x="6187287" y="3227832"/>
            <a:ext cx="5501487" cy="947928"/>
          </a:xfrm>
          <a:prstGeom prst="roundRect">
            <a:avLst>
              <a:gd name="adj" fmla="val 8000"/>
            </a:avLst>
          </a:prstGeom>
          <a:solidFill>
            <a:srgbClr val="F0F0F0"/>
          </a:solidFill>
          <a:ln>
            <a:noFill/>
          </a:ln>
          <a:effectLst/>
        </p:spPr>
        <p:txBody>
          <a:bodyPr rtlCol="0" anchor="ctr"/>
          <a:lstStyle/>
          <a:p/>
        </p:txBody>
      </p:sp>
      <p:sp>
        <p:nvSpPr>
          <p:cNvPr id="22" name="Rounded Rectangle 21"/>
          <p:cNvSpPr/>
          <p:nvPr/>
        </p:nvSpPr>
        <p:spPr>
          <a:xfrm>
            <a:off x="6187287" y="3227832"/>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Adım</a:t>
            </a:r>
          </a:p>
        </p:txBody>
      </p:sp>
      <p:sp>
        <p:nvSpPr>
          <p:cNvPr id="23" name="TextBox 22"/>
          <p:cNvSpPr txBox="1"/>
          <p:nvPr/>
        </p:nvSpPr>
        <p:spPr>
          <a:xfrm>
            <a:off x="7924647" y="3227832"/>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Beş dakikada bir çalışma istasyonunuzu değiştiriniz.</a:t>
            </a:r>
          </a:p>
        </p:txBody>
      </p:sp>
      <p:sp>
        <p:nvSpPr>
          <p:cNvPr id="24" name="Rounded Rectangle 23"/>
          <p:cNvSpPr/>
          <p:nvPr/>
        </p:nvSpPr>
        <p:spPr>
          <a:xfrm>
            <a:off x="6187287" y="4285488"/>
            <a:ext cx="5501487" cy="947928"/>
          </a:xfrm>
          <a:prstGeom prst="roundRect">
            <a:avLst>
              <a:gd name="adj" fmla="val 8000"/>
            </a:avLst>
          </a:prstGeom>
          <a:solidFill>
            <a:srgbClr val="F0F0F0"/>
          </a:solidFill>
          <a:ln>
            <a:noFill/>
          </a:ln>
          <a:effectLst/>
        </p:spPr>
        <p:txBody>
          <a:bodyPr rtlCol="0" anchor="ctr"/>
          <a:lstStyle/>
          <a:p/>
        </p:txBody>
      </p:sp>
      <p:sp>
        <p:nvSpPr>
          <p:cNvPr id="25" name="Rounded Rectangle 24"/>
          <p:cNvSpPr/>
          <p:nvPr/>
        </p:nvSpPr>
        <p:spPr>
          <a:xfrm>
            <a:off x="6187287" y="4285488"/>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5. Adım</a:t>
            </a:r>
          </a:p>
        </p:txBody>
      </p:sp>
      <p:sp>
        <p:nvSpPr>
          <p:cNvPr id="26" name="TextBox 25"/>
          <p:cNvSpPr txBox="1"/>
          <p:nvPr/>
        </p:nvSpPr>
        <p:spPr>
          <a:xfrm>
            <a:off x="7924647" y="4285488"/>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Geçtiğiniz istasyonda başlanmış olan çalışmaya devam ediniz.</a:t>
            </a:r>
          </a:p>
        </p:txBody>
      </p:sp>
      <p:sp>
        <p:nvSpPr>
          <p:cNvPr id="27" name="Rounded Rectangle 26"/>
          <p:cNvSpPr/>
          <p:nvPr/>
        </p:nvSpPr>
        <p:spPr>
          <a:xfrm>
            <a:off x="6187287" y="5343144"/>
            <a:ext cx="5501487" cy="947928"/>
          </a:xfrm>
          <a:prstGeom prst="roundRect">
            <a:avLst>
              <a:gd name="adj" fmla="val 8000"/>
            </a:avLst>
          </a:prstGeom>
          <a:solidFill>
            <a:srgbClr val="F0F0F0"/>
          </a:solidFill>
          <a:ln>
            <a:noFill/>
          </a:ln>
          <a:effectLst/>
        </p:spPr>
        <p:txBody>
          <a:bodyPr rtlCol="0" anchor="ctr"/>
          <a:lstStyle/>
          <a:p/>
        </p:txBody>
      </p:sp>
      <p:sp>
        <p:nvSpPr>
          <p:cNvPr id="28" name="Rounded Rectangle 27"/>
          <p:cNvSpPr/>
          <p:nvPr/>
        </p:nvSpPr>
        <p:spPr>
          <a:xfrm>
            <a:off x="6187287" y="5343144"/>
            <a:ext cx="1600200" cy="947928"/>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6. Adım</a:t>
            </a:r>
          </a:p>
        </p:txBody>
      </p:sp>
      <p:sp>
        <p:nvSpPr>
          <p:cNvPr id="29" name="TextBox 28"/>
          <p:cNvSpPr txBox="1"/>
          <p:nvPr/>
        </p:nvSpPr>
        <p:spPr>
          <a:xfrm>
            <a:off x="7924647" y="5343144"/>
            <a:ext cx="3672687" cy="9479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Başlangıç istasyonunuza döndüğünüzde son düzenlemeleri yapınız ve çalışmalarınızı paylaşınız.</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172 / 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Sınıfımızda 6 istasyon, 2 halka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YERLEŞİM</a:t>
            </a:r>
          </a:p>
        </p:txBody>
      </p:sp>
      <p:sp>
        <p:nvSpPr>
          <p:cNvPr id="6" name="Rounded Rectangle 5"/>
          <p:cNvSpPr/>
          <p:nvPr/>
        </p:nvSpPr>
        <p:spPr>
          <a:xfrm>
            <a:off x="502920" y="1216152"/>
            <a:ext cx="6949440" cy="5029200"/>
          </a:xfrm>
          <a:prstGeom prst="roundRect">
            <a:avLst>
              <a:gd name="adj" fmla="val 3000"/>
            </a:avLst>
          </a:prstGeom>
          <a:solidFill>
            <a:srgbClr val="FFFFFF"/>
          </a:solidFill>
          <a:ln w="19050">
            <a:solidFill>
              <a:srgbClr val="D9D9D9"/>
            </a:solidFill>
          </a:ln>
          <a:effectLst/>
        </p:spPr>
        <p:txBody>
          <a:bodyPr rtlCol="0" anchor="ctr"/>
          <a:lstStyle/>
          <a:p/>
        </p:txBody>
      </p:sp>
      <p:sp>
        <p:nvSpPr>
          <p:cNvPr id="7" name="Rounded Rectangle 6"/>
          <p:cNvSpPr/>
          <p:nvPr/>
        </p:nvSpPr>
        <p:spPr>
          <a:xfrm>
            <a:off x="2587752" y="1325880"/>
            <a:ext cx="2779776" cy="384048"/>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200" b="1" i="0">
                <a:solidFill>
                  <a:srgbClr val="FFFFFF"/>
                </a:solidFill>
                <a:latin typeface="Calibri"/>
              </a:rPr>
              <a:t>TAHTA</a:t>
            </a:r>
          </a:p>
        </p:txBody>
      </p:sp>
      <p:cxnSp>
        <p:nvCxnSpPr>
          <p:cNvPr id="8" name="Connector 7"/>
          <p:cNvCxnSpPr/>
          <p:nvPr/>
        </p:nvCxnSpPr>
        <p:spPr>
          <a:xfrm>
            <a:off x="3977640" y="1856232"/>
            <a:ext cx="0" cy="4279392"/>
          </a:xfrm>
          <a:prstGeom prst="line">
            <a:avLst/>
          </a:prstGeom>
          <a:ln w="19050">
            <a:solidFill>
              <a:srgbClr val="D9D9D9"/>
            </a:solidFill>
            <a:prstDash val="dash"/>
          </a:ln>
        </p:spPr>
      </p:cxnSp>
      <p:sp>
        <p:nvSpPr>
          <p:cNvPr id="9" name="TextBox 8"/>
          <p:cNvSpPr txBox="1"/>
          <p:nvPr/>
        </p:nvSpPr>
        <p:spPr>
          <a:xfrm>
            <a:off x="640080" y="1783080"/>
            <a:ext cx="3200400" cy="384048"/>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767676"/>
                </a:solidFill>
                <a:latin typeface="Calibri"/>
              </a:rPr>
              <a:t>A halkası</a:t>
            </a:r>
          </a:p>
        </p:txBody>
      </p:sp>
      <p:cxnSp>
        <p:nvCxnSpPr>
          <p:cNvPr id="10" name="Connector 9"/>
          <p:cNvCxnSpPr/>
          <p:nvPr/>
        </p:nvCxnSpPr>
        <p:spPr>
          <a:xfrm>
            <a:off x="1761771" y="3033738"/>
            <a:ext cx="763239" cy="713271"/>
          </a:xfrm>
          <a:prstGeom prst="line">
            <a:avLst/>
          </a:prstGeom>
          <a:ln w="31750">
            <a:solidFill>
              <a:srgbClr val="4F4F4F"/>
            </a:solidFill>
            <a:tailEnd type="triangle" w="med" len="med"/>
          </a:ln>
        </p:spPr>
      </p:cxnSp>
      <p:cxnSp>
        <p:nvCxnSpPr>
          <p:cNvPr id="11" name="Connector 10"/>
          <p:cNvCxnSpPr/>
          <p:nvPr/>
        </p:nvCxnSpPr>
        <p:spPr>
          <a:xfrm flipH="1">
            <a:off x="1772015" y="4374678"/>
            <a:ext cx="782259" cy="776736"/>
          </a:xfrm>
          <a:prstGeom prst="line">
            <a:avLst/>
          </a:prstGeom>
          <a:ln w="31750">
            <a:solidFill>
              <a:srgbClr val="4F4F4F"/>
            </a:solidFill>
            <a:tailEnd type="triangle" w="med" len="med"/>
          </a:ln>
        </p:spPr>
      </p:cxnSp>
      <p:cxnSp>
        <p:nvCxnSpPr>
          <p:cNvPr id="12" name="Connector 11"/>
          <p:cNvCxnSpPr/>
          <p:nvPr/>
        </p:nvCxnSpPr>
        <p:spPr>
          <a:xfrm flipV="1">
            <a:off x="1441094" y="3200400"/>
            <a:ext cx="0" cy="1840687"/>
          </a:xfrm>
          <a:prstGeom prst="line">
            <a:avLst/>
          </a:prstGeom>
          <a:ln w="31750">
            <a:solidFill>
              <a:srgbClr val="4F4F4F"/>
            </a:solidFill>
            <a:tailEnd type="triangle" w="med" len="med"/>
          </a:ln>
        </p:spPr>
      </p:cxnSp>
      <p:sp>
        <p:nvSpPr>
          <p:cNvPr id="13" name="Oval 12"/>
          <p:cNvSpPr/>
          <p:nvPr/>
        </p:nvSpPr>
        <p:spPr>
          <a:xfrm>
            <a:off x="1047902" y="2340864"/>
            <a:ext cx="786384" cy="786384"/>
          </a:xfrm>
          <a:prstGeom prst="ellipse">
            <a:avLst/>
          </a:prstGeom>
          <a:solidFill>
            <a:srgbClr val="1F86B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Ö1</a:t>
            </a:r>
          </a:p>
        </p:txBody>
      </p:sp>
      <p:sp>
        <p:nvSpPr>
          <p:cNvPr id="14" name="Oval 13"/>
          <p:cNvSpPr/>
          <p:nvPr/>
        </p:nvSpPr>
        <p:spPr>
          <a:xfrm>
            <a:off x="2472537" y="3672230"/>
            <a:ext cx="786384" cy="786384"/>
          </a:xfrm>
          <a:prstGeom prst="ellipse">
            <a:avLst/>
          </a:prstGeom>
          <a:solidFill>
            <a:srgbClr val="CC333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E1</a:t>
            </a:r>
          </a:p>
        </p:txBody>
      </p:sp>
      <p:sp>
        <p:nvSpPr>
          <p:cNvPr id="15" name="Oval 14"/>
          <p:cNvSpPr/>
          <p:nvPr/>
        </p:nvSpPr>
        <p:spPr>
          <a:xfrm>
            <a:off x="1047902" y="5086807"/>
            <a:ext cx="786384" cy="786384"/>
          </a:xfrm>
          <a:prstGeom prst="ellipse">
            <a:avLst/>
          </a:prstGeom>
          <a:solidFill>
            <a:srgbClr val="55992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S1</a:t>
            </a:r>
          </a:p>
        </p:txBody>
      </p:sp>
      <p:sp>
        <p:nvSpPr>
          <p:cNvPr id="16" name="TextBox 15"/>
          <p:cNvSpPr txBox="1"/>
          <p:nvPr/>
        </p:nvSpPr>
        <p:spPr>
          <a:xfrm>
            <a:off x="4114800" y="1783080"/>
            <a:ext cx="3200400" cy="384048"/>
          </a:xfrm>
          <a:prstGeom prst="rect">
            <a:avLst/>
          </a:prstGeom>
          <a:noFill/>
        </p:spPr>
        <p:txBody>
          <a:bodyPr wrap="square" anchor="t" lIns="73152" rIns="73152" tIns="36576" bIns="36576">
            <a:noAutofit/>
          </a:bodyPr>
          <a:lstStyle/>
          <a:p>
            <a:pPr algn="r">
              <a:spcBef>
                <a:spcPts val="0"/>
              </a:spcBef>
              <a:spcAft>
                <a:spcPts val="0"/>
              </a:spcAft>
            </a:pPr>
            <a:r>
              <a:rPr lang="tr-TR" sz="1700" b="1" i="0">
                <a:solidFill>
                  <a:srgbClr val="767676"/>
                </a:solidFill>
                <a:latin typeface="Calibri"/>
              </a:rPr>
              <a:t>B halkası</a:t>
            </a:r>
          </a:p>
        </p:txBody>
      </p:sp>
      <p:cxnSp>
        <p:nvCxnSpPr>
          <p:cNvPr id="17" name="Connector 16"/>
          <p:cNvCxnSpPr/>
          <p:nvPr/>
        </p:nvCxnSpPr>
        <p:spPr>
          <a:xfrm flipH="1">
            <a:off x="5430269" y="3033738"/>
            <a:ext cx="763239" cy="713271"/>
          </a:xfrm>
          <a:prstGeom prst="line">
            <a:avLst/>
          </a:prstGeom>
          <a:ln w="31750">
            <a:solidFill>
              <a:srgbClr val="4F4F4F"/>
            </a:solidFill>
            <a:tailEnd type="triangle" w="med" len="med"/>
          </a:ln>
        </p:spPr>
      </p:cxnSp>
      <p:cxnSp>
        <p:nvCxnSpPr>
          <p:cNvPr id="18" name="Connector 17"/>
          <p:cNvCxnSpPr/>
          <p:nvPr/>
        </p:nvCxnSpPr>
        <p:spPr>
          <a:xfrm>
            <a:off x="5401005" y="4374678"/>
            <a:ext cx="782259" cy="776736"/>
          </a:xfrm>
          <a:prstGeom prst="line">
            <a:avLst/>
          </a:prstGeom>
          <a:ln w="31750">
            <a:solidFill>
              <a:srgbClr val="4F4F4F"/>
            </a:solidFill>
            <a:tailEnd type="triangle" w="med" len="med"/>
          </a:ln>
        </p:spPr>
      </p:cxnSp>
      <p:cxnSp>
        <p:nvCxnSpPr>
          <p:cNvPr id="19" name="Connector 18"/>
          <p:cNvCxnSpPr/>
          <p:nvPr/>
        </p:nvCxnSpPr>
        <p:spPr>
          <a:xfrm flipV="1">
            <a:off x="6514185" y="3200400"/>
            <a:ext cx="0" cy="1840687"/>
          </a:xfrm>
          <a:prstGeom prst="line">
            <a:avLst/>
          </a:prstGeom>
          <a:ln w="31750">
            <a:solidFill>
              <a:srgbClr val="4F4F4F"/>
            </a:solidFill>
            <a:tailEnd type="triangle" w="med" len="med"/>
          </a:ln>
        </p:spPr>
      </p:cxnSp>
      <p:sp>
        <p:nvSpPr>
          <p:cNvPr id="20" name="Oval 19"/>
          <p:cNvSpPr/>
          <p:nvPr/>
        </p:nvSpPr>
        <p:spPr>
          <a:xfrm>
            <a:off x="6120993" y="2340864"/>
            <a:ext cx="786384" cy="786384"/>
          </a:xfrm>
          <a:prstGeom prst="ellipse">
            <a:avLst/>
          </a:prstGeom>
          <a:solidFill>
            <a:srgbClr val="1F86B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Ö2</a:t>
            </a:r>
          </a:p>
        </p:txBody>
      </p:sp>
      <p:sp>
        <p:nvSpPr>
          <p:cNvPr id="21" name="Oval 20"/>
          <p:cNvSpPr/>
          <p:nvPr/>
        </p:nvSpPr>
        <p:spPr>
          <a:xfrm>
            <a:off x="4696358" y="3672230"/>
            <a:ext cx="786384" cy="786384"/>
          </a:xfrm>
          <a:prstGeom prst="ellipse">
            <a:avLst/>
          </a:prstGeom>
          <a:solidFill>
            <a:srgbClr val="CC333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E2</a:t>
            </a:r>
          </a:p>
        </p:txBody>
      </p:sp>
      <p:sp>
        <p:nvSpPr>
          <p:cNvPr id="22" name="Oval 21"/>
          <p:cNvSpPr/>
          <p:nvPr/>
        </p:nvSpPr>
        <p:spPr>
          <a:xfrm>
            <a:off x="6120993" y="5086807"/>
            <a:ext cx="786384" cy="786384"/>
          </a:xfrm>
          <a:prstGeom prst="ellipse">
            <a:avLst/>
          </a:prstGeom>
          <a:solidFill>
            <a:srgbClr val="55992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S2</a:t>
            </a:r>
          </a:p>
        </p:txBody>
      </p:sp>
      <p:sp>
        <p:nvSpPr>
          <p:cNvPr id="23" name="Oval 22"/>
          <p:cNvSpPr/>
          <p:nvPr/>
        </p:nvSpPr>
        <p:spPr>
          <a:xfrm>
            <a:off x="7726680" y="1234440"/>
            <a:ext cx="457200" cy="457200"/>
          </a:xfrm>
          <a:prstGeom prst="ellipse">
            <a:avLst/>
          </a:prstGeom>
          <a:solidFill>
            <a:srgbClr val="1F86B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Ö</a:t>
            </a:r>
          </a:p>
        </p:txBody>
      </p:sp>
      <p:sp>
        <p:nvSpPr>
          <p:cNvPr id="24" name="TextBox 23"/>
          <p:cNvSpPr txBox="1"/>
          <p:nvPr/>
        </p:nvSpPr>
        <p:spPr>
          <a:xfrm>
            <a:off x="8293608" y="1216152"/>
            <a:ext cx="3395167" cy="49377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Afet öncesi istasyonu</a:t>
            </a:r>
          </a:p>
        </p:txBody>
      </p:sp>
      <p:sp>
        <p:nvSpPr>
          <p:cNvPr id="25" name="Oval 24"/>
          <p:cNvSpPr/>
          <p:nvPr/>
        </p:nvSpPr>
        <p:spPr>
          <a:xfrm>
            <a:off x="7726680" y="1801368"/>
            <a:ext cx="457200" cy="457200"/>
          </a:xfrm>
          <a:prstGeom prst="ellipse">
            <a:avLst/>
          </a:prstGeom>
          <a:solidFill>
            <a:srgbClr val="CC3333"/>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E</a:t>
            </a:r>
          </a:p>
        </p:txBody>
      </p:sp>
      <p:sp>
        <p:nvSpPr>
          <p:cNvPr id="26" name="TextBox 25"/>
          <p:cNvSpPr txBox="1"/>
          <p:nvPr/>
        </p:nvSpPr>
        <p:spPr>
          <a:xfrm>
            <a:off x="8293608" y="1783080"/>
            <a:ext cx="3395167" cy="49377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Afet esnası istasyonu</a:t>
            </a:r>
          </a:p>
        </p:txBody>
      </p:sp>
      <p:sp>
        <p:nvSpPr>
          <p:cNvPr id="27" name="Oval 26"/>
          <p:cNvSpPr/>
          <p:nvPr/>
        </p:nvSpPr>
        <p:spPr>
          <a:xfrm>
            <a:off x="7726680" y="2368296"/>
            <a:ext cx="457200" cy="457200"/>
          </a:xfrm>
          <a:prstGeom prst="ellipse">
            <a:avLst/>
          </a:prstGeom>
          <a:solidFill>
            <a:srgbClr val="55992E"/>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S</a:t>
            </a:r>
          </a:p>
        </p:txBody>
      </p:sp>
      <p:sp>
        <p:nvSpPr>
          <p:cNvPr id="28" name="TextBox 27"/>
          <p:cNvSpPr txBox="1"/>
          <p:nvPr/>
        </p:nvSpPr>
        <p:spPr>
          <a:xfrm>
            <a:off x="8293608" y="2350008"/>
            <a:ext cx="3395167" cy="49377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Afet sonrası istasyonu</a:t>
            </a:r>
          </a:p>
        </p:txBody>
      </p:sp>
      <p:sp>
        <p:nvSpPr>
          <p:cNvPr id="29" name="Rounded Rectangle 28"/>
          <p:cNvSpPr/>
          <p:nvPr/>
        </p:nvSpPr>
        <p:spPr>
          <a:xfrm>
            <a:off x="7726680" y="2990088"/>
            <a:ext cx="3962095" cy="3300984"/>
          </a:xfrm>
          <a:prstGeom prst="roundRect">
            <a:avLst>
              <a:gd name="adj" fmla="val 8000"/>
            </a:avLst>
          </a:prstGeom>
          <a:solidFill>
            <a:srgbClr val="F0F0F0"/>
          </a:solidFill>
          <a:ln>
            <a:noFill/>
          </a:ln>
          <a:effectLst/>
        </p:spPr>
        <p:txBody>
          <a:bodyPr rtlCol="0" anchor="ctr" wrap="square" lIns="164592" rIns="164592" tIns="73152" bIns="73152">
            <a:noAutofit/>
          </a:bodyPr>
          <a:lstStyle/>
          <a:p>
            <a:pPr algn="l" marL="236189" indent="-236189">
              <a:spcBef>
                <a:spcPts val="0"/>
              </a:spcBef>
              <a:spcAft>
                <a:spcPts val="800"/>
              </a:spcAft>
            </a:pPr>
            <a:r>
              <a:rPr lang="tr-TR" sz="1900" b="1" i="0">
                <a:solidFill>
                  <a:srgbClr val="1E7B6E"/>
                </a:solidFill>
                <a:latin typeface="Calibri"/>
              </a:rPr>
              <a:t>•  </a:t>
            </a:r>
            <a:r>
              <a:rPr lang="tr-TR" sz="1900" b="0" i="0">
                <a:solidFill>
                  <a:srgbClr val="262626"/>
                </a:solidFill>
                <a:latin typeface="Calibri"/>
              </a:rPr>
              <a:t>Her 5 dakikada “değiş”: halkanda sıradaki istasyon (Ö → E → S → Ö)</a:t>
            </a:r>
          </a:p>
          <a:p>
            <a:pPr algn="l" marL="236189" indent="-236189">
              <a:spcBef>
                <a:spcPts val="0"/>
              </a:spcBef>
              <a:spcAft>
                <a:spcPts val="800"/>
              </a:spcAft>
            </a:pPr>
            <a:r>
              <a:rPr lang="tr-TR" sz="1900" b="1" i="0">
                <a:solidFill>
                  <a:srgbClr val="1E7B6E"/>
                </a:solidFill>
                <a:latin typeface="Calibri"/>
              </a:rPr>
              <a:t>•  </a:t>
            </a:r>
            <a:r>
              <a:rPr lang="tr-TR" sz="1900" b="0" i="0">
                <a:solidFill>
                  <a:srgbClr val="262626"/>
                </a:solidFill>
                <a:latin typeface="Calibri"/>
              </a:rPr>
              <a:t>Önce dur, sonra geç; elinde bir şey taşıma</a:t>
            </a:r>
          </a:p>
          <a:p>
            <a:pPr algn="l" marL="236189" indent="-236189">
              <a:spcBef>
                <a:spcPts val="0"/>
              </a:spcBef>
              <a:spcAft>
                <a:spcPts val="800"/>
              </a:spcAft>
            </a:pPr>
            <a:r>
              <a:rPr lang="tr-TR" sz="1900" b="1" i="0">
                <a:solidFill>
                  <a:srgbClr val="1E7B6E"/>
                </a:solidFill>
                <a:latin typeface="Calibri"/>
              </a:rPr>
              <a:t>•  </a:t>
            </a:r>
            <a:r>
              <a:rPr lang="tr-TR" sz="1900" b="0" i="0">
                <a:solidFill>
                  <a:srgbClr val="262626"/>
                </a:solidFill>
                <a:latin typeface="Calibri"/>
              </a:rPr>
              <a:t>Kalemler istasyonda kalır</a:t>
            </a:r>
          </a:p>
          <a:p>
            <a:pPr algn="l" marL="236189" indent="-236189">
              <a:spcBef>
                <a:spcPts val="0"/>
              </a:spcBef>
              <a:spcAft>
                <a:spcPts val="0"/>
              </a:spcAft>
            </a:pPr>
            <a:r>
              <a:rPr lang="tr-TR" sz="1900" b="1" i="0">
                <a:solidFill>
                  <a:srgbClr val="1E7B6E"/>
                </a:solidFill>
                <a:latin typeface="Calibri"/>
              </a:rPr>
              <a:t>•  </a:t>
            </a:r>
            <a:r>
              <a:rPr lang="tr-TR" sz="1900" b="0" i="0">
                <a:solidFill>
                  <a:srgbClr val="262626"/>
                </a:solidFill>
                <a:latin typeface="Calibri"/>
              </a:rPr>
              <a:t>Çanta sıra altında · “30 cm sesi”</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173 / 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 grup, 6 istasyon: rollerimiz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6 GRUP</a:t>
            </a:r>
          </a:p>
        </p:txBody>
      </p:sp>
      <p:sp>
        <p:nvSpPr>
          <p:cNvPr id="6" name="Rounded Rectangle 5"/>
          <p:cNvSpPr/>
          <p:nvPr/>
        </p:nvSpPr>
        <p:spPr>
          <a:xfrm>
            <a:off x="502920" y="1261872"/>
            <a:ext cx="1696669"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1696669" cy="530352"/>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527048"/>
            <a:ext cx="1696669" cy="265176"/>
          </a:xfrm>
          <a:prstGeom prst="rect">
            <a:avLst/>
          </a:prstGeom>
          <a:solidFill>
            <a:srgbClr val="1E7B6E"/>
          </a:solidFill>
          <a:ln>
            <a:noFill/>
          </a:ln>
          <a:effectLst/>
        </p:spPr>
        <p:txBody>
          <a:bodyPr rtlCol="0" anchor="ctr"/>
          <a:lstStyle/>
          <a:p/>
        </p:txBody>
      </p:sp>
      <p:sp>
        <p:nvSpPr>
          <p:cNvPr id="9" name="TextBox 8"/>
          <p:cNvSpPr txBox="1"/>
          <p:nvPr/>
        </p:nvSpPr>
        <p:spPr>
          <a:xfrm>
            <a:off x="594360"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FFFFFF"/>
                </a:solidFill>
                <a:latin typeface="Calibri"/>
              </a:rPr>
              <a:t>SÖZCÜ</a:t>
            </a:r>
          </a:p>
        </p:txBody>
      </p:sp>
      <p:sp>
        <p:nvSpPr>
          <p:cNvPr id="10" name="TextBox 9"/>
          <p:cNvSpPr txBox="1"/>
          <p:nvPr/>
        </p:nvSpPr>
        <p:spPr>
          <a:xfrm>
            <a:off x="612648"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Grubun ürününü sınıfla paylaşır.</a:t>
            </a:r>
          </a:p>
        </p:txBody>
      </p:sp>
      <p:sp>
        <p:nvSpPr>
          <p:cNvPr id="11" name="Rounded Rectangle 10"/>
          <p:cNvSpPr/>
          <p:nvPr/>
        </p:nvSpPr>
        <p:spPr>
          <a:xfrm>
            <a:off x="2400757" y="1261872"/>
            <a:ext cx="1696669"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400757" y="1261872"/>
            <a:ext cx="1696669"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400757" y="1527048"/>
            <a:ext cx="1696669" cy="265176"/>
          </a:xfrm>
          <a:prstGeom prst="rect">
            <a:avLst/>
          </a:prstGeom>
          <a:solidFill>
            <a:srgbClr val="4F4F4F"/>
          </a:solidFill>
          <a:ln>
            <a:noFill/>
          </a:ln>
          <a:effectLst/>
        </p:spPr>
        <p:txBody>
          <a:bodyPr rtlCol="0" anchor="ctr"/>
          <a:lstStyle/>
          <a:p/>
        </p:txBody>
      </p:sp>
      <p:sp>
        <p:nvSpPr>
          <p:cNvPr id="14" name="TextBox 13"/>
          <p:cNvSpPr txBox="1"/>
          <p:nvPr/>
        </p:nvSpPr>
        <p:spPr>
          <a:xfrm>
            <a:off x="2492197"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FFFFFF"/>
                </a:solidFill>
                <a:latin typeface="Calibri"/>
              </a:rPr>
              <a:t>YAZICI</a:t>
            </a:r>
          </a:p>
        </p:txBody>
      </p:sp>
      <p:sp>
        <p:nvSpPr>
          <p:cNvPr id="15" name="TextBox 14"/>
          <p:cNvSpPr txBox="1"/>
          <p:nvPr/>
        </p:nvSpPr>
        <p:spPr>
          <a:xfrm>
            <a:off x="2510485"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Maddeleri ve önerileri yazar.</a:t>
            </a:r>
          </a:p>
        </p:txBody>
      </p:sp>
      <p:sp>
        <p:nvSpPr>
          <p:cNvPr id="16" name="Rounded Rectangle 15"/>
          <p:cNvSpPr/>
          <p:nvPr/>
        </p:nvSpPr>
        <p:spPr>
          <a:xfrm>
            <a:off x="4298594" y="1261872"/>
            <a:ext cx="1696669"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4298594" y="1261872"/>
            <a:ext cx="1696669" cy="530352"/>
          </a:xfrm>
          <a:prstGeom prst="roundRect">
            <a:avLst>
              <a:gd name="adj" fmla="val 25000"/>
            </a:avLst>
          </a:prstGeom>
          <a:solidFill>
            <a:srgbClr val="1E7B6E"/>
          </a:solidFill>
          <a:ln>
            <a:noFill/>
          </a:ln>
          <a:effectLst/>
        </p:spPr>
        <p:txBody>
          <a:bodyPr rtlCol="0" anchor="ctr"/>
          <a:lstStyle/>
          <a:p/>
        </p:txBody>
      </p:sp>
      <p:sp>
        <p:nvSpPr>
          <p:cNvPr id="18" name="Rectangle 17"/>
          <p:cNvSpPr/>
          <p:nvPr/>
        </p:nvSpPr>
        <p:spPr>
          <a:xfrm>
            <a:off x="4298594" y="1527048"/>
            <a:ext cx="1696669" cy="265176"/>
          </a:xfrm>
          <a:prstGeom prst="rect">
            <a:avLst/>
          </a:prstGeom>
          <a:solidFill>
            <a:srgbClr val="1E7B6E"/>
          </a:solidFill>
          <a:ln>
            <a:noFill/>
          </a:ln>
          <a:effectLst/>
        </p:spPr>
        <p:txBody>
          <a:bodyPr rtlCol="0" anchor="ctr"/>
          <a:lstStyle/>
          <a:p/>
        </p:txBody>
      </p:sp>
      <p:sp>
        <p:nvSpPr>
          <p:cNvPr id="19" name="TextBox 18"/>
          <p:cNvSpPr txBox="1"/>
          <p:nvPr/>
        </p:nvSpPr>
        <p:spPr>
          <a:xfrm>
            <a:off x="4390034"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FFFFFF"/>
                </a:solidFill>
                <a:latin typeface="Calibri"/>
              </a:rPr>
              <a:t>ÇİZER</a:t>
            </a:r>
          </a:p>
        </p:txBody>
      </p:sp>
      <p:sp>
        <p:nvSpPr>
          <p:cNvPr id="20" name="TextBox 19"/>
          <p:cNvSpPr txBox="1"/>
          <p:nvPr/>
        </p:nvSpPr>
        <p:spPr>
          <a:xfrm>
            <a:off x="4408322"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Afişe sembol, şema ya da grafik çizer.</a:t>
            </a:r>
          </a:p>
        </p:txBody>
      </p:sp>
      <p:sp>
        <p:nvSpPr>
          <p:cNvPr id="21" name="Rounded Rectangle 20"/>
          <p:cNvSpPr/>
          <p:nvPr/>
        </p:nvSpPr>
        <p:spPr>
          <a:xfrm>
            <a:off x="6196431" y="1261872"/>
            <a:ext cx="1696669"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196431" y="1261872"/>
            <a:ext cx="1696669"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6196431" y="1527048"/>
            <a:ext cx="1696669" cy="265176"/>
          </a:xfrm>
          <a:prstGeom prst="rect">
            <a:avLst/>
          </a:prstGeom>
          <a:solidFill>
            <a:srgbClr val="4F4F4F"/>
          </a:solidFill>
          <a:ln>
            <a:noFill/>
          </a:ln>
          <a:effectLst/>
        </p:spPr>
        <p:txBody>
          <a:bodyPr rtlCol="0" anchor="ctr"/>
          <a:lstStyle/>
          <a:p/>
        </p:txBody>
      </p:sp>
      <p:sp>
        <p:nvSpPr>
          <p:cNvPr id="24" name="TextBox 23"/>
          <p:cNvSpPr txBox="1"/>
          <p:nvPr/>
        </p:nvSpPr>
        <p:spPr>
          <a:xfrm>
            <a:off x="6287871"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5" name="TextBox 24"/>
          <p:cNvSpPr txBox="1"/>
          <p:nvPr/>
        </p:nvSpPr>
        <p:spPr>
          <a:xfrm>
            <a:off x="6306159"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Süreyi izler; kalemleri istasyonda bırakır.</a:t>
            </a:r>
          </a:p>
        </p:txBody>
      </p:sp>
      <p:sp>
        <p:nvSpPr>
          <p:cNvPr id="26" name="Rounded Rectangle 25"/>
          <p:cNvSpPr/>
          <p:nvPr/>
        </p:nvSpPr>
        <p:spPr>
          <a:xfrm>
            <a:off x="8094268" y="1261872"/>
            <a:ext cx="1696669"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8094268" y="1261872"/>
            <a:ext cx="1696669" cy="530352"/>
          </a:xfrm>
          <a:prstGeom prst="roundRect">
            <a:avLst>
              <a:gd name="adj" fmla="val 25000"/>
            </a:avLst>
          </a:prstGeom>
          <a:solidFill>
            <a:srgbClr val="1E7B6E"/>
          </a:solidFill>
          <a:ln>
            <a:noFill/>
          </a:ln>
          <a:effectLst/>
        </p:spPr>
        <p:txBody>
          <a:bodyPr rtlCol="0" anchor="ctr"/>
          <a:lstStyle/>
          <a:p/>
        </p:txBody>
      </p:sp>
      <p:sp>
        <p:nvSpPr>
          <p:cNvPr id="28" name="Rectangle 27"/>
          <p:cNvSpPr/>
          <p:nvPr/>
        </p:nvSpPr>
        <p:spPr>
          <a:xfrm>
            <a:off x="8094268" y="1527048"/>
            <a:ext cx="1696669" cy="265176"/>
          </a:xfrm>
          <a:prstGeom prst="rect">
            <a:avLst/>
          </a:prstGeom>
          <a:solidFill>
            <a:srgbClr val="1E7B6E"/>
          </a:solidFill>
          <a:ln>
            <a:noFill/>
          </a:ln>
          <a:effectLst/>
        </p:spPr>
        <p:txBody>
          <a:bodyPr rtlCol="0" anchor="ctr"/>
          <a:lstStyle/>
          <a:p/>
        </p:txBody>
      </p:sp>
      <p:sp>
        <p:nvSpPr>
          <p:cNvPr id="29" name="TextBox 28"/>
          <p:cNvSpPr txBox="1"/>
          <p:nvPr/>
        </p:nvSpPr>
        <p:spPr>
          <a:xfrm>
            <a:off x="8185708"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FFFFFF"/>
                </a:solidFill>
                <a:latin typeface="Calibri"/>
              </a:rPr>
              <a:t>VERİ OKUYUCU</a:t>
            </a:r>
          </a:p>
        </p:txBody>
      </p:sp>
      <p:sp>
        <p:nvSpPr>
          <p:cNvPr id="30" name="TextBox 29"/>
          <p:cNvSpPr txBox="1"/>
          <p:nvPr/>
        </p:nvSpPr>
        <p:spPr>
          <a:xfrm>
            <a:off x="8203996"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Tabloyu ve kitap metnini okur, gösterir.</a:t>
            </a:r>
          </a:p>
        </p:txBody>
      </p:sp>
      <p:sp>
        <p:nvSpPr>
          <p:cNvPr id="31" name="Rounded Rectangle 30"/>
          <p:cNvSpPr/>
          <p:nvPr/>
        </p:nvSpPr>
        <p:spPr>
          <a:xfrm>
            <a:off x="9992105" y="1261872"/>
            <a:ext cx="1696669" cy="3108960"/>
          </a:xfrm>
          <a:prstGeom prst="roundRect">
            <a:avLst>
              <a:gd name="adj" fmla="val 5000"/>
            </a:avLst>
          </a:prstGeom>
          <a:solidFill>
            <a:srgbClr val="F0F0F0"/>
          </a:solidFill>
          <a:ln>
            <a:noFill/>
          </a:ln>
          <a:effectLst/>
        </p:spPr>
        <p:txBody>
          <a:bodyPr rtlCol="0" anchor="ctr"/>
          <a:lstStyle/>
          <a:p/>
        </p:txBody>
      </p:sp>
      <p:sp>
        <p:nvSpPr>
          <p:cNvPr id="32" name="Rounded Rectangle 31"/>
          <p:cNvSpPr/>
          <p:nvPr/>
        </p:nvSpPr>
        <p:spPr>
          <a:xfrm>
            <a:off x="9992105" y="1261872"/>
            <a:ext cx="1696669" cy="530352"/>
          </a:xfrm>
          <a:prstGeom prst="roundRect">
            <a:avLst>
              <a:gd name="adj" fmla="val 25000"/>
            </a:avLst>
          </a:prstGeom>
          <a:solidFill>
            <a:srgbClr val="4F4F4F"/>
          </a:solidFill>
          <a:ln>
            <a:noFill/>
          </a:ln>
          <a:effectLst/>
        </p:spPr>
        <p:txBody>
          <a:bodyPr rtlCol="0" anchor="ctr"/>
          <a:lstStyle/>
          <a:p/>
        </p:txBody>
      </p:sp>
      <p:sp>
        <p:nvSpPr>
          <p:cNvPr id="33" name="Rectangle 32"/>
          <p:cNvSpPr/>
          <p:nvPr/>
        </p:nvSpPr>
        <p:spPr>
          <a:xfrm>
            <a:off x="9992105" y="1527048"/>
            <a:ext cx="1696669" cy="265176"/>
          </a:xfrm>
          <a:prstGeom prst="rect">
            <a:avLst/>
          </a:prstGeom>
          <a:solidFill>
            <a:srgbClr val="4F4F4F"/>
          </a:solidFill>
          <a:ln>
            <a:noFill/>
          </a:ln>
          <a:effectLst/>
        </p:spPr>
        <p:txBody>
          <a:bodyPr rtlCol="0" anchor="ctr"/>
          <a:lstStyle/>
          <a:p/>
        </p:txBody>
      </p:sp>
      <p:sp>
        <p:nvSpPr>
          <p:cNvPr id="34" name="TextBox 33"/>
          <p:cNvSpPr txBox="1"/>
          <p:nvPr/>
        </p:nvSpPr>
        <p:spPr>
          <a:xfrm>
            <a:off x="10083545" y="1261872"/>
            <a:ext cx="1513789" cy="53035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FFFFFF"/>
                </a:solidFill>
                <a:latin typeface="Calibri"/>
              </a:rPr>
              <a:t>KONTROLCÜ</a:t>
            </a:r>
          </a:p>
        </p:txBody>
      </p:sp>
      <p:sp>
        <p:nvSpPr>
          <p:cNvPr id="35" name="TextBox 34"/>
          <p:cNvSpPr txBox="1"/>
          <p:nvPr/>
        </p:nvSpPr>
        <p:spPr>
          <a:xfrm>
            <a:off x="10101833" y="1865376"/>
            <a:ext cx="1477213" cy="2432304"/>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6 kişilik grupta yazımı ve kaynağı denetler.</a:t>
            </a:r>
          </a:p>
        </p:txBody>
      </p:sp>
      <p:sp>
        <p:nvSpPr>
          <p:cNvPr id="36" name="Rounded Rectangle 35"/>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1E7B6E"/>
                </a:solidFill>
                <a:latin typeface="Calibri"/>
              </a:rPr>
              <a:t>Başlangıç istasyonunu bul · konu kartını oku · rolleri paylaş</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174 / 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İstasyon konu kartları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İSTASYONLAR</a:t>
            </a:r>
          </a:p>
        </p:txBody>
      </p:sp>
      <p:sp>
        <p:nvSpPr>
          <p:cNvPr id="6" name="Rounded Rectangle 5"/>
          <p:cNvSpPr/>
          <p:nvPr/>
        </p:nvSpPr>
        <p:spPr>
          <a:xfrm>
            <a:off x="502920" y="1216152"/>
            <a:ext cx="3576218"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76218" cy="640080"/>
          </a:xfrm>
          <a:prstGeom prst="roundRect">
            <a:avLst>
              <a:gd name="adj" fmla="val 2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öncesi istasyonu</a:t>
            </a:r>
          </a:p>
        </p:txBody>
      </p:sp>
      <p:sp>
        <p:nvSpPr>
          <p:cNvPr id="8" name="TextBox 7"/>
          <p:cNvSpPr txBox="1"/>
          <p:nvPr/>
        </p:nvSpPr>
        <p:spPr>
          <a:xfrm>
            <a:off x="640080" y="1929384"/>
            <a:ext cx="3301898" cy="64008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1F86BF"/>
                </a:solidFill>
                <a:latin typeface="Calibri"/>
              </a:rPr>
              <a:t>Risk ve zarar azaltma · Hazırlıklı olma</a:t>
            </a:r>
          </a:p>
        </p:txBody>
      </p:sp>
      <p:sp>
        <p:nvSpPr>
          <p:cNvPr id="9" name="TextBox 8"/>
          <p:cNvSpPr txBox="1"/>
          <p:nvPr/>
        </p:nvSpPr>
        <p:spPr>
          <a:xfrm>
            <a:off x="640080" y="2633472"/>
            <a:ext cx="3301898" cy="2514600"/>
          </a:xfrm>
          <a:prstGeom prst="rect">
            <a:avLst/>
          </a:prstGeom>
          <a:noFill/>
        </p:spPr>
        <p:txBody>
          <a:bodyPr wrap="square" anchor="t" lIns="73152" rIns="73152" tIns="36576" bIns="36576">
            <a:noAutofit/>
          </a:bodyPr>
          <a:lstStyle/>
          <a:p>
            <a:pPr algn="l" marL="336809" indent="-336809">
              <a:spcBef>
                <a:spcPts val="0"/>
              </a:spcBef>
              <a:spcAft>
                <a:spcPts val="1200"/>
              </a:spcAft>
            </a:pPr>
            <a:r>
              <a:rPr lang="tr-TR" sz="2100" b="1" i="0">
                <a:solidFill>
                  <a:srgbClr val="1F86BF"/>
                </a:solidFill>
                <a:latin typeface="Calibri"/>
              </a:rPr>
              <a:t>1.  </a:t>
            </a:r>
            <a:r>
              <a:rPr lang="tr-TR" sz="2100" b="0" i="0">
                <a:solidFill>
                  <a:srgbClr val="262626"/>
                </a:solidFill>
                <a:latin typeface="Calibri"/>
              </a:rPr>
              <a:t>Tehlike ve risk nerede yüksek?</a:t>
            </a:r>
          </a:p>
          <a:p>
            <a:pPr algn="l" marL="336809" indent="-336809">
              <a:spcBef>
                <a:spcPts val="0"/>
              </a:spcBef>
              <a:spcAft>
                <a:spcPts val="1200"/>
              </a:spcAft>
            </a:pPr>
            <a:r>
              <a:rPr lang="tr-TR" sz="2100" b="1" i="0">
                <a:solidFill>
                  <a:srgbClr val="1F86BF"/>
                </a:solidFill>
                <a:latin typeface="Calibri"/>
              </a:rPr>
              <a:t>2.  </a:t>
            </a:r>
            <a:r>
              <a:rPr lang="tr-TR" sz="2100" b="0" i="0">
                <a:solidFill>
                  <a:srgbClr val="262626"/>
                </a:solidFill>
                <a:latin typeface="Calibri"/>
              </a:rPr>
              <a:t>Binalar ve yerleşim yerleri nasıl güvenli olur?</a:t>
            </a:r>
          </a:p>
          <a:p>
            <a:pPr algn="l" marL="336809" indent="-336809">
              <a:spcBef>
                <a:spcPts val="0"/>
              </a:spcBef>
              <a:spcAft>
                <a:spcPts val="0"/>
              </a:spcAft>
            </a:pPr>
            <a:r>
              <a:rPr lang="tr-TR" sz="2100" b="1" i="0">
                <a:solidFill>
                  <a:srgbClr val="1F86BF"/>
                </a:solidFill>
                <a:latin typeface="Calibri"/>
              </a:rPr>
              <a:t>3.  </a:t>
            </a:r>
            <a:r>
              <a:rPr lang="tr-TR" sz="2100" b="0" i="0">
                <a:solidFill>
                  <a:srgbClr val="262626"/>
                </a:solidFill>
                <a:latin typeface="Calibri"/>
              </a:rPr>
              <a:t>Afete nasıl hazırlanırız?</a:t>
            </a:r>
          </a:p>
        </p:txBody>
      </p:sp>
      <p:sp>
        <p:nvSpPr>
          <p:cNvPr id="10" name="TextBox 9"/>
          <p:cNvSpPr txBox="1"/>
          <p:nvPr/>
        </p:nvSpPr>
        <p:spPr>
          <a:xfrm>
            <a:off x="640080" y="5193792"/>
            <a:ext cx="3301898" cy="384048"/>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Kim yapar?</a:t>
            </a:r>
          </a:p>
        </p:txBody>
      </p:sp>
      <p:sp>
        <p:nvSpPr>
          <p:cNvPr id="11" name="TextBox 10"/>
          <p:cNvSpPr txBox="1"/>
          <p:nvPr/>
        </p:nvSpPr>
        <p:spPr>
          <a:xfrm>
            <a:off x="640080" y="5586984"/>
            <a:ext cx="3301898" cy="5486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birey · aile · okul · kurumlar</a:t>
            </a:r>
          </a:p>
        </p:txBody>
      </p:sp>
      <p:sp>
        <p:nvSpPr>
          <p:cNvPr id="12" name="Rounded Rectangle 11"/>
          <p:cNvSpPr/>
          <p:nvPr/>
        </p:nvSpPr>
        <p:spPr>
          <a:xfrm>
            <a:off x="4307738" y="1216152"/>
            <a:ext cx="3576218" cy="502920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307738" y="1216152"/>
            <a:ext cx="3576218" cy="640080"/>
          </a:xfrm>
          <a:prstGeom prst="roundRect">
            <a:avLst>
              <a:gd name="adj" fmla="val 2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esnası istasyonu</a:t>
            </a:r>
          </a:p>
        </p:txBody>
      </p:sp>
      <p:sp>
        <p:nvSpPr>
          <p:cNvPr id="14" name="TextBox 13"/>
          <p:cNvSpPr txBox="1"/>
          <p:nvPr/>
        </p:nvSpPr>
        <p:spPr>
          <a:xfrm>
            <a:off x="4444898" y="1929384"/>
            <a:ext cx="3301898" cy="64008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CC3333"/>
                </a:solidFill>
                <a:latin typeface="Calibri"/>
              </a:rPr>
              <a:t>Müdahale</a:t>
            </a:r>
          </a:p>
        </p:txBody>
      </p:sp>
      <p:sp>
        <p:nvSpPr>
          <p:cNvPr id="15" name="TextBox 14"/>
          <p:cNvSpPr txBox="1"/>
          <p:nvPr/>
        </p:nvSpPr>
        <p:spPr>
          <a:xfrm>
            <a:off x="4444898" y="2633472"/>
            <a:ext cx="3301898" cy="2514600"/>
          </a:xfrm>
          <a:prstGeom prst="rect">
            <a:avLst/>
          </a:prstGeom>
          <a:noFill/>
        </p:spPr>
        <p:txBody>
          <a:bodyPr wrap="square" anchor="t" lIns="73152" rIns="73152" tIns="36576" bIns="36576">
            <a:noAutofit/>
          </a:bodyPr>
          <a:lstStyle/>
          <a:p>
            <a:pPr algn="l" marL="336809" indent="-336809">
              <a:spcBef>
                <a:spcPts val="0"/>
              </a:spcBef>
              <a:spcAft>
                <a:spcPts val="1200"/>
              </a:spcAft>
            </a:pPr>
            <a:r>
              <a:rPr lang="tr-TR" sz="2100" b="1" i="0">
                <a:solidFill>
                  <a:srgbClr val="CC3333"/>
                </a:solidFill>
                <a:latin typeface="Calibri"/>
              </a:rPr>
              <a:t>1.  </a:t>
            </a:r>
            <a:r>
              <a:rPr lang="tr-TR" sz="2100" b="0" i="0">
                <a:solidFill>
                  <a:srgbClr val="262626"/>
                </a:solidFill>
                <a:latin typeface="Calibri"/>
              </a:rPr>
              <a:t>İlk dakikalarda ne yapılır?</a:t>
            </a:r>
          </a:p>
          <a:p>
            <a:pPr algn="l" marL="336809" indent="-336809">
              <a:spcBef>
                <a:spcPts val="0"/>
              </a:spcBef>
              <a:spcAft>
                <a:spcPts val="1200"/>
              </a:spcAft>
            </a:pPr>
            <a:r>
              <a:rPr lang="tr-TR" sz="2100" b="1" i="0">
                <a:solidFill>
                  <a:srgbClr val="CC3333"/>
                </a:solidFill>
                <a:latin typeface="Calibri"/>
              </a:rPr>
              <a:t>2.  </a:t>
            </a:r>
            <a:r>
              <a:rPr lang="tr-TR" sz="2100" b="0" i="0">
                <a:solidFill>
                  <a:srgbClr val="262626"/>
                </a:solidFill>
                <a:latin typeface="Calibri"/>
              </a:rPr>
              <a:t>Zaruri ihtiyaçlar nasıl karşılanır?</a:t>
            </a:r>
          </a:p>
          <a:p>
            <a:pPr algn="l" marL="336809" indent="-336809">
              <a:spcBef>
                <a:spcPts val="0"/>
              </a:spcBef>
              <a:spcAft>
                <a:spcPts val="0"/>
              </a:spcAft>
            </a:pPr>
            <a:r>
              <a:rPr lang="tr-TR" sz="2100" b="1" i="0">
                <a:solidFill>
                  <a:srgbClr val="CC3333"/>
                </a:solidFill>
                <a:latin typeface="Calibri"/>
              </a:rPr>
              <a:t>3.  </a:t>
            </a:r>
            <a:r>
              <a:rPr lang="tr-TR" sz="2100" b="0" i="0">
                <a:solidFill>
                  <a:srgbClr val="262626"/>
                </a:solidFill>
                <a:latin typeface="Calibri"/>
              </a:rPr>
              <a:t>Yeni tehlikeler ve yanlış bilgi nasıl önlenir?</a:t>
            </a:r>
          </a:p>
        </p:txBody>
      </p:sp>
      <p:sp>
        <p:nvSpPr>
          <p:cNvPr id="16" name="TextBox 15"/>
          <p:cNvSpPr txBox="1"/>
          <p:nvPr/>
        </p:nvSpPr>
        <p:spPr>
          <a:xfrm>
            <a:off x="4444898" y="5193792"/>
            <a:ext cx="3301898" cy="384048"/>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Kim yapar?</a:t>
            </a:r>
          </a:p>
        </p:txBody>
      </p:sp>
      <p:sp>
        <p:nvSpPr>
          <p:cNvPr id="17" name="TextBox 16"/>
          <p:cNvSpPr txBox="1"/>
          <p:nvPr/>
        </p:nvSpPr>
        <p:spPr>
          <a:xfrm>
            <a:off x="4444898" y="5586984"/>
            <a:ext cx="3301898" cy="5486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birey · aile · okul · kurumlar</a:t>
            </a:r>
          </a:p>
        </p:txBody>
      </p:sp>
      <p:sp>
        <p:nvSpPr>
          <p:cNvPr id="18" name="Rounded Rectangle 17"/>
          <p:cNvSpPr/>
          <p:nvPr/>
        </p:nvSpPr>
        <p:spPr>
          <a:xfrm>
            <a:off x="8112556" y="1216152"/>
            <a:ext cx="3576218" cy="502920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112556" y="1216152"/>
            <a:ext cx="3576218" cy="640080"/>
          </a:xfrm>
          <a:prstGeom prst="roundRect">
            <a:avLst>
              <a:gd name="adj" fmla="val 2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sonrası istasyonu</a:t>
            </a:r>
          </a:p>
        </p:txBody>
      </p:sp>
      <p:sp>
        <p:nvSpPr>
          <p:cNvPr id="20" name="TextBox 19"/>
          <p:cNvSpPr txBox="1"/>
          <p:nvPr/>
        </p:nvSpPr>
        <p:spPr>
          <a:xfrm>
            <a:off x="8249716" y="1929384"/>
            <a:ext cx="3301898" cy="64008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55992E"/>
                </a:solidFill>
                <a:latin typeface="Calibri"/>
              </a:rPr>
              <a:t>İyileştirme</a:t>
            </a:r>
          </a:p>
        </p:txBody>
      </p:sp>
      <p:sp>
        <p:nvSpPr>
          <p:cNvPr id="21" name="TextBox 20"/>
          <p:cNvSpPr txBox="1"/>
          <p:nvPr/>
        </p:nvSpPr>
        <p:spPr>
          <a:xfrm>
            <a:off x="8249716" y="2633472"/>
            <a:ext cx="3301898" cy="2514600"/>
          </a:xfrm>
          <a:prstGeom prst="rect">
            <a:avLst/>
          </a:prstGeom>
          <a:noFill/>
        </p:spPr>
        <p:txBody>
          <a:bodyPr wrap="square" anchor="t" lIns="73152" rIns="73152" tIns="36576" bIns="36576">
            <a:noAutofit/>
          </a:bodyPr>
          <a:lstStyle/>
          <a:p>
            <a:pPr algn="l" marL="336809" indent="-336809">
              <a:spcBef>
                <a:spcPts val="0"/>
              </a:spcBef>
              <a:spcAft>
                <a:spcPts val="1200"/>
              </a:spcAft>
            </a:pPr>
            <a:r>
              <a:rPr lang="tr-TR" sz="2100" b="1" i="0">
                <a:solidFill>
                  <a:srgbClr val="55992E"/>
                </a:solidFill>
                <a:latin typeface="Calibri"/>
              </a:rPr>
              <a:t>1.  </a:t>
            </a:r>
            <a:r>
              <a:rPr lang="tr-TR" sz="2100" b="0" i="0">
                <a:solidFill>
                  <a:srgbClr val="262626"/>
                </a:solidFill>
                <a:latin typeface="Calibri"/>
              </a:rPr>
              <a:t>Hayat nasıl normale döner?</a:t>
            </a:r>
          </a:p>
          <a:p>
            <a:pPr algn="l" marL="336809" indent="-336809">
              <a:spcBef>
                <a:spcPts val="0"/>
              </a:spcBef>
              <a:spcAft>
                <a:spcPts val="1200"/>
              </a:spcAft>
            </a:pPr>
            <a:r>
              <a:rPr lang="tr-TR" sz="2100" b="1" i="0">
                <a:solidFill>
                  <a:srgbClr val="55992E"/>
                </a:solidFill>
                <a:latin typeface="Calibri"/>
              </a:rPr>
              <a:t>2.  </a:t>
            </a:r>
            <a:r>
              <a:rPr lang="tr-TR" sz="2100" b="0" i="0">
                <a:solidFill>
                  <a:srgbClr val="262626"/>
                </a:solidFill>
                <a:latin typeface="Calibri"/>
              </a:rPr>
              <a:t>Kimin özel desteğe ihtiyacı var?</a:t>
            </a:r>
          </a:p>
          <a:p>
            <a:pPr algn="l" marL="336809" indent="-336809">
              <a:spcBef>
                <a:spcPts val="0"/>
              </a:spcBef>
              <a:spcAft>
                <a:spcPts val="0"/>
              </a:spcAft>
            </a:pPr>
            <a:r>
              <a:rPr lang="tr-TR" sz="2100" b="1" i="0">
                <a:solidFill>
                  <a:srgbClr val="55992E"/>
                </a:solidFill>
                <a:latin typeface="Calibri"/>
              </a:rPr>
              <a:t>3.  </a:t>
            </a:r>
            <a:r>
              <a:rPr lang="tr-TR" sz="2100" b="0" i="0">
                <a:solidFill>
                  <a:srgbClr val="262626"/>
                </a:solidFill>
                <a:latin typeface="Calibri"/>
              </a:rPr>
              <a:t>Bu tecrübeden ne öğrenip başa döneriz?</a:t>
            </a:r>
          </a:p>
        </p:txBody>
      </p:sp>
      <p:sp>
        <p:nvSpPr>
          <p:cNvPr id="22" name="TextBox 21"/>
          <p:cNvSpPr txBox="1"/>
          <p:nvPr/>
        </p:nvSpPr>
        <p:spPr>
          <a:xfrm>
            <a:off x="8249716" y="5193792"/>
            <a:ext cx="3301898" cy="384048"/>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Kim yapar?</a:t>
            </a:r>
          </a:p>
        </p:txBody>
      </p:sp>
      <p:sp>
        <p:nvSpPr>
          <p:cNvPr id="23" name="TextBox 22"/>
          <p:cNvSpPr txBox="1"/>
          <p:nvPr/>
        </p:nvSpPr>
        <p:spPr>
          <a:xfrm>
            <a:off x="8249716" y="5586984"/>
            <a:ext cx="3301898" cy="5486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birey · aile · okul · kurumlar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202-204</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175 / 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tur × 5 dakika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TUR · 15 dk</a:t>
            </a:r>
          </a:p>
        </p:txBody>
      </p:sp>
      <p:sp>
        <p:nvSpPr>
          <p:cNvPr id="6" name="Rounded Rectangle 5"/>
          <p:cNvSpPr/>
          <p:nvPr/>
        </p:nvSpPr>
        <p:spPr>
          <a:xfrm>
            <a:off x="502920" y="1399032"/>
            <a:ext cx="3063240" cy="21488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399032"/>
            <a:ext cx="3063240" cy="566928"/>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682496"/>
            <a:ext cx="3063240" cy="283464"/>
          </a:xfrm>
          <a:prstGeom prst="rect">
            <a:avLst/>
          </a:prstGeom>
          <a:solidFill>
            <a:srgbClr val="1E7B6E"/>
          </a:solidFill>
          <a:ln>
            <a:noFill/>
          </a:ln>
          <a:effectLst/>
        </p:spPr>
        <p:txBody>
          <a:bodyPr rtlCol="0" anchor="ctr"/>
          <a:lstStyle/>
          <a:p/>
        </p:txBody>
      </p:sp>
      <p:sp>
        <p:nvSpPr>
          <p:cNvPr id="9" name="TextBox 8"/>
          <p:cNvSpPr txBox="1"/>
          <p:nvPr/>
        </p:nvSpPr>
        <p:spPr>
          <a:xfrm>
            <a:off x="594360" y="1399032"/>
            <a:ext cx="2880360" cy="566928"/>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FFFFFF"/>
                </a:solidFill>
                <a:latin typeface="Calibri"/>
              </a:rPr>
              <a:t>1. TUR</a:t>
            </a:r>
          </a:p>
        </p:txBody>
      </p:sp>
      <p:sp>
        <p:nvSpPr>
          <p:cNvPr id="10" name="TextBox 9"/>
          <p:cNvSpPr txBox="1"/>
          <p:nvPr/>
        </p:nvSpPr>
        <p:spPr>
          <a:xfrm>
            <a:off x="612648" y="2039112"/>
            <a:ext cx="2843784" cy="1435608"/>
          </a:xfrm>
          <a:prstGeom prst="rect">
            <a:avLst/>
          </a:prstGeom>
          <a:noFill/>
        </p:spPr>
        <p:txBody>
          <a:bodyPr wrap="square" anchor="ctr" lIns="73152" rIns="73152" tIns="36576" bIns="36576">
            <a:noAutofit/>
          </a:bodyPr>
          <a:lstStyle/>
          <a:p>
            <a:pPr algn="ctr">
              <a:spcBef>
                <a:spcPts val="0"/>
              </a:spcBef>
              <a:spcAft>
                <a:spcPts val="600"/>
              </a:spcAft>
            </a:pPr>
            <a:r>
              <a:rPr lang="tr-TR" sz="2100" b="1" i="0">
                <a:solidFill>
                  <a:srgbClr val="1E7B6E"/>
                </a:solidFill>
                <a:latin typeface="Calibri"/>
              </a:rPr>
              <a:t>0-5. dakika</a:t>
            </a:r>
          </a:p>
          <a:p>
            <a:pPr algn="ctr">
              <a:spcBef>
                <a:spcPts val="0"/>
              </a:spcBef>
              <a:spcAft>
                <a:spcPts val="0"/>
              </a:spcAft>
            </a:pPr>
            <a:r>
              <a:rPr lang="tr-TR" sz="2100" b="0" i="0">
                <a:solidFill>
                  <a:srgbClr val="262626"/>
                </a:solidFill>
                <a:latin typeface="Calibri"/>
              </a:rPr>
              <a:t>Başlık ve ilk maddeler</a:t>
            </a:r>
          </a:p>
        </p:txBody>
      </p:sp>
      <p:sp>
        <p:nvSpPr>
          <p:cNvPr id="11" name="Rounded Rectangle 10"/>
          <p:cNvSpPr/>
          <p:nvPr/>
        </p:nvSpPr>
        <p:spPr>
          <a:xfrm>
            <a:off x="3681145" y="2272284"/>
            <a:ext cx="768096" cy="402336"/>
          </a:xfrm>
          <a:prstGeom prst="roundRect">
            <a:avLst>
              <a:gd name="adj" fmla="val 30000"/>
            </a:avLst>
          </a:prstGeom>
          <a:solidFill>
            <a:srgbClr val="FCC021"/>
          </a:solidFill>
          <a:ln>
            <a:noFill/>
          </a:ln>
          <a:effectLst/>
        </p:spPr>
        <p:txBody>
          <a:bodyPr rtlCol="0" anchor="ctr" wrap="square" lIns="18288" rIns="18288" tIns="0" bIns="0">
            <a:noAutofit/>
          </a:bodyPr>
          <a:lstStyle/>
          <a:p>
            <a:pPr algn="ctr">
              <a:spcBef>
                <a:spcPts val="0"/>
              </a:spcBef>
              <a:spcAft>
                <a:spcPts val="0"/>
              </a:spcAft>
            </a:pPr>
            <a:r>
              <a:rPr lang="tr-TR" sz="1300" b="1" i="0">
                <a:solidFill>
                  <a:srgbClr val="262626"/>
                </a:solidFill>
                <a:latin typeface="Calibri"/>
              </a:rPr>
              <a:t>DEĞİŞ</a:t>
            </a:r>
          </a:p>
        </p:txBody>
      </p:sp>
      <p:sp>
        <p:nvSpPr>
          <p:cNvPr id="12" name="Rounded Rectangle 11"/>
          <p:cNvSpPr/>
          <p:nvPr/>
        </p:nvSpPr>
        <p:spPr>
          <a:xfrm>
            <a:off x="4564227" y="1399032"/>
            <a:ext cx="3063240" cy="214884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564227" y="1399032"/>
            <a:ext cx="3063240" cy="566928"/>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4564227" y="1682496"/>
            <a:ext cx="3063240" cy="283464"/>
          </a:xfrm>
          <a:prstGeom prst="rect">
            <a:avLst/>
          </a:prstGeom>
          <a:solidFill>
            <a:srgbClr val="4F4F4F"/>
          </a:solidFill>
          <a:ln>
            <a:noFill/>
          </a:ln>
          <a:effectLst/>
        </p:spPr>
        <p:txBody>
          <a:bodyPr rtlCol="0" anchor="ctr"/>
          <a:lstStyle/>
          <a:p/>
        </p:txBody>
      </p:sp>
      <p:sp>
        <p:nvSpPr>
          <p:cNvPr id="15" name="TextBox 14"/>
          <p:cNvSpPr txBox="1"/>
          <p:nvPr/>
        </p:nvSpPr>
        <p:spPr>
          <a:xfrm>
            <a:off x="4655667" y="1399032"/>
            <a:ext cx="2880360" cy="566928"/>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FFFFFF"/>
                </a:solidFill>
                <a:latin typeface="Calibri"/>
              </a:rPr>
              <a:t>2. TUR</a:t>
            </a:r>
          </a:p>
        </p:txBody>
      </p:sp>
      <p:sp>
        <p:nvSpPr>
          <p:cNvPr id="16" name="TextBox 15"/>
          <p:cNvSpPr txBox="1"/>
          <p:nvPr/>
        </p:nvSpPr>
        <p:spPr>
          <a:xfrm>
            <a:off x="4673955" y="2039112"/>
            <a:ext cx="2843784" cy="1435608"/>
          </a:xfrm>
          <a:prstGeom prst="rect">
            <a:avLst/>
          </a:prstGeom>
          <a:noFill/>
        </p:spPr>
        <p:txBody>
          <a:bodyPr wrap="square" anchor="ctr" lIns="73152" rIns="73152" tIns="36576" bIns="36576">
            <a:noAutofit/>
          </a:bodyPr>
          <a:lstStyle/>
          <a:p>
            <a:pPr algn="ctr">
              <a:spcBef>
                <a:spcPts val="0"/>
              </a:spcBef>
              <a:spcAft>
                <a:spcPts val="600"/>
              </a:spcAft>
            </a:pPr>
            <a:r>
              <a:rPr lang="tr-TR" sz="2100" b="1" i="0">
                <a:solidFill>
                  <a:srgbClr val="1E7B6E"/>
                </a:solidFill>
                <a:latin typeface="Calibri"/>
              </a:rPr>
              <a:t>5-10. dakika</a:t>
            </a:r>
          </a:p>
          <a:p>
            <a:pPr algn="ctr">
              <a:spcBef>
                <a:spcPts val="0"/>
              </a:spcBef>
              <a:spcAft>
                <a:spcPts val="0"/>
              </a:spcAft>
            </a:pPr>
            <a:r>
              <a:rPr lang="tr-TR" sz="2100" b="0" i="0">
                <a:solidFill>
                  <a:srgbClr val="262626"/>
                </a:solidFill>
                <a:latin typeface="Calibri"/>
              </a:rPr>
              <a:t>Oku · ekle · düzelt (farklı renk)</a:t>
            </a:r>
          </a:p>
        </p:txBody>
      </p:sp>
      <p:sp>
        <p:nvSpPr>
          <p:cNvPr id="17" name="Rounded Rectangle 16"/>
          <p:cNvSpPr/>
          <p:nvPr/>
        </p:nvSpPr>
        <p:spPr>
          <a:xfrm>
            <a:off x="7742453" y="2272284"/>
            <a:ext cx="768096" cy="402336"/>
          </a:xfrm>
          <a:prstGeom prst="roundRect">
            <a:avLst>
              <a:gd name="adj" fmla="val 30000"/>
            </a:avLst>
          </a:prstGeom>
          <a:solidFill>
            <a:srgbClr val="FCC021"/>
          </a:solidFill>
          <a:ln>
            <a:noFill/>
          </a:ln>
          <a:effectLst/>
        </p:spPr>
        <p:txBody>
          <a:bodyPr rtlCol="0" anchor="ctr" wrap="square" lIns="18288" rIns="18288" tIns="0" bIns="0">
            <a:noAutofit/>
          </a:bodyPr>
          <a:lstStyle/>
          <a:p>
            <a:pPr algn="ctr">
              <a:spcBef>
                <a:spcPts val="0"/>
              </a:spcBef>
              <a:spcAft>
                <a:spcPts val="0"/>
              </a:spcAft>
            </a:pPr>
            <a:r>
              <a:rPr lang="tr-TR" sz="1300" b="1" i="0">
                <a:solidFill>
                  <a:srgbClr val="262626"/>
                </a:solidFill>
                <a:latin typeface="Calibri"/>
              </a:rPr>
              <a:t>DEĞİŞ</a:t>
            </a:r>
          </a:p>
        </p:txBody>
      </p:sp>
      <p:sp>
        <p:nvSpPr>
          <p:cNvPr id="18" name="Rounded Rectangle 17"/>
          <p:cNvSpPr/>
          <p:nvPr/>
        </p:nvSpPr>
        <p:spPr>
          <a:xfrm>
            <a:off x="8625535" y="1399032"/>
            <a:ext cx="3063240" cy="214884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625535" y="1399032"/>
            <a:ext cx="3063240" cy="566928"/>
          </a:xfrm>
          <a:prstGeom prst="roundRect">
            <a:avLst>
              <a:gd name="adj" fmla="val 25000"/>
            </a:avLst>
          </a:prstGeom>
          <a:solidFill>
            <a:srgbClr val="1E7B6E"/>
          </a:solidFill>
          <a:ln>
            <a:noFill/>
          </a:ln>
          <a:effectLst/>
        </p:spPr>
        <p:txBody>
          <a:bodyPr rtlCol="0" anchor="ctr"/>
          <a:lstStyle/>
          <a:p/>
        </p:txBody>
      </p:sp>
      <p:sp>
        <p:nvSpPr>
          <p:cNvPr id="20" name="Rectangle 19"/>
          <p:cNvSpPr/>
          <p:nvPr/>
        </p:nvSpPr>
        <p:spPr>
          <a:xfrm>
            <a:off x="8625535" y="1682496"/>
            <a:ext cx="3063240" cy="283464"/>
          </a:xfrm>
          <a:prstGeom prst="rect">
            <a:avLst/>
          </a:prstGeom>
          <a:solidFill>
            <a:srgbClr val="1E7B6E"/>
          </a:solidFill>
          <a:ln>
            <a:noFill/>
          </a:ln>
          <a:effectLst/>
        </p:spPr>
        <p:txBody>
          <a:bodyPr rtlCol="0" anchor="ctr"/>
          <a:lstStyle/>
          <a:p/>
        </p:txBody>
      </p:sp>
      <p:sp>
        <p:nvSpPr>
          <p:cNvPr id="21" name="TextBox 20"/>
          <p:cNvSpPr txBox="1"/>
          <p:nvPr/>
        </p:nvSpPr>
        <p:spPr>
          <a:xfrm>
            <a:off x="8716975" y="1399032"/>
            <a:ext cx="2880360" cy="566928"/>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FFFFFF"/>
                </a:solidFill>
                <a:latin typeface="Calibri"/>
              </a:rPr>
              <a:t>3. TUR</a:t>
            </a:r>
          </a:p>
        </p:txBody>
      </p:sp>
      <p:sp>
        <p:nvSpPr>
          <p:cNvPr id="22" name="TextBox 21"/>
          <p:cNvSpPr txBox="1"/>
          <p:nvPr/>
        </p:nvSpPr>
        <p:spPr>
          <a:xfrm>
            <a:off x="8735263" y="2039112"/>
            <a:ext cx="2843784" cy="1435608"/>
          </a:xfrm>
          <a:prstGeom prst="rect">
            <a:avLst/>
          </a:prstGeom>
          <a:noFill/>
        </p:spPr>
        <p:txBody>
          <a:bodyPr wrap="square" anchor="ctr" lIns="73152" rIns="73152" tIns="36576" bIns="36576">
            <a:noAutofit/>
          </a:bodyPr>
          <a:lstStyle/>
          <a:p>
            <a:pPr algn="ctr">
              <a:spcBef>
                <a:spcPts val="0"/>
              </a:spcBef>
              <a:spcAft>
                <a:spcPts val="600"/>
              </a:spcAft>
            </a:pPr>
            <a:r>
              <a:rPr lang="tr-TR" sz="2100" b="1" i="0">
                <a:solidFill>
                  <a:srgbClr val="1E7B6E"/>
                </a:solidFill>
                <a:latin typeface="Calibri"/>
              </a:rPr>
              <a:t>10-15. dakika</a:t>
            </a:r>
          </a:p>
          <a:p>
            <a:pPr algn="ctr">
              <a:spcBef>
                <a:spcPts val="0"/>
              </a:spcBef>
              <a:spcAft>
                <a:spcPts val="0"/>
              </a:spcAft>
            </a:pPr>
            <a:r>
              <a:rPr lang="tr-TR" sz="2100" b="0" i="0">
                <a:solidFill>
                  <a:srgbClr val="262626"/>
                </a:solidFill>
                <a:latin typeface="Calibri"/>
              </a:rPr>
              <a:t>Eksikleri tamamla · sembol çiz</a:t>
            </a:r>
          </a:p>
        </p:txBody>
      </p:sp>
      <p:sp>
        <p:nvSpPr>
          <p:cNvPr id="23" name="Rounded Rectangle 22"/>
          <p:cNvSpPr/>
          <p:nvPr/>
        </p:nvSpPr>
        <p:spPr>
          <a:xfrm>
            <a:off x="502920" y="3822192"/>
            <a:ext cx="11185855" cy="246888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marL="273482" indent="-273482">
              <a:spcBef>
                <a:spcPts val="0"/>
              </a:spcBef>
              <a:spcAft>
                <a:spcPts val="1000"/>
              </a:spcAft>
            </a:pPr>
            <a:r>
              <a:rPr lang="tr-TR" sz="2200" b="1" i="0">
                <a:solidFill>
                  <a:srgbClr val="1E7B6E"/>
                </a:solidFill>
                <a:latin typeface="Calibri"/>
              </a:rPr>
              <a:t>•  </a:t>
            </a:r>
            <a:r>
              <a:rPr lang="tr-TR" sz="2200" b="0" i="0">
                <a:solidFill>
                  <a:srgbClr val="262626"/>
                </a:solidFill>
                <a:latin typeface="Calibri"/>
              </a:rPr>
              <a:t>Silmek yok; eklemek ve düzeltmek var</a:t>
            </a:r>
          </a:p>
          <a:p>
            <a:pPr algn="l" marL="273482" indent="-273482">
              <a:spcBef>
                <a:spcPts val="0"/>
              </a:spcBef>
              <a:spcAft>
                <a:spcPts val="1000"/>
              </a:spcAft>
            </a:pPr>
            <a:r>
              <a:rPr lang="tr-TR" sz="2200" b="1" i="0">
                <a:solidFill>
                  <a:srgbClr val="1E7B6E"/>
                </a:solidFill>
                <a:latin typeface="Calibri"/>
              </a:rPr>
              <a:t>•  </a:t>
            </a:r>
            <a:r>
              <a:rPr lang="tr-TR" sz="2200" b="0" i="0">
                <a:solidFill>
                  <a:srgbClr val="262626"/>
                </a:solidFill>
                <a:latin typeface="Calibri"/>
              </a:rPr>
              <a:t>Her maddeye: </a:t>
            </a:r>
            <a:r>
              <a:rPr lang="tr-TR" sz="2200" b="1" i="0">
                <a:solidFill>
                  <a:srgbClr val="262626"/>
                </a:solidFill>
                <a:latin typeface="Calibri"/>
              </a:rPr>
              <a:t>Bunu kim yapar?</a:t>
            </a:r>
            <a:r>
              <a:rPr lang="tr-TR" sz="2200" b="0" i="0">
                <a:solidFill>
                  <a:srgbClr val="262626"/>
                </a:solidFill>
                <a:latin typeface="Calibri"/>
              </a:rPr>
              <a:t> (birey · aile · okul · kurumlar)</a:t>
            </a:r>
          </a:p>
          <a:p>
            <a:pPr algn="l" marL="273482" indent="-273482">
              <a:spcBef>
                <a:spcPts val="0"/>
              </a:spcBef>
              <a:spcAft>
                <a:spcPts val="0"/>
              </a:spcAft>
            </a:pPr>
            <a:r>
              <a:rPr lang="tr-TR" sz="2200" b="1" i="0">
                <a:solidFill>
                  <a:srgbClr val="1E7B6E"/>
                </a:solidFill>
                <a:latin typeface="Calibri"/>
              </a:rPr>
              <a:t>•  </a:t>
            </a:r>
            <a:r>
              <a:rPr lang="tr-TR" sz="2200" b="0" i="0">
                <a:solidFill>
                  <a:srgbClr val="262626"/>
                </a:solidFill>
                <a:latin typeface="Calibri"/>
              </a:rPr>
              <a:t>Kalemler istasyonda kalır · “değiş” işaretinde önce dur, sonra geç</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176 / 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Başlangıç istasyonuna dönüş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SON DÜZENLEME</a:t>
            </a:r>
          </a:p>
        </p:txBody>
      </p:sp>
      <p:sp>
        <p:nvSpPr>
          <p:cNvPr id="6" name="Rounded Rectangle 5"/>
          <p:cNvSpPr/>
          <p:nvPr/>
        </p:nvSpPr>
        <p:spPr>
          <a:xfrm>
            <a:off x="502920" y="1216152"/>
            <a:ext cx="6035040"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6035040" cy="594360"/>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513332"/>
            <a:ext cx="6035040" cy="297180"/>
          </a:xfrm>
          <a:prstGeom prst="rect">
            <a:avLst/>
          </a:prstGeom>
          <a:solidFill>
            <a:srgbClr val="1E7B6E"/>
          </a:solidFill>
          <a:ln>
            <a:noFill/>
          </a:ln>
          <a:effectLst/>
        </p:spPr>
        <p:txBody>
          <a:bodyPr rtlCol="0" anchor="ctr"/>
          <a:lstStyle/>
          <a:p/>
        </p:txBody>
      </p:sp>
      <p:sp>
        <p:nvSpPr>
          <p:cNvPr id="9" name="TextBox 8"/>
          <p:cNvSpPr txBox="1"/>
          <p:nvPr/>
        </p:nvSpPr>
        <p:spPr>
          <a:xfrm>
            <a:off x="594360" y="1216152"/>
            <a:ext cx="5852160" cy="5943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Afişimiz hazır mı?</a:t>
            </a:r>
          </a:p>
        </p:txBody>
      </p:sp>
      <p:sp>
        <p:nvSpPr>
          <p:cNvPr id="10" name="Rectangle 9"/>
          <p:cNvSpPr/>
          <p:nvPr/>
        </p:nvSpPr>
        <p:spPr>
          <a:xfrm>
            <a:off x="777240" y="2185416"/>
            <a:ext cx="310896" cy="310896"/>
          </a:xfrm>
          <a:prstGeom prst="rect">
            <a:avLst/>
          </a:prstGeom>
          <a:solidFill>
            <a:srgbClr val="FFFFFF"/>
          </a:solidFill>
          <a:ln w="22225">
            <a:solidFill>
              <a:srgbClr val="1E7B6E"/>
            </a:solidFill>
          </a:ln>
          <a:effectLst/>
        </p:spPr>
        <p:txBody>
          <a:bodyPr rtlCol="0" anchor="ctr"/>
          <a:lstStyle/>
          <a:p/>
        </p:txBody>
      </p:sp>
      <p:sp>
        <p:nvSpPr>
          <p:cNvPr id="11" name="TextBox 10"/>
          <p:cNvSpPr txBox="1"/>
          <p:nvPr/>
        </p:nvSpPr>
        <p:spPr>
          <a:xfrm>
            <a:off x="1234440" y="1947672"/>
            <a:ext cx="5120640" cy="7863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Başlık var ve uzaktan okunuyor</a:t>
            </a:r>
          </a:p>
        </p:txBody>
      </p:sp>
      <p:sp>
        <p:nvSpPr>
          <p:cNvPr id="12" name="Rectangle 11"/>
          <p:cNvSpPr/>
          <p:nvPr/>
        </p:nvSpPr>
        <p:spPr>
          <a:xfrm>
            <a:off x="777240" y="2971800"/>
            <a:ext cx="310896" cy="310896"/>
          </a:xfrm>
          <a:prstGeom prst="rect">
            <a:avLst/>
          </a:prstGeom>
          <a:solidFill>
            <a:srgbClr val="FFFFFF"/>
          </a:solidFill>
          <a:ln w="22225">
            <a:solidFill>
              <a:srgbClr val="1E7B6E"/>
            </a:solidFill>
          </a:ln>
          <a:effectLst/>
        </p:spPr>
        <p:txBody>
          <a:bodyPr rtlCol="0" anchor="ctr"/>
          <a:lstStyle/>
          <a:p/>
        </p:txBody>
      </p:sp>
      <p:sp>
        <p:nvSpPr>
          <p:cNvPr id="13" name="TextBox 12"/>
          <p:cNvSpPr txBox="1"/>
          <p:nvPr/>
        </p:nvSpPr>
        <p:spPr>
          <a:xfrm>
            <a:off x="1234440" y="2734056"/>
            <a:ext cx="5120640" cy="7863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Maddeler kısa ve okunaklı</a:t>
            </a:r>
          </a:p>
        </p:txBody>
      </p:sp>
      <p:sp>
        <p:nvSpPr>
          <p:cNvPr id="14" name="Rectangle 13"/>
          <p:cNvSpPr/>
          <p:nvPr/>
        </p:nvSpPr>
        <p:spPr>
          <a:xfrm>
            <a:off x="777240" y="3758184"/>
            <a:ext cx="310896" cy="310896"/>
          </a:xfrm>
          <a:prstGeom prst="rect">
            <a:avLst/>
          </a:prstGeom>
          <a:solidFill>
            <a:srgbClr val="FFFFFF"/>
          </a:solidFill>
          <a:ln w="22225">
            <a:solidFill>
              <a:srgbClr val="1E7B6E"/>
            </a:solidFill>
          </a:ln>
          <a:effectLst/>
        </p:spPr>
        <p:txBody>
          <a:bodyPr rtlCol="0" anchor="ctr"/>
          <a:lstStyle/>
          <a:p/>
        </p:txBody>
      </p:sp>
      <p:sp>
        <p:nvSpPr>
          <p:cNvPr id="15" name="TextBox 14"/>
          <p:cNvSpPr txBox="1"/>
          <p:nvPr/>
        </p:nvSpPr>
        <p:spPr>
          <a:xfrm>
            <a:off x="1234440" y="3520440"/>
            <a:ext cx="5120640" cy="7863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Eksik madde tamamlandı</a:t>
            </a:r>
          </a:p>
        </p:txBody>
      </p:sp>
      <p:sp>
        <p:nvSpPr>
          <p:cNvPr id="16" name="Rectangle 15"/>
          <p:cNvSpPr/>
          <p:nvPr/>
        </p:nvSpPr>
        <p:spPr>
          <a:xfrm>
            <a:off x="777240" y="4544568"/>
            <a:ext cx="310896" cy="310896"/>
          </a:xfrm>
          <a:prstGeom prst="rect">
            <a:avLst/>
          </a:prstGeom>
          <a:solidFill>
            <a:srgbClr val="FFFFFF"/>
          </a:solidFill>
          <a:ln w="22225">
            <a:solidFill>
              <a:srgbClr val="1E7B6E"/>
            </a:solidFill>
          </a:ln>
          <a:effectLst/>
        </p:spPr>
        <p:txBody>
          <a:bodyPr rtlCol="0" anchor="ctr"/>
          <a:lstStyle/>
          <a:p/>
        </p:txBody>
      </p:sp>
      <p:sp>
        <p:nvSpPr>
          <p:cNvPr id="17" name="TextBox 16"/>
          <p:cNvSpPr txBox="1"/>
          <p:nvPr/>
        </p:nvSpPr>
        <p:spPr>
          <a:xfrm>
            <a:off x="1234440" y="4306824"/>
            <a:ext cx="5120640" cy="7863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Her maddenin yanında: kim yapar?</a:t>
            </a:r>
          </a:p>
        </p:txBody>
      </p:sp>
      <p:sp>
        <p:nvSpPr>
          <p:cNvPr id="18" name="Rectangle 17"/>
          <p:cNvSpPr/>
          <p:nvPr/>
        </p:nvSpPr>
        <p:spPr>
          <a:xfrm>
            <a:off x="777240" y="5330952"/>
            <a:ext cx="310896" cy="310896"/>
          </a:xfrm>
          <a:prstGeom prst="rect">
            <a:avLst/>
          </a:prstGeom>
          <a:solidFill>
            <a:srgbClr val="FFFFFF"/>
          </a:solidFill>
          <a:ln w="22225">
            <a:solidFill>
              <a:srgbClr val="1E7B6E"/>
            </a:solidFill>
          </a:ln>
          <a:effectLst/>
        </p:spPr>
        <p:txBody>
          <a:bodyPr rtlCol="0" anchor="ctr"/>
          <a:lstStyle/>
          <a:p/>
        </p:txBody>
      </p:sp>
      <p:sp>
        <p:nvSpPr>
          <p:cNvPr id="19" name="TextBox 18"/>
          <p:cNvSpPr txBox="1"/>
          <p:nvPr/>
        </p:nvSpPr>
        <p:spPr>
          <a:xfrm>
            <a:off x="1234440" y="5093208"/>
            <a:ext cx="5120640" cy="7863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En az bir sembol ya da çizim var</a:t>
            </a:r>
          </a:p>
        </p:txBody>
      </p:sp>
      <p:sp>
        <p:nvSpPr>
          <p:cNvPr id="20" name="TextBox 19"/>
          <p:cNvSpPr txBox="1"/>
          <p:nvPr/>
        </p:nvSpPr>
        <p:spPr>
          <a:xfrm>
            <a:off x="6858000" y="1216152"/>
            <a:ext cx="4830775" cy="50292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E7B6E"/>
                </a:solidFill>
                <a:latin typeface="Calibri"/>
              </a:rPr>
              <a:t>Panoda: aynı konu yan yana</a:t>
            </a:r>
          </a:p>
        </p:txBody>
      </p:sp>
      <p:sp>
        <p:nvSpPr>
          <p:cNvPr id="21" name="Rounded Rectangle 20"/>
          <p:cNvSpPr/>
          <p:nvPr/>
        </p:nvSpPr>
        <p:spPr>
          <a:xfrm>
            <a:off x="6858000" y="1856232"/>
            <a:ext cx="2278227" cy="1115568"/>
          </a:xfrm>
          <a:prstGeom prst="roundRect">
            <a:avLst>
              <a:gd name="adj" fmla="val 8000"/>
            </a:avLst>
          </a:prstGeom>
          <a:solidFill>
            <a:srgbClr val="FFFFFF"/>
          </a:solidFill>
          <a:ln w="38100">
            <a:solidFill>
              <a:srgbClr val="1F86BF"/>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1F86BF"/>
                </a:solidFill>
                <a:latin typeface="Calibri"/>
              </a:rPr>
              <a:t>Ö1</a:t>
            </a:r>
          </a:p>
          <a:p>
            <a:pPr algn="ctr">
              <a:spcBef>
                <a:spcPts val="0"/>
              </a:spcBef>
              <a:spcAft>
                <a:spcPts val="0"/>
              </a:spcAft>
            </a:pPr>
            <a:r>
              <a:rPr lang="tr-TR" sz="1500" b="0" i="0">
                <a:solidFill>
                  <a:srgbClr val="1F86BF"/>
                </a:solidFill>
                <a:latin typeface="Calibri"/>
              </a:rPr>
              <a:t>Afet öncesi</a:t>
            </a:r>
          </a:p>
        </p:txBody>
      </p:sp>
      <p:sp>
        <p:nvSpPr>
          <p:cNvPr id="22" name="Rounded Rectangle 21"/>
          <p:cNvSpPr/>
          <p:nvPr/>
        </p:nvSpPr>
        <p:spPr>
          <a:xfrm>
            <a:off x="9410547" y="1856232"/>
            <a:ext cx="2278227" cy="1115568"/>
          </a:xfrm>
          <a:prstGeom prst="roundRect">
            <a:avLst>
              <a:gd name="adj" fmla="val 8000"/>
            </a:avLst>
          </a:prstGeom>
          <a:solidFill>
            <a:srgbClr val="FFFFFF"/>
          </a:solidFill>
          <a:ln w="38100">
            <a:solidFill>
              <a:srgbClr val="1F86BF"/>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1F86BF"/>
                </a:solidFill>
                <a:latin typeface="Calibri"/>
              </a:rPr>
              <a:t>Ö2</a:t>
            </a:r>
          </a:p>
          <a:p>
            <a:pPr algn="ctr">
              <a:spcBef>
                <a:spcPts val="0"/>
              </a:spcBef>
              <a:spcAft>
                <a:spcPts val="0"/>
              </a:spcAft>
            </a:pPr>
            <a:r>
              <a:rPr lang="tr-TR" sz="1500" b="0" i="0">
                <a:solidFill>
                  <a:srgbClr val="1F86BF"/>
                </a:solidFill>
                <a:latin typeface="Calibri"/>
              </a:rPr>
              <a:t>Afet öncesi</a:t>
            </a:r>
          </a:p>
        </p:txBody>
      </p:sp>
      <p:sp>
        <p:nvSpPr>
          <p:cNvPr id="23" name="Rounded Rectangle 22"/>
          <p:cNvSpPr/>
          <p:nvPr/>
        </p:nvSpPr>
        <p:spPr>
          <a:xfrm>
            <a:off x="6858000" y="3154680"/>
            <a:ext cx="2278227" cy="1115568"/>
          </a:xfrm>
          <a:prstGeom prst="roundRect">
            <a:avLst>
              <a:gd name="adj" fmla="val 8000"/>
            </a:avLst>
          </a:prstGeom>
          <a:solidFill>
            <a:srgbClr val="FFFFFF"/>
          </a:solidFill>
          <a:ln w="38100">
            <a:solidFill>
              <a:srgbClr val="CC3333"/>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CC3333"/>
                </a:solidFill>
                <a:latin typeface="Calibri"/>
              </a:rPr>
              <a:t>E1</a:t>
            </a:r>
          </a:p>
          <a:p>
            <a:pPr algn="ctr">
              <a:spcBef>
                <a:spcPts val="0"/>
              </a:spcBef>
              <a:spcAft>
                <a:spcPts val="0"/>
              </a:spcAft>
            </a:pPr>
            <a:r>
              <a:rPr lang="tr-TR" sz="1500" b="0" i="0">
                <a:solidFill>
                  <a:srgbClr val="CC3333"/>
                </a:solidFill>
                <a:latin typeface="Calibri"/>
              </a:rPr>
              <a:t>Afet esnası</a:t>
            </a:r>
          </a:p>
        </p:txBody>
      </p:sp>
      <p:sp>
        <p:nvSpPr>
          <p:cNvPr id="24" name="Rounded Rectangle 23"/>
          <p:cNvSpPr/>
          <p:nvPr/>
        </p:nvSpPr>
        <p:spPr>
          <a:xfrm>
            <a:off x="9410547" y="3154680"/>
            <a:ext cx="2278227" cy="1115568"/>
          </a:xfrm>
          <a:prstGeom prst="roundRect">
            <a:avLst>
              <a:gd name="adj" fmla="val 8000"/>
            </a:avLst>
          </a:prstGeom>
          <a:solidFill>
            <a:srgbClr val="FFFFFF"/>
          </a:solidFill>
          <a:ln w="38100">
            <a:solidFill>
              <a:srgbClr val="CC3333"/>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CC3333"/>
                </a:solidFill>
                <a:latin typeface="Calibri"/>
              </a:rPr>
              <a:t>E2</a:t>
            </a:r>
          </a:p>
          <a:p>
            <a:pPr algn="ctr">
              <a:spcBef>
                <a:spcPts val="0"/>
              </a:spcBef>
              <a:spcAft>
                <a:spcPts val="0"/>
              </a:spcAft>
            </a:pPr>
            <a:r>
              <a:rPr lang="tr-TR" sz="1500" b="0" i="0">
                <a:solidFill>
                  <a:srgbClr val="CC3333"/>
                </a:solidFill>
                <a:latin typeface="Calibri"/>
              </a:rPr>
              <a:t>Afet esnası</a:t>
            </a:r>
          </a:p>
        </p:txBody>
      </p:sp>
      <p:sp>
        <p:nvSpPr>
          <p:cNvPr id="25" name="Rounded Rectangle 24"/>
          <p:cNvSpPr/>
          <p:nvPr/>
        </p:nvSpPr>
        <p:spPr>
          <a:xfrm>
            <a:off x="6858000" y="4453128"/>
            <a:ext cx="2278227" cy="1115568"/>
          </a:xfrm>
          <a:prstGeom prst="roundRect">
            <a:avLst>
              <a:gd name="adj" fmla="val 8000"/>
            </a:avLst>
          </a:prstGeom>
          <a:solidFill>
            <a:srgbClr val="FFFFFF"/>
          </a:solidFill>
          <a:ln w="38100">
            <a:solidFill>
              <a:srgbClr val="55992E"/>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55992E"/>
                </a:solidFill>
                <a:latin typeface="Calibri"/>
              </a:rPr>
              <a:t>S1</a:t>
            </a:r>
          </a:p>
          <a:p>
            <a:pPr algn="ctr">
              <a:spcBef>
                <a:spcPts val="0"/>
              </a:spcBef>
              <a:spcAft>
                <a:spcPts val="0"/>
              </a:spcAft>
            </a:pPr>
            <a:r>
              <a:rPr lang="tr-TR" sz="1500" b="0" i="0">
                <a:solidFill>
                  <a:srgbClr val="55992E"/>
                </a:solidFill>
                <a:latin typeface="Calibri"/>
              </a:rPr>
              <a:t>Afet sonrası</a:t>
            </a:r>
          </a:p>
        </p:txBody>
      </p:sp>
      <p:sp>
        <p:nvSpPr>
          <p:cNvPr id="26" name="Rounded Rectangle 25"/>
          <p:cNvSpPr/>
          <p:nvPr/>
        </p:nvSpPr>
        <p:spPr>
          <a:xfrm>
            <a:off x="9410547" y="4453128"/>
            <a:ext cx="2278227" cy="1115568"/>
          </a:xfrm>
          <a:prstGeom prst="roundRect">
            <a:avLst>
              <a:gd name="adj" fmla="val 8000"/>
            </a:avLst>
          </a:prstGeom>
          <a:solidFill>
            <a:srgbClr val="FFFFFF"/>
          </a:solidFill>
          <a:ln w="38100">
            <a:solidFill>
              <a:srgbClr val="55992E"/>
            </a:solidFill>
          </a:ln>
          <a:effectLst/>
        </p:spPr>
        <p:txBody>
          <a:bodyPr rtlCol="0" anchor="ctr" wrap="square" lIns="128016" rIns="128016" tIns="73152" bIns="73152">
            <a:noAutofit/>
          </a:bodyPr>
          <a:lstStyle/>
          <a:p>
            <a:pPr algn="ctr">
              <a:spcBef>
                <a:spcPts val="0"/>
              </a:spcBef>
              <a:spcAft>
                <a:spcPts val="200"/>
              </a:spcAft>
            </a:pPr>
            <a:r>
              <a:rPr lang="tr-TR" sz="2400" b="1" i="0">
                <a:solidFill>
                  <a:srgbClr val="55992E"/>
                </a:solidFill>
                <a:latin typeface="Calibri"/>
              </a:rPr>
              <a:t>S2</a:t>
            </a:r>
          </a:p>
          <a:p>
            <a:pPr algn="ctr">
              <a:spcBef>
                <a:spcPts val="0"/>
              </a:spcBef>
              <a:spcAft>
                <a:spcPts val="0"/>
              </a:spcAft>
            </a:pPr>
            <a:r>
              <a:rPr lang="tr-TR" sz="1500" b="0" i="0">
                <a:solidFill>
                  <a:srgbClr val="55992E"/>
                </a:solidFill>
                <a:latin typeface="Calibri"/>
              </a:rPr>
              <a:t>Afet sonrası</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177 / 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Paylaşım: aynı konu, iki afiş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PAYLAŞIM</a:t>
            </a:r>
          </a:p>
        </p:txBody>
      </p:sp>
      <p:sp>
        <p:nvSpPr>
          <p:cNvPr id="6" name="Rounded Rectangle 5"/>
          <p:cNvSpPr/>
          <p:nvPr/>
        </p:nvSpPr>
        <p:spPr>
          <a:xfrm>
            <a:off x="502920" y="1216152"/>
            <a:ext cx="5478627" cy="1371600"/>
          </a:xfrm>
          <a:prstGeom prst="roundRect">
            <a:avLst>
              <a:gd name="adj" fmla="val 8000"/>
            </a:avLst>
          </a:prstGeom>
          <a:solidFill>
            <a:srgbClr val="FFF3D1"/>
          </a:solidFill>
          <a:ln>
            <a:noFill/>
          </a:ln>
          <a:effectLst/>
        </p:spPr>
        <p:txBody>
          <a:bodyPr rtlCol="0" anchor="ctr"/>
          <a:lstStyle/>
          <a:p/>
        </p:txBody>
      </p:sp>
      <p:sp>
        <p:nvSpPr>
          <p:cNvPr id="7" name="Oval 6"/>
          <p:cNvSpPr/>
          <p:nvPr/>
        </p:nvSpPr>
        <p:spPr>
          <a:xfrm>
            <a:off x="667512" y="1627632"/>
            <a:ext cx="548640" cy="54864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8" name="TextBox 7"/>
          <p:cNvSpPr txBox="1"/>
          <p:nvPr/>
        </p:nvSpPr>
        <p:spPr>
          <a:xfrm>
            <a:off x="1371600" y="1261872"/>
            <a:ext cx="4472787" cy="128016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Aynı konudaki iki afiş neden farklı? İstasyon değiştiren grupların katkısı ne oldu?</a:t>
            </a:r>
          </a:p>
        </p:txBody>
      </p:sp>
      <p:sp>
        <p:nvSpPr>
          <p:cNvPr id="9" name="Rounded Rectangle 8"/>
          <p:cNvSpPr/>
          <p:nvPr/>
        </p:nvSpPr>
        <p:spPr>
          <a:xfrm>
            <a:off x="6210147" y="1216152"/>
            <a:ext cx="5478627" cy="1371600"/>
          </a:xfrm>
          <a:prstGeom prst="roundRect">
            <a:avLst>
              <a:gd name="adj" fmla="val 8000"/>
            </a:avLst>
          </a:prstGeom>
          <a:solidFill>
            <a:srgbClr val="FFF3D1"/>
          </a:solidFill>
          <a:ln>
            <a:noFill/>
          </a:ln>
          <a:effectLst/>
        </p:spPr>
        <p:txBody>
          <a:bodyPr rtlCol="0" anchor="ctr"/>
          <a:lstStyle/>
          <a:p/>
        </p:txBody>
      </p:sp>
      <p:sp>
        <p:nvSpPr>
          <p:cNvPr id="10" name="Oval 9"/>
          <p:cNvSpPr/>
          <p:nvPr/>
        </p:nvSpPr>
        <p:spPr>
          <a:xfrm>
            <a:off x="6374739" y="1627632"/>
            <a:ext cx="548640" cy="54864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11" name="TextBox 10"/>
          <p:cNvSpPr txBox="1"/>
          <p:nvPr/>
        </p:nvSpPr>
        <p:spPr>
          <a:xfrm>
            <a:off x="7078827" y="1261872"/>
            <a:ext cx="4472787" cy="128016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Öncesi, esnası ve sonrası için yapılması gerekenler nerede örtüşüyor, nerede ayrışıyor?</a:t>
            </a:r>
          </a:p>
        </p:txBody>
      </p:sp>
      <p:sp>
        <p:nvSpPr>
          <p:cNvPr id="12" name="TextBox 11"/>
          <p:cNvSpPr txBox="1"/>
          <p:nvPr/>
        </p:nvSpPr>
        <p:spPr>
          <a:xfrm>
            <a:off x="502920" y="2724912"/>
            <a:ext cx="11185855" cy="54864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Tahtadaki karşılaştırma tablosu: örtüşen maddeyi iki sütunda da işaretle</a:t>
            </a:r>
          </a:p>
        </p:txBody>
      </p:sp>
      <p:sp>
        <p:nvSpPr>
          <p:cNvPr id="13" name="Rounded Rectangle 12"/>
          <p:cNvSpPr/>
          <p:nvPr/>
        </p:nvSpPr>
        <p:spPr>
          <a:xfrm>
            <a:off x="502920" y="3364992"/>
            <a:ext cx="3606698" cy="2880360"/>
          </a:xfrm>
          <a:prstGeom prst="roundRect">
            <a:avLst>
              <a:gd name="adj" fmla="val 5000"/>
            </a:avLst>
          </a:prstGeom>
          <a:solidFill>
            <a:srgbClr val="FFFFFF"/>
          </a:solidFill>
          <a:ln>
            <a:noFill/>
          </a:ln>
          <a:effectLst/>
        </p:spPr>
        <p:txBody>
          <a:bodyPr rtlCol="0" anchor="ctr"/>
          <a:lstStyle/>
          <a:p/>
        </p:txBody>
      </p:sp>
      <p:sp>
        <p:nvSpPr>
          <p:cNvPr id="14" name="Rounded Rectangle 13"/>
          <p:cNvSpPr/>
          <p:nvPr/>
        </p:nvSpPr>
        <p:spPr>
          <a:xfrm>
            <a:off x="502920" y="3364992"/>
            <a:ext cx="3606698" cy="685800"/>
          </a:xfrm>
          <a:prstGeom prst="roundRect">
            <a:avLst>
              <a:gd name="adj" fmla="val 25000"/>
            </a:avLst>
          </a:prstGeom>
          <a:solidFill>
            <a:srgbClr val="1F86BF"/>
          </a:solidFill>
          <a:ln>
            <a:noFill/>
          </a:ln>
          <a:effectLst/>
        </p:spPr>
        <p:txBody>
          <a:bodyPr rtlCol="0" anchor="ctr"/>
          <a:lstStyle/>
          <a:p/>
        </p:txBody>
      </p:sp>
      <p:sp>
        <p:nvSpPr>
          <p:cNvPr id="15" name="Rectangle 14"/>
          <p:cNvSpPr/>
          <p:nvPr/>
        </p:nvSpPr>
        <p:spPr>
          <a:xfrm>
            <a:off x="502920" y="3707892"/>
            <a:ext cx="3606698" cy="342900"/>
          </a:xfrm>
          <a:prstGeom prst="rect">
            <a:avLst/>
          </a:prstGeom>
          <a:solidFill>
            <a:srgbClr val="1F86BF"/>
          </a:solidFill>
          <a:ln>
            <a:noFill/>
          </a:ln>
          <a:effectLst/>
        </p:spPr>
        <p:txBody>
          <a:bodyPr rtlCol="0" anchor="ctr"/>
          <a:lstStyle/>
          <a:p/>
        </p:txBody>
      </p:sp>
      <p:sp>
        <p:nvSpPr>
          <p:cNvPr id="16" name="TextBox 15"/>
          <p:cNvSpPr txBox="1"/>
          <p:nvPr/>
        </p:nvSpPr>
        <p:spPr>
          <a:xfrm>
            <a:off x="594360" y="336499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öncesi</a:t>
            </a:r>
          </a:p>
        </p:txBody>
      </p:sp>
      <p:sp>
        <p:nvSpPr>
          <p:cNvPr id="17" name="Rounded Rectangle 16"/>
          <p:cNvSpPr/>
          <p:nvPr/>
        </p:nvSpPr>
        <p:spPr>
          <a:xfrm>
            <a:off x="502920" y="3364992"/>
            <a:ext cx="3606698" cy="2880360"/>
          </a:xfrm>
          <a:prstGeom prst="roundRect">
            <a:avLst>
              <a:gd name="adj" fmla="val 5000"/>
            </a:avLst>
          </a:prstGeom>
          <a:noFill/>
          <a:ln w="12700">
            <a:solidFill>
              <a:srgbClr val="D9D9D9"/>
            </a:solidFill>
          </a:ln>
          <a:effectLst/>
        </p:spPr>
        <p:txBody>
          <a:bodyPr rtlCol="0" anchor="ctr"/>
          <a:lstStyle/>
          <a:p/>
        </p:txBody>
      </p:sp>
      <p:cxnSp>
        <p:nvCxnSpPr>
          <p:cNvPr id="18" name="Connector 17"/>
          <p:cNvCxnSpPr/>
          <p:nvPr/>
        </p:nvCxnSpPr>
        <p:spPr>
          <a:xfrm>
            <a:off x="685800" y="4489704"/>
            <a:ext cx="3240938" cy="0"/>
          </a:xfrm>
          <a:prstGeom prst="line">
            <a:avLst/>
          </a:prstGeom>
          <a:ln w="12700">
            <a:solidFill>
              <a:srgbClr val="D9D9D9"/>
            </a:solidFill>
            <a:prstDash val="dash"/>
          </a:ln>
        </p:spPr>
      </p:cxnSp>
      <p:cxnSp>
        <p:nvCxnSpPr>
          <p:cNvPr id="19" name="Connector 18"/>
          <p:cNvCxnSpPr/>
          <p:nvPr/>
        </p:nvCxnSpPr>
        <p:spPr>
          <a:xfrm>
            <a:off x="685800" y="4928616"/>
            <a:ext cx="3240938" cy="0"/>
          </a:xfrm>
          <a:prstGeom prst="line">
            <a:avLst/>
          </a:prstGeom>
          <a:ln w="12700">
            <a:solidFill>
              <a:srgbClr val="D9D9D9"/>
            </a:solidFill>
            <a:prstDash val="dash"/>
          </a:ln>
        </p:spPr>
      </p:cxnSp>
      <p:cxnSp>
        <p:nvCxnSpPr>
          <p:cNvPr id="20" name="Connector 19"/>
          <p:cNvCxnSpPr/>
          <p:nvPr/>
        </p:nvCxnSpPr>
        <p:spPr>
          <a:xfrm>
            <a:off x="685800" y="5367528"/>
            <a:ext cx="3240938" cy="0"/>
          </a:xfrm>
          <a:prstGeom prst="line">
            <a:avLst/>
          </a:prstGeom>
          <a:ln w="12700">
            <a:solidFill>
              <a:srgbClr val="D9D9D9"/>
            </a:solidFill>
            <a:prstDash val="dash"/>
          </a:ln>
        </p:spPr>
      </p:cxnSp>
      <p:cxnSp>
        <p:nvCxnSpPr>
          <p:cNvPr id="21" name="Connector 20"/>
          <p:cNvCxnSpPr/>
          <p:nvPr/>
        </p:nvCxnSpPr>
        <p:spPr>
          <a:xfrm>
            <a:off x="685800" y="5806440"/>
            <a:ext cx="3240938" cy="0"/>
          </a:xfrm>
          <a:prstGeom prst="line">
            <a:avLst/>
          </a:prstGeom>
          <a:ln w="12700">
            <a:solidFill>
              <a:srgbClr val="D9D9D9"/>
            </a:solidFill>
            <a:prstDash val="dash"/>
          </a:ln>
        </p:spPr>
      </p:cxnSp>
      <p:sp>
        <p:nvSpPr>
          <p:cNvPr id="22" name="Rounded Rectangle 21"/>
          <p:cNvSpPr/>
          <p:nvPr/>
        </p:nvSpPr>
        <p:spPr>
          <a:xfrm>
            <a:off x="4292498" y="3364992"/>
            <a:ext cx="3606698" cy="2880360"/>
          </a:xfrm>
          <a:prstGeom prst="roundRect">
            <a:avLst>
              <a:gd name="adj" fmla="val 5000"/>
            </a:avLst>
          </a:prstGeom>
          <a:solidFill>
            <a:srgbClr val="FFFFFF"/>
          </a:solidFill>
          <a:ln>
            <a:noFill/>
          </a:ln>
          <a:effectLst/>
        </p:spPr>
        <p:txBody>
          <a:bodyPr rtlCol="0" anchor="ctr"/>
          <a:lstStyle/>
          <a:p/>
        </p:txBody>
      </p:sp>
      <p:sp>
        <p:nvSpPr>
          <p:cNvPr id="23" name="Rounded Rectangle 22"/>
          <p:cNvSpPr/>
          <p:nvPr/>
        </p:nvSpPr>
        <p:spPr>
          <a:xfrm>
            <a:off x="4292498" y="3364992"/>
            <a:ext cx="3606698" cy="685800"/>
          </a:xfrm>
          <a:prstGeom prst="roundRect">
            <a:avLst>
              <a:gd name="adj" fmla="val 25000"/>
            </a:avLst>
          </a:prstGeom>
          <a:solidFill>
            <a:srgbClr val="CC3333"/>
          </a:solidFill>
          <a:ln>
            <a:noFill/>
          </a:ln>
          <a:effectLst/>
        </p:spPr>
        <p:txBody>
          <a:bodyPr rtlCol="0" anchor="ctr"/>
          <a:lstStyle/>
          <a:p/>
        </p:txBody>
      </p:sp>
      <p:sp>
        <p:nvSpPr>
          <p:cNvPr id="24" name="Rectangle 23"/>
          <p:cNvSpPr/>
          <p:nvPr/>
        </p:nvSpPr>
        <p:spPr>
          <a:xfrm>
            <a:off x="4292498" y="3707892"/>
            <a:ext cx="3606698" cy="342900"/>
          </a:xfrm>
          <a:prstGeom prst="rect">
            <a:avLst/>
          </a:prstGeom>
          <a:solidFill>
            <a:srgbClr val="CC3333"/>
          </a:solidFill>
          <a:ln>
            <a:noFill/>
          </a:ln>
          <a:effectLst/>
        </p:spPr>
        <p:txBody>
          <a:bodyPr rtlCol="0" anchor="ctr"/>
          <a:lstStyle/>
          <a:p/>
        </p:txBody>
      </p:sp>
      <p:sp>
        <p:nvSpPr>
          <p:cNvPr id="25" name="TextBox 24"/>
          <p:cNvSpPr txBox="1"/>
          <p:nvPr/>
        </p:nvSpPr>
        <p:spPr>
          <a:xfrm>
            <a:off x="4383938" y="336499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esnası</a:t>
            </a:r>
          </a:p>
        </p:txBody>
      </p:sp>
      <p:sp>
        <p:nvSpPr>
          <p:cNvPr id="26" name="Rounded Rectangle 25"/>
          <p:cNvSpPr/>
          <p:nvPr/>
        </p:nvSpPr>
        <p:spPr>
          <a:xfrm>
            <a:off x="4292498" y="3364992"/>
            <a:ext cx="3606698" cy="2880360"/>
          </a:xfrm>
          <a:prstGeom prst="roundRect">
            <a:avLst>
              <a:gd name="adj" fmla="val 5000"/>
            </a:avLst>
          </a:prstGeom>
          <a:noFill/>
          <a:ln w="12700">
            <a:solidFill>
              <a:srgbClr val="D9D9D9"/>
            </a:solidFill>
          </a:ln>
          <a:effectLst/>
        </p:spPr>
        <p:txBody>
          <a:bodyPr rtlCol="0" anchor="ctr"/>
          <a:lstStyle/>
          <a:p/>
        </p:txBody>
      </p:sp>
      <p:cxnSp>
        <p:nvCxnSpPr>
          <p:cNvPr id="27" name="Connector 26"/>
          <p:cNvCxnSpPr/>
          <p:nvPr/>
        </p:nvCxnSpPr>
        <p:spPr>
          <a:xfrm>
            <a:off x="4475378" y="4489704"/>
            <a:ext cx="3240938" cy="0"/>
          </a:xfrm>
          <a:prstGeom prst="line">
            <a:avLst/>
          </a:prstGeom>
          <a:ln w="12700">
            <a:solidFill>
              <a:srgbClr val="D9D9D9"/>
            </a:solidFill>
            <a:prstDash val="dash"/>
          </a:ln>
        </p:spPr>
      </p:cxnSp>
      <p:cxnSp>
        <p:nvCxnSpPr>
          <p:cNvPr id="28" name="Connector 27"/>
          <p:cNvCxnSpPr/>
          <p:nvPr/>
        </p:nvCxnSpPr>
        <p:spPr>
          <a:xfrm>
            <a:off x="4475378" y="4928616"/>
            <a:ext cx="3240938" cy="0"/>
          </a:xfrm>
          <a:prstGeom prst="line">
            <a:avLst/>
          </a:prstGeom>
          <a:ln w="12700">
            <a:solidFill>
              <a:srgbClr val="D9D9D9"/>
            </a:solidFill>
            <a:prstDash val="dash"/>
          </a:ln>
        </p:spPr>
      </p:cxnSp>
      <p:cxnSp>
        <p:nvCxnSpPr>
          <p:cNvPr id="29" name="Connector 28"/>
          <p:cNvCxnSpPr/>
          <p:nvPr/>
        </p:nvCxnSpPr>
        <p:spPr>
          <a:xfrm>
            <a:off x="4475378" y="5367528"/>
            <a:ext cx="3240938" cy="0"/>
          </a:xfrm>
          <a:prstGeom prst="line">
            <a:avLst/>
          </a:prstGeom>
          <a:ln w="12700">
            <a:solidFill>
              <a:srgbClr val="D9D9D9"/>
            </a:solidFill>
            <a:prstDash val="dash"/>
          </a:ln>
        </p:spPr>
      </p:cxnSp>
      <p:cxnSp>
        <p:nvCxnSpPr>
          <p:cNvPr id="30" name="Connector 29"/>
          <p:cNvCxnSpPr/>
          <p:nvPr/>
        </p:nvCxnSpPr>
        <p:spPr>
          <a:xfrm>
            <a:off x="4475378" y="5806440"/>
            <a:ext cx="3240938" cy="0"/>
          </a:xfrm>
          <a:prstGeom prst="line">
            <a:avLst/>
          </a:prstGeom>
          <a:ln w="12700">
            <a:solidFill>
              <a:srgbClr val="D9D9D9"/>
            </a:solidFill>
            <a:prstDash val="dash"/>
          </a:ln>
        </p:spPr>
      </p:cxnSp>
      <p:sp>
        <p:nvSpPr>
          <p:cNvPr id="31" name="Rounded Rectangle 30"/>
          <p:cNvSpPr/>
          <p:nvPr/>
        </p:nvSpPr>
        <p:spPr>
          <a:xfrm>
            <a:off x="8082076" y="3364992"/>
            <a:ext cx="3606698" cy="2880360"/>
          </a:xfrm>
          <a:prstGeom prst="roundRect">
            <a:avLst>
              <a:gd name="adj" fmla="val 5000"/>
            </a:avLst>
          </a:prstGeom>
          <a:solidFill>
            <a:srgbClr val="FFFFFF"/>
          </a:solidFill>
          <a:ln>
            <a:noFill/>
          </a:ln>
          <a:effectLst/>
        </p:spPr>
        <p:txBody>
          <a:bodyPr rtlCol="0" anchor="ctr"/>
          <a:lstStyle/>
          <a:p/>
        </p:txBody>
      </p:sp>
      <p:sp>
        <p:nvSpPr>
          <p:cNvPr id="32" name="Rounded Rectangle 31"/>
          <p:cNvSpPr/>
          <p:nvPr/>
        </p:nvSpPr>
        <p:spPr>
          <a:xfrm>
            <a:off x="8082076" y="3364992"/>
            <a:ext cx="3606698" cy="685800"/>
          </a:xfrm>
          <a:prstGeom prst="roundRect">
            <a:avLst>
              <a:gd name="adj" fmla="val 25000"/>
            </a:avLst>
          </a:prstGeom>
          <a:solidFill>
            <a:srgbClr val="55992E"/>
          </a:solidFill>
          <a:ln>
            <a:noFill/>
          </a:ln>
          <a:effectLst/>
        </p:spPr>
        <p:txBody>
          <a:bodyPr rtlCol="0" anchor="ctr"/>
          <a:lstStyle/>
          <a:p/>
        </p:txBody>
      </p:sp>
      <p:sp>
        <p:nvSpPr>
          <p:cNvPr id="33" name="Rectangle 32"/>
          <p:cNvSpPr/>
          <p:nvPr/>
        </p:nvSpPr>
        <p:spPr>
          <a:xfrm>
            <a:off x="8082076" y="3707892"/>
            <a:ext cx="3606698" cy="342900"/>
          </a:xfrm>
          <a:prstGeom prst="rect">
            <a:avLst/>
          </a:prstGeom>
          <a:solidFill>
            <a:srgbClr val="55992E"/>
          </a:solidFill>
          <a:ln>
            <a:noFill/>
          </a:ln>
          <a:effectLst/>
        </p:spPr>
        <p:txBody>
          <a:bodyPr rtlCol="0" anchor="ctr"/>
          <a:lstStyle/>
          <a:p/>
        </p:txBody>
      </p:sp>
      <p:sp>
        <p:nvSpPr>
          <p:cNvPr id="34" name="TextBox 33"/>
          <p:cNvSpPr txBox="1"/>
          <p:nvPr/>
        </p:nvSpPr>
        <p:spPr>
          <a:xfrm>
            <a:off x="8173516" y="336499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 sonrası</a:t>
            </a:r>
          </a:p>
        </p:txBody>
      </p:sp>
      <p:sp>
        <p:nvSpPr>
          <p:cNvPr id="35" name="Rounded Rectangle 34"/>
          <p:cNvSpPr/>
          <p:nvPr/>
        </p:nvSpPr>
        <p:spPr>
          <a:xfrm>
            <a:off x="8082076" y="3364992"/>
            <a:ext cx="3606698" cy="2880360"/>
          </a:xfrm>
          <a:prstGeom prst="roundRect">
            <a:avLst>
              <a:gd name="adj" fmla="val 5000"/>
            </a:avLst>
          </a:prstGeom>
          <a:noFill/>
          <a:ln w="12700">
            <a:solidFill>
              <a:srgbClr val="D9D9D9"/>
            </a:solidFill>
          </a:ln>
          <a:effectLst/>
        </p:spPr>
        <p:txBody>
          <a:bodyPr rtlCol="0" anchor="ctr"/>
          <a:lstStyle/>
          <a:p/>
        </p:txBody>
      </p:sp>
      <p:cxnSp>
        <p:nvCxnSpPr>
          <p:cNvPr id="36" name="Connector 35"/>
          <p:cNvCxnSpPr/>
          <p:nvPr/>
        </p:nvCxnSpPr>
        <p:spPr>
          <a:xfrm>
            <a:off x="8264956" y="4489704"/>
            <a:ext cx="3240938" cy="0"/>
          </a:xfrm>
          <a:prstGeom prst="line">
            <a:avLst/>
          </a:prstGeom>
          <a:ln w="12700">
            <a:solidFill>
              <a:srgbClr val="D9D9D9"/>
            </a:solidFill>
            <a:prstDash val="dash"/>
          </a:ln>
        </p:spPr>
      </p:cxnSp>
      <p:cxnSp>
        <p:nvCxnSpPr>
          <p:cNvPr id="37" name="Connector 36"/>
          <p:cNvCxnSpPr/>
          <p:nvPr/>
        </p:nvCxnSpPr>
        <p:spPr>
          <a:xfrm>
            <a:off x="8264956" y="4928616"/>
            <a:ext cx="3240938" cy="0"/>
          </a:xfrm>
          <a:prstGeom prst="line">
            <a:avLst/>
          </a:prstGeom>
          <a:ln w="12700">
            <a:solidFill>
              <a:srgbClr val="D9D9D9"/>
            </a:solidFill>
            <a:prstDash val="dash"/>
          </a:ln>
        </p:spPr>
      </p:cxnSp>
      <p:cxnSp>
        <p:nvCxnSpPr>
          <p:cNvPr id="38" name="Connector 37"/>
          <p:cNvCxnSpPr/>
          <p:nvPr/>
        </p:nvCxnSpPr>
        <p:spPr>
          <a:xfrm>
            <a:off x="8264956" y="5367528"/>
            <a:ext cx="3240938" cy="0"/>
          </a:xfrm>
          <a:prstGeom prst="line">
            <a:avLst/>
          </a:prstGeom>
          <a:ln w="12700">
            <a:solidFill>
              <a:srgbClr val="D9D9D9"/>
            </a:solidFill>
            <a:prstDash val="dash"/>
          </a:ln>
        </p:spPr>
      </p:cxnSp>
      <p:cxnSp>
        <p:nvCxnSpPr>
          <p:cNvPr id="39" name="Connector 38"/>
          <p:cNvCxnSpPr/>
          <p:nvPr/>
        </p:nvCxnSpPr>
        <p:spPr>
          <a:xfrm>
            <a:off x="8264956" y="5806440"/>
            <a:ext cx="3240938" cy="0"/>
          </a:xfrm>
          <a:prstGeom prst="line">
            <a:avLst/>
          </a:prstGeom>
          <a:ln w="12700">
            <a:solidFill>
              <a:srgbClr val="D9D9D9"/>
            </a:solidFill>
            <a:prstDash val="dash"/>
          </a:ln>
        </p:spPr>
      </p:cxn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178 / 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Afişlerimiz: karşılaştırma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7" name="Rounded Rectangle 6"/>
          <p:cNvSpPr/>
          <p:nvPr/>
        </p:nvSpPr>
        <p:spPr>
          <a:xfrm>
            <a:off x="502920" y="1216152"/>
            <a:ext cx="3606698" cy="548640"/>
          </a:xfrm>
          <a:prstGeom prst="roundRect">
            <a:avLst>
              <a:gd name="adj" fmla="val 25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öncesi</a:t>
            </a:r>
          </a:p>
        </p:txBody>
      </p:sp>
      <p:sp>
        <p:nvSpPr>
          <p:cNvPr id="8" name="TextBox 7"/>
          <p:cNvSpPr txBox="1"/>
          <p:nvPr/>
        </p:nvSpPr>
        <p:spPr>
          <a:xfrm>
            <a:off x="612648" y="1819656"/>
            <a:ext cx="3387242" cy="566928"/>
          </a:xfrm>
          <a:prstGeom prst="rect">
            <a:avLst/>
          </a:prstGeom>
          <a:noFill/>
        </p:spPr>
        <p:txBody>
          <a:bodyPr wrap="square" anchor="ctr" lIns="73152" rIns="73152" tIns="36576" bIns="36576">
            <a:noAutofit/>
          </a:bodyPr>
          <a:lstStyle/>
          <a:p>
            <a:pPr algn="ctr">
              <a:spcBef>
                <a:spcPts val="0"/>
              </a:spcBef>
              <a:spcAft>
                <a:spcPts val="0"/>
              </a:spcAft>
            </a:pPr>
            <a:r>
              <a:rPr lang="tr-TR" sz="1500" b="0" i="1">
                <a:solidFill>
                  <a:srgbClr val="1F86BF"/>
                </a:solidFill>
                <a:latin typeface="Calibri"/>
              </a:rPr>
              <a:t>Risk yönetimi: risk ve zarar azaltma · hazırlıklı olma</a:t>
            </a:r>
          </a:p>
        </p:txBody>
      </p:sp>
      <p:sp>
        <p:nvSpPr>
          <p:cNvPr id="9" name="TextBox 8"/>
          <p:cNvSpPr txBox="1"/>
          <p:nvPr/>
        </p:nvSpPr>
        <p:spPr>
          <a:xfrm>
            <a:off x="612648" y="2450592"/>
            <a:ext cx="3387242" cy="3703320"/>
          </a:xfrm>
          <a:prstGeom prst="rect">
            <a:avLst/>
          </a:prstGeom>
          <a:noFill/>
        </p:spPr>
        <p:txBody>
          <a:bodyPr wrap="square" anchor="t" lIns="73152" rIns="73152" tIns="36576" bIns="36576">
            <a:noAutofit/>
          </a:bodyPr>
          <a:lstStyle/>
          <a:p>
            <a:pPr algn="l" marL="236189" indent="-236189">
              <a:spcBef>
                <a:spcPts val="0"/>
              </a:spcBef>
              <a:spcAft>
                <a:spcPts val="1000"/>
              </a:spcAft>
            </a:pPr>
            <a:r>
              <a:rPr lang="tr-TR" sz="1900" b="1" i="0">
                <a:solidFill>
                  <a:srgbClr val="1F86BF"/>
                </a:solidFill>
                <a:latin typeface="Calibri"/>
              </a:rPr>
              <a:t>•  </a:t>
            </a:r>
            <a:r>
              <a:rPr lang="tr-TR" sz="1900" b="0" i="0">
                <a:solidFill>
                  <a:srgbClr val="262626"/>
                </a:solidFill>
                <a:latin typeface="Calibri"/>
              </a:rPr>
              <a:t>Tehlike haritası hazırlanır, binalar yönetmeliğe uygun yapılır · </a:t>
            </a:r>
            <a:r>
              <a:rPr lang="tr-TR" sz="1900" b="1" i="0">
                <a:solidFill>
                  <a:srgbClr val="262626"/>
                </a:solidFill>
                <a:latin typeface="Calibri"/>
              </a:rPr>
              <a:t>kurumlar</a:t>
            </a:r>
          </a:p>
          <a:p>
            <a:pPr algn="l" marL="236189" indent="-236189">
              <a:spcBef>
                <a:spcPts val="0"/>
              </a:spcBef>
              <a:spcAft>
                <a:spcPts val="1000"/>
              </a:spcAft>
            </a:pPr>
            <a:r>
              <a:rPr lang="tr-TR" sz="1900" b="1" i="0">
                <a:solidFill>
                  <a:srgbClr val="1F86BF"/>
                </a:solidFill>
                <a:latin typeface="Calibri"/>
              </a:rPr>
              <a:t>•  </a:t>
            </a:r>
            <a:r>
              <a:rPr lang="tr-TR" sz="1900" b="0" i="0">
                <a:solidFill>
                  <a:srgbClr val="262626"/>
                </a:solidFill>
                <a:latin typeface="Calibri"/>
              </a:rPr>
              <a:t>Aile afet planı, afet ve acil durum çantası · </a:t>
            </a:r>
            <a:r>
              <a:rPr lang="tr-TR" sz="1900" b="1" i="0">
                <a:solidFill>
                  <a:srgbClr val="262626"/>
                </a:solidFill>
                <a:latin typeface="Calibri"/>
              </a:rPr>
              <a:t>aile</a:t>
            </a:r>
          </a:p>
          <a:p>
            <a:pPr algn="l" marL="236189" indent="-236189">
              <a:spcBef>
                <a:spcPts val="0"/>
              </a:spcBef>
              <a:spcAft>
                <a:spcPts val="1000"/>
              </a:spcAft>
            </a:pPr>
            <a:r>
              <a:rPr lang="tr-TR" sz="1900" b="1" i="0">
                <a:solidFill>
                  <a:srgbClr val="1F86BF"/>
                </a:solidFill>
                <a:latin typeface="Calibri"/>
              </a:rPr>
              <a:t>•  </a:t>
            </a:r>
            <a:r>
              <a:rPr lang="tr-TR" sz="1900" b="0" i="0">
                <a:solidFill>
                  <a:srgbClr val="262626"/>
                </a:solidFill>
                <a:latin typeface="Calibri"/>
              </a:rPr>
              <a:t>Tahliye planı, toplanma alanı, tatbikat · </a:t>
            </a:r>
            <a:r>
              <a:rPr lang="tr-TR" sz="1900" b="1" i="0">
                <a:solidFill>
                  <a:srgbClr val="262626"/>
                </a:solidFill>
                <a:latin typeface="Calibri"/>
              </a:rPr>
              <a:t>okul</a:t>
            </a:r>
          </a:p>
          <a:p>
            <a:pPr algn="l" marL="236189" indent="-236189">
              <a:spcBef>
                <a:spcPts val="0"/>
              </a:spcBef>
              <a:spcAft>
                <a:spcPts val="0"/>
              </a:spcAft>
            </a:pPr>
            <a:r>
              <a:rPr lang="tr-TR" sz="1900" b="1" i="0">
                <a:solidFill>
                  <a:srgbClr val="1F86BF"/>
                </a:solidFill>
                <a:latin typeface="Calibri"/>
              </a:rPr>
              <a:t>•  </a:t>
            </a:r>
            <a:r>
              <a:rPr lang="tr-TR" sz="1900" b="0" i="0">
                <a:solidFill>
                  <a:srgbClr val="262626"/>
                </a:solidFill>
                <a:latin typeface="Calibri"/>
              </a:rPr>
              <a:t>Erken uyarıları takip etmek · </a:t>
            </a:r>
            <a:r>
              <a:rPr lang="tr-TR" sz="1900" b="1" i="0">
                <a:solidFill>
                  <a:srgbClr val="262626"/>
                </a:solidFill>
                <a:latin typeface="Calibri"/>
              </a:rPr>
              <a:t>birey</a:t>
            </a:r>
          </a:p>
        </p:txBody>
      </p:sp>
      <p:sp>
        <p:nvSpPr>
          <p:cNvPr id="10" name="Rounded Rectangle 9"/>
          <p:cNvSpPr/>
          <p:nvPr/>
        </p:nvSpPr>
        <p:spPr>
          <a:xfrm>
            <a:off x="4292498"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1" name="Rounded Rectangle 10"/>
          <p:cNvSpPr/>
          <p:nvPr/>
        </p:nvSpPr>
        <p:spPr>
          <a:xfrm>
            <a:off x="4292498" y="1216152"/>
            <a:ext cx="3606698" cy="548640"/>
          </a:xfrm>
          <a:prstGeom prst="roundRect">
            <a:avLst>
              <a:gd name="adj" fmla="val 25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esnası</a:t>
            </a:r>
          </a:p>
        </p:txBody>
      </p:sp>
      <p:sp>
        <p:nvSpPr>
          <p:cNvPr id="12" name="TextBox 11"/>
          <p:cNvSpPr txBox="1"/>
          <p:nvPr/>
        </p:nvSpPr>
        <p:spPr>
          <a:xfrm>
            <a:off x="4402226" y="1819656"/>
            <a:ext cx="3387242" cy="566928"/>
          </a:xfrm>
          <a:prstGeom prst="rect">
            <a:avLst/>
          </a:prstGeom>
          <a:noFill/>
        </p:spPr>
        <p:txBody>
          <a:bodyPr wrap="square" anchor="ctr" lIns="73152" rIns="73152" tIns="36576" bIns="36576">
            <a:noAutofit/>
          </a:bodyPr>
          <a:lstStyle/>
          <a:p>
            <a:pPr algn="ctr">
              <a:spcBef>
                <a:spcPts val="0"/>
              </a:spcBef>
              <a:spcAft>
                <a:spcPts val="0"/>
              </a:spcAft>
            </a:pPr>
            <a:r>
              <a:rPr lang="tr-TR" sz="1500" b="0" i="1">
                <a:solidFill>
                  <a:srgbClr val="CC3333"/>
                </a:solidFill>
                <a:latin typeface="Calibri"/>
              </a:rPr>
              <a:t>Kriz yönetimi: müdahale</a:t>
            </a:r>
          </a:p>
        </p:txBody>
      </p:sp>
      <p:sp>
        <p:nvSpPr>
          <p:cNvPr id="13" name="TextBox 12"/>
          <p:cNvSpPr txBox="1"/>
          <p:nvPr/>
        </p:nvSpPr>
        <p:spPr>
          <a:xfrm>
            <a:off x="4402226" y="2450592"/>
            <a:ext cx="3387242" cy="3703320"/>
          </a:xfrm>
          <a:prstGeom prst="rect">
            <a:avLst/>
          </a:prstGeom>
          <a:noFill/>
        </p:spPr>
        <p:txBody>
          <a:bodyPr wrap="square" anchor="t" lIns="73152" rIns="73152" tIns="36576" bIns="36576">
            <a:noAutofit/>
          </a:bodyPr>
          <a:lstStyle/>
          <a:p>
            <a:pPr algn="l" marL="236189" indent="-236189">
              <a:spcBef>
                <a:spcPts val="0"/>
              </a:spcBef>
              <a:spcAft>
                <a:spcPts val="1000"/>
              </a:spcAft>
            </a:pPr>
            <a:r>
              <a:rPr lang="tr-TR" sz="1900" b="1" i="0">
                <a:solidFill>
                  <a:srgbClr val="CC3333"/>
                </a:solidFill>
                <a:latin typeface="Calibri"/>
              </a:rPr>
              <a:t>•  </a:t>
            </a:r>
            <a:r>
              <a:rPr lang="tr-TR" sz="1900" b="0" i="0">
                <a:solidFill>
                  <a:srgbClr val="262626"/>
                </a:solidFill>
                <a:latin typeface="Calibri"/>
              </a:rPr>
              <a:t>Güvenli yere geçmek, sakin kalmak · </a:t>
            </a:r>
            <a:r>
              <a:rPr lang="tr-TR" sz="1900" b="1" i="0">
                <a:solidFill>
                  <a:srgbClr val="262626"/>
                </a:solidFill>
                <a:latin typeface="Calibri"/>
              </a:rPr>
              <a:t>birey</a:t>
            </a:r>
          </a:p>
          <a:p>
            <a:pPr algn="l" marL="236189" indent="-236189">
              <a:spcBef>
                <a:spcPts val="0"/>
              </a:spcBef>
              <a:spcAft>
                <a:spcPts val="1000"/>
              </a:spcAft>
            </a:pPr>
            <a:r>
              <a:rPr lang="tr-TR" sz="1900" b="1" i="0">
                <a:solidFill>
                  <a:srgbClr val="CC3333"/>
                </a:solidFill>
                <a:latin typeface="Calibri"/>
              </a:rPr>
              <a:t>•  </a:t>
            </a:r>
            <a:r>
              <a:rPr lang="tr-TR" sz="1900" b="0" i="0">
                <a:solidFill>
                  <a:srgbClr val="262626"/>
                </a:solidFill>
                <a:latin typeface="Calibri"/>
              </a:rPr>
              <a:t>Arama kurtarma ve ilk yardım · </a:t>
            </a:r>
            <a:r>
              <a:rPr lang="tr-TR" sz="1900" b="1" i="0">
                <a:solidFill>
                  <a:srgbClr val="262626"/>
                </a:solidFill>
                <a:latin typeface="Calibri"/>
              </a:rPr>
              <a:t>kurumlar</a:t>
            </a:r>
          </a:p>
          <a:p>
            <a:pPr algn="l" marL="236189" indent="-236189">
              <a:spcBef>
                <a:spcPts val="0"/>
              </a:spcBef>
              <a:spcAft>
                <a:spcPts val="1000"/>
              </a:spcAft>
            </a:pPr>
            <a:r>
              <a:rPr lang="tr-TR" sz="1900" b="1" i="0">
                <a:solidFill>
                  <a:srgbClr val="CC3333"/>
                </a:solidFill>
                <a:latin typeface="Calibri"/>
              </a:rPr>
              <a:t>•  </a:t>
            </a:r>
            <a:r>
              <a:rPr lang="tr-TR" sz="1900" b="0" i="0">
                <a:solidFill>
                  <a:srgbClr val="262626"/>
                </a:solidFill>
                <a:latin typeface="Calibri"/>
              </a:rPr>
              <a:t>Gıda, barınma, ilaç, güvenlik · </a:t>
            </a:r>
            <a:r>
              <a:rPr lang="tr-TR" sz="1900" b="1" i="0">
                <a:solidFill>
                  <a:srgbClr val="262626"/>
                </a:solidFill>
                <a:latin typeface="Calibri"/>
              </a:rPr>
              <a:t>kurumlar</a:t>
            </a:r>
          </a:p>
          <a:p>
            <a:pPr algn="l" marL="236189" indent="-236189">
              <a:spcBef>
                <a:spcPts val="0"/>
              </a:spcBef>
              <a:spcAft>
                <a:spcPts val="0"/>
              </a:spcAft>
            </a:pPr>
            <a:r>
              <a:rPr lang="tr-TR" sz="1900" b="1" i="0">
                <a:solidFill>
                  <a:srgbClr val="CC3333"/>
                </a:solidFill>
                <a:latin typeface="Calibri"/>
              </a:rPr>
              <a:t>•  </a:t>
            </a:r>
            <a:r>
              <a:rPr lang="tr-TR" sz="1900" b="0" i="0">
                <a:solidFill>
                  <a:srgbClr val="262626"/>
                </a:solidFill>
                <a:latin typeface="Calibri"/>
              </a:rPr>
              <a:t>Bilgiyi resmî kaynaktan almak, doğrulanmamış haberi yaymamak · </a:t>
            </a:r>
            <a:r>
              <a:rPr lang="tr-TR" sz="1900" b="1" i="0">
                <a:solidFill>
                  <a:srgbClr val="262626"/>
                </a:solidFill>
                <a:latin typeface="Calibri"/>
              </a:rPr>
              <a:t>birey</a:t>
            </a:r>
          </a:p>
        </p:txBody>
      </p:sp>
      <p:sp>
        <p:nvSpPr>
          <p:cNvPr id="14" name="Rounded Rectangle 13"/>
          <p:cNvSpPr/>
          <p:nvPr/>
        </p:nvSpPr>
        <p:spPr>
          <a:xfrm>
            <a:off x="8082076"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5" name="Rounded Rectangle 14"/>
          <p:cNvSpPr/>
          <p:nvPr/>
        </p:nvSpPr>
        <p:spPr>
          <a:xfrm>
            <a:off x="8082076" y="1216152"/>
            <a:ext cx="3606698" cy="548640"/>
          </a:xfrm>
          <a:prstGeom prst="roundRect">
            <a:avLst>
              <a:gd name="adj" fmla="val 25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2050" b="1" i="0">
                <a:solidFill>
                  <a:srgbClr val="FFFFFF"/>
                </a:solidFill>
                <a:latin typeface="Calibri"/>
              </a:rPr>
              <a:t>Afet sonrası</a:t>
            </a:r>
          </a:p>
        </p:txBody>
      </p:sp>
      <p:sp>
        <p:nvSpPr>
          <p:cNvPr id="16" name="TextBox 15"/>
          <p:cNvSpPr txBox="1"/>
          <p:nvPr/>
        </p:nvSpPr>
        <p:spPr>
          <a:xfrm>
            <a:off x="8191804" y="1819656"/>
            <a:ext cx="3387242" cy="566928"/>
          </a:xfrm>
          <a:prstGeom prst="rect">
            <a:avLst/>
          </a:prstGeom>
          <a:noFill/>
        </p:spPr>
        <p:txBody>
          <a:bodyPr wrap="square" anchor="ctr" lIns="73152" rIns="73152" tIns="36576" bIns="36576">
            <a:noAutofit/>
          </a:bodyPr>
          <a:lstStyle/>
          <a:p>
            <a:pPr algn="ctr">
              <a:spcBef>
                <a:spcPts val="0"/>
              </a:spcBef>
              <a:spcAft>
                <a:spcPts val="0"/>
              </a:spcAft>
            </a:pPr>
            <a:r>
              <a:rPr lang="tr-TR" sz="1500" b="0" i="1">
                <a:solidFill>
                  <a:srgbClr val="55992E"/>
                </a:solidFill>
                <a:latin typeface="Calibri"/>
              </a:rPr>
              <a:t>Kriz yönetimi: iyileştirme</a:t>
            </a:r>
          </a:p>
        </p:txBody>
      </p:sp>
      <p:sp>
        <p:nvSpPr>
          <p:cNvPr id="17" name="TextBox 16"/>
          <p:cNvSpPr txBox="1"/>
          <p:nvPr/>
        </p:nvSpPr>
        <p:spPr>
          <a:xfrm>
            <a:off x="8191804" y="2450592"/>
            <a:ext cx="3387242" cy="3703320"/>
          </a:xfrm>
          <a:prstGeom prst="rect">
            <a:avLst/>
          </a:prstGeom>
          <a:noFill/>
        </p:spPr>
        <p:txBody>
          <a:bodyPr wrap="square" anchor="t" lIns="73152" rIns="73152" tIns="36576" bIns="36576">
            <a:noAutofit/>
          </a:bodyPr>
          <a:lstStyle/>
          <a:p>
            <a:pPr algn="l" marL="236189" indent="-236189">
              <a:spcBef>
                <a:spcPts val="0"/>
              </a:spcBef>
              <a:spcAft>
                <a:spcPts val="1000"/>
              </a:spcAft>
            </a:pPr>
            <a:r>
              <a:rPr lang="tr-TR" sz="1900" b="1" i="0">
                <a:solidFill>
                  <a:srgbClr val="55992E"/>
                </a:solidFill>
                <a:latin typeface="Calibri"/>
              </a:rPr>
              <a:t>•  </a:t>
            </a:r>
            <a:r>
              <a:rPr lang="tr-TR" sz="1900" b="0" i="0">
                <a:solidFill>
                  <a:srgbClr val="262626"/>
                </a:solidFill>
                <a:latin typeface="Calibri"/>
              </a:rPr>
              <a:t>Haberleşme, ulaşım, elektrik yeniden çalışır · </a:t>
            </a:r>
            <a:r>
              <a:rPr lang="tr-TR" sz="1900" b="1" i="0">
                <a:solidFill>
                  <a:srgbClr val="262626"/>
                </a:solidFill>
                <a:latin typeface="Calibri"/>
              </a:rPr>
              <a:t>kurumlar</a:t>
            </a:r>
          </a:p>
          <a:p>
            <a:pPr algn="l" marL="236189" indent="-236189">
              <a:spcBef>
                <a:spcPts val="0"/>
              </a:spcBef>
              <a:spcAft>
                <a:spcPts val="1000"/>
              </a:spcAft>
            </a:pPr>
            <a:r>
              <a:rPr lang="tr-TR" sz="1900" b="1" i="0">
                <a:solidFill>
                  <a:srgbClr val="55992E"/>
                </a:solidFill>
                <a:latin typeface="Calibri"/>
              </a:rPr>
              <a:t>•  </a:t>
            </a:r>
            <a:r>
              <a:rPr lang="tr-TR" sz="1900" b="0" i="0">
                <a:solidFill>
                  <a:srgbClr val="262626"/>
                </a:solidFill>
                <a:latin typeface="Calibri"/>
              </a:rPr>
              <a:t>Psikososyal destek, çocuk dostu alanlar, eğitim sürer · </a:t>
            </a:r>
            <a:r>
              <a:rPr lang="tr-TR" sz="1900" b="1" i="0">
                <a:solidFill>
                  <a:srgbClr val="262626"/>
                </a:solidFill>
                <a:latin typeface="Calibri"/>
              </a:rPr>
              <a:t>kurumlar · okul</a:t>
            </a:r>
          </a:p>
          <a:p>
            <a:pPr algn="l" marL="236189" indent="-236189">
              <a:spcBef>
                <a:spcPts val="0"/>
              </a:spcBef>
              <a:spcAft>
                <a:spcPts val="1000"/>
              </a:spcAft>
            </a:pPr>
            <a:r>
              <a:rPr lang="tr-TR" sz="1900" b="1" i="0">
                <a:solidFill>
                  <a:srgbClr val="55992E"/>
                </a:solidFill>
                <a:latin typeface="Calibri"/>
              </a:rPr>
              <a:t>•  </a:t>
            </a:r>
            <a:r>
              <a:rPr lang="tr-TR" sz="1900" b="0" i="0">
                <a:solidFill>
                  <a:srgbClr val="262626"/>
                </a:solidFill>
                <a:latin typeface="Calibri"/>
              </a:rPr>
              <a:t>Kalıcı konut, ekonomik ve sosyal hayat normale döner · </a:t>
            </a:r>
            <a:r>
              <a:rPr lang="tr-TR" sz="1900" b="1" i="0">
                <a:solidFill>
                  <a:srgbClr val="262626"/>
                </a:solidFill>
                <a:latin typeface="Calibri"/>
              </a:rPr>
              <a:t>kurumlar</a:t>
            </a:r>
          </a:p>
          <a:p>
            <a:pPr algn="l" marL="236189" indent="-236189">
              <a:spcBef>
                <a:spcPts val="0"/>
              </a:spcBef>
              <a:spcAft>
                <a:spcPts val="0"/>
              </a:spcAft>
            </a:pPr>
            <a:r>
              <a:rPr lang="tr-TR" sz="1900" b="1" i="0">
                <a:solidFill>
                  <a:srgbClr val="55992E"/>
                </a:solidFill>
                <a:latin typeface="Calibri"/>
              </a:rPr>
              <a:t>•  </a:t>
            </a:r>
            <a:r>
              <a:rPr lang="tr-TR" sz="1900" b="0" i="0">
                <a:solidFill>
                  <a:srgbClr val="262626"/>
                </a:solidFill>
                <a:latin typeface="Calibri"/>
              </a:rPr>
              <a:t>Tecrübeyle planı güncellemek: başa dönüş · </a:t>
            </a:r>
            <a:r>
              <a:rPr lang="tr-TR" sz="1900" b="1" i="0">
                <a:solidFill>
                  <a:srgbClr val="262626"/>
                </a:solidFill>
                <a:latin typeface="Calibri"/>
              </a:rPr>
              <a:t>herkes</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202-204</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179 / 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Farklı bakışlar, ortak döngü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79476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79476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1 · İki afiş neden farklı?</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Her afiş üç grubun ortak ürünü</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İlk grup iskeleti kurdu; sonrakiler ekledi ve düzeltti</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Farklı bakışlar: birey, aile, okul, kurum</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Sonuç: aynı konuda farklı ama daha zengin afişler</a:t>
            </a:r>
          </a:p>
        </p:txBody>
      </p:sp>
      <p:sp>
        <p:nvSpPr>
          <p:cNvPr id="9" name="Rounded Rectangle 8"/>
          <p:cNvSpPr/>
          <p:nvPr/>
        </p:nvSpPr>
        <p:spPr>
          <a:xfrm>
            <a:off x="6210147" y="1216152"/>
            <a:ext cx="5478627" cy="379476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379476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2 · Örtüşen ve ayrışan</a:t>
            </a:r>
          </a:p>
          <a:p>
            <a:pPr algn="l" marL="285913" indent="-285913">
              <a:spcBef>
                <a:spcPts val="0"/>
              </a:spcBef>
              <a:spcAft>
                <a:spcPts val="500"/>
              </a:spcAft>
            </a:pPr>
            <a:r>
              <a:rPr lang="tr-TR" sz="2300" b="1" i="0">
                <a:solidFill>
                  <a:srgbClr val="2C6696"/>
                </a:solidFill>
                <a:latin typeface="Calibri"/>
              </a:rPr>
              <a:t>•  </a:t>
            </a:r>
            <a:r>
              <a:rPr lang="tr-TR" sz="2300" b="1" i="0">
                <a:solidFill>
                  <a:srgbClr val="262626"/>
                </a:solidFill>
                <a:latin typeface="Calibri"/>
              </a:rPr>
              <a:t>Örtüşen:</a:t>
            </a:r>
            <a:r>
              <a:rPr lang="tr-TR" sz="2300" b="0" i="0">
                <a:solidFill>
                  <a:srgbClr val="262626"/>
                </a:solidFill>
                <a:latin typeface="Calibri"/>
              </a:rPr>
              <a:t> toplanma alanı öncesinde belirlenir, esnasında kullanılır; barınma ve sağlık esnasında başlar, sonrasında sürer</a:t>
            </a:r>
          </a:p>
          <a:p>
            <a:pPr algn="l" marL="285913" indent="-285913">
              <a:spcBef>
                <a:spcPts val="0"/>
              </a:spcBef>
              <a:spcAft>
                <a:spcPts val="0"/>
              </a:spcAft>
            </a:pPr>
            <a:r>
              <a:rPr lang="tr-TR" sz="2300" b="1" i="0">
                <a:solidFill>
                  <a:srgbClr val="2C6696"/>
                </a:solidFill>
                <a:latin typeface="Calibri"/>
              </a:rPr>
              <a:t>•  </a:t>
            </a:r>
            <a:r>
              <a:rPr lang="tr-TR" sz="2300" b="1" i="0">
                <a:solidFill>
                  <a:srgbClr val="262626"/>
                </a:solidFill>
                <a:latin typeface="Calibri"/>
              </a:rPr>
              <a:t>Ayrışan:</a:t>
            </a:r>
            <a:r>
              <a:rPr lang="tr-TR" sz="2300" b="0" i="0">
                <a:solidFill>
                  <a:srgbClr val="262626"/>
                </a:solidFill>
                <a:latin typeface="Calibri"/>
              </a:rPr>
              <a:t> öncesi önlem ve hazırlık · esnası hız ve can kurtarma · sonrası uzun süreli yeniden yapılanma</a:t>
            </a:r>
          </a:p>
        </p:txBody>
      </p:sp>
      <p:sp>
        <p:nvSpPr>
          <p:cNvPr id="12" name="Rounded Rectangle 11"/>
          <p:cNvSpPr/>
          <p:nvPr/>
        </p:nvSpPr>
        <p:spPr>
          <a:xfrm>
            <a:off x="502920" y="5102352"/>
            <a:ext cx="11185855" cy="114300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5102352"/>
            <a:ext cx="118872" cy="1143000"/>
          </a:xfrm>
          <a:prstGeom prst="rect">
            <a:avLst/>
          </a:prstGeom>
          <a:solidFill>
            <a:srgbClr val="1E7B6E"/>
          </a:solidFill>
          <a:ln>
            <a:noFill/>
          </a:ln>
          <a:effectLst/>
        </p:spPr>
        <p:txBody>
          <a:bodyPr rtlCol="0" anchor="ctr"/>
          <a:lstStyle/>
          <a:p/>
        </p:txBody>
      </p:sp>
      <p:sp>
        <p:nvSpPr>
          <p:cNvPr id="14" name="TextBox 13"/>
          <p:cNvSpPr txBox="1"/>
          <p:nvPr/>
        </p:nvSpPr>
        <p:spPr>
          <a:xfrm>
            <a:off x="777240" y="51023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Bütüncül afet yönetimi döngüsü, her aşamada yapılan faaliyetlerden bir sonraki aşamada yapılması gereken faaliyetlerin de etkileneceğini ifade etmektedir.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180 / 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Afet esnası istasyonunun afişinde aşağıdakilerden hangisi yer almalıdır?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Tehlike haritalarının hazırlanması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Arama kurtarma faaliyetlerinin gerçekleştirilmesi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Kalıcı konutların yapılması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Erken uyarı sistemlerinin kurulması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ve sosyal hayatın normale dönmesi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181 /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Afet esnası istasyonunun afişinde aşağıdakilerden hangisi yer almalıdır?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Tehlike haritalarının hazırlanması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Arama kurtarma faaliyetlerinin gerçekleştirilmesi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Kalıcı konutların yapılması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Erken uyarı sistemlerinin kurulması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Ekonomik ve sosyal hayatın normale dönmesi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Arama kurtarma, afet esnasındaki müdahale aşamasının işidir. A ve D afet öncesine (risk ve zarar azaltma, hazırlıklı olma), C ve E afet sonrasına (iyileştirme) aittir.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182 /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 ve bilgi kirliliği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2</a:t>
            </a:r>
          </a:p>
        </p:txBody>
      </p:sp>
      <p:sp>
        <p:nvSpPr>
          <p:cNvPr id="6" name="Rounded Rectangle 5"/>
          <p:cNvSpPr/>
          <p:nvPr/>
        </p:nvSpPr>
        <p:spPr>
          <a:xfrm>
            <a:off x="502920" y="1216152"/>
            <a:ext cx="6309360" cy="1258644"/>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258644"/>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5897880" cy="1258644"/>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Afet ve acil durumlarda oluşabilecek can ve mal kaybı, bilgi paylaşımının hızlı ve güvenilir şekilde yapılmasıyla en aza indirilebilir.</a:t>
            </a:r>
          </a:p>
        </p:txBody>
      </p:sp>
      <p:sp>
        <p:nvSpPr>
          <p:cNvPr id="9" name="Rounded Rectangle 8"/>
          <p:cNvSpPr/>
          <p:nvPr/>
        </p:nvSpPr>
        <p:spPr>
          <a:xfrm>
            <a:off x="502920" y="2611956"/>
            <a:ext cx="6309360" cy="1538343"/>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611956"/>
            <a:ext cx="118872" cy="1538343"/>
          </a:xfrm>
          <a:prstGeom prst="rect">
            <a:avLst/>
          </a:prstGeom>
          <a:solidFill>
            <a:srgbClr val="1E7B6E"/>
          </a:solidFill>
          <a:ln>
            <a:noFill/>
          </a:ln>
          <a:effectLst/>
        </p:spPr>
        <p:txBody>
          <a:bodyPr rtlCol="0" anchor="ctr"/>
          <a:lstStyle/>
          <a:p/>
        </p:txBody>
      </p:sp>
      <p:sp>
        <p:nvSpPr>
          <p:cNvPr id="11" name="TextBox 10"/>
          <p:cNvSpPr txBox="1"/>
          <p:nvPr/>
        </p:nvSpPr>
        <p:spPr>
          <a:xfrm>
            <a:off x="777240" y="2611956"/>
            <a:ext cx="5897880" cy="153834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Bunun yanı sıra bilginin yanıltıcı ve usule aykırı şekilde paylaşılması hem afetten etkilenen bireyler hem de karar vericiler üzerinde olumsuz etkiler oluşturabilmektedir.</a:t>
            </a:r>
          </a:p>
        </p:txBody>
      </p:sp>
      <p:sp>
        <p:nvSpPr>
          <p:cNvPr id="12" name="Rounded Rectangle 11"/>
          <p:cNvSpPr/>
          <p:nvPr/>
        </p:nvSpPr>
        <p:spPr>
          <a:xfrm>
            <a:off x="502920" y="4287459"/>
            <a:ext cx="6309360" cy="1957891"/>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287459"/>
            <a:ext cx="118872" cy="1957891"/>
          </a:xfrm>
          <a:prstGeom prst="rect">
            <a:avLst/>
          </a:prstGeom>
          <a:solidFill>
            <a:srgbClr val="1E7B6E"/>
          </a:solidFill>
          <a:ln>
            <a:noFill/>
          </a:ln>
          <a:effectLst/>
        </p:spPr>
        <p:txBody>
          <a:bodyPr rtlCol="0" anchor="ctr"/>
          <a:lstStyle/>
          <a:p/>
        </p:txBody>
      </p:sp>
      <p:sp>
        <p:nvSpPr>
          <p:cNvPr id="14" name="TextBox 13"/>
          <p:cNvSpPr txBox="1"/>
          <p:nvPr/>
        </p:nvSpPr>
        <p:spPr>
          <a:xfrm>
            <a:off x="777240" y="4287459"/>
            <a:ext cx="5897880" cy="1957891"/>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Örneğin afet meydana gelen bir bölgede arama kurtarma ve yardım çalışmalarıyla ilgili bilgi paylaşılırken mahremiyet, özel hayatın gizliliği, kişilerin açık rızası gibi konulara dikkat edilmemesi afetten etkilenen bireyler üzerinde olumsuzluklara neden olabilmektedir.</a:t>
            </a:r>
          </a:p>
        </p:txBody>
      </p:sp>
      <p:sp>
        <p:nvSpPr>
          <p:cNvPr id="15" name="Rounded Rectangle 14"/>
          <p:cNvSpPr/>
          <p:nvPr/>
        </p:nvSpPr>
        <p:spPr>
          <a:xfrm>
            <a:off x="7040880" y="1216152"/>
            <a:ext cx="4647895" cy="2057400"/>
          </a:xfrm>
          <a:prstGeom prst="roundRect">
            <a:avLst>
              <a:gd name="adj" fmla="val 6000"/>
            </a:avLst>
          </a:prstGeom>
          <a:solidFill>
            <a:srgbClr val="FFF3D1"/>
          </a:solidFill>
          <a:ln>
            <a:noFill/>
          </a:ln>
          <a:effectLst/>
        </p:spPr>
        <p:txBody>
          <a:bodyPr rtlCol="0" anchor="ctr"/>
          <a:lstStyle/>
          <a:p/>
        </p:txBody>
      </p:sp>
      <p:sp>
        <p:nvSpPr>
          <p:cNvPr id="16" name="TextBox 15"/>
          <p:cNvSpPr txBox="1"/>
          <p:nvPr/>
        </p:nvSpPr>
        <p:spPr>
          <a:xfrm>
            <a:off x="7223760" y="1289304"/>
            <a:ext cx="428213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DEĞERLENDİRME 2 · s. 204</a:t>
            </a:r>
          </a:p>
        </p:txBody>
      </p:sp>
      <p:sp>
        <p:nvSpPr>
          <p:cNvPr id="17" name="TextBox 16"/>
          <p:cNvSpPr txBox="1"/>
          <p:nvPr/>
        </p:nvSpPr>
        <p:spPr>
          <a:xfrm>
            <a:off x="7223760" y="1636776"/>
            <a:ext cx="4282135" cy="154533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Afet durumlarında ve acil hâllerde doğru bilgiye nereden veya nasıl ulaşılacağına ilişkin görüşlerinizi arkadaşlarınızla paylaşınız.</a:t>
            </a:r>
          </a:p>
        </p:txBody>
      </p:sp>
      <p:sp>
        <p:nvSpPr>
          <p:cNvPr id="18" name="TextBox 17"/>
          <p:cNvSpPr txBox="1"/>
          <p:nvPr/>
        </p:nvSpPr>
        <p:spPr>
          <a:xfrm>
            <a:off x="7040880" y="3410712"/>
            <a:ext cx="464789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1E7B6E"/>
                </a:solidFill>
                <a:latin typeface="Calibri"/>
              </a:rPr>
              <a:t>Nereden? · Nasıl paylaşırım?</a:t>
            </a:r>
          </a:p>
        </p:txBody>
      </p:sp>
      <p:sp>
        <p:nvSpPr>
          <p:cNvPr id="19" name="Rounded Rectangle 18"/>
          <p:cNvSpPr/>
          <p:nvPr/>
        </p:nvSpPr>
        <p:spPr>
          <a:xfrm>
            <a:off x="7040880" y="3867912"/>
            <a:ext cx="4647895" cy="23774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7223760" y="4207546"/>
            <a:ext cx="4282135" cy="0"/>
          </a:xfrm>
          <a:prstGeom prst="line">
            <a:avLst/>
          </a:prstGeom>
          <a:ln w="12700">
            <a:solidFill>
              <a:srgbClr val="D9D9D9"/>
            </a:solidFill>
            <a:prstDash val="dash"/>
          </a:ln>
        </p:spPr>
      </p:cxnSp>
      <p:cxnSp>
        <p:nvCxnSpPr>
          <p:cNvPr id="21" name="Connector 20"/>
          <p:cNvCxnSpPr/>
          <p:nvPr/>
        </p:nvCxnSpPr>
        <p:spPr>
          <a:xfrm>
            <a:off x="7223760" y="4547180"/>
            <a:ext cx="4282135" cy="0"/>
          </a:xfrm>
          <a:prstGeom prst="line">
            <a:avLst/>
          </a:prstGeom>
          <a:ln w="12700">
            <a:solidFill>
              <a:srgbClr val="D9D9D9"/>
            </a:solidFill>
            <a:prstDash val="dash"/>
          </a:ln>
        </p:spPr>
      </p:cxnSp>
      <p:cxnSp>
        <p:nvCxnSpPr>
          <p:cNvPr id="22" name="Connector 21"/>
          <p:cNvCxnSpPr/>
          <p:nvPr/>
        </p:nvCxnSpPr>
        <p:spPr>
          <a:xfrm>
            <a:off x="7223760" y="4886814"/>
            <a:ext cx="4282135" cy="0"/>
          </a:xfrm>
          <a:prstGeom prst="line">
            <a:avLst/>
          </a:prstGeom>
          <a:ln w="12700">
            <a:solidFill>
              <a:srgbClr val="D9D9D9"/>
            </a:solidFill>
            <a:prstDash val="dash"/>
          </a:ln>
        </p:spPr>
      </p:cxnSp>
      <p:cxnSp>
        <p:nvCxnSpPr>
          <p:cNvPr id="23" name="Connector 22"/>
          <p:cNvCxnSpPr/>
          <p:nvPr/>
        </p:nvCxnSpPr>
        <p:spPr>
          <a:xfrm>
            <a:off x="7223760" y="5226449"/>
            <a:ext cx="4282135" cy="0"/>
          </a:xfrm>
          <a:prstGeom prst="line">
            <a:avLst/>
          </a:prstGeom>
          <a:ln w="12700">
            <a:solidFill>
              <a:srgbClr val="D9D9D9"/>
            </a:solidFill>
            <a:prstDash val="dash"/>
          </a:ln>
        </p:spPr>
      </p:cxnSp>
      <p:cxnSp>
        <p:nvCxnSpPr>
          <p:cNvPr id="24" name="Connector 23"/>
          <p:cNvCxnSpPr/>
          <p:nvPr/>
        </p:nvCxnSpPr>
        <p:spPr>
          <a:xfrm>
            <a:off x="7223760" y="5566083"/>
            <a:ext cx="4282135" cy="0"/>
          </a:xfrm>
          <a:prstGeom prst="line">
            <a:avLst/>
          </a:prstGeom>
          <a:ln w="12700">
            <a:solidFill>
              <a:srgbClr val="D9D9D9"/>
            </a:solidFill>
            <a:prstDash val="dash"/>
          </a:ln>
        </p:spPr>
      </p:cxnSp>
      <p:cxnSp>
        <p:nvCxnSpPr>
          <p:cNvPr id="25" name="Connector 24"/>
          <p:cNvCxnSpPr/>
          <p:nvPr/>
        </p:nvCxnSpPr>
        <p:spPr>
          <a:xfrm>
            <a:off x="7223760" y="5905717"/>
            <a:ext cx="4282135" cy="0"/>
          </a:xfrm>
          <a:prstGeom prst="line">
            <a:avLst/>
          </a:prstGeom>
          <a:ln w="12700">
            <a:solidFill>
              <a:srgbClr val="D9D9D9"/>
            </a:solidFill>
            <a:prstDash val="dash"/>
          </a:ln>
        </p:spPr>
      </p:cxn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203-204</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183 /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Doğru bilgi: nereden, nasıl?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8862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8862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77647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Nereden?</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AFAD gibi resmî kurumlar: www.afad.gov.tr</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Valilik, belediye ve okulun resmî duyuruları</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Kaynağı belli olmayan mesaj bilgi değildir</a:t>
            </a:r>
          </a:p>
        </p:txBody>
      </p:sp>
      <p:sp>
        <p:nvSpPr>
          <p:cNvPr id="9" name="Rounded Rectangle 8"/>
          <p:cNvSpPr/>
          <p:nvPr/>
        </p:nvSpPr>
        <p:spPr>
          <a:xfrm>
            <a:off x="6210147" y="1216152"/>
            <a:ext cx="5478627" cy="38862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388620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377647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Nasıl paylaşırım?</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Paylaşmadan önce: kim yazdı, ne zaman, resmî kaynak doğruluyor mu?</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Doğrulanmamış, yanıltıcı haberi yaymam</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Afetzedenin görüntüsünü ve bilgisini izinsiz paylaşmam</a:t>
            </a:r>
          </a:p>
        </p:txBody>
      </p:sp>
      <p:sp>
        <p:nvSpPr>
          <p:cNvPr id="12" name="Rounded Rectangle 11"/>
          <p:cNvSpPr/>
          <p:nvPr/>
        </p:nvSpPr>
        <p:spPr>
          <a:xfrm>
            <a:off x="502920" y="5193792"/>
            <a:ext cx="11185855" cy="10515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0" i="0">
                <a:solidFill>
                  <a:srgbClr val="262626"/>
                </a:solidFill>
                <a:latin typeface="Calibri"/>
              </a:rPr>
              <a:t>Dikkat edilecekler (kitap): </a:t>
            </a:r>
            <a:r>
              <a:rPr lang="tr-TR" sz="2100" b="1" i="0">
                <a:solidFill>
                  <a:srgbClr val="262626"/>
                </a:solidFill>
                <a:latin typeface="Calibri"/>
              </a:rPr>
              <a:t>mahremiyet, özel hayatın gizliliği, kişilerin açık rızası</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 207</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184 / 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 ve savunmasız gruplar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3</a:t>
            </a:r>
          </a:p>
        </p:txBody>
      </p:sp>
      <p:sp>
        <p:nvSpPr>
          <p:cNvPr id="6" name="Rounded Rectangle 5"/>
          <p:cNvSpPr/>
          <p:nvPr/>
        </p:nvSpPr>
        <p:spPr>
          <a:xfrm>
            <a:off x="502920" y="1216152"/>
            <a:ext cx="6309360" cy="1243584"/>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243584"/>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5897880" cy="12435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Afetlerin oluşturduğu bu etki, afete maruz kalan herkeste aynı şekilde gerçekleşmemektedir.</a:t>
            </a:r>
          </a:p>
        </p:txBody>
      </p:sp>
      <p:sp>
        <p:nvSpPr>
          <p:cNvPr id="9" name="Rounded Rectangle 8"/>
          <p:cNvSpPr/>
          <p:nvPr/>
        </p:nvSpPr>
        <p:spPr>
          <a:xfrm>
            <a:off x="502920" y="2596896"/>
            <a:ext cx="6309360" cy="1609344"/>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596896"/>
            <a:ext cx="118872" cy="1609344"/>
          </a:xfrm>
          <a:prstGeom prst="rect">
            <a:avLst/>
          </a:prstGeom>
          <a:solidFill>
            <a:srgbClr val="1E7B6E"/>
          </a:solidFill>
          <a:ln>
            <a:noFill/>
          </a:ln>
          <a:effectLst/>
        </p:spPr>
        <p:txBody>
          <a:bodyPr rtlCol="0" anchor="ctr"/>
          <a:lstStyle/>
          <a:p/>
        </p:txBody>
      </p:sp>
      <p:sp>
        <p:nvSpPr>
          <p:cNvPr id="11" name="TextBox 10"/>
          <p:cNvSpPr txBox="1"/>
          <p:nvPr/>
        </p:nvSpPr>
        <p:spPr>
          <a:xfrm>
            <a:off x="777240" y="2596896"/>
            <a:ext cx="5897880" cy="160934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Örneğin savunmasız gruplar (yaşlılar, kadınlar, çocuklar, özel gereksinimi olan bireyler vb.) afetlerin olumsuz etkilerine daha fazla maruz kalmaktadır.</a:t>
            </a:r>
          </a:p>
        </p:txBody>
      </p:sp>
      <p:sp>
        <p:nvSpPr>
          <p:cNvPr id="12" name="Rounded Rectangle 11"/>
          <p:cNvSpPr/>
          <p:nvPr/>
        </p:nvSpPr>
        <p:spPr>
          <a:xfrm>
            <a:off x="502920" y="4343400"/>
            <a:ext cx="6309360" cy="1901952"/>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343400"/>
            <a:ext cx="118872" cy="1901952"/>
          </a:xfrm>
          <a:prstGeom prst="rect">
            <a:avLst/>
          </a:prstGeom>
          <a:solidFill>
            <a:srgbClr val="1E7B6E"/>
          </a:solidFill>
          <a:ln>
            <a:noFill/>
          </a:ln>
          <a:effectLst/>
        </p:spPr>
        <p:txBody>
          <a:bodyPr rtlCol="0" anchor="ctr"/>
          <a:lstStyle/>
          <a:p/>
        </p:txBody>
      </p:sp>
      <p:sp>
        <p:nvSpPr>
          <p:cNvPr id="14" name="TextBox 13"/>
          <p:cNvSpPr txBox="1"/>
          <p:nvPr/>
        </p:nvSpPr>
        <p:spPr>
          <a:xfrm>
            <a:off x="777240" y="4343400"/>
            <a:ext cx="5897880" cy="1901952"/>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Bu nedenle toplumlar; afet öncesi, afet esnası ve afet sonrasında geliştirecekleri politikalarda savunmasız grupları göz önünde bulundurarak daha hassas olmalı ve gerekli önlemleri almalıdır.</a:t>
            </a:r>
          </a:p>
        </p:txBody>
      </p:sp>
      <p:sp>
        <p:nvSpPr>
          <p:cNvPr id="15" name="Rounded Rectangle 14"/>
          <p:cNvSpPr/>
          <p:nvPr/>
        </p:nvSpPr>
        <p:spPr>
          <a:xfrm>
            <a:off x="7040880" y="1216152"/>
            <a:ext cx="4647895" cy="2057400"/>
          </a:xfrm>
          <a:prstGeom prst="roundRect">
            <a:avLst>
              <a:gd name="adj" fmla="val 6000"/>
            </a:avLst>
          </a:prstGeom>
          <a:solidFill>
            <a:srgbClr val="FFF3D1"/>
          </a:solidFill>
          <a:ln>
            <a:noFill/>
          </a:ln>
          <a:effectLst/>
        </p:spPr>
        <p:txBody>
          <a:bodyPr rtlCol="0" anchor="ctr"/>
          <a:lstStyle/>
          <a:p/>
        </p:txBody>
      </p:sp>
      <p:sp>
        <p:nvSpPr>
          <p:cNvPr id="16" name="TextBox 15"/>
          <p:cNvSpPr txBox="1"/>
          <p:nvPr/>
        </p:nvSpPr>
        <p:spPr>
          <a:xfrm>
            <a:off x="7223760" y="1289304"/>
            <a:ext cx="428213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DEĞERLENDİRME 3 · s. 204</a:t>
            </a:r>
          </a:p>
        </p:txBody>
      </p:sp>
      <p:sp>
        <p:nvSpPr>
          <p:cNvPr id="17" name="TextBox 16"/>
          <p:cNvSpPr txBox="1"/>
          <p:nvPr/>
        </p:nvSpPr>
        <p:spPr>
          <a:xfrm>
            <a:off x="7223760" y="1636776"/>
            <a:ext cx="4282135" cy="154533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Afet öncesi, esnası ve sonrasında savunmasız grupların (çocuk, yaşlı, engelli vb.) ihtiyaçlarını karşılamak amacıyla neler yapılabilir?</a:t>
            </a:r>
          </a:p>
        </p:txBody>
      </p:sp>
      <p:sp>
        <p:nvSpPr>
          <p:cNvPr id="18" name="TextBox 17"/>
          <p:cNvSpPr txBox="1"/>
          <p:nvPr/>
        </p:nvSpPr>
        <p:spPr>
          <a:xfrm>
            <a:off x="7040880" y="3410712"/>
            <a:ext cx="464789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1E7B6E"/>
                </a:solidFill>
                <a:latin typeface="Calibri"/>
              </a:rPr>
              <a:t>Öncesi · esnası · sonrası</a:t>
            </a:r>
          </a:p>
        </p:txBody>
      </p:sp>
      <p:sp>
        <p:nvSpPr>
          <p:cNvPr id="19" name="Rounded Rectangle 18"/>
          <p:cNvSpPr/>
          <p:nvPr/>
        </p:nvSpPr>
        <p:spPr>
          <a:xfrm>
            <a:off x="7040880" y="3867912"/>
            <a:ext cx="4647895" cy="23774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7223760" y="4207546"/>
            <a:ext cx="4282135" cy="0"/>
          </a:xfrm>
          <a:prstGeom prst="line">
            <a:avLst/>
          </a:prstGeom>
          <a:ln w="12700">
            <a:solidFill>
              <a:srgbClr val="D9D9D9"/>
            </a:solidFill>
            <a:prstDash val="dash"/>
          </a:ln>
        </p:spPr>
      </p:cxnSp>
      <p:cxnSp>
        <p:nvCxnSpPr>
          <p:cNvPr id="21" name="Connector 20"/>
          <p:cNvCxnSpPr/>
          <p:nvPr/>
        </p:nvCxnSpPr>
        <p:spPr>
          <a:xfrm>
            <a:off x="7223760" y="4547180"/>
            <a:ext cx="4282135" cy="0"/>
          </a:xfrm>
          <a:prstGeom prst="line">
            <a:avLst/>
          </a:prstGeom>
          <a:ln w="12700">
            <a:solidFill>
              <a:srgbClr val="D9D9D9"/>
            </a:solidFill>
            <a:prstDash val="dash"/>
          </a:ln>
        </p:spPr>
      </p:cxnSp>
      <p:cxnSp>
        <p:nvCxnSpPr>
          <p:cNvPr id="22" name="Connector 21"/>
          <p:cNvCxnSpPr/>
          <p:nvPr/>
        </p:nvCxnSpPr>
        <p:spPr>
          <a:xfrm>
            <a:off x="7223760" y="4886814"/>
            <a:ext cx="4282135" cy="0"/>
          </a:xfrm>
          <a:prstGeom prst="line">
            <a:avLst/>
          </a:prstGeom>
          <a:ln w="12700">
            <a:solidFill>
              <a:srgbClr val="D9D9D9"/>
            </a:solidFill>
            <a:prstDash val="dash"/>
          </a:ln>
        </p:spPr>
      </p:cxnSp>
      <p:cxnSp>
        <p:nvCxnSpPr>
          <p:cNvPr id="23" name="Connector 22"/>
          <p:cNvCxnSpPr/>
          <p:nvPr/>
        </p:nvCxnSpPr>
        <p:spPr>
          <a:xfrm>
            <a:off x="7223760" y="5226449"/>
            <a:ext cx="4282135" cy="0"/>
          </a:xfrm>
          <a:prstGeom prst="line">
            <a:avLst/>
          </a:prstGeom>
          <a:ln w="12700">
            <a:solidFill>
              <a:srgbClr val="D9D9D9"/>
            </a:solidFill>
            <a:prstDash val="dash"/>
          </a:ln>
        </p:spPr>
      </p:cxnSp>
      <p:cxnSp>
        <p:nvCxnSpPr>
          <p:cNvPr id="24" name="Connector 23"/>
          <p:cNvCxnSpPr/>
          <p:nvPr/>
        </p:nvCxnSpPr>
        <p:spPr>
          <a:xfrm>
            <a:off x="7223760" y="5566083"/>
            <a:ext cx="4282135" cy="0"/>
          </a:xfrm>
          <a:prstGeom prst="line">
            <a:avLst/>
          </a:prstGeom>
          <a:ln w="12700">
            <a:solidFill>
              <a:srgbClr val="D9D9D9"/>
            </a:solidFill>
            <a:prstDash val="dash"/>
          </a:ln>
        </p:spPr>
      </p:cxnSp>
      <p:cxnSp>
        <p:nvCxnSpPr>
          <p:cNvPr id="25" name="Connector 24"/>
          <p:cNvCxnSpPr/>
          <p:nvPr/>
        </p:nvCxnSpPr>
        <p:spPr>
          <a:xfrm>
            <a:off x="7223760" y="5905717"/>
            <a:ext cx="4282135" cy="0"/>
          </a:xfrm>
          <a:prstGeom prst="line">
            <a:avLst/>
          </a:prstGeom>
          <a:ln w="12700">
            <a:solidFill>
              <a:srgbClr val="D9D9D9"/>
            </a:solidFill>
            <a:prstDash val="dash"/>
          </a:ln>
        </p:spPr>
      </p:cxn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203-204</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185 / 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Savunmasız gruplar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7" name="Rounded Rectangle 6"/>
          <p:cNvSpPr/>
          <p:nvPr/>
        </p:nvSpPr>
        <p:spPr>
          <a:xfrm>
            <a:off x="502920" y="1216152"/>
            <a:ext cx="3606698" cy="566928"/>
          </a:xfrm>
          <a:prstGeom prst="roundRect">
            <a:avLst>
              <a:gd name="adj" fmla="val 25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öncesi</a:t>
            </a:r>
          </a:p>
        </p:txBody>
      </p:sp>
      <p:sp>
        <p:nvSpPr>
          <p:cNvPr id="8" name="TextBox 7"/>
          <p:cNvSpPr txBox="1"/>
          <p:nvPr/>
        </p:nvSpPr>
        <p:spPr>
          <a:xfrm>
            <a:off x="640080" y="1901952"/>
            <a:ext cx="3332378" cy="4251960"/>
          </a:xfrm>
          <a:prstGeom prst="rect">
            <a:avLst/>
          </a:prstGeom>
          <a:noFill/>
        </p:spPr>
        <p:txBody>
          <a:bodyPr wrap="square" anchor="ctr" lIns="73152" rIns="73152" tIns="36576" bIns="36576">
            <a:noAutofit/>
          </a:bodyPr>
          <a:lstStyle/>
          <a:p>
            <a:pPr algn="l" marL="273482" indent="-273482">
              <a:spcBef>
                <a:spcPts val="0"/>
              </a:spcBef>
              <a:spcAft>
                <a:spcPts val="1400"/>
              </a:spcAft>
            </a:pPr>
            <a:r>
              <a:rPr lang="tr-TR" sz="2200" b="1" i="0">
                <a:solidFill>
                  <a:srgbClr val="1F86BF"/>
                </a:solidFill>
                <a:latin typeface="Calibri"/>
              </a:rPr>
              <a:t>•  </a:t>
            </a:r>
            <a:r>
              <a:rPr lang="tr-TR" sz="2200" b="0" i="0">
                <a:solidFill>
                  <a:srgbClr val="262626"/>
                </a:solidFill>
                <a:latin typeface="Calibri"/>
              </a:rPr>
              <a:t>Aile afet planına özel ihtiyaçlar yazılır: ilaç, tıbbi cihaz, gözlük</a:t>
            </a:r>
          </a:p>
          <a:p>
            <a:pPr algn="l" marL="273482" indent="-273482">
              <a:spcBef>
                <a:spcPts val="0"/>
              </a:spcBef>
              <a:spcAft>
                <a:spcPts val="1400"/>
              </a:spcAft>
            </a:pPr>
            <a:r>
              <a:rPr lang="tr-TR" sz="2200" b="1" i="0">
                <a:solidFill>
                  <a:srgbClr val="1F86BF"/>
                </a:solidFill>
                <a:latin typeface="Calibri"/>
              </a:rPr>
              <a:t>•  </a:t>
            </a:r>
            <a:r>
              <a:rPr lang="tr-TR" sz="2200" b="0" i="0">
                <a:solidFill>
                  <a:srgbClr val="262626"/>
                </a:solidFill>
                <a:latin typeface="Calibri"/>
              </a:rPr>
              <a:t>Tahliye yolu ve toplanma alanı herkesin erişebileceği biçimde</a:t>
            </a:r>
          </a:p>
          <a:p>
            <a:pPr algn="l" marL="273482" indent="-273482">
              <a:spcBef>
                <a:spcPts val="0"/>
              </a:spcBef>
              <a:spcAft>
                <a:spcPts val="0"/>
              </a:spcAft>
            </a:pPr>
            <a:r>
              <a:rPr lang="tr-TR" sz="2200" b="1" i="0">
                <a:solidFill>
                  <a:srgbClr val="1F86BF"/>
                </a:solidFill>
                <a:latin typeface="Calibri"/>
              </a:rPr>
              <a:t>•  </a:t>
            </a:r>
            <a:r>
              <a:rPr lang="tr-TR" sz="2200" b="0" i="0">
                <a:solidFill>
                  <a:srgbClr val="262626"/>
                </a:solidFill>
                <a:latin typeface="Calibri"/>
              </a:rPr>
              <a:t>Uyarılar hem sesli hem yazılı</a:t>
            </a:r>
          </a:p>
        </p:txBody>
      </p:sp>
      <p:sp>
        <p:nvSpPr>
          <p:cNvPr id="9" name="Rounded Rectangle 8"/>
          <p:cNvSpPr/>
          <p:nvPr/>
        </p:nvSpPr>
        <p:spPr>
          <a:xfrm>
            <a:off x="4292498"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0" name="Rounded Rectangle 9"/>
          <p:cNvSpPr/>
          <p:nvPr/>
        </p:nvSpPr>
        <p:spPr>
          <a:xfrm>
            <a:off x="4292498" y="1216152"/>
            <a:ext cx="3606698" cy="566928"/>
          </a:xfrm>
          <a:prstGeom prst="roundRect">
            <a:avLst>
              <a:gd name="adj" fmla="val 25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esnası</a:t>
            </a:r>
          </a:p>
        </p:txBody>
      </p:sp>
      <p:sp>
        <p:nvSpPr>
          <p:cNvPr id="11" name="TextBox 10"/>
          <p:cNvSpPr txBox="1"/>
          <p:nvPr/>
        </p:nvSpPr>
        <p:spPr>
          <a:xfrm>
            <a:off x="4429658" y="1901952"/>
            <a:ext cx="3332378" cy="4251960"/>
          </a:xfrm>
          <a:prstGeom prst="rect">
            <a:avLst/>
          </a:prstGeom>
          <a:noFill/>
        </p:spPr>
        <p:txBody>
          <a:bodyPr wrap="square" anchor="ctr" lIns="73152" rIns="73152" tIns="36576" bIns="36576">
            <a:noAutofit/>
          </a:bodyPr>
          <a:lstStyle/>
          <a:p>
            <a:pPr algn="l" marL="273482" indent="-273482">
              <a:spcBef>
                <a:spcPts val="0"/>
              </a:spcBef>
              <a:spcAft>
                <a:spcPts val="1400"/>
              </a:spcAft>
            </a:pPr>
            <a:r>
              <a:rPr lang="tr-TR" sz="2200" b="1" i="0">
                <a:solidFill>
                  <a:srgbClr val="CC3333"/>
                </a:solidFill>
                <a:latin typeface="Calibri"/>
              </a:rPr>
              <a:t>•  </a:t>
            </a:r>
            <a:r>
              <a:rPr lang="tr-TR" sz="2200" b="0" i="0">
                <a:solidFill>
                  <a:srgbClr val="262626"/>
                </a:solidFill>
                <a:latin typeface="Calibri"/>
              </a:rPr>
              <a:t>Tahliyede ve yardımda öncelik</a:t>
            </a:r>
          </a:p>
          <a:p>
            <a:pPr algn="l" marL="273482" indent="-273482">
              <a:spcBef>
                <a:spcPts val="0"/>
              </a:spcBef>
              <a:spcAft>
                <a:spcPts val="1400"/>
              </a:spcAft>
            </a:pPr>
            <a:r>
              <a:rPr lang="tr-TR" sz="2200" b="1" i="0">
                <a:solidFill>
                  <a:srgbClr val="CC3333"/>
                </a:solidFill>
                <a:latin typeface="Calibri"/>
              </a:rPr>
              <a:t>•  </a:t>
            </a:r>
            <a:r>
              <a:rPr lang="tr-TR" sz="2200" b="0" i="0">
                <a:solidFill>
                  <a:srgbClr val="262626"/>
                </a:solidFill>
                <a:latin typeface="Calibri"/>
              </a:rPr>
              <a:t>Çocuklar ailelerinden ayrılmaz</a:t>
            </a:r>
          </a:p>
          <a:p>
            <a:pPr algn="l" marL="273482" indent="-273482">
              <a:spcBef>
                <a:spcPts val="0"/>
              </a:spcBef>
              <a:spcAft>
                <a:spcPts val="0"/>
              </a:spcAft>
            </a:pPr>
            <a:r>
              <a:rPr lang="tr-TR" sz="2200" b="1" i="0">
                <a:solidFill>
                  <a:srgbClr val="CC3333"/>
                </a:solidFill>
                <a:latin typeface="Calibri"/>
              </a:rPr>
              <a:t>•  </a:t>
            </a:r>
            <a:r>
              <a:rPr lang="tr-TR" sz="2200" b="0" i="0">
                <a:solidFill>
                  <a:srgbClr val="262626"/>
                </a:solidFill>
                <a:latin typeface="Calibri"/>
              </a:rPr>
              <a:t>Kadınların ve çocukların güvenliği gözetilir</a:t>
            </a:r>
          </a:p>
        </p:txBody>
      </p:sp>
      <p:sp>
        <p:nvSpPr>
          <p:cNvPr id="12" name="Rounded Rectangle 11"/>
          <p:cNvSpPr/>
          <p:nvPr/>
        </p:nvSpPr>
        <p:spPr>
          <a:xfrm>
            <a:off x="8082076" y="1216152"/>
            <a:ext cx="3606698"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3" name="Rounded Rectangle 12"/>
          <p:cNvSpPr/>
          <p:nvPr/>
        </p:nvSpPr>
        <p:spPr>
          <a:xfrm>
            <a:off x="8082076" y="1216152"/>
            <a:ext cx="3606698" cy="566928"/>
          </a:xfrm>
          <a:prstGeom prst="roundRect">
            <a:avLst>
              <a:gd name="adj" fmla="val 25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 sonrası</a:t>
            </a:r>
          </a:p>
        </p:txBody>
      </p:sp>
      <p:sp>
        <p:nvSpPr>
          <p:cNvPr id="14" name="TextBox 13"/>
          <p:cNvSpPr txBox="1"/>
          <p:nvPr/>
        </p:nvSpPr>
        <p:spPr>
          <a:xfrm>
            <a:off x="8219236" y="1901952"/>
            <a:ext cx="3332378" cy="4251960"/>
          </a:xfrm>
          <a:prstGeom prst="rect">
            <a:avLst/>
          </a:prstGeom>
          <a:noFill/>
        </p:spPr>
        <p:txBody>
          <a:bodyPr wrap="square" anchor="ctr" lIns="73152" rIns="73152" tIns="36576" bIns="36576">
            <a:noAutofit/>
          </a:bodyPr>
          <a:lstStyle/>
          <a:p>
            <a:pPr algn="l" marL="273482" indent="-273482">
              <a:spcBef>
                <a:spcPts val="0"/>
              </a:spcBef>
              <a:spcAft>
                <a:spcPts val="1400"/>
              </a:spcAft>
            </a:pPr>
            <a:r>
              <a:rPr lang="tr-TR" sz="2200" b="1" i="0">
                <a:solidFill>
                  <a:srgbClr val="55992E"/>
                </a:solidFill>
                <a:latin typeface="Calibri"/>
              </a:rPr>
              <a:t>•  </a:t>
            </a:r>
            <a:r>
              <a:rPr lang="tr-TR" sz="2200" b="0" i="0">
                <a:solidFill>
                  <a:srgbClr val="262626"/>
                </a:solidFill>
                <a:latin typeface="Calibri"/>
              </a:rPr>
              <a:t>Barınma alanında erişilebilirlik ve sağlık hizmeti</a:t>
            </a:r>
          </a:p>
          <a:p>
            <a:pPr algn="l" marL="273482" indent="-273482">
              <a:spcBef>
                <a:spcPts val="0"/>
              </a:spcBef>
              <a:spcAft>
                <a:spcPts val="1400"/>
              </a:spcAft>
            </a:pPr>
            <a:r>
              <a:rPr lang="tr-TR" sz="2200" b="1" i="0">
                <a:solidFill>
                  <a:srgbClr val="55992E"/>
                </a:solidFill>
                <a:latin typeface="Calibri"/>
              </a:rPr>
              <a:t>•  </a:t>
            </a:r>
            <a:r>
              <a:rPr lang="tr-TR" sz="2200" b="0" i="0">
                <a:solidFill>
                  <a:srgbClr val="262626"/>
                </a:solidFill>
                <a:latin typeface="Calibri"/>
              </a:rPr>
              <a:t>Çocuk dostu alanlar, psikososyal destek</a:t>
            </a:r>
          </a:p>
          <a:p>
            <a:pPr algn="l" marL="273482" indent="-273482">
              <a:spcBef>
                <a:spcPts val="0"/>
              </a:spcBef>
              <a:spcAft>
                <a:spcPts val="0"/>
              </a:spcAft>
            </a:pPr>
            <a:r>
              <a:rPr lang="tr-TR" sz="2200" b="1" i="0">
                <a:solidFill>
                  <a:srgbClr val="55992E"/>
                </a:solidFill>
                <a:latin typeface="Calibri"/>
              </a:rPr>
              <a:t>•  </a:t>
            </a:r>
            <a:r>
              <a:rPr lang="tr-TR" sz="2200" b="0" i="0">
                <a:solidFill>
                  <a:srgbClr val="262626"/>
                </a:solidFill>
                <a:latin typeface="Calibri"/>
              </a:rPr>
              <a:t>Eğitim sürer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186 /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Çocuklar ve çocuk hakları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4</a:t>
            </a:r>
          </a:p>
        </p:txBody>
      </p:sp>
      <p:pic>
        <p:nvPicPr>
          <p:cNvPr id="6" name="Picture 5" descr="h33_s203_gorsel67.jpg"/>
          <p:cNvPicPr>
            <a:picLocks noChangeAspect="1"/>
          </p:cNvPicPr>
          <p:nvPr/>
        </p:nvPicPr>
        <p:blipFill>
          <a:blip r:embed="rId3"/>
          <a:stretch>
            <a:fillRect/>
          </a:stretch>
        </p:blipFill>
        <p:spPr>
          <a:xfrm>
            <a:off x="502920" y="1216152"/>
            <a:ext cx="3734316" cy="2788920"/>
          </a:xfrm>
          <a:prstGeom prst="rect">
            <a:avLst/>
          </a:prstGeom>
          <a:ln w="9525">
            <a:solidFill>
              <a:srgbClr val="D9D9D9"/>
            </a:solidFill>
          </a:ln>
        </p:spPr>
      </p:pic>
      <p:sp>
        <p:nvSpPr>
          <p:cNvPr id="7" name="TextBox 6"/>
          <p:cNvSpPr txBox="1"/>
          <p:nvPr/>
        </p:nvSpPr>
        <p:spPr>
          <a:xfrm>
            <a:off x="502920" y="4041648"/>
            <a:ext cx="4206240" cy="731520"/>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Görsel 6.7: 06 Şubat 2023 tarihinde yaşanan Kahramanmaraş merkezli depremler sonrasında çocukların eğitimleri için hazırlanmış sınıf</a:t>
            </a:r>
          </a:p>
        </p:txBody>
      </p:sp>
      <p:sp>
        <p:nvSpPr>
          <p:cNvPr id="8" name="Rounded Rectangle 7"/>
          <p:cNvSpPr/>
          <p:nvPr/>
        </p:nvSpPr>
        <p:spPr>
          <a:xfrm>
            <a:off x="4937760" y="1216152"/>
            <a:ext cx="6751015" cy="1402772"/>
          </a:xfrm>
          <a:prstGeom prst="roundRect">
            <a:avLst>
              <a:gd name="adj" fmla="val 8000"/>
            </a:avLst>
          </a:prstGeom>
          <a:solidFill>
            <a:srgbClr val="F0F0F0"/>
          </a:solidFill>
          <a:ln>
            <a:noFill/>
          </a:ln>
          <a:effectLst/>
        </p:spPr>
        <p:txBody>
          <a:bodyPr rtlCol="0" anchor="ctr"/>
          <a:lstStyle/>
          <a:p/>
        </p:txBody>
      </p:sp>
      <p:sp>
        <p:nvSpPr>
          <p:cNvPr id="9" name="Rectangle 8"/>
          <p:cNvSpPr/>
          <p:nvPr/>
        </p:nvSpPr>
        <p:spPr>
          <a:xfrm>
            <a:off x="4937760" y="1216152"/>
            <a:ext cx="118872" cy="1402772"/>
          </a:xfrm>
          <a:prstGeom prst="rect">
            <a:avLst/>
          </a:prstGeom>
          <a:solidFill>
            <a:srgbClr val="1E7B6E"/>
          </a:solidFill>
          <a:ln>
            <a:noFill/>
          </a:ln>
          <a:effectLst/>
        </p:spPr>
        <p:txBody>
          <a:bodyPr rtlCol="0" anchor="ctr"/>
          <a:lstStyle/>
          <a:p/>
        </p:txBody>
      </p:sp>
      <p:sp>
        <p:nvSpPr>
          <p:cNvPr id="10" name="TextBox 9"/>
          <p:cNvSpPr txBox="1"/>
          <p:nvPr/>
        </p:nvSpPr>
        <p:spPr>
          <a:xfrm>
            <a:off x="5212080" y="1216152"/>
            <a:ext cx="6339535" cy="140277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Çocuklar afet esnası ve sonrasında afetten en fazla etkilenen, en fazla can kaybı ve psikososyal travmaya maruz kalan bireylerdir.</a:t>
            </a:r>
          </a:p>
        </p:txBody>
      </p:sp>
      <p:sp>
        <p:nvSpPr>
          <p:cNvPr id="11" name="Rounded Rectangle 10"/>
          <p:cNvSpPr/>
          <p:nvPr/>
        </p:nvSpPr>
        <p:spPr>
          <a:xfrm>
            <a:off x="4937760" y="2756084"/>
            <a:ext cx="6751015" cy="2026227"/>
          </a:xfrm>
          <a:prstGeom prst="roundRect">
            <a:avLst>
              <a:gd name="adj" fmla="val 8000"/>
            </a:avLst>
          </a:prstGeom>
          <a:solidFill>
            <a:srgbClr val="F0F0F0"/>
          </a:solidFill>
          <a:ln>
            <a:noFill/>
          </a:ln>
          <a:effectLst/>
        </p:spPr>
        <p:txBody>
          <a:bodyPr rtlCol="0" anchor="ctr"/>
          <a:lstStyle/>
          <a:p/>
        </p:txBody>
      </p:sp>
      <p:sp>
        <p:nvSpPr>
          <p:cNvPr id="12" name="Rectangle 11"/>
          <p:cNvSpPr/>
          <p:nvPr/>
        </p:nvSpPr>
        <p:spPr>
          <a:xfrm>
            <a:off x="4937760" y="2756084"/>
            <a:ext cx="118872" cy="2026227"/>
          </a:xfrm>
          <a:prstGeom prst="rect">
            <a:avLst/>
          </a:prstGeom>
          <a:solidFill>
            <a:srgbClr val="1E7B6E"/>
          </a:solidFill>
          <a:ln>
            <a:noFill/>
          </a:ln>
          <a:effectLst/>
        </p:spPr>
        <p:txBody>
          <a:bodyPr rtlCol="0" anchor="ctr"/>
          <a:lstStyle/>
          <a:p/>
        </p:txBody>
      </p:sp>
      <p:sp>
        <p:nvSpPr>
          <p:cNvPr id="13" name="TextBox 12"/>
          <p:cNvSpPr txBox="1"/>
          <p:nvPr/>
        </p:nvSpPr>
        <p:spPr>
          <a:xfrm>
            <a:off x="5212080" y="2756084"/>
            <a:ext cx="6339535" cy="2026227"/>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Örneğin Türkiye’nin de taraf olduğu Birleşmiş Milletler Çocuk Hakları Sözleşmesi, dünyadaki tüm çocukların korunması ve belirli standartlarda onlara yardım ulaştırılmasını sağlayan uluslararası belgelerden en kapsamlı olanıdır.</a:t>
            </a:r>
          </a:p>
        </p:txBody>
      </p:sp>
      <p:sp>
        <p:nvSpPr>
          <p:cNvPr id="14" name="Rounded Rectangle 13"/>
          <p:cNvSpPr/>
          <p:nvPr/>
        </p:nvSpPr>
        <p:spPr>
          <a:xfrm>
            <a:off x="502920" y="4919471"/>
            <a:ext cx="11185855" cy="1325880"/>
          </a:xfrm>
          <a:prstGeom prst="roundRect">
            <a:avLst>
              <a:gd name="adj" fmla="val 6000"/>
            </a:avLst>
          </a:prstGeom>
          <a:solidFill>
            <a:srgbClr val="FFF3D1"/>
          </a:solidFill>
          <a:ln>
            <a:noFill/>
          </a:ln>
          <a:effectLst/>
        </p:spPr>
        <p:txBody>
          <a:bodyPr rtlCol="0" anchor="ctr"/>
          <a:lstStyle/>
          <a:p/>
        </p:txBody>
      </p:sp>
      <p:sp>
        <p:nvSpPr>
          <p:cNvPr id="15" name="TextBox 14"/>
          <p:cNvSpPr txBox="1"/>
          <p:nvPr/>
        </p:nvSpPr>
        <p:spPr>
          <a:xfrm>
            <a:off x="685800" y="4992623"/>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DEĞERLENDİRME 4 · s. 204 · sözlü</a:t>
            </a:r>
          </a:p>
        </p:txBody>
      </p:sp>
      <p:sp>
        <p:nvSpPr>
          <p:cNvPr id="16" name="TextBox 15"/>
          <p:cNvSpPr txBox="1"/>
          <p:nvPr/>
        </p:nvSpPr>
        <p:spPr>
          <a:xfrm>
            <a:off x="685800" y="5340095"/>
            <a:ext cx="10820095" cy="813816"/>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Afet ve acil durumlarda çocukların çocuk hakları temelli yaklaşım kapsamında sahip olduğu haklar nelerdir? Bu haklar nasıl korunabilir?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203-204</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187 /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Çocuk hakları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79476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79476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500" b="1" i="0">
                <a:solidFill>
                  <a:srgbClr val="2E7D32"/>
                </a:solidFill>
                <a:latin typeface="Calibri"/>
              </a:rPr>
              <a:t>Haklar</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Beslenme, barınma, güvenlik, eğitim, sağlık</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Korunma ve psikososyal destek</a:t>
            </a:r>
          </a:p>
          <a:p>
            <a:pPr algn="l" marL="310775" indent="-310775">
              <a:spcBef>
                <a:spcPts val="0"/>
              </a:spcBef>
              <a:spcAft>
                <a:spcPts val="0"/>
              </a:spcAft>
            </a:pPr>
            <a:r>
              <a:rPr lang="tr-TR" sz="2500" b="1" i="0">
                <a:solidFill>
                  <a:srgbClr val="2C6696"/>
                </a:solidFill>
                <a:latin typeface="Calibri"/>
              </a:rPr>
              <a:t>•  </a:t>
            </a:r>
            <a:r>
              <a:rPr lang="tr-TR" sz="2500" b="0" i="0">
                <a:solidFill>
                  <a:srgbClr val="262626"/>
                </a:solidFill>
                <a:latin typeface="Calibri"/>
              </a:rPr>
              <a:t>İyileştirme sürecinde etkin rol alma</a:t>
            </a:r>
          </a:p>
        </p:txBody>
      </p:sp>
      <p:sp>
        <p:nvSpPr>
          <p:cNvPr id="9" name="Rounded Rectangle 8"/>
          <p:cNvSpPr/>
          <p:nvPr/>
        </p:nvSpPr>
        <p:spPr>
          <a:xfrm>
            <a:off x="6210147" y="1216152"/>
            <a:ext cx="5478627" cy="379476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379476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500" b="1" i="0">
                <a:solidFill>
                  <a:srgbClr val="2E7D32"/>
                </a:solidFill>
                <a:latin typeface="Calibri"/>
              </a:rPr>
              <a:t>Nasıl korunur?</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Pozitif ayrımcılık: önce ihtiyacı en fazla olan</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Çocuk dostu alanlar, psikososyal destek, eğitimin sürmesi</a:t>
            </a:r>
          </a:p>
          <a:p>
            <a:pPr algn="l" marL="310775" indent="-310775">
              <a:spcBef>
                <a:spcPts val="0"/>
              </a:spcBef>
              <a:spcAft>
                <a:spcPts val="0"/>
              </a:spcAft>
            </a:pPr>
            <a:r>
              <a:rPr lang="tr-TR" sz="2500" b="1" i="0">
                <a:solidFill>
                  <a:srgbClr val="2C6696"/>
                </a:solidFill>
                <a:latin typeface="Calibri"/>
              </a:rPr>
              <a:t>•  </a:t>
            </a:r>
            <a:r>
              <a:rPr lang="tr-TR" sz="2500" b="0" i="0">
                <a:solidFill>
                  <a:srgbClr val="262626"/>
                </a:solidFill>
                <a:latin typeface="Calibri"/>
              </a:rPr>
              <a:t>BM Çocuk Hakları Sözleşmesi, hak temelli yaklaşım</a:t>
            </a:r>
          </a:p>
        </p:txBody>
      </p:sp>
      <p:sp>
        <p:nvSpPr>
          <p:cNvPr id="12" name="Rounded Rectangle 11"/>
          <p:cNvSpPr/>
          <p:nvPr/>
        </p:nvSpPr>
        <p:spPr>
          <a:xfrm>
            <a:off x="502920" y="5102352"/>
            <a:ext cx="11185855" cy="11430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1900" b="0" i="0">
                <a:solidFill>
                  <a:srgbClr val="262626"/>
                </a:solidFill>
                <a:latin typeface="Calibri"/>
              </a:rPr>
              <a:t>Türkiye'de (kitap): 12. Kalkınma Planı, AFAD’ın 2024-2028 yıllarını kapsayan stratejik planı ve Millî Eğitim Bakanlığı bünyesinde yürütülen bazı projelerle savunmasız gruplara yönelik çalışmalar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203-204</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188 / 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afetlerin olumsuz etkileri için aşağıdakilerden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Afete maruz kalan herkesi aynı şekilde etkiler.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Savunmasız gruplar bu etkilere daha fazla maruz kalır.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Çocuklar afetlerden yalnızca doğrudan etkilenir.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Bilgi paylaşımında hız, güvenilirlikten önemlidir.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 bölgesindeki görüntüler izinsiz paylaşılabilir.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189 / 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afetlerin olumsuz etkileri için aşağıdakilerden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Afete maruz kalan herkesi aynı şekilde etkiler.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Savunmasız gruplar bu etkilere daha fazla maruz kalır.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Çocuklar afetlerden yalnızca doğrudan etkilenir.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Bilgi paylaşımında hız, güvenilirlikten önemlidir.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Afet bölgesindeki görüntüler izinsiz paylaşılabilir.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Örneğin savunmasız gruplar (yaşlılar, kadınlar, çocuklar, özel gereksinimi olan bireyler vb.) afetlerin olumsuz etkilerine daha fazla maruz kalmaktadır.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190 / 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Yansıtma: afet yönetimi aksarsa?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1</a:t>
            </a:r>
          </a:p>
        </p:txBody>
      </p:sp>
      <p:sp>
        <p:nvSpPr>
          <p:cNvPr id="6" name="Rounded Rectangle 5"/>
          <p:cNvSpPr/>
          <p:nvPr/>
        </p:nvSpPr>
        <p:spPr>
          <a:xfrm>
            <a:off x="502920" y="1216152"/>
            <a:ext cx="11185855" cy="146304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28930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DEĞERLENDİRME 1 · s. 204</a:t>
            </a:r>
          </a:p>
        </p:txBody>
      </p:sp>
      <p:sp>
        <p:nvSpPr>
          <p:cNvPr id="8" name="TextBox 7"/>
          <p:cNvSpPr txBox="1"/>
          <p:nvPr/>
        </p:nvSpPr>
        <p:spPr>
          <a:xfrm>
            <a:off x="685800" y="1636776"/>
            <a:ext cx="10820095" cy="950976"/>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Bütüncül afet yönetiminin etkin bir şekilde uygulanmamasının insan ve toplum üzerindeki etkileri nelerdir? Düşüncelerinizi paylaşınız.</a:t>
            </a:r>
          </a:p>
        </p:txBody>
      </p:sp>
      <p:sp>
        <p:nvSpPr>
          <p:cNvPr id="9" name="TextBox 8"/>
          <p:cNvSpPr txBox="1"/>
          <p:nvPr/>
        </p:nvSpPr>
        <p:spPr>
          <a:xfrm>
            <a:off x="502920" y="2816352"/>
            <a:ext cx="11185855"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E7B6E"/>
                </a:solidFill>
                <a:latin typeface="Calibri"/>
              </a:rPr>
              <a:t>Kendini ve çevreni değerlendir: iki cümle yaz</a:t>
            </a:r>
          </a:p>
        </p:txBody>
      </p:sp>
      <p:sp>
        <p:nvSpPr>
          <p:cNvPr id="10" name="Rounded Rectangle 9"/>
          <p:cNvSpPr/>
          <p:nvPr/>
        </p:nvSpPr>
        <p:spPr>
          <a:xfrm>
            <a:off x="502920" y="3364992"/>
            <a:ext cx="5478627" cy="288036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502920" y="3364992"/>
            <a:ext cx="5478627" cy="566928"/>
          </a:xfrm>
          <a:prstGeom prst="roundRect">
            <a:avLst>
              <a:gd name="adj" fmla="val 25000"/>
            </a:avLst>
          </a:prstGeom>
          <a:solidFill>
            <a:srgbClr val="1E7B6E"/>
          </a:solidFill>
          <a:ln>
            <a:noFill/>
          </a:ln>
          <a:effectLst/>
        </p:spPr>
        <p:txBody>
          <a:bodyPr rtlCol="0" anchor="ctr"/>
          <a:lstStyle/>
          <a:p/>
        </p:txBody>
      </p:sp>
      <p:sp>
        <p:nvSpPr>
          <p:cNvPr id="12" name="Rectangle 11"/>
          <p:cNvSpPr/>
          <p:nvPr/>
        </p:nvSpPr>
        <p:spPr>
          <a:xfrm>
            <a:off x="502920" y="3648456"/>
            <a:ext cx="5478627" cy="283464"/>
          </a:xfrm>
          <a:prstGeom prst="rect">
            <a:avLst/>
          </a:prstGeom>
          <a:solidFill>
            <a:srgbClr val="1E7B6E"/>
          </a:solidFill>
          <a:ln>
            <a:noFill/>
          </a:ln>
          <a:effectLst/>
        </p:spPr>
        <p:txBody>
          <a:bodyPr rtlCol="0" anchor="ctr"/>
          <a:lstStyle/>
          <a:p/>
        </p:txBody>
      </p:sp>
      <p:sp>
        <p:nvSpPr>
          <p:cNvPr id="13" name="TextBox 12"/>
          <p:cNvSpPr txBox="1"/>
          <p:nvPr/>
        </p:nvSpPr>
        <p:spPr>
          <a:xfrm>
            <a:off x="594360" y="3364992"/>
            <a:ext cx="529574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Düşünüyorum ki …</a:t>
            </a:r>
          </a:p>
        </p:txBody>
      </p:sp>
      <p:sp>
        <p:nvSpPr>
          <p:cNvPr id="14" name="Rounded Rectangle 13"/>
          <p:cNvSpPr/>
          <p:nvPr/>
        </p:nvSpPr>
        <p:spPr>
          <a:xfrm>
            <a:off x="640080" y="4050792"/>
            <a:ext cx="5204307" cy="21031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822960" y="4401312"/>
            <a:ext cx="4838547" cy="0"/>
          </a:xfrm>
          <a:prstGeom prst="line">
            <a:avLst/>
          </a:prstGeom>
          <a:ln w="12700">
            <a:solidFill>
              <a:srgbClr val="D9D9D9"/>
            </a:solidFill>
            <a:prstDash val="dash"/>
          </a:ln>
        </p:spPr>
      </p:cxnSp>
      <p:cxnSp>
        <p:nvCxnSpPr>
          <p:cNvPr id="16" name="Connector 15"/>
          <p:cNvCxnSpPr/>
          <p:nvPr/>
        </p:nvCxnSpPr>
        <p:spPr>
          <a:xfrm>
            <a:off x="822960" y="4751832"/>
            <a:ext cx="4838547" cy="0"/>
          </a:xfrm>
          <a:prstGeom prst="line">
            <a:avLst/>
          </a:prstGeom>
          <a:ln w="12700">
            <a:solidFill>
              <a:srgbClr val="D9D9D9"/>
            </a:solidFill>
            <a:prstDash val="dash"/>
          </a:ln>
        </p:spPr>
      </p:cxnSp>
      <p:cxnSp>
        <p:nvCxnSpPr>
          <p:cNvPr id="17" name="Connector 16"/>
          <p:cNvCxnSpPr/>
          <p:nvPr/>
        </p:nvCxnSpPr>
        <p:spPr>
          <a:xfrm>
            <a:off x="822960" y="5102352"/>
            <a:ext cx="4838547" cy="0"/>
          </a:xfrm>
          <a:prstGeom prst="line">
            <a:avLst/>
          </a:prstGeom>
          <a:ln w="12700">
            <a:solidFill>
              <a:srgbClr val="D9D9D9"/>
            </a:solidFill>
            <a:prstDash val="dash"/>
          </a:ln>
        </p:spPr>
      </p:cxnSp>
      <p:cxnSp>
        <p:nvCxnSpPr>
          <p:cNvPr id="18" name="Connector 17"/>
          <p:cNvCxnSpPr/>
          <p:nvPr/>
        </p:nvCxnSpPr>
        <p:spPr>
          <a:xfrm>
            <a:off x="822960" y="5452872"/>
            <a:ext cx="4838547" cy="0"/>
          </a:xfrm>
          <a:prstGeom prst="line">
            <a:avLst/>
          </a:prstGeom>
          <a:ln w="12700">
            <a:solidFill>
              <a:srgbClr val="D9D9D9"/>
            </a:solidFill>
            <a:prstDash val="dash"/>
          </a:ln>
        </p:spPr>
      </p:cxnSp>
      <p:cxnSp>
        <p:nvCxnSpPr>
          <p:cNvPr id="19" name="Connector 18"/>
          <p:cNvCxnSpPr/>
          <p:nvPr/>
        </p:nvCxnSpPr>
        <p:spPr>
          <a:xfrm>
            <a:off x="822960" y="5803392"/>
            <a:ext cx="4838547" cy="0"/>
          </a:xfrm>
          <a:prstGeom prst="line">
            <a:avLst/>
          </a:prstGeom>
          <a:ln w="12700">
            <a:solidFill>
              <a:srgbClr val="D9D9D9"/>
            </a:solidFill>
            <a:prstDash val="dash"/>
          </a:ln>
        </p:spPr>
      </p:cxnSp>
      <p:sp>
        <p:nvSpPr>
          <p:cNvPr id="20" name="Rounded Rectangle 19"/>
          <p:cNvSpPr/>
          <p:nvPr/>
        </p:nvSpPr>
        <p:spPr>
          <a:xfrm>
            <a:off x="6210147" y="3364992"/>
            <a:ext cx="5478627" cy="2880360"/>
          </a:xfrm>
          <a:prstGeom prst="roundRect">
            <a:avLst>
              <a:gd name="adj" fmla="val 5000"/>
            </a:avLst>
          </a:prstGeom>
          <a:solidFill>
            <a:srgbClr val="F0F0F0"/>
          </a:solidFill>
          <a:ln>
            <a:noFill/>
          </a:ln>
          <a:effectLst/>
        </p:spPr>
        <p:txBody>
          <a:bodyPr rtlCol="0" anchor="ctr"/>
          <a:lstStyle/>
          <a:p/>
        </p:txBody>
      </p:sp>
      <p:sp>
        <p:nvSpPr>
          <p:cNvPr id="21" name="Rounded Rectangle 20"/>
          <p:cNvSpPr/>
          <p:nvPr/>
        </p:nvSpPr>
        <p:spPr>
          <a:xfrm>
            <a:off x="6210147" y="3364992"/>
            <a:ext cx="5478627" cy="566928"/>
          </a:xfrm>
          <a:prstGeom prst="roundRect">
            <a:avLst>
              <a:gd name="adj" fmla="val 25000"/>
            </a:avLst>
          </a:prstGeom>
          <a:solidFill>
            <a:srgbClr val="4F4F4F"/>
          </a:solidFill>
          <a:ln>
            <a:noFill/>
          </a:ln>
          <a:effectLst/>
        </p:spPr>
        <p:txBody>
          <a:bodyPr rtlCol="0" anchor="ctr"/>
          <a:lstStyle/>
          <a:p/>
        </p:txBody>
      </p:sp>
      <p:sp>
        <p:nvSpPr>
          <p:cNvPr id="22" name="Rectangle 21"/>
          <p:cNvSpPr/>
          <p:nvPr/>
        </p:nvSpPr>
        <p:spPr>
          <a:xfrm>
            <a:off x="6210147" y="3648456"/>
            <a:ext cx="5478627" cy="283464"/>
          </a:xfrm>
          <a:prstGeom prst="rect">
            <a:avLst/>
          </a:prstGeom>
          <a:solidFill>
            <a:srgbClr val="4F4F4F"/>
          </a:solidFill>
          <a:ln>
            <a:noFill/>
          </a:ln>
          <a:effectLst/>
        </p:spPr>
        <p:txBody>
          <a:bodyPr rtlCol="0" anchor="ctr"/>
          <a:lstStyle/>
          <a:p/>
        </p:txBody>
      </p:sp>
      <p:sp>
        <p:nvSpPr>
          <p:cNvPr id="23" name="TextBox 22"/>
          <p:cNvSpPr txBox="1"/>
          <p:nvPr/>
        </p:nvSpPr>
        <p:spPr>
          <a:xfrm>
            <a:off x="6301587" y="3364992"/>
            <a:ext cx="529574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Hissediyorum ki …</a:t>
            </a:r>
          </a:p>
        </p:txBody>
      </p:sp>
      <p:sp>
        <p:nvSpPr>
          <p:cNvPr id="24" name="Rounded Rectangle 23"/>
          <p:cNvSpPr/>
          <p:nvPr/>
        </p:nvSpPr>
        <p:spPr>
          <a:xfrm>
            <a:off x="6347307" y="4050792"/>
            <a:ext cx="5204307" cy="21031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5" name="Connector 24"/>
          <p:cNvCxnSpPr/>
          <p:nvPr/>
        </p:nvCxnSpPr>
        <p:spPr>
          <a:xfrm>
            <a:off x="6530187" y="4401312"/>
            <a:ext cx="4838547" cy="0"/>
          </a:xfrm>
          <a:prstGeom prst="line">
            <a:avLst/>
          </a:prstGeom>
          <a:ln w="12700">
            <a:solidFill>
              <a:srgbClr val="D9D9D9"/>
            </a:solidFill>
            <a:prstDash val="dash"/>
          </a:ln>
        </p:spPr>
      </p:cxnSp>
      <p:cxnSp>
        <p:nvCxnSpPr>
          <p:cNvPr id="26" name="Connector 25"/>
          <p:cNvCxnSpPr/>
          <p:nvPr/>
        </p:nvCxnSpPr>
        <p:spPr>
          <a:xfrm>
            <a:off x="6530187" y="4751832"/>
            <a:ext cx="4838547" cy="0"/>
          </a:xfrm>
          <a:prstGeom prst="line">
            <a:avLst/>
          </a:prstGeom>
          <a:ln w="12700">
            <a:solidFill>
              <a:srgbClr val="D9D9D9"/>
            </a:solidFill>
            <a:prstDash val="dash"/>
          </a:ln>
        </p:spPr>
      </p:cxnSp>
      <p:cxnSp>
        <p:nvCxnSpPr>
          <p:cNvPr id="27" name="Connector 26"/>
          <p:cNvCxnSpPr/>
          <p:nvPr/>
        </p:nvCxnSpPr>
        <p:spPr>
          <a:xfrm>
            <a:off x="6530187" y="5102352"/>
            <a:ext cx="4838547" cy="0"/>
          </a:xfrm>
          <a:prstGeom prst="line">
            <a:avLst/>
          </a:prstGeom>
          <a:ln w="12700">
            <a:solidFill>
              <a:srgbClr val="D9D9D9"/>
            </a:solidFill>
            <a:prstDash val="dash"/>
          </a:ln>
        </p:spPr>
      </p:cxnSp>
      <p:cxnSp>
        <p:nvCxnSpPr>
          <p:cNvPr id="28" name="Connector 27"/>
          <p:cNvCxnSpPr/>
          <p:nvPr/>
        </p:nvCxnSpPr>
        <p:spPr>
          <a:xfrm>
            <a:off x="6530187" y="5452872"/>
            <a:ext cx="4838547" cy="0"/>
          </a:xfrm>
          <a:prstGeom prst="line">
            <a:avLst/>
          </a:prstGeom>
          <a:ln w="12700">
            <a:solidFill>
              <a:srgbClr val="D9D9D9"/>
            </a:solidFill>
            <a:prstDash val="dash"/>
          </a:ln>
        </p:spPr>
      </p:cxnSp>
      <p:cxnSp>
        <p:nvCxnSpPr>
          <p:cNvPr id="29" name="Connector 28"/>
          <p:cNvCxnSpPr/>
          <p:nvPr/>
        </p:nvCxnSpPr>
        <p:spPr>
          <a:xfrm>
            <a:off x="6530187" y="5803392"/>
            <a:ext cx="4838547" cy="0"/>
          </a:xfrm>
          <a:prstGeom prst="line">
            <a:avLst/>
          </a:prstGeom>
          <a:ln w="12700">
            <a:solidFill>
              <a:srgbClr val="D9D9D9"/>
            </a:solidFill>
            <a:prstDash val="dash"/>
          </a:ln>
        </p:spPr>
      </p:cxn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204</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191 / 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Yansıtma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52044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52044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410712"/>
          </a:xfrm>
          <a:prstGeom prst="rect">
            <a:avLst/>
          </a:prstGeom>
          <a:noFill/>
        </p:spPr>
        <p:txBody>
          <a:bodyPr wrap="square" anchor="ctr" lIns="73152" rIns="73152" tIns="36576" bIns="36576">
            <a:noAutofit/>
          </a:bodyPr>
          <a:lstStyle/>
          <a:p>
            <a:pPr algn="l">
              <a:spcBef>
                <a:spcPts val="0"/>
              </a:spcBef>
              <a:spcAft>
                <a:spcPts val="400"/>
              </a:spcAft>
            </a:pPr>
            <a:r>
              <a:rPr lang="tr-TR" sz="2500" b="1" i="0">
                <a:solidFill>
                  <a:srgbClr val="2E7D32"/>
                </a:solidFill>
                <a:latin typeface="Calibri"/>
              </a:rPr>
              <a:t>İnsan üzerinde</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Can ve mal kaybı artar</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Yaralanma, korku ve travma</a:t>
            </a:r>
          </a:p>
          <a:p>
            <a:pPr algn="l" marL="310775" indent="-310775">
              <a:spcBef>
                <a:spcPts val="0"/>
              </a:spcBef>
              <a:spcAft>
                <a:spcPts val="0"/>
              </a:spcAft>
            </a:pPr>
            <a:r>
              <a:rPr lang="tr-TR" sz="2500" b="1" i="0">
                <a:solidFill>
                  <a:srgbClr val="2C6696"/>
                </a:solidFill>
                <a:latin typeface="Calibri"/>
              </a:rPr>
              <a:t>•  </a:t>
            </a:r>
            <a:r>
              <a:rPr lang="tr-TR" sz="2500" b="0" i="0">
                <a:solidFill>
                  <a:srgbClr val="262626"/>
                </a:solidFill>
                <a:latin typeface="Calibri"/>
              </a:rPr>
              <a:t>Savunmasız gruplar daha çok etkilenir</a:t>
            </a:r>
          </a:p>
        </p:txBody>
      </p:sp>
      <p:sp>
        <p:nvSpPr>
          <p:cNvPr id="9" name="Rounded Rectangle 8"/>
          <p:cNvSpPr/>
          <p:nvPr/>
        </p:nvSpPr>
        <p:spPr>
          <a:xfrm>
            <a:off x="6210147" y="1216152"/>
            <a:ext cx="5478627" cy="352044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352044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3410712"/>
          </a:xfrm>
          <a:prstGeom prst="rect">
            <a:avLst/>
          </a:prstGeom>
          <a:noFill/>
        </p:spPr>
        <p:txBody>
          <a:bodyPr wrap="square" anchor="ctr" lIns="73152" rIns="73152" tIns="36576" bIns="36576">
            <a:noAutofit/>
          </a:bodyPr>
          <a:lstStyle/>
          <a:p>
            <a:pPr algn="l">
              <a:spcBef>
                <a:spcPts val="0"/>
              </a:spcBef>
              <a:spcAft>
                <a:spcPts val="400"/>
              </a:spcAft>
            </a:pPr>
            <a:r>
              <a:rPr lang="tr-TR" sz="2500" b="1" i="0">
                <a:solidFill>
                  <a:srgbClr val="2E7D32"/>
                </a:solidFill>
                <a:latin typeface="Calibri"/>
              </a:rPr>
              <a:t>Toplum üzerinde</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Yardım geç ve düzensiz ulaşır</a:t>
            </a:r>
          </a:p>
          <a:p>
            <a:pPr algn="l" marL="310775" indent="-310775">
              <a:spcBef>
                <a:spcPts val="0"/>
              </a:spcBef>
              <a:spcAft>
                <a:spcPts val="500"/>
              </a:spcAft>
            </a:pPr>
            <a:r>
              <a:rPr lang="tr-TR" sz="2500" b="1" i="0">
                <a:solidFill>
                  <a:srgbClr val="2C6696"/>
                </a:solidFill>
                <a:latin typeface="Calibri"/>
              </a:rPr>
              <a:t>•  </a:t>
            </a:r>
            <a:r>
              <a:rPr lang="tr-TR" sz="2500" b="0" i="0">
                <a:solidFill>
                  <a:srgbClr val="262626"/>
                </a:solidFill>
                <a:latin typeface="Calibri"/>
              </a:rPr>
              <a:t>Okul, iş ve ulaşım uzun süre durur</a:t>
            </a:r>
          </a:p>
          <a:p>
            <a:pPr algn="l" marL="310775" indent="-310775">
              <a:spcBef>
                <a:spcPts val="0"/>
              </a:spcBef>
              <a:spcAft>
                <a:spcPts val="0"/>
              </a:spcAft>
            </a:pPr>
            <a:r>
              <a:rPr lang="tr-TR" sz="2500" b="1" i="0">
                <a:solidFill>
                  <a:srgbClr val="2C6696"/>
                </a:solidFill>
                <a:latin typeface="Calibri"/>
              </a:rPr>
              <a:t>•  </a:t>
            </a:r>
            <a:r>
              <a:rPr lang="tr-TR" sz="2500" b="0" i="0">
                <a:solidFill>
                  <a:srgbClr val="262626"/>
                </a:solidFill>
                <a:latin typeface="Calibri"/>
              </a:rPr>
              <a:t>Hayat geç normale döner; güven zayıflar</a:t>
            </a:r>
          </a:p>
        </p:txBody>
      </p:sp>
      <p:sp>
        <p:nvSpPr>
          <p:cNvPr id="12" name="Rounded Rectangle 11"/>
          <p:cNvSpPr/>
          <p:nvPr/>
        </p:nvSpPr>
        <p:spPr>
          <a:xfrm>
            <a:off x="502920" y="4873752"/>
            <a:ext cx="11185855" cy="137160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000" b="0" i="1">
                <a:solidFill>
                  <a:srgbClr val="262626"/>
                </a:solidFill>
                <a:latin typeface="Calibri"/>
              </a:rPr>
              <a:t>“Düşünüyorum ki hazırlık yapılmazsa bir tehlike kolayca afete dönüşür.”</a:t>
            </a:r>
          </a:p>
          <a:p>
            <a:pPr algn="l">
              <a:spcBef>
                <a:spcPts val="0"/>
              </a:spcBef>
              <a:spcAft>
                <a:spcPts val="0"/>
              </a:spcAft>
            </a:pPr>
            <a:r>
              <a:rPr lang="tr-TR" sz="2000" b="0" i="1">
                <a:solidFill>
                  <a:srgbClr val="262626"/>
                </a:solidFill>
                <a:latin typeface="Calibri"/>
              </a:rPr>
              <a:t>“Hissediyorum ki endişeliyim; bu yüzden aile afet planımızı tamamlamak istiyorum.”</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203-204</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192 / 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Performans görevi: Deprem Senaryosu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PERFORMANS GÖREVİ</a:t>
            </a:r>
          </a:p>
        </p:txBody>
      </p:sp>
      <p:sp>
        <p:nvSpPr>
          <p:cNvPr id="6" name="TextBox 5"/>
          <p:cNvSpPr txBox="1"/>
          <p:nvPr/>
        </p:nvSpPr>
        <p:spPr>
          <a:xfrm>
            <a:off x="502920" y="1170432"/>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767676"/>
                </a:solidFill>
                <a:latin typeface="Calibri"/>
              </a:rPr>
              <a:t>Beceri:</a:t>
            </a:r>
            <a:r>
              <a:rPr lang="tr-TR" sz="1700" b="0" i="0">
                <a:solidFill>
                  <a:srgbClr val="767676"/>
                </a:solidFill>
                <a:latin typeface="Calibri"/>
              </a:rPr>
              <a:t> Tablo, Grafik, Şekil ve/veya Diyagram</a:t>
            </a:r>
          </a:p>
        </p:txBody>
      </p:sp>
      <p:sp>
        <p:nvSpPr>
          <p:cNvPr id="7" name="Rounded Rectangle 6"/>
          <p:cNvSpPr/>
          <p:nvPr/>
        </p:nvSpPr>
        <p:spPr>
          <a:xfrm>
            <a:off x="502920" y="1600200"/>
            <a:ext cx="11185855" cy="868680"/>
          </a:xfrm>
          <a:prstGeom prst="roundRect">
            <a:avLst>
              <a:gd name="adj" fmla="val 8000"/>
            </a:avLst>
          </a:prstGeom>
          <a:solidFill>
            <a:srgbClr val="F0F0F0"/>
          </a:solidFill>
          <a:ln>
            <a:noFill/>
          </a:ln>
          <a:effectLst/>
        </p:spPr>
        <p:txBody>
          <a:bodyPr rtlCol="0" anchor="ctr"/>
          <a:lstStyle/>
          <a:p/>
        </p:txBody>
      </p:sp>
      <p:sp>
        <p:nvSpPr>
          <p:cNvPr id="8" name="Rectangle 7"/>
          <p:cNvSpPr/>
          <p:nvPr/>
        </p:nvSpPr>
        <p:spPr>
          <a:xfrm>
            <a:off x="502920" y="1600200"/>
            <a:ext cx="118872" cy="868680"/>
          </a:xfrm>
          <a:prstGeom prst="rect">
            <a:avLst/>
          </a:prstGeom>
          <a:solidFill>
            <a:srgbClr val="1E7B6E"/>
          </a:solidFill>
          <a:ln>
            <a:noFill/>
          </a:ln>
          <a:effectLst/>
        </p:spPr>
        <p:txBody>
          <a:bodyPr rtlCol="0" anchor="ctr"/>
          <a:lstStyle/>
          <a:p/>
        </p:txBody>
      </p:sp>
      <p:sp>
        <p:nvSpPr>
          <p:cNvPr id="9" name="TextBox 8"/>
          <p:cNvSpPr txBox="1"/>
          <p:nvPr/>
        </p:nvSpPr>
        <p:spPr>
          <a:xfrm>
            <a:off x="777240" y="1600200"/>
            <a:ext cx="10774375" cy="86868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Aşağıda verilen senaryo üzerinden bütüncül afet yönetimine ilişkin önerilerinizi içeren bir sunum hazırlayınız.</a:t>
            </a:r>
          </a:p>
        </p:txBody>
      </p:sp>
      <p:sp>
        <p:nvSpPr>
          <p:cNvPr id="10" name="TextBox 9"/>
          <p:cNvSpPr txBox="1"/>
          <p:nvPr/>
        </p:nvSpPr>
        <p:spPr>
          <a:xfrm>
            <a:off x="502920" y="2542032"/>
            <a:ext cx="11185855" cy="41148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Yönerge:</a:t>
            </a:r>
            <a:r>
              <a:rPr lang="tr-TR" sz="1800" b="0" i="0">
                <a:solidFill>
                  <a:srgbClr val="262626"/>
                </a:solidFill>
                <a:latin typeface="Calibri"/>
              </a:rPr>
              <a:t> Metin ve tablodan yararlanarak sizden istenen aşağıdaki adımları grup çalışmasıyla uygulayınız.</a:t>
            </a:r>
          </a:p>
        </p:txBody>
      </p:sp>
      <p:sp>
        <p:nvSpPr>
          <p:cNvPr id="11" name="Rounded Rectangle 10"/>
          <p:cNvSpPr/>
          <p:nvPr/>
        </p:nvSpPr>
        <p:spPr>
          <a:xfrm>
            <a:off x="502920" y="2999232"/>
            <a:ext cx="11185855" cy="617220"/>
          </a:xfrm>
          <a:prstGeom prst="roundRect">
            <a:avLst>
              <a:gd name="adj" fmla="val 8000"/>
            </a:avLst>
          </a:prstGeom>
          <a:solidFill>
            <a:srgbClr val="F0F0F0"/>
          </a:solidFill>
          <a:ln>
            <a:noFill/>
          </a:ln>
          <a:effectLst/>
        </p:spPr>
        <p:txBody>
          <a:bodyPr rtlCol="0" anchor="ctr"/>
          <a:lstStyle/>
          <a:p/>
        </p:txBody>
      </p:sp>
      <p:sp>
        <p:nvSpPr>
          <p:cNvPr id="12" name="Rounded Rectangle 11"/>
          <p:cNvSpPr/>
          <p:nvPr/>
        </p:nvSpPr>
        <p:spPr>
          <a:xfrm>
            <a:off x="502920" y="2999232"/>
            <a:ext cx="1600200" cy="617220"/>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13" name="TextBox 12"/>
          <p:cNvSpPr txBox="1"/>
          <p:nvPr/>
        </p:nvSpPr>
        <p:spPr>
          <a:xfrm>
            <a:off x="2240280" y="2999232"/>
            <a:ext cx="8122615" cy="61722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Aşağıda verilen deprem senaryosunu inceleyiniz.</a:t>
            </a:r>
          </a:p>
        </p:txBody>
      </p:sp>
      <p:sp>
        <p:nvSpPr>
          <p:cNvPr id="14" name="Rounded Rectangle 13"/>
          <p:cNvSpPr/>
          <p:nvPr/>
        </p:nvSpPr>
        <p:spPr>
          <a:xfrm>
            <a:off x="10545775" y="3044952"/>
            <a:ext cx="1005840" cy="52578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5 dk</a:t>
            </a:r>
          </a:p>
        </p:txBody>
      </p:sp>
      <p:sp>
        <p:nvSpPr>
          <p:cNvPr id="15" name="Rounded Rectangle 14"/>
          <p:cNvSpPr/>
          <p:nvPr/>
        </p:nvSpPr>
        <p:spPr>
          <a:xfrm>
            <a:off x="502920" y="3698748"/>
            <a:ext cx="11185855" cy="617220"/>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3698748"/>
            <a:ext cx="1600200" cy="617220"/>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17" name="TextBox 16"/>
          <p:cNvSpPr txBox="1"/>
          <p:nvPr/>
        </p:nvSpPr>
        <p:spPr>
          <a:xfrm>
            <a:off x="2240280" y="3698748"/>
            <a:ext cx="8122615" cy="61722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Bütüncül afet yönetimine ilişkin öneriler oluşturunuz.</a:t>
            </a:r>
          </a:p>
        </p:txBody>
      </p:sp>
      <p:sp>
        <p:nvSpPr>
          <p:cNvPr id="18" name="Rounded Rectangle 17"/>
          <p:cNvSpPr/>
          <p:nvPr/>
        </p:nvSpPr>
        <p:spPr>
          <a:xfrm>
            <a:off x="10545775" y="3744468"/>
            <a:ext cx="1005840" cy="52578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7 dk</a:t>
            </a:r>
          </a:p>
        </p:txBody>
      </p:sp>
      <p:sp>
        <p:nvSpPr>
          <p:cNvPr id="19" name="Rounded Rectangle 18"/>
          <p:cNvSpPr/>
          <p:nvPr/>
        </p:nvSpPr>
        <p:spPr>
          <a:xfrm>
            <a:off x="502920" y="4398264"/>
            <a:ext cx="11185855" cy="617220"/>
          </a:xfrm>
          <a:prstGeom prst="roundRect">
            <a:avLst>
              <a:gd name="adj" fmla="val 8000"/>
            </a:avLst>
          </a:prstGeom>
          <a:solidFill>
            <a:srgbClr val="F0F0F0"/>
          </a:solidFill>
          <a:ln>
            <a:noFill/>
          </a:ln>
          <a:effectLst/>
        </p:spPr>
        <p:txBody>
          <a:bodyPr rtlCol="0" anchor="ctr"/>
          <a:lstStyle/>
          <a:p/>
        </p:txBody>
      </p:sp>
      <p:sp>
        <p:nvSpPr>
          <p:cNvPr id="20" name="Rounded Rectangle 19"/>
          <p:cNvSpPr/>
          <p:nvPr/>
        </p:nvSpPr>
        <p:spPr>
          <a:xfrm>
            <a:off x="502920" y="4398264"/>
            <a:ext cx="1600200" cy="617220"/>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Adım</a:t>
            </a:r>
          </a:p>
        </p:txBody>
      </p:sp>
      <p:sp>
        <p:nvSpPr>
          <p:cNvPr id="21" name="TextBox 20"/>
          <p:cNvSpPr txBox="1"/>
          <p:nvPr/>
        </p:nvSpPr>
        <p:spPr>
          <a:xfrm>
            <a:off x="2240280" y="4398264"/>
            <a:ext cx="8122615" cy="617220"/>
          </a:xfrm>
          <a:prstGeom prst="rect">
            <a:avLst/>
          </a:prstGeom>
          <a:noFill/>
        </p:spPr>
        <p:txBody>
          <a:bodyPr wrap="square" anchor="ctr" lIns="73152" rIns="73152" tIns="36576" bIns="36576">
            <a:noAutofit/>
          </a:bodyPr>
          <a:lstStyle/>
          <a:p>
            <a:pPr algn="l">
              <a:spcBef>
                <a:spcPts val="0"/>
              </a:spcBef>
              <a:spcAft>
                <a:spcPts val="0"/>
              </a:spcAft>
            </a:pPr>
            <a:r>
              <a:rPr lang="tr-TR" sz="1750" b="0" i="0">
                <a:solidFill>
                  <a:srgbClr val="262626"/>
                </a:solidFill>
                <a:latin typeface="Calibri"/>
              </a:rPr>
              <a:t>Önerilerinizi amaca uygun coğrafi temsillerle (harita, tablo, grafik, şekil, diyagram vb.) zenginleştiriniz.</a:t>
            </a:r>
          </a:p>
        </p:txBody>
      </p:sp>
      <p:sp>
        <p:nvSpPr>
          <p:cNvPr id="22" name="Rounded Rectangle 21"/>
          <p:cNvSpPr/>
          <p:nvPr/>
        </p:nvSpPr>
        <p:spPr>
          <a:xfrm>
            <a:off x="10545775" y="4443984"/>
            <a:ext cx="1005840" cy="52578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5 dk</a:t>
            </a:r>
          </a:p>
        </p:txBody>
      </p:sp>
      <p:sp>
        <p:nvSpPr>
          <p:cNvPr id="23" name="Rounded Rectangle 22"/>
          <p:cNvSpPr/>
          <p:nvPr/>
        </p:nvSpPr>
        <p:spPr>
          <a:xfrm>
            <a:off x="502920" y="5097780"/>
            <a:ext cx="11185855" cy="617220"/>
          </a:xfrm>
          <a:prstGeom prst="roundRect">
            <a:avLst>
              <a:gd name="adj" fmla="val 8000"/>
            </a:avLst>
          </a:prstGeom>
          <a:solidFill>
            <a:srgbClr val="F0F0F0"/>
          </a:solidFill>
          <a:ln>
            <a:noFill/>
          </a:ln>
          <a:effectLst/>
        </p:spPr>
        <p:txBody>
          <a:bodyPr rtlCol="0" anchor="ctr"/>
          <a:lstStyle/>
          <a:p/>
        </p:txBody>
      </p:sp>
      <p:sp>
        <p:nvSpPr>
          <p:cNvPr id="24" name="Rounded Rectangle 23"/>
          <p:cNvSpPr/>
          <p:nvPr/>
        </p:nvSpPr>
        <p:spPr>
          <a:xfrm>
            <a:off x="502920" y="5097780"/>
            <a:ext cx="1600200" cy="617220"/>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Adım</a:t>
            </a:r>
          </a:p>
        </p:txBody>
      </p:sp>
      <p:sp>
        <p:nvSpPr>
          <p:cNvPr id="25" name="TextBox 24"/>
          <p:cNvSpPr txBox="1"/>
          <p:nvPr/>
        </p:nvSpPr>
        <p:spPr>
          <a:xfrm>
            <a:off x="2240280" y="5097780"/>
            <a:ext cx="8122615" cy="61722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Çalışmanızı sunum hâline getirerek sınıfta paylaşınız.</a:t>
            </a:r>
          </a:p>
        </p:txBody>
      </p:sp>
      <p:sp>
        <p:nvSpPr>
          <p:cNvPr id="26" name="Rounded Rectangle 25"/>
          <p:cNvSpPr/>
          <p:nvPr/>
        </p:nvSpPr>
        <p:spPr>
          <a:xfrm>
            <a:off x="10545775" y="5143500"/>
            <a:ext cx="1005840" cy="52578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7 dk</a:t>
            </a:r>
          </a:p>
        </p:txBody>
      </p:sp>
      <p:sp>
        <p:nvSpPr>
          <p:cNvPr id="27" name="Rounded Rectangle 26"/>
          <p:cNvSpPr/>
          <p:nvPr/>
        </p:nvSpPr>
        <p:spPr>
          <a:xfrm>
            <a:off x="502920" y="5788152"/>
            <a:ext cx="11185855" cy="5029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6 grup · bugün sınıfta</a:t>
            </a:r>
            <a:r>
              <a:rPr lang="tr-TR" sz="1900" b="0" i="0">
                <a:solidFill>
                  <a:srgbClr val="262626"/>
                </a:solidFill>
                <a:latin typeface="Calibri"/>
              </a:rPr>
              <a:t> · A3 tablo ve sunum kâğıdı okuldan</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193 / 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Deprem senaryosu nedir?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ADIM</a:t>
            </a:r>
          </a:p>
        </p:txBody>
      </p:sp>
      <p:sp>
        <p:nvSpPr>
          <p:cNvPr id="6" name="Rounded Rectangle 5"/>
          <p:cNvSpPr/>
          <p:nvPr/>
        </p:nvSpPr>
        <p:spPr>
          <a:xfrm>
            <a:off x="502920" y="1216152"/>
            <a:ext cx="6949440" cy="244602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2446020"/>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6537960" cy="24460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Deprem senaryoları; önceki deprem verilerinden de yararlanılarak zarar azaltma çalışmaları, deprem sonrası olası etkileri tahmin etme, kapasite artırımı ve yönetimsel kararların alınmasına temel oluşturabilmektedir.</a:t>
            </a:r>
          </a:p>
        </p:txBody>
      </p:sp>
      <p:sp>
        <p:nvSpPr>
          <p:cNvPr id="9" name="Rounded Rectangle 8"/>
          <p:cNvSpPr/>
          <p:nvPr/>
        </p:nvSpPr>
        <p:spPr>
          <a:xfrm>
            <a:off x="502920" y="3799332"/>
            <a:ext cx="6949440" cy="244602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799332"/>
            <a:ext cx="118872" cy="2446020"/>
          </a:xfrm>
          <a:prstGeom prst="rect">
            <a:avLst/>
          </a:prstGeom>
          <a:solidFill>
            <a:srgbClr val="1E7B6E"/>
          </a:solidFill>
          <a:ln>
            <a:noFill/>
          </a:ln>
          <a:effectLst/>
        </p:spPr>
        <p:txBody>
          <a:bodyPr rtlCol="0" anchor="ctr"/>
          <a:lstStyle/>
          <a:p/>
        </p:txBody>
      </p:sp>
      <p:sp>
        <p:nvSpPr>
          <p:cNvPr id="11" name="TextBox 10"/>
          <p:cNvSpPr txBox="1"/>
          <p:nvPr/>
        </p:nvSpPr>
        <p:spPr>
          <a:xfrm>
            <a:off x="777240" y="3799332"/>
            <a:ext cx="6537960" cy="24460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Aşağıdaki tabloda bir yerde 7,5 büyüklüğünde bir deprem meydana gelmesi durumunda mahallelerdeki nüfus ve hane verilerine göre karşılaşılabilecek muhtemel sonuçlara yer verilmiştir.</a:t>
            </a:r>
          </a:p>
        </p:txBody>
      </p:sp>
      <p:sp>
        <p:nvSpPr>
          <p:cNvPr id="12" name="Rounded Rectangle 11"/>
          <p:cNvSpPr/>
          <p:nvPr/>
        </p:nvSpPr>
        <p:spPr>
          <a:xfrm>
            <a:off x="7680960" y="1216152"/>
            <a:ext cx="4007815" cy="1234440"/>
          </a:xfrm>
          <a:prstGeom prst="roundRect">
            <a:avLst>
              <a:gd name="adj" fmla="val 8000"/>
            </a:avLst>
          </a:prstGeom>
          <a:solidFill>
            <a:srgbClr val="4F4F4F"/>
          </a:solidFill>
          <a:ln>
            <a:noFill/>
          </a:ln>
          <a:effectLst/>
        </p:spPr>
        <p:txBody>
          <a:bodyPr rtlCol="0" anchor="ctr" wrap="square" lIns="128016" rIns="128016" tIns="73152" bIns="73152">
            <a:noAutofit/>
          </a:bodyPr>
          <a:lstStyle/>
          <a:p>
            <a:pPr algn="l">
              <a:spcBef>
                <a:spcPts val="0"/>
              </a:spcBef>
              <a:spcAft>
                <a:spcPts val="200"/>
              </a:spcAft>
            </a:pPr>
            <a:r>
              <a:rPr lang="tr-TR" sz="2400" b="1" i="0">
                <a:solidFill>
                  <a:srgbClr val="FFFFFF"/>
                </a:solidFill>
                <a:latin typeface="Calibri"/>
              </a:rPr>
              <a:t>Büyüklük: 7,5</a:t>
            </a:r>
          </a:p>
          <a:p>
            <a:pPr algn="l">
              <a:spcBef>
                <a:spcPts val="0"/>
              </a:spcBef>
              <a:spcAft>
                <a:spcPts val="0"/>
              </a:spcAft>
            </a:pPr>
            <a:r>
              <a:rPr lang="tr-TR" sz="1700" b="0" i="0">
                <a:solidFill>
                  <a:srgbClr val="FFFFFF"/>
                </a:solidFill>
                <a:latin typeface="Calibri"/>
              </a:rPr>
              <a:t>depremin kendisi · tek değer</a:t>
            </a:r>
          </a:p>
        </p:txBody>
      </p:sp>
      <p:sp>
        <p:nvSpPr>
          <p:cNvPr id="13" name="Rounded Rectangle 12"/>
          <p:cNvSpPr/>
          <p:nvPr/>
        </p:nvSpPr>
        <p:spPr>
          <a:xfrm>
            <a:off x="7680960" y="2587752"/>
            <a:ext cx="4007815" cy="1508760"/>
          </a:xfrm>
          <a:prstGeom prst="roundRect">
            <a:avLst>
              <a:gd name="adj" fmla="val 8000"/>
            </a:avLst>
          </a:prstGeom>
          <a:solidFill>
            <a:srgbClr val="A82E2E"/>
          </a:solidFill>
          <a:ln>
            <a:noFill/>
          </a:ln>
          <a:effectLst/>
        </p:spPr>
        <p:txBody>
          <a:bodyPr rtlCol="0" anchor="ctr" wrap="square" lIns="128016" rIns="128016" tIns="73152" bIns="73152">
            <a:noAutofit/>
          </a:bodyPr>
          <a:lstStyle/>
          <a:p>
            <a:pPr algn="l">
              <a:spcBef>
                <a:spcPts val="0"/>
              </a:spcBef>
              <a:spcAft>
                <a:spcPts val="200"/>
              </a:spcAft>
            </a:pPr>
            <a:r>
              <a:rPr lang="tr-TR" sz="2400" b="1" i="0">
                <a:solidFill>
                  <a:srgbClr val="FFFFFF"/>
                </a:solidFill>
                <a:latin typeface="Calibri"/>
              </a:rPr>
              <a:t>Şiddet: VI · VII · VIII · IX</a:t>
            </a:r>
          </a:p>
          <a:p>
            <a:pPr algn="l">
              <a:spcBef>
                <a:spcPts val="0"/>
              </a:spcBef>
              <a:spcAft>
                <a:spcPts val="0"/>
              </a:spcAft>
            </a:pPr>
            <a:r>
              <a:rPr lang="tr-TR" sz="1700" b="0" i="0">
                <a:solidFill>
                  <a:srgbClr val="FFFFFF"/>
                </a:solidFill>
                <a:latin typeface="Calibri"/>
              </a:rPr>
              <a:t>her mahallenin depremde etkilenebileceği şiddet değeri</a:t>
            </a:r>
          </a:p>
        </p:txBody>
      </p:sp>
      <p:sp>
        <p:nvSpPr>
          <p:cNvPr id="14" name="TextBox 13"/>
          <p:cNvSpPr txBox="1"/>
          <p:nvPr/>
        </p:nvSpPr>
        <p:spPr>
          <a:xfrm>
            <a:off x="7680960" y="4233672"/>
            <a:ext cx="400781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1E7B6E"/>
                </a:solidFill>
                <a:latin typeface="Calibri"/>
              </a:rPr>
              <a:t>Tabloda neler var?</a:t>
            </a:r>
          </a:p>
        </p:txBody>
      </p:sp>
      <p:sp>
        <p:nvSpPr>
          <p:cNvPr id="15" name="Rounded Rectangle 14"/>
          <p:cNvSpPr/>
          <p:nvPr/>
        </p:nvSpPr>
        <p:spPr>
          <a:xfrm>
            <a:off x="7680960" y="4690872"/>
            <a:ext cx="861194"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nüfus</a:t>
            </a:r>
          </a:p>
        </p:txBody>
      </p:sp>
      <p:sp>
        <p:nvSpPr>
          <p:cNvPr id="16" name="Rounded Rectangle 15"/>
          <p:cNvSpPr/>
          <p:nvPr/>
        </p:nvSpPr>
        <p:spPr>
          <a:xfrm>
            <a:off x="8651882" y="4690872"/>
            <a:ext cx="875123"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konut</a:t>
            </a:r>
          </a:p>
        </p:txBody>
      </p:sp>
      <p:sp>
        <p:nvSpPr>
          <p:cNvPr id="17" name="Rounded Rectangle 16"/>
          <p:cNvSpPr/>
          <p:nvPr/>
        </p:nvSpPr>
        <p:spPr>
          <a:xfrm>
            <a:off x="9636733" y="4690872"/>
            <a:ext cx="849995"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hasar</a:t>
            </a:r>
          </a:p>
        </p:txBody>
      </p:sp>
      <p:sp>
        <p:nvSpPr>
          <p:cNvPr id="18" name="Rounded Rectangle 17"/>
          <p:cNvSpPr/>
          <p:nvPr/>
        </p:nvSpPr>
        <p:spPr>
          <a:xfrm>
            <a:off x="7680960" y="5202936"/>
            <a:ext cx="1196469"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can kaybı</a:t>
            </a:r>
          </a:p>
        </p:txBody>
      </p:sp>
      <p:sp>
        <p:nvSpPr>
          <p:cNvPr id="19" name="Rounded Rectangle 18"/>
          <p:cNvSpPr/>
          <p:nvPr/>
        </p:nvSpPr>
        <p:spPr>
          <a:xfrm>
            <a:off x="8987157" y="5202936"/>
            <a:ext cx="840816"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yaralı</a:t>
            </a:r>
          </a:p>
        </p:txBody>
      </p:sp>
      <p:sp>
        <p:nvSpPr>
          <p:cNvPr id="20" name="Rounded Rectangle 19"/>
          <p:cNvSpPr/>
          <p:nvPr/>
        </p:nvSpPr>
        <p:spPr>
          <a:xfrm>
            <a:off x="9937701" y="5202936"/>
            <a:ext cx="910706"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tedavi</a:t>
            </a:r>
          </a:p>
        </p:txBody>
      </p:sp>
      <p:sp>
        <p:nvSpPr>
          <p:cNvPr id="21" name="Rounded Rectangle 20"/>
          <p:cNvSpPr/>
          <p:nvPr/>
        </p:nvSpPr>
        <p:spPr>
          <a:xfrm>
            <a:off x="7680960" y="5715000"/>
            <a:ext cx="798711"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çadır</a:t>
            </a:r>
          </a:p>
        </p:txBody>
      </p:sp>
      <p:sp>
        <p:nvSpPr>
          <p:cNvPr id="22" name="Rounded Rectangle 21"/>
          <p:cNvSpPr/>
          <p:nvPr/>
        </p:nvSpPr>
        <p:spPr>
          <a:xfrm>
            <a:off x="8589399" y="5715000"/>
            <a:ext cx="1425314" cy="420624"/>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1650" b="0" i="0">
                <a:solidFill>
                  <a:srgbClr val="262626"/>
                </a:solidFill>
                <a:latin typeface="Calibri"/>
              </a:rPr>
              <a:t>açıkta kalan</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194 / 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Deprem senaryosu tablosu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ADIM</a:t>
            </a:r>
          </a:p>
        </p:txBody>
      </p:sp>
      <p:sp>
        <p:nvSpPr>
          <p:cNvPr id="6" name="TextBox 5"/>
          <p:cNvSpPr txBox="1"/>
          <p:nvPr/>
        </p:nvSpPr>
        <p:spPr>
          <a:xfrm>
            <a:off x="502920" y="1170432"/>
            <a:ext cx="11185855" cy="34747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1E7B6E"/>
                </a:solidFill>
                <a:latin typeface="Calibri"/>
              </a:rPr>
              <a:t>7,5 büyüklüğünde bir deprem senaryosu · dokuz mahalle</a:t>
            </a:r>
          </a:p>
        </p:txBody>
      </p:sp>
      <p:sp>
        <p:nvSpPr>
          <p:cNvPr id="7" name="Rectangle 6"/>
          <p:cNvSpPr/>
          <p:nvPr/>
        </p:nvSpPr>
        <p:spPr>
          <a:xfrm>
            <a:off x="502920" y="1581912"/>
            <a:ext cx="1243584"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Mahalle Adı</a:t>
            </a:r>
          </a:p>
        </p:txBody>
      </p:sp>
      <p:sp>
        <p:nvSpPr>
          <p:cNvPr id="8" name="Rectangle 7"/>
          <p:cNvSpPr/>
          <p:nvPr/>
        </p:nvSpPr>
        <p:spPr>
          <a:xfrm>
            <a:off x="1746504" y="1581912"/>
            <a:ext cx="713232"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Şiddet</a:t>
            </a:r>
          </a:p>
        </p:txBody>
      </p:sp>
      <p:sp>
        <p:nvSpPr>
          <p:cNvPr id="9" name="Rectangle 8"/>
          <p:cNvSpPr/>
          <p:nvPr/>
        </p:nvSpPr>
        <p:spPr>
          <a:xfrm>
            <a:off x="2459736" y="1581912"/>
            <a:ext cx="868680"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Nüfus</a:t>
            </a:r>
          </a:p>
        </p:txBody>
      </p:sp>
      <p:sp>
        <p:nvSpPr>
          <p:cNvPr id="10" name="Rectangle 9"/>
          <p:cNvSpPr/>
          <p:nvPr/>
        </p:nvSpPr>
        <p:spPr>
          <a:xfrm>
            <a:off x="3328416" y="1581912"/>
            <a:ext cx="868680"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Konut Sayısı</a:t>
            </a:r>
          </a:p>
        </p:txBody>
      </p:sp>
      <p:sp>
        <p:nvSpPr>
          <p:cNvPr id="11" name="Rectangle 10"/>
          <p:cNvSpPr/>
          <p:nvPr/>
        </p:nvSpPr>
        <p:spPr>
          <a:xfrm>
            <a:off x="4197096" y="1947672"/>
            <a:ext cx="731520" cy="32918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Ağır</a:t>
            </a:r>
          </a:p>
        </p:txBody>
      </p:sp>
      <p:sp>
        <p:nvSpPr>
          <p:cNvPr id="12" name="Rectangle 11"/>
          <p:cNvSpPr/>
          <p:nvPr/>
        </p:nvSpPr>
        <p:spPr>
          <a:xfrm>
            <a:off x="4928616" y="1947672"/>
            <a:ext cx="731520" cy="32918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Orta</a:t>
            </a:r>
          </a:p>
        </p:txBody>
      </p:sp>
      <p:sp>
        <p:nvSpPr>
          <p:cNvPr id="13" name="Rectangle 12"/>
          <p:cNvSpPr/>
          <p:nvPr/>
        </p:nvSpPr>
        <p:spPr>
          <a:xfrm>
            <a:off x="5660136" y="1947672"/>
            <a:ext cx="731520" cy="32918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Hafif</a:t>
            </a:r>
          </a:p>
        </p:txBody>
      </p:sp>
      <p:sp>
        <p:nvSpPr>
          <p:cNvPr id="14" name="Rectangle 13"/>
          <p:cNvSpPr/>
          <p:nvPr/>
        </p:nvSpPr>
        <p:spPr>
          <a:xfrm>
            <a:off x="6391656" y="1581912"/>
            <a:ext cx="777240"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Can Kaybı</a:t>
            </a:r>
          </a:p>
        </p:txBody>
      </p:sp>
      <p:sp>
        <p:nvSpPr>
          <p:cNvPr id="15" name="Rectangle 14"/>
          <p:cNvSpPr/>
          <p:nvPr/>
        </p:nvSpPr>
        <p:spPr>
          <a:xfrm>
            <a:off x="7168896" y="1581912"/>
            <a:ext cx="841248"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Yaralı Sayısı</a:t>
            </a:r>
          </a:p>
        </p:txBody>
      </p:sp>
      <p:sp>
        <p:nvSpPr>
          <p:cNvPr id="16" name="Rectangle 15"/>
          <p:cNvSpPr/>
          <p:nvPr/>
        </p:nvSpPr>
        <p:spPr>
          <a:xfrm>
            <a:off x="8010144" y="1581912"/>
            <a:ext cx="841248"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Yataklı Tedavi</a:t>
            </a:r>
          </a:p>
        </p:txBody>
      </p:sp>
      <p:sp>
        <p:nvSpPr>
          <p:cNvPr id="17" name="Rectangle 16"/>
          <p:cNvSpPr/>
          <p:nvPr/>
        </p:nvSpPr>
        <p:spPr>
          <a:xfrm>
            <a:off x="8851392" y="1581912"/>
            <a:ext cx="841248"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Ayakta Tedavi</a:t>
            </a:r>
          </a:p>
        </p:txBody>
      </p:sp>
      <p:sp>
        <p:nvSpPr>
          <p:cNvPr id="18" name="Rectangle 17"/>
          <p:cNvSpPr/>
          <p:nvPr/>
        </p:nvSpPr>
        <p:spPr>
          <a:xfrm>
            <a:off x="9692640" y="1581912"/>
            <a:ext cx="868680"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Çadır İhtiyacı</a:t>
            </a:r>
          </a:p>
        </p:txBody>
      </p:sp>
      <p:sp>
        <p:nvSpPr>
          <p:cNvPr id="19" name="Rectangle 18"/>
          <p:cNvSpPr/>
          <p:nvPr/>
        </p:nvSpPr>
        <p:spPr>
          <a:xfrm>
            <a:off x="10561320" y="1581912"/>
            <a:ext cx="1106424" cy="694944"/>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Açıkta Kalan İnsan Sayısı</a:t>
            </a:r>
          </a:p>
        </p:txBody>
      </p:sp>
      <p:sp>
        <p:nvSpPr>
          <p:cNvPr id="20" name="Rectangle 19"/>
          <p:cNvSpPr/>
          <p:nvPr/>
        </p:nvSpPr>
        <p:spPr>
          <a:xfrm>
            <a:off x="4197096" y="1581912"/>
            <a:ext cx="2194560" cy="365760"/>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300" b="1" i="0">
                <a:solidFill>
                  <a:srgbClr val="FFFFFF"/>
                </a:solidFill>
                <a:latin typeface="Calibri"/>
              </a:rPr>
              <a:t>Hasar Durumu</a:t>
            </a:r>
          </a:p>
        </p:txBody>
      </p:sp>
      <p:sp>
        <p:nvSpPr>
          <p:cNvPr id="21" name="Rectangle 20"/>
          <p:cNvSpPr/>
          <p:nvPr/>
        </p:nvSpPr>
        <p:spPr>
          <a:xfrm>
            <a:off x="502920" y="2276856"/>
            <a:ext cx="124358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1. Mahalle</a:t>
            </a:r>
          </a:p>
        </p:txBody>
      </p:sp>
      <p:sp>
        <p:nvSpPr>
          <p:cNvPr id="22" name="Rectangle 21"/>
          <p:cNvSpPr/>
          <p:nvPr/>
        </p:nvSpPr>
        <p:spPr>
          <a:xfrm>
            <a:off x="1746504" y="2276856"/>
            <a:ext cx="713232"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IX</a:t>
            </a:r>
          </a:p>
        </p:txBody>
      </p:sp>
      <p:sp>
        <p:nvSpPr>
          <p:cNvPr id="23" name="Rectangle 22"/>
          <p:cNvSpPr/>
          <p:nvPr/>
        </p:nvSpPr>
        <p:spPr>
          <a:xfrm>
            <a:off x="2459736" y="227685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3.890</a:t>
            </a:r>
          </a:p>
        </p:txBody>
      </p:sp>
      <p:sp>
        <p:nvSpPr>
          <p:cNvPr id="24" name="Rectangle 23"/>
          <p:cNvSpPr/>
          <p:nvPr/>
        </p:nvSpPr>
        <p:spPr>
          <a:xfrm>
            <a:off x="3328416" y="227685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1.546</a:t>
            </a:r>
          </a:p>
        </p:txBody>
      </p:sp>
      <p:sp>
        <p:nvSpPr>
          <p:cNvPr id="25" name="Rectangle 24"/>
          <p:cNvSpPr/>
          <p:nvPr/>
        </p:nvSpPr>
        <p:spPr>
          <a:xfrm>
            <a:off x="4197096" y="227685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243</a:t>
            </a:r>
          </a:p>
        </p:txBody>
      </p:sp>
      <p:sp>
        <p:nvSpPr>
          <p:cNvPr id="26" name="Rectangle 25"/>
          <p:cNvSpPr/>
          <p:nvPr/>
        </p:nvSpPr>
        <p:spPr>
          <a:xfrm>
            <a:off x="4928616" y="227685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281</a:t>
            </a:r>
          </a:p>
        </p:txBody>
      </p:sp>
      <p:sp>
        <p:nvSpPr>
          <p:cNvPr id="27" name="Rectangle 26"/>
          <p:cNvSpPr/>
          <p:nvPr/>
        </p:nvSpPr>
        <p:spPr>
          <a:xfrm>
            <a:off x="5660136" y="227685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352</a:t>
            </a:r>
          </a:p>
        </p:txBody>
      </p:sp>
      <p:sp>
        <p:nvSpPr>
          <p:cNvPr id="28" name="Rectangle 27"/>
          <p:cNvSpPr/>
          <p:nvPr/>
        </p:nvSpPr>
        <p:spPr>
          <a:xfrm>
            <a:off x="6391656" y="2276856"/>
            <a:ext cx="77724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63</a:t>
            </a:r>
          </a:p>
        </p:txBody>
      </p:sp>
      <p:sp>
        <p:nvSpPr>
          <p:cNvPr id="29" name="Rectangle 28"/>
          <p:cNvSpPr/>
          <p:nvPr/>
        </p:nvSpPr>
        <p:spPr>
          <a:xfrm>
            <a:off x="7168896" y="227685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159</a:t>
            </a:r>
          </a:p>
        </p:txBody>
      </p:sp>
      <p:sp>
        <p:nvSpPr>
          <p:cNvPr id="30" name="Rectangle 29"/>
          <p:cNvSpPr/>
          <p:nvPr/>
        </p:nvSpPr>
        <p:spPr>
          <a:xfrm>
            <a:off x="8010144" y="227685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40</a:t>
            </a:r>
          </a:p>
        </p:txBody>
      </p:sp>
      <p:sp>
        <p:nvSpPr>
          <p:cNvPr id="31" name="Rectangle 30"/>
          <p:cNvSpPr/>
          <p:nvPr/>
        </p:nvSpPr>
        <p:spPr>
          <a:xfrm>
            <a:off x="8851392" y="227685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119</a:t>
            </a:r>
          </a:p>
        </p:txBody>
      </p:sp>
      <p:sp>
        <p:nvSpPr>
          <p:cNvPr id="32" name="Rectangle 31"/>
          <p:cNvSpPr/>
          <p:nvPr/>
        </p:nvSpPr>
        <p:spPr>
          <a:xfrm>
            <a:off x="9692640" y="227685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523</a:t>
            </a:r>
          </a:p>
        </p:txBody>
      </p:sp>
      <p:sp>
        <p:nvSpPr>
          <p:cNvPr id="33" name="Rectangle 32"/>
          <p:cNvSpPr/>
          <p:nvPr/>
        </p:nvSpPr>
        <p:spPr>
          <a:xfrm>
            <a:off x="10561320" y="2276856"/>
            <a:ext cx="110642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2.094</a:t>
            </a:r>
          </a:p>
        </p:txBody>
      </p:sp>
      <p:sp>
        <p:nvSpPr>
          <p:cNvPr id="34" name="Rectangle 33"/>
          <p:cNvSpPr/>
          <p:nvPr/>
        </p:nvSpPr>
        <p:spPr>
          <a:xfrm>
            <a:off x="502920" y="2642616"/>
            <a:ext cx="124358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2. Mahalle</a:t>
            </a:r>
          </a:p>
        </p:txBody>
      </p:sp>
      <p:sp>
        <p:nvSpPr>
          <p:cNvPr id="35" name="Rectangle 34"/>
          <p:cNvSpPr/>
          <p:nvPr/>
        </p:nvSpPr>
        <p:spPr>
          <a:xfrm>
            <a:off x="1746504" y="2642616"/>
            <a:ext cx="713232"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VII</a:t>
            </a:r>
          </a:p>
        </p:txBody>
      </p:sp>
      <p:sp>
        <p:nvSpPr>
          <p:cNvPr id="36" name="Rectangle 35"/>
          <p:cNvSpPr/>
          <p:nvPr/>
        </p:nvSpPr>
        <p:spPr>
          <a:xfrm>
            <a:off x="2459736" y="264261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2.560</a:t>
            </a:r>
          </a:p>
        </p:txBody>
      </p:sp>
      <p:sp>
        <p:nvSpPr>
          <p:cNvPr id="37" name="Rectangle 36"/>
          <p:cNvSpPr/>
          <p:nvPr/>
        </p:nvSpPr>
        <p:spPr>
          <a:xfrm>
            <a:off x="3328416" y="264261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1.652</a:t>
            </a:r>
          </a:p>
        </p:txBody>
      </p:sp>
      <p:sp>
        <p:nvSpPr>
          <p:cNvPr id="38" name="Rectangle 37"/>
          <p:cNvSpPr/>
          <p:nvPr/>
        </p:nvSpPr>
        <p:spPr>
          <a:xfrm>
            <a:off x="4197096" y="264261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a:t>
            </a:r>
          </a:p>
        </p:txBody>
      </p:sp>
      <p:sp>
        <p:nvSpPr>
          <p:cNvPr id="39" name="Rectangle 38"/>
          <p:cNvSpPr/>
          <p:nvPr/>
        </p:nvSpPr>
        <p:spPr>
          <a:xfrm>
            <a:off x="4928616" y="264261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44</a:t>
            </a:r>
          </a:p>
        </p:txBody>
      </p:sp>
      <p:sp>
        <p:nvSpPr>
          <p:cNvPr id="40" name="Rectangle 39"/>
          <p:cNvSpPr/>
          <p:nvPr/>
        </p:nvSpPr>
        <p:spPr>
          <a:xfrm>
            <a:off x="5660136" y="264261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43</a:t>
            </a:r>
          </a:p>
        </p:txBody>
      </p:sp>
      <p:sp>
        <p:nvSpPr>
          <p:cNvPr id="41" name="Rectangle 40"/>
          <p:cNvSpPr/>
          <p:nvPr/>
        </p:nvSpPr>
        <p:spPr>
          <a:xfrm>
            <a:off x="6391656" y="2642616"/>
            <a:ext cx="77724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42" name="Rectangle 41"/>
          <p:cNvSpPr/>
          <p:nvPr/>
        </p:nvSpPr>
        <p:spPr>
          <a:xfrm>
            <a:off x="7168896" y="264261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10</a:t>
            </a:r>
          </a:p>
        </p:txBody>
      </p:sp>
      <p:sp>
        <p:nvSpPr>
          <p:cNvPr id="43" name="Rectangle 42"/>
          <p:cNvSpPr/>
          <p:nvPr/>
        </p:nvSpPr>
        <p:spPr>
          <a:xfrm>
            <a:off x="8010144" y="264261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a:t>
            </a:r>
          </a:p>
        </p:txBody>
      </p:sp>
      <p:sp>
        <p:nvSpPr>
          <p:cNvPr id="44" name="Rectangle 43"/>
          <p:cNvSpPr/>
          <p:nvPr/>
        </p:nvSpPr>
        <p:spPr>
          <a:xfrm>
            <a:off x="8851392" y="264261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7</a:t>
            </a:r>
          </a:p>
        </p:txBody>
      </p:sp>
      <p:sp>
        <p:nvSpPr>
          <p:cNvPr id="45" name="Rectangle 44"/>
          <p:cNvSpPr/>
          <p:nvPr/>
        </p:nvSpPr>
        <p:spPr>
          <a:xfrm>
            <a:off x="9692640" y="264261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59</a:t>
            </a:r>
          </a:p>
        </p:txBody>
      </p:sp>
      <p:sp>
        <p:nvSpPr>
          <p:cNvPr id="46" name="Rectangle 45"/>
          <p:cNvSpPr/>
          <p:nvPr/>
        </p:nvSpPr>
        <p:spPr>
          <a:xfrm>
            <a:off x="10561320" y="2642616"/>
            <a:ext cx="110642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237</a:t>
            </a:r>
          </a:p>
        </p:txBody>
      </p:sp>
      <p:sp>
        <p:nvSpPr>
          <p:cNvPr id="47" name="Rectangle 46"/>
          <p:cNvSpPr/>
          <p:nvPr/>
        </p:nvSpPr>
        <p:spPr>
          <a:xfrm>
            <a:off x="502920" y="3008376"/>
            <a:ext cx="124358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3. Mahalle</a:t>
            </a:r>
          </a:p>
        </p:txBody>
      </p:sp>
      <p:sp>
        <p:nvSpPr>
          <p:cNvPr id="48" name="Rectangle 47"/>
          <p:cNvSpPr/>
          <p:nvPr/>
        </p:nvSpPr>
        <p:spPr>
          <a:xfrm>
            <a:off x="1746504" y="3008376"/>
            <a:ext cx="713232"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a:t>
            </a:r>
          </a:p>
        </p:txBody>
      </p:sp>
      <p:sp>
        <p:nvSpPr>
          <p:cNvPr id="49" name="Rectangle 48"/>
          <p:cNvSpPr/>
          <p:nvPr/>
        </p:nvSpPr>
        <p:spPr>
          <a:xfrm>
            <a:off x="2459736" y="300837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2.424</a:t>
            </a:r>
          </a:p>
        </p:txBody>
      </p:sp>
      <p:sp>
        <p:nvSpPr>
          <p:cNvPr id="50" name="Rectangle 49"/>
          <p:cNvSpPr/>
          <p:nvPr/>
        </p:nvSpPr>
        <p:spPr>
          <a:xfrm>
            <a:off x="3328416" y="300837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1.160</a:t>
            </a:r>
          </a:p>
        </p:txBody>
      </p:sp>
      <p:sp>
        <p:nvSpPr>
          <p:cNvPr id="51" name="Rectangle 50"/>
          <p:cNvSpPr/>
          <p:nvPr/>
        </p:nvSpPr>
        <p:spPr>
          <a:xfrm>
            <a:off x="4197096" y="300837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52" name="Rectangle 51"/>
          <p:cNvSpPr/>
          <p:nvPr/>
        </p:nvSpPr>
        <p:spPr>
          <a:xfrm>
            <a:off x="4928616" y="300837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a:t>
            </a:r>
          </a:p>
        </p:txBody>
      </p:sp>
      <p:sp>
        <p:nvSpPr>
          <p:cNvPr id="53" name="Rectangle 52"/>
          <p:cNvSpPr/>
          <p:nvPr/>
        </p:nvSpPr>
        <p:spPr>
          <a:xfrm>
            <a:off x="5660136" y="300837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a:t>
            </a:r>
          </a:p>
        </p:txBody>
      </p:sp>
      <p:sp>
        <p:nvSpPr>
          <p:cNvPr id="54" name="Rectangle 53"/>
          <p:cNvSpPr/>
          <p:nvPr/>
        </p:nvSpPr>
        <p:spPr>
          <a:xfrm>
            <a:off x="6391656" y="3008376"/>
            <a:ext cx="77724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55" name="Rectangle 54"/>
          <p:cNvSpPr/>
          <p:nvPr/>
        </p:nvSpPr>
        <p:spPr>
          <a:xfrm>
            <a:off x="7168896" y="300837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56" name="Rectangle 55"/>
          <p:cNvSpPr/>
          <p:nvPr/>
        </p:nvSpPr>
        <p:spPr>
          <a:xfrm>
            <a:off x="8010144" y="300837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57" name="Rectangle 56"/>
          <p:cNvSpPr/>
          <p:nvPr/>
        </p:nvSpPr>
        <p:spPr>
          <a:xfrm>
            <a:off x="8851392" y="300837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58" name="Rectangle 57"/>
          <p:cNvSpPr/>
          <p:nvPr/>
        </p:nvSpPr>
        <p:spPr>
          <a:xfrm>
            <a:off x="9692640" y="300837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59" name="Rectangle 58"/>
          <p:cNvSpPr/>
          <p:nvPr/>
        </p:nvSpPr>
        <p:spPr>
          <a:xfrm>
            <a:off x="10561320" y="3008376"/>
            <a:ext cx="110642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16</a:t>
            </a:r>
          </a:p>
        </p:txBody>
      </p:sp>
      <p:sp>
        <p:nvSpPr>
          <p:cNvPr id="60" name="Rectangle 59"/>
          <p:cNvSpPr/>
          <p:nvPr/>
        </p:nvSpPr>
        <p:spPr>
          <a:xfrm>
            <a:off x="502920" y="3374136"/>
            <a:ext cx="124358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4. Mahalle</a:t>
            </a:r>
          </a:p>
        </p:txBody>
      </p:sp>
      <p:sp>
        <p:nvSpPr>
          <p:cNvPr id="61" name="Rectangle 60"/>
          <p:cNvSpPr/>
          <p:nvPr/>
        </p:nvSpPr>
        <p:spPr>
          <a:xfrm>
            <a:off x="1746504" y="3374136"/>
            <a:ext cx="713232"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a:t>
            </a:r>
          </a:p>
        </p:txBody>
      </p:sp>
      <p:sp>
        <p:nvSpPr>
          <p:cNvPr id="62" name="Rectangle 61"/>
          <p:cNvSpPr/>
          <p:nvPr/>
        </p:nvSpPr>
        <p:spPr>
          <a:xfrm>
            <a:off x="2459736" y="337413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2.335</a:t>
            </a:r>
          </a:p>
        </p:txBody>
      </p:sp>
      <p:sp>
        <p:nvSpPr>
          <p:cNvPr id="63" name="Rectangle 62"/>
          <p:cNvSpPr/>
          <p:nvPr/>
        </p:nvSpPr>
        <p:spPr>
          <a:xfrm>
            <a:off x="3328416" y="337413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1.198</a:t>
            </a:r>
          </a:p>
        </p:txBody>
      </p:sp>
      <p:sp>
        <p:nvSpPr>
          <p:cNvPr id="64" name="Rectangle 63"/>
          <p:cNvSpPr/>
          <p:nvPr/>
        </p:nvSpPr>
        <p:spPr>
          <a:xfrm>
            <a:off x="4197096" y="337413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65" name="Rectangle 64"/>
          <p:cNvSpPr/>
          <p:nvPr/>
        </p:nvSpPr>
        <p:spPr>
          <a:xfrm>
            <a:off x="4928616" y="337413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a:t>
            </a:r>
          </a:p>
        </p:txBody>
      </p:sp>
      <p:sp>
        <p:nvSpPr>
          <p:cNvPr id="66" name="Rectangle 65"/>
          <p:cNvSpPr/>
          <p:nvPr/>
        </p:nvSpPr>
        <p:spPr>
          <a:xfrm>
            <a:off x="5660136" y="337413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a:t>
            </a:r>
          </a:p>
        </p:txBody>
      </p:sp>
      <p:sp>
        <p:nvSpPr>
          <p:cNvPr id="67" name="Rectangle 66"/>
          <p:cNvSpPr/>
          <p:nvPr/>
        </p:nvSpPr>
        <p:spPr>
          <a:xfrm>
            <a:off x="6391656" y="3374136"/>
            <a:ext cx="77724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68" name="Rectangle 67"/>
          <p:cNvSpPr/>
          <p:nvPr/>
        </p:nvSpPr>
        <p:spPr>
          <a:xfrm>
            <a:off x="7168896" y="337413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69" name="Rectangle 68"/>
          <p:cNvSpPr/>
          <p:nvPr/>
        </p:nvSpPr>
        <p:spPr>
          <a:xfrm>
            <a:off x="8010144" y="337413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70" name="Rectangle 69"/>
          <p:cNvSpPr/>
          <p:nvPr/>
        </p:nvSpPr>
        <p:spPr>
          <a:xfrm>
            <a:off x="8851392" y="337413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71" name="Rectangle 70"/>
          <p:cNvSpPr/>
          <p:nvPr/>
        </p:nvSpPr>
        <p:spPr>
          <a:xfrm>
            <a:off x="9692640" y="337413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72" name="Rectangle 71"/>
          <p:cNvSpPr/>
          <p:nvPr/>
        </p:nvSpPr>
        <p:spPr>
          <a:xfrm>
            <a:off x="10561320" y="3374136"/>
            <a:ext cx="110642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16</a:t>
            </a:r>
          </a:p>
        </p:txBody>
      </p:sp>
      <p:sp>
        <p:nvSpPr>
          <p:cNvPr id="73" name="Rectangle 72"/>
          <p:cNvSpPr/>
          <p:nvPr/>
        </p:nvSpPr>
        <p:spPr>
          <a:xfrm>
            <a:off x="502920" y="3739896"/>
            <a:ext cx="124358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5. Mahalle</a:t>
            </a:r>
          </a:p>
        </p:txBody>
      </p:sp>
      <p:sp>
        <p:nvSpPr>
          <p:cNvPr id="74" name="Rectangle 73"/>
          <p:cNvSpPr/>
          <p:nvPr/>
        </p:nvSpPr>
        <p:spPr>
          <a:xfrm>
            <a:off x="1746504" y="3739896"/>
            <a:ext cx="713232"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VII</a:t>
            </a:r>
          </a:p>
        </p:txBody>
      </p:sp>
      <p:sp>
        <p:nvSpPr>
          <p:cNvPr id="75" name="Rectangle 74"/>
          <p:cNvSpPr/>
          <p:nvPr/>
        </p:nvSpPr>
        <p:spPr>
          <a:xfrm>
            <a:off x="2459736" y="373989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5.607</a:t>
            </a:r>
          </a:p>
        </p:txBody>
      </p:sp>
      <p:sp>
        <p:nvSpPr>
          <p:cNvPr id="76" name="Rectangle 75"/>
          <p:cNvSpPr/>
          <p:nvPr/>
        </p:nvSpPr>
        <p:spPr>
          <a:xfrm>
            <a:off x="3328416" y="373989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2.494</a:t>
            </a:r>
          </a:p>
        </p:txBody>
      </p:sp>
      <p:sp>
        <p:nvSpPr>
          <p:cNvPr id="77" name="Rectangle 76"/>
          <p:cNvSpPr/>
          <p:nvPr/>
        </p:nvSpPr>
        <p:spPr>
          <a:xfrm>
            <a:off x="4197096" y="373989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23</a:t>
            </a:r>
          </a:p>
        </p:txBody>
      </p:sp>
      <p:sp>
        <p:nvSpPr>
          <p:cNvPr id="78" name="Rectangle 77"/>
          <p:cNvSpPr/>
          <p:nvPr/>
        </p:nvSpPr>
        <p:spPr>
          <a:xfrm>
            <a:off x="4928616" y="373989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67</a:t>
            </a:r>
          </a:p>
        </p:txBody>
      </p:sp>
      <p:sp>
        <p:nvSpPr>
          <p:cNvPr id="79" name="Rectangle 78"/>
          <p:cNvSpPr/>
          <p:nvPr/>
        </p:nvSpPr>
        <p:spPr>
          <a:xfrm>
            <a:off x="5660136" y="373989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65</a:t>
            </a:r>
          </a:p>
        </p:txBody>
      </p:sp>
      <p:sp>
        <p:nvSpPr>
          <p:cNvPr id="80" name="Rectangle 79"/>
          <p:cNvSpPr/>
          <p:nvPr/>
        </p:nvSpPr>
        <p:spPr>
          <a:xfrm>
            <a:off x="6391656" y="3739896"/>
            <a:ext cx="77724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a:t>
            </a:r>
          </a:p>
        </p:txBody>
      </p:sp>
      <p:sp>
        <p:nvSpPr>
          <p:cNvPr id="81" name="Rectangle 80"/>
          <p:cNvSpPr/>
          <p:nvPr/>
        </p:nvSpPr>
        <p:spPr>
          <a:xfrm>
            <a:off x="7168896" y="373989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a:t>
            </a:r>
          </a:p>
        </p:txBody>
      </p:sp>
      <p:sp>
        <p:nvSpPr>
          <p:cNvPr id="82" name="Rectangle 81"/>
          <p:cNvSpPr/>
          <p:nvPr/>
        </p:nvSpPr>
        <p:spPr>
          <a:xfrm>
            <a:off x="8010144" y="373989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83" name="Rectangle 82"/>
          <p:cNvSpPr/>
          <p:nvPr/>
        </p:nvSpPr>
        <p:spPr>
          <a:xfrm>
            <a:off x="8851392" y="373989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11</a:t>
            </a:r>
          </a:p>
        </p:txBody>
      </p:sp>
      <p:sp>
        <p:nvSpPr>
          <p:cNvPr id="84" name="Rectangle 83"/>
          <p:cNvSpPr/>
          <p:nvPr/>
        </p:nvSpPr>
        <p:spPr>
          <a:xfrm>
            <a:off x="9692640" y="373989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89</a:t>
            </a:r>
          </a:p>
        </p:txBody>
      </p:sp>
      <p:sp>
        <p:nvSpPr>
          <p:cNvPr id="85" name="Rectangle 84"/>
          <p:cNvSpPr/>
          <p:nvPr/>
        </p:nvSpPr>
        <p:spPr>
          <a:xfrm>
            <a:off x="10561320" y="3739896"/>
            <a:ext cx="110642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357</a:t>
            </a:r>
          </a:p>
        </p:txBody>
      </p:sp>
      <p:sp>
        <p:nvSpPr>
          <p:cNvPr id="86" name="Rectangle 85"/>
          <p:cNvSpPr/>
          <p:nvPr/>
        </p:nvSpPr>
        <p:spPr>
          <a:xfrm>
            <a:off x="502920" y="4105656"/>
            <a:ext cx="124358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6. Mahalle</a:t>
            </a:r>
          </a:p>
        </p:txBody>
      </p:sp>
      <p:sp>
        <p:nvSpPr>
          <p:cNvPr id="87" name="Rectangle 86"/>
          <p:cNvSpPr/>
          <p:nvPr/>
        </p:nvSpPr>
        <p:spPr>
          <a:xfrm>
            <a:off x="1746504" y="4105656"/>
            <a:ext cx="713232"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IX</a:t>
            </a:r>
          </a:p>
        </p:txBody>
      </p:sp>
      <p:sp>
        <p:nvSpPr>
          <p:cNvPr id="88" name="Rectangle 87"/>
          <p:cNvSpPr/>
          <p:nvPr/>
        </p:nvSpPr>
        <p:spPr>
          <a:xfrm>
            <a:off x="2459736" y="410565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4.477</a:t>
            </a:r>
          </a:p>
        </p:txBody>
      </p:sp>
      <p:sp>
        <p:nvSpPr>
          <p:cNvPr id="89" name="Rectangle 88"/>
          <p:cNvSpPr/>
          <p:nvPr/>
        </p:nvSpPr>
        <p:spPr>
          <a:xfrm>
            <a:off x="3328416" y="410565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1.978</a:t>
            </a:r>
          </a:p>
        </p:txBody>
      </p:sp>
      <p:sp>
        <p:nvSpPr>
          <p:cNvPr id="90" name="Rectangle 89"/>
          <p:cNvSpPr/>
          <p:nvPr/>
        </p:nvSpPr>
        <p:spPr>
          <a:xfrm>
            <a:off x="4197096" y="410565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311</a:t>
            </a:r>
          </a:p>
        </p:txBody>
      </p:sp>
      <p:sp>
        <p:nvSpPr>
          <p:cNvPr id="91" name="Rectangle 90"/>
          <p:cNvSpPr/>
          <p:nvPr/>
        </p:nvSpPr>
        <p:spPr>
          <a:xfrm>
            <a:off x="4928616" y="410565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360</a:t>
            </a:r>
          </a:p>
        </p:txBody>
      </p:sp>
      <p:sp>
        <p:nvSpPr>
          <p:cNvPr id="92" name="Rectangle 91"/>
          <p:cNvSpPr/>
          <p:nvPr/>
        </p:nvSpPr>
        <p:spPr>
          <a:xfrm>
            <a:off x="5660136" y="410565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450</a:t>
            </a:r>
          </a:p>
        </p:txBody>
      </p:sp>
      <p:sp>
        <p:nvSpPr>
          <p:cNvPr id="93" name="Rectangle 92"/>
          <p:cNvSpPr/>
          <p:nvPr/>
        </p:nvSpPr>
        <p:spPr>
          <a:xfrm>
            <a:off x="6391656" y="4105656"/>
            <a:ext cx="77724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81</a:t>
            </a:r>
          </a:p>
        </p:txBody>
      </p:sp>
      <p:sp>
        <p:nvSpPr>
          <p:cNvPr id="94" name="Rectangle 93"/>
          <p:cNvSpPr/>
          <p:nvPr/>
        </p:nvSpPr>
        <p:spPr>
          <a:xfrm>
            <a:off x="7168896" y="410565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203</a:t>
            </a:r>
          </a:p>
        </p:txBody>
      </p:sp>
      <p:sp>
        <p:nvSpPr>
          <p:cNvPr id="95" name="Rectangle 94"/>
          <p:cNvSpPr/>
          <p:nvPr/>
        </p:nvSpPr>
        <p:spPr>
          <a:xfrm>
            <a:off x="8010144" y="410565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51</a:t>
            </a:r>
          </a:p>
        </p:txBody>
      </p:sp>
      <p:sp>
        <p:nvSpPr>
          <p:cNvPr id="96" name="Rectangle 95"/>
          <p:cNvSpPr/>
          <p:nvPr/>
        </p:nvSpPr>
        <p:spPr>
          <a:xfrm>
            <a:off x="8851392" y="410565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153</a:t>
            </a:r>
          </a:p>
        </p:txBody>
      </p:sp>
      <p:sp>
        <p:nvSpPr>
          <p:cNvPr id="97" name="Rectangle 96"/>
          <p:cNvSpPr/>
          <p:nvPr/>
        </p:nvSpPr>
        <p:spPr>
          <a:xfrm>
            <a:off x="9692640" y="410565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671</a:t>
            </a:r>
          </a:p>
        </p:txBody>
      </p:sp>
      <p:sp>
        <p:nvSpPr>
          <p:cNvPr id="98" name="Rectangle 97"/>
          <p:cNvSpPr/>
          <p:nvPr/>
        </p:nvSpPr>
        <p:spPr>
          <a:xfrm>
            <a:off x="10561320" y="4105656"/>
            <a:ext cx="110642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2.684</a:t>
            </a:r>
          </a:p>
        </p:txBody>
      </p:sp>
      <p:sp>
        <p:nvSpPr>
          <p:cNvPr id="99" name="Rectangle 98"/>
          <p:cNvSpPr/>
          <p:nvPr/>
        </p:nvSpPr>
        <p:spPr>
          <a:xfrm>
            <a:off x="502920" y="4471416"/>
            <a:ext cx="124358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7. Mahalle</a:t>
            </a:r>
          </a:p>
        </p:txBody>
      </p:sp>
      <p:sp>
        <p:nvSpPr>
          <p:cNvPr id="100" name="Rectangle 99"/>
          <p:cNvSpPr/>
          <p:nvPr/>
        </p:nvSpPr>
        <p:spPr>
          <a:xfrm>
            <a:off x="1746504" y="4471416"/>
            <a:ext cx="713232"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VIII</a:t>
            </a:r>
          </a:p>
        </p:txBody>
      </p:sp>
      <p:sp>
        <p:nvSpPr>
          <p:cNvPr id="101" name="Rectangle 100"/>
          <p:cNvSpPr/>
          <p:nvPr/>
        </p:nvSpPr>
        <p:spPr>
          <a:xfrm>
            <a:off x="2459736" y="447141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6.447</a:t>
            </a:r>
          </a:p>
        </p:txBody>
      </p:sp>
      <p:sp>
        <p:nvSpPr>
          <p:cNvPr id="102" name="Rectangle 101"/>
          <p:cNvSpPr/>
          <p:nvPr/>
        </p:nvSpPr>
        <p:spPr>
          <a:xfrm>
            <a:off x="3328416" y="447141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2.885</a:t>
            </a:r>
          </a:p>
        </p:txBody>
      </p:sp>
      <p:sp>
        <p:nvSpPr>
          <p:cNvPr id="103" name="Rectangle 102"/>
          <p:cNvSpPr/>
          <p:nvPr/>
        </p:nvSpPr>
        <p:spPr>
          <a:xfrm>
            <a:off x="4197096" y="447141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82</a:t>
            </a:r>
          </a:p>
        </p:txBody>
      </p:sp>
      <p:sp>
        <p:nvSpPr>
          <p:cNvPr id="104" name="Rectangle 103"/>
          <p:cNvSpPr/>
          <p:nvPr/>
        </p:nvSpPr>
        <p:spPr>
          <a:xfrm>
            <a:off x="4928616" y="447141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128</a:t>
            </a:r>
          </a:p>
        </p:txBody>
      </p:sp>
      <p:sp>
        <p:nvSpPr>
          <p:cNvPr id="105" name="Rectangle 104"/>
          <p:cNvSpPr/>
          <p:nvPr/>
        </p:nvSpPr>
        <p:spPr>
          <a:xfrm>
            <a:off x="5660136" y="447141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154</a:t>
            </a:r>
          </a:p>
        </p:txBody>
      </p:sp>
      <p:sp>
        <p:nvSpPr>
          <p:cNvPr id="106" name="Rectangle 105"/>
          <p:cNvSpPr/>
          <p:nvPr/>
        </p:nvSpPr>
        <p:spPr>
          <a:xfrm>
            <a:off x="6391656" y="4471416"/>
            <a:ext cx="77724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21</a:t>
            </a:r>
          </a:p>
        </p:txBody>
      </p:sp>
      <p:sp>
        <p:nvSpPr>
          <p:cNvPr id="107" name="Rectangle 106"/>
          <p:cNvSpPr/>
          <p:nvPr/>
        </p:nvSpPr>
        <p:spPr>
          <a:xfrm>
            <a:off x="7168896" y="447141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54</a:t>
            </a:r>
          </a:p>
        </p:txBody>
      </p:sp>
      <p:sp>
        <p:nvSpPr>
          <p:cNvPr id="108" name="Rectangle 107"/>
          <p:cNvSpPr/>
          <p:nvPr/>
        </p:nvSpPr>
        <p:spPr>
          <a:xfrm>
            <a:off x="8010144" y="447141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13</a:t>
            </a:r>
          </a:p>
        </p:txBody>
      </p:sp>
      <p:sp>
        <p:nvSpPr>
          <p:cNvPr id="109" name="Rectangle 108"/>
          <p:cNvSpPr/>
          <p:nvPr/>
        </p:nvSpPr>
        <p:spPr>
          <a:xfrm>
            <a:off x="8851392" y="447141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40</a:t>
            </a:r>
          </a:p>
        </p:txBody>
      </p:sp>
      <p:sp>
        <p:nvSpPr>
          <p:cNvPr id="110" name="Rectangle 109"/>
          <p:cNvSpPr/>
          <p:nvPr/>
        </p:nvSpPr>
        <p:spPr>
          <a:xfrm>
            <a:off x="9692640" y="447141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210</a:t>
            </a:r>
          </a:p>
        </p:txBody>
      </p:sp>
      <p:sp>
        <p:nvSpPr>
          <p:cNvPr id="111" name="Rectangle 110"/>
          <p:cNvSpPr/>
          <p:nvPr/>
        </p:nvSpPr>
        <p:spPr>
          <a:xfrm>
            <a:off x="10561320" y="4471416"/>
            <a:ext cx="110642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840</a:t>
            </a:r>
          </a:p>
        </p:txBody>
      </p:sp>
      <p:sp>
        <p:nvSpPr>
          <p:cNvPr id="112" name="Rectangle 111"/>
          <p:cNvSpPr/>
          <p:nvPr/>
        </p:nvSpPr>
        <p:spPr>
          <a:xfrm>
            <a:off x="502920" y="4837176"/>
            <a:ext cx="124358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8. Mahalle</a:t>
            </a:r>
          </a:p>
        </p:txBody>
      </p:sp>
      <p:sp>
        <p:nvSpPr>
          <p:cNvPr id="113" name="Rectangle 112"/>
          <p:cNvSpPr/>
          <p:nvPr/>
        </p:nvSpPr>
        <p:spPr>
          <a:xfrm>
            <a:off x="1746504" y="4837176"/>
            <a:ext cx="713232"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a:t>
            </a:r>
          </a:p>
        </p:txBody>
      </p:sp>
      <p:sp>
        <p:nvSpPr>
          <p:cNvPr id="114" name="Rectangle 113"/>
          <p:cNvSpPr/>
          <p:nvPr/>
        </p:nvSpPr>
        <p:spPr>
          <a:xfrm>
            <a:off x="2459736" y="483717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2.480</a:t>
            </a:r>
          </a:p>
        </p:txBody>
      </p:sp>
      <p:sp>
        <p:nvSpPr>
          <p:cNvPr id="115" name="Rectangle 114"/>
          <p:cNvSpPr/>
          <p:nvPr/>
        </p:nvSpPr>
        <p:spPr>
          <a:xfrm>
            <a:off x="3328416" y="483717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1.094</a:t>
            </a:r>
          </a:p>
        </p:txBody>
      </p:sp>
      <p:sp>
        <p:nvSpPr>
          <p:cNvPr id="116" name="Rectangle 115"/>
          <p:cNvSpPr/>
          <p:nvPr/>
        </p:nvSpPr>
        <p:spPr>
          <a:xfrm>
            <a:off x="4197096" y="483717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117" name="Rectangle 116"/>
          <p:cNvSpPr/>
          <p:nvPr/>
        </p:nvSpPr>
        <p:spPr>
          <a:xfrm>
            <a:off x="4928616" y="483717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3</a:t>
            </a:r>
          </a:p>
        </p:txBody>
      </p:sp>
      <p:sp>
        <p:nvSpPr>
          <p:cNvPr id="118" name="Rectangle 117"/>
          <p:cNvSpPr/>
          <p:nvPr/>
        </p:nvSpPr>
        <p:spPr>
          <a:xfrm>
            <a:off x="5660136" y="4837176"/>
            <a:ext cx="73152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27</a:t>
            </a:r>
          </a:p>
        </p:txBody>
      </p:sp>
      <p:sp>
        <p:nvSpPr>
          <p:cNvPr id="119" name="Rectangle 118"/>
          <p:cNvSpPr/>
          <p:nvPr/>
        </p:nvSpPr>
        <p:spPr>
          <a:xfrm>
            <a:off x="6391656" y="4837176"/>
            <a:ext cx="77724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20" name="Rectangle 119"/>
          <p:cNvSpPr/>
          <p:nvPr/>
        </p:nvSpPr>
        <p:spPr>
          <a:xfrm>
            <a:off x="7168896" y="483717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121" name="Rectangle 120"/>
          <p:cNvSpPr/>
          <p:nvPr/>
        </p:nvSpPr>
        <p:spPr>
          <a:xfrm>
            <a:off x="8010144" y="483717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22" name="Rectangle 121"/>
          <p:cNvSpPr/>
          <p:nvPr/>
        </p:nvSpPr>
        <p:spPr>
          <a:xfrm>
            <a:off x="8851392" y="4837176"/>
            <a:ext cx="841248"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23" name="Rectangle 122"/>
          <p:cNvSpPr/>
          <p:nvPr/>
        </p:nvSpPr>
        <p:spPr>
          <a:xfrm>
            <a:off x="9692640" y="4837176"/>
            <a:ext cx="868680"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124" name="Rectangle 123"/>
          <p:cNvSpPr/>
          <p:nvPr/>
        </p:nvSpPr>
        <p:spPr>
          <a:xfrm>
            <a:off x="10561320" y="4837176"/>
            <a:ext cx="1106424" cy="365760"/>
          </a:xfrm>
          <a:prstGeom prst="rect">
            <a:avLst/>
          </a:prstGeom>
          <a:solidFill>
            <a:srgbClr val="F0F0F0"/>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16</a:t>
            </a:r>
          </a:p>
        </p:txBody>
      </p:sp>
      <p:sp>
        <p:nvSpPr>
          <p:cNvPr id="125" name="Rectangle 124"/>
          <p:cNvSpPr/>
          <p:nvPr/>
        </p:nvSpPr>
        <p:spPr>
          <a:xfrm>
            <a:off x="502920" y="5202936"/>
            <a:ext cx="124358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0" i="0">
                <a:solidFill>
                  <a:srgbClr val="262626"/>
                </a:solidFill>
                <a:latin typeface="Calibri"/>
              </a:rPr>
              <a:t>9. Mahalle</a:t>
            </a:r>
          </a:p>
        </p:txBody>
      </p:sp>
      <p:sp>
        <p:nvSpPr>
          <p:cNvPr id="126" name="Rectangle 125"/>
          <p:cNvSpPr/>
          <p:nvPr/>
        </p:nvSpPr>
        <p:spPr>
          <a:xfrm>
            <a:off x="1746504" y="5202936"/>
            <a:ext cx="713232"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VI</a:t>
            </a:r>
          </a:p>
        </p:txBody>
      </p:sp>
      <p:sp>
        <p:nvSpPr>
          <p:cNvPr id="127" name="Rectangle 126"/>
          <p:cNvSpPr/>
          <p:nvPr/>
        </p:nvSpPr>
        <p:spPr>
          <a:xfrm>
            <a:off x="2459736" y="520293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2.869</a:t>
            </a:r>
          </a:p>
        </p:txBody>
      </p:sp>
      <p:sp>
        <p:nvSpPr>
          <p:cNvPr id="128" name="Rectangle 127"/>
          <p:cNvSpPr/>
          <p:nvPr/>
        </p:nvSpPr>
        <p:spPr>
          <a:xfrm>
            <a:off x="3328416" y="520293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1.648</a:t>
            </a:r>
          </a:p>
        </p:txBody>
      </p:sp>
      <p:sp>
        <p:nvSpPr>
          <p:cNvPr id="129" name="Rectangle 128"/>
          <p:cNvSpPr/>
          <p:nvPr/>
        </p:nvSpPr>
        <p:spPr>
          <a:xfrm>
            <a:off x="4197096" y="520293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130" name="Rectangle 129"/>
          <p:cNvSpPr/>
          <p:nvPr/>
        </p:nvSpPr>
        <p:spPr>
          <a:xfrm>
            <a:off x="4928616" y="520293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131" name="Rectangle 130"/>
          <p:cNvSpPr/>
          <p:nvPr/>
        </p:nvSpPr>
        <p:spPr>
          <a:xfrm>
            <a:off x="5660136" y="5202936"/>
            <a:ext cx="73152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4</a:t>
            </a:r>
          </a:p>
        </p:txBody>
      </p:sp>
      <p:sp>
        <p:nvSpPr>
          <p:cNvPr id="132" name="Rectangle 131"/>
          <p:cNvSpPr/>
          <p:nvPr/>
        </p:nvSpPr>
        <p:spPr>
          <a:xfrm>
            <a:off x="6391656" y="5202936"/>
            <a:ext cx="77724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33" name="Rectangle 132"/>
          <p:cNvSpPr/>
          <p:nvPr/>
        </p:nvSpPr>
        <p:spPr>
          <a:xfrm>
            <a:off x="7168896" y="520293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1</a:t>
            </a:r>
          </a:p>
        </p:txBody>
      </p:sp>
      <p:sp>
        <p:nvSpPr>
          <p:cNvPr id="134" name="Rectangle 133"/>
          <p:cNvSpPr/>
          <p:nvPr/>
        </p:nvSpPr>
        <p:spPr>
          <a:xfrm>
            <a:off x="8010144" y="520293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35" name="Rectangle 134"/>
          <p:cNvSpPr/>
          <p:nvPr/>
        </p:nvSpPr>
        <p:spPr>
          <a:xfrm>
            <a:off x="8851392" y="5202936"/>
            <a:ext cx="841248"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0</a:t>
            </a:r>
          </a:p>
        </p:txBody>
      </p:sp>
      <p:sp>
        <p:nvSpPr>
          <p:cNvPr id="136" name="Rectangle 135"/>
          <p:cNvSpPr/>
          <p:nvPr/>
        </p:nvSpPr>
        <p:spPr>
          <a:xfrm>
            <a:off x="9692640" y="5202936"/>
            <a:ext cx="868680"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5</a:t>
            </a:r>
          </a:p>
        </p:txBody>
      </p:sp>
      <p:sp>
        <p:nvSpPr>
          <p:cNvPr id="137" name="Rectangle 136"/>
          <p:cNvSpPr/>
          <p:nvPr/>
        </p:nvSpPr>
        <p:spPr>
          <a:xfrm>
            <a:off x="10561320" y="5202936"/>
            <a:ext cx="1106424" cy="365760"/>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0" i="0">
                <a:solidFill>
                  <a:srgbClr val="262626"/>
                </a:solidFill>
                <a:latin typeface="Calibri"/>
              </a:rPr>
              <a:t>20</a:t>
            </a:r>
          </a:p>
        </p:txBody>
      </p:sp>
      <p:sp>
        <p:nvSpPr>
          <p:cNvPr id="138" name="Rectangle 137"/>
          <p:cNvSpPr/>
          <p:nvPr/>
        </p:nvSpPr>
        <p:spPr>
          <a:xfrm>
            <a:off x="502920" y="5568696"/>
            <a:ext cx="1243584"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800" b="1" i="0">
                <a:solidFill>
                  <a:srgbClr val="262626"/>
                </a:solidFill>
                <a:latin typeface="Calibri"/>
              </a:rPr>
              <a:t>Toplam</a:t>
            </a:r>
          </a:p>
        </p:txBody>
      </p:sp>
      <p:sp>
        <p:nvSpPr>
          <p:cNvPr id="139" name="Rectangle 138"/>
          <p:cNvSpPr/>
          <p:nvPr/>
        </p:nvSpPr>
        <p:spPr>
          <a:xfrm>
            <a:off x="1746504" y="5568696"/>
            <a:ext cx="713232"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p>
        </p:txBody>
      </p:sp>
      <p:sp>
        <p:nvSpPr>
          <p:cNvPr id="140" name="Rectangle 139"/>
          <p:cNvSpPr/>
          <p:nvPr/>
        </p:nvSpPr>
        <p:spPr>
          <a:xfrm>
            <a:off x="2459736" y="5568696"/>
            <a:ext cx="86868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33.085</a:t>
            </a:r>
          </a:p>
        </p:txBody>
      </p:sp>
      <p:sp>
        <p:nvSpPr>
          <p:cNvPr id="141" name="Rectangle 140"/>
          <p:cNvSpPr/>
          <p:nvPr/>
        </p:nvSpPr>
        <p:spPr>
          <a:xfrm>
            <a:off x="3328416" y="5568696"/>
            <a:ext cx="86868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15.655</a:t>
            </a:r>
          </a:p>
        </p:txBody>
      </p:sp>
      <p:sp>
        <p:nvSpPr>
          <p:cNvPr id="142" name="Rectangle 141"/>
          <p:cNvSpPr/>
          <p:nvPr/>
        </p:nvSpPr>
        <p:spPr>
          <a:xfrm>
            <a:off x="4197096" y="5568696"/>
            <a:ext cx="73152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677</a:t>
            </a:r>
          </a:p>
        </p:txBody>
      </p:sp>
      <p:sp>
        <p:nvSpPr>
          <p:cNvPr id="143" name="Rectangle 142"/>
          <p:cNvSpPr/>
          <p:nvPr/>
        </p:nvSpPr>
        <p:spPr>
          <a:xfrm>
            <a:off x="4928616" y="5568696"/>
            <a:ext cx="73152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892</a:t>
            </a:r>
          </a:p>
        </p:txBody>
      </p:sp>
      <p:sp>
        <p:nvSpPr>
          <p:cNvPr id="144" name="Rectangle 143"/>
          <p:cNvSpPr/>
          <p:nvPr/>
        </p:nvSpPr>
        <p:spPr>
          <a:xfrm>
            <a:off x="5660136" y="5568696"/>
            <a:ext cx="73152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1.100</a:t>
            </a:r>
          </a:p>
        </p:txBody>
      </p:sp>
      <p:sp>
        <p:nvSpPr>
          <p:cNvPr id="145" name="Rectangle 144"/>
          <p:cNvSpPr/>
          <p:nvPr/>
        </p:nvSpPr>
        <p:spPr>
          <a:xfrm>
            <a:off x="6391656" y="5568696"/>
            <a:ext cx="77724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176</a:t>
            </a:r>
          </a:p>
        </p:txBody>
      </p:sp>
      <p:sp>
        <p:nvSpPr>
          <p:cNvPr id="146" name="Rectangle 145"/>
          <p:cNvSpPr/>
          <p:nvPr/>
        </p:nvSpPr>
        <p:spPr>
          <a:xfrm>
            <a:off x="7168896" y="5568696"/>
            <a:ext cx="841248"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443</a:t>
            </a:r>
          </a:p>
        </p:txBody>
      </p:sp>
      <p:sp>
        <p:nvSpPr>
          <p:cNvPr id="147" name="Rectangle 146"/>
          <p:cNvSpPr/>
          <p:nvPr/>
        </p:nvSpPr>
        <p:spPr>
          <a:xfrm>
            <a:off x="8010144" y="5568696"/>
            <a:ext cx="841248"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111</a:t>
            </a:r>
          </a:p>
        </p:txBody>
      </p:sp>
      <p:sp>
        <p:nvSpPr>
          <p:cNvPr id="148" name="Rectangle 147"/>
          <p:cNvSpPr/>
          <p:nvPr/>
        </p:nvSpPr>
        <p:spPr>
          <a:xfrm>
            <a:off x="8851392" y="5568696"/>
            <a:ext cx="841248"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332</a:t>
            </a:r>
          </a:p>
        </p:txBody>
      </p:sp>
      <p:sp>
        <p:nvSpPr>
          <p:cNvPr id="149" name="Rectangle 148"/>
          <p:cNvSpPr/>
          <p:nvPr/>
        </p:nvSpPr>
        <p:spPr>
          <a:xfrm>
            <a:off x="9692640" y="5568696"/>
            <a:ext cx="868680"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1.570</a:t>
            </a:r>
          </a:p>
        </p:txBody>
      </p:sp>
      <p:sp>
        <p:nvSpPr>
          <p:cNvPr id="150" name="Rectangle 149"/>
          <p:cNvSpPr/>
          <p:nvPr/>
        </p:nvSpPr>
        <p:spPr>
          <a:xfrm>
            <a:off x="10561320" y="5568696"/>
            <a:ext cx="1106424" cy="365760"/>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800" b="1" i="0">
                <a:solidFill>
                  <a:srgbClr val="262626"/>
                </a:solidFill>
                <a:latin typeface="Calibri"/>
              </a:rPr>
              <a:t>6.280</a:t>
            </a:r>
          </a:p>
        </p:txBody>
      </p:sp>
      <p:sp>
        <p:nvSpPr>
          <p:cNvPr id="151" name="TextBox 150"/>
          <p:cNvSpPr txBox="1"/>
          <p:nvPr/>
        </p:nvSpPr>
        <p:spPr>
          <a:xfrm>
            <a:off x="502920" y="6016752"/>
            <a:ext cx="111858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Tablo: Ders kitabı s. 209 (sayılar kitaptan)</a:t>
            </a:r>
          </a:p>
        </p:txBody>
      </p:sp>
      <p:sp>
        <p:nvSpPr>
          <p:cNvPr id="152" name="TextBox 15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3" name="Rounded Rectangle 15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154" name="TextBox 15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195 / 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tabloyu inceleyelim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ADIM · 4 dk</a:t>
            </a:r>
          </a:p>
        </p:txBody>
      </p:sp>
      <p:sp>
        <p:nvSpPr>
          <p:cNvPr id="6" name="Rounded Rectangle 5"/>
          <p:cNvSpPr/>
          <p:nvPr/>
        </p:nvSpPr>
        <p:spPr>
          <a:xfrm>
            <a:off x="502920" y="1216152"/>
            <a:ext cx="5478627" cy="244602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640080" y="1353312"/>
            <a:ext cx="502920" cy="50292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8" name="TextBox 7"/>
          <p:cNvSpPr txBox="1"/>
          <p:nvPr/>
        </p:nvSpPr>
        <p:spPr>
          <a:xfrm>
            <a:off x="1280160" y="1289304"/>
            <a:ext cx="4564227" cy="9144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Şiddet değeri en yüksek mahalleler hangileri? Bu mahallelerde hasar ve kayıplar nasıl?</a:t>
            </a:r>
          </a:p>
        </p:txBody>
      </p:sp>
      <p:sp>
        <p:nvSpPr>
          <p:cNvPr id="9" name="Rounded Rectangle 8"/>
          <p:cNvSpPr/>
          <p:nvPr/>
        </p:nvSpPr>
        <p:spPr>
          <a:xfrm>
            <a:off x="685800" y="2267712"/>
            <a:ext cx="5112867" cy="12573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868680" y="2582037"/>
            <a:ext cx="4747107" cy="0"/>
          </a:xfrm>
          <a:prstGeom prst="line">
            <a:avLst/>
          </a:prstGeom>
          <a:ln w="12700">
            <a:solidFill>
              <a:srgbClr val="D9D9D9"/>
            </a:solidFill>
            <a:prstDash val="dash"/>
          </a:ln>
        </p:spPr>
      </p:cxnSp>
      <p:cxnSp>
        <p:nvCxnSpPr>
          <p:cNvPr id="11" name="Connector 10"/>
          <p:cNvCxnSpPr/>
          <p:nvPr/>
        </p:nvCxnSpPr>
        <p:spPr>
          <a:xfrm>
            <a:off x="868680" y="2896362"/>
            <a:ext cx="4747107" cy="0"/>
          </a:xfrm>
          <a:prstGeom prst="line">
            <a:avLst/>
          </a:prstGeom>
          <a:ln w="12700">
            <a:solidFill>
              <a:srgbClr val="D9D9D9"/>
            </a:solidFill>
            <a:prstDash val="dash"/>
          </a:ln>
        </p:spPr>
      </p:cxnSp>
      <p:cxnSp>
        <p:nvCxnSpPr>
          <p:cNvPr id="12" name="Connector 11"/>
          <p:cNvCxnSpPr/>
          <p:nvPr/>
        </p:nvCxnSpPr>
        <p:spPr>
          <a:xfrm>
            <a:off x="868680" y="3210687"/>
            <a:ext cx="4747107" cy="0"/>
          </a:xfrm>
          <a:prstGeom prst="line">
            <a:avLst/>
          </a:prstGeom>
          <a:ln w="12700">
            <a:solidFill>
              <a:srgbClr val="D9D9D9"/>
            </a:solidFill>
            <a:prstDash val="dash"/>
          </a:ln>
        </p:spPr>
      </p:cxnSp>
      <p:sp>
        <p:nvSpPr>
          <p:cNvPr id="13" name="Rounded Rectangle 12"/>
          <p:cNvSpPr/>
          <p:nvPr/>
        </p:nvSpPr>
        <p:spPr>
          <a:xfrm>
            <a:off x="6210147" y="1216152"/>
            <a:ext cx="5478627" cy="2446020"/>
          </a:xfrm>
          <a:prstGeom prst="roundRect">
            <a:avLst>
              <a:gd name="adj" fmla="val 6000"/>
            </a:avLst>
          </a:prstGeom>
          <a:solidFill>
            <a:srgbClr val="F0F0F0"/>
          </a:solidFill>
          <a:ln>
            <a:noFill/>
          </a:ln>
          <a:effectLst/>
        </p:spPr>
        <p:txBody>
          <a:bodyPr rtlCol="0" anchor="ctr"/>
          <a:lstStyle/>
          <a:p/>
        </p:txBody>
      </p:sp>
      <p:sp>
        <p:nvSpPr>
          <p:cNvPr id="14" name="Oval 13"/>
          <p:cNvSpPr/>
          <p:nvPr/>
        </p:nvSpPr>
        <p:spPr>
          <a:xfrm>
            <a:off x="6347307" y="1353312"/>
            <a:ext cx="502920" cy="50292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15" name="TextBox 14"/>
          <p:cNvSpPr txBox="1"/>
          <p:nvPr/>
        </p:nvSpPr>
        <p:spPr>
          <a:xfrm>
            <a:off x="6987387" y="1289304"/>
            <a:ext cx="4564227" cy="9144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Nüfusu en kalabalık mahalle hangisi? Kayıpları neden daha az?</a:t>
            </a:r>
          </a:p>
        </p:txBody>
      </p:sp>
      <p:sp>
        <p:nvSpPr>
          <p:cNvPr id="16" name="Rounded Rectangle 15"/>
          <p:cNvSpPr/>
          <p:nvPr/>
        </p:nvSpPr>
        <p:spPr>
          <a:xfrm>
            <a:off x="6393027" y="2267712"/>
            <a:ext cx="5112867" cy="12573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7" name="Connector 16"/>
          <p:cNvCxnSpPr/>
          <p:nvPr/>
        </p:nvCxnSpPr>
        <p:spPr>
          <a:xfrm>
            <a:off x="6575907" y="2582037"/>
            <a:ext cx="4747107" cy="0"/>
          </a:xfrm>
          <a:prstGeom prst="line">
            <a:avLst/>
          </a:prstGeom>
          <a:ln w="12700">
            <a:solidFill>
              <a:srgbClr val="D9D9D9"/>
            </a:solidFill>
            <a:prstDash val="dash"/>
          </a:ln>
        </p:spPr>
      </p:cxnSp>
      <p:cxnSp>
        <p:nvCxnSpPr>
          <p:cNvPr id="18" name="Connector 17"/>
          <p:cNvCxnSpPr/>
          <p:nvPr/>
        </p:nvCxnSpPr>
        <p:spPr>
          <a:xfrm>
            <a:off x="6575907" y="2896362"/>
            <a:ext cx="4747107" cy="0"/>
          </a:xfrm>
          <a:prstGeom prst="line">
            <a:avLst/>
          </a:prstGeom>
          <a:ln w="12700">
            <a:solidFill>
              <a:srgbClr val="D9D9D9"/>
            </a:solidFill>
            <a:prstDash val="dash"/>
          </a:ln>
        </p:spPr>
      </p:cxnSp>
      <p:cxnSp>
        <p:nvCxnSpPr>
          <p:cNvPr id="19" name="Connector 18"/>
          <p:cNvCxnSpPr/>
          <p:nvPr/>
        </p:nvCxnSpPr>
        <p:spPr>
          <a:xfrm>
            <a:off x="6575907" y="3210687"/>
            <a:ext cx="4747107" cy="0"/>
          </a:xfrm>
          <a:prstGeom prst="line">
            <a:avLst/>
          </a:prstGeom>
          <a:ln w="12700">
            <a:solidFill>
              <a:srgbClr val="D9D9D9"/>
            </a:solidFill>
            <a:prstDash val="dash"/>
          </a:ln>
        </p:spPr>
      </p:cxnSp>
      <p:sp>
        <p:nvSpPr>
          <p:cNvPr id="20" name="Rounded Rectangle 19"/>
          <p:cNvSpPr/>
          <p:nvPr/>
        </p:nvSpPr>
        <p:spPr>
          <a:xfrm>
            <a:off x="502920" y="3799332"/>
            <a:ext cx="5478627" cy="2446020"/>
          </a:xfrm>
          <a:prstGeom prst="roundRect">
            <a:avLst>
              <a:gd name="adj" fmla="val 6000"/>
            </a:avLst>
          </a:prstGeom>
          <a:solidFill>
            <a:srgbClr val="F0F0F0"/>
          </a:solidFill>
          <a:ln>
            <a:noFill/>
          </a:ln>
          <a:effectLst/>
        </p:spPr>
        <p:txBody>
          <a:bodyPr rtlCol="0" anchor="ctr"/>
          <a:lstStyle/>
          <a:p/>
        </p:txBody>
      </p:sp>
      <p:sp>
        <p:nvSpPr>
          <p:cNvPr id="21" name="Oval 20"/>
          <p:cNvSpPr/>
          <p:nvPr/>
        </p:nvSpPr>
        <p:spPr>
          <a:xfrm>
            <a:off x="640080" y="3936492"/>
            <a:ext cx="502920" cy="50292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22" name="TextBox 21"/>
          <p:cNvSpPr txBox="1"/>
          <p:nvPr/>
        </p:nvSpPr>
        <p:spPr>
          <a:xfrm>
            <a:off x="1280160" y="3872484"/>
            <a:ext cx="4564227" cy="9144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Şiddet değeri VI olan mahallelerde durum nasıl?</a:t>
            </a:r>
          </a:p>
        </p:txBody>
      </p:sp>
      <p:sp>
        <p:nvSpPr>
          <p:cNvPr id="23" name="Rounded Rectangle 22"/>
          <p:cNvSpPr/>
          <p:nvPr/>
        </p:nvSpPr>
        <p:spPr>
          <a:xfrm>
            <a:off x="685800" y="4850892"/>
            <a:ext cx="5112867" cy="12573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4" name="Connector 23"/>
          <p:cNvCxnSpPr/>
          <p:nvPr/>
        </p:nvCxnSpPr>
        <p:spPr>
          <a:xfrm>
            <a:off x="868680" y="5165217"/>
            <a:ext cx="4747107" cy="0"/>
          </a:xfrm>
          <a:prstGeom prst="line">
            <a:avLst/>
          </a:prstGeom>
          <a:ln w="12700">
            <a:solidFill>
              <a:srgbClr val="D9D9D9"/>
            </a:solidFill>
            <a:prstDash val="dash"/>
          </a:ln>
        </p:spPr>
      </p:cxnSp>
      <p:cxnSp>
        <p:nvCxnSpPr>
          <p:cNvPr id="25" name="Connector 24"/>
          <p:cNvCxnSpPr/>
          <p:nvPr/>
        </p:nvCxnSpPr>
        <p:spPr>
          <a:xfrm>
            <a:off x="868680" y="5479542"/>
            <a:ext cx="4747107" cy="0"/>
          </a:xfrm>
          <a:prstGeom prst="line">
            <a:avLst/>
          </a:prstGeom>
          <a:ln w="12700">
            <a:solidFill>
              <a:srgbClr val="D9D9D9"/>
            </a:solidFill>
            <a:prstDash val="dash"/>
          </a:ln>
        </p:spPr>
      </p:cxnSp>
      <p:cxnSp>
        <p:nvCxnSpPr>
          <p:cNvPr id="26" name="Connector 25"/>
          <p:cNvCxnSpPr/>
          <p:nvPr/>
        </p:nvCxnSpPr>
        <p:spPr>
          <a:xfrm>
            <a:off x="868680" y="5793867"/>
            <a:ext cx="4747107" cy="0"/>
          </a:xfrm>
          <a:prstGeom prst="line">
            <a:avLst/>
          </a:prstGeom>
          <a:ln w="12700">
            <a:solidFill>
              <a:srgbClr val="D9D9D9"/>
            </a:solidFill>
            <a:prstDash val="dash"/>
          </a:ln>
        </p:spPr>
      </p:cxnSp>
      <p:sp>
        <p:nvSpPr>
          <p:cNvPr id="27" name="Rounded Rectangle 26"/>
          <p:cNvSpPr/>
          <p:nvPr/>
        </p:nvSpPr>
        <p:spPr>
          <a:xfrm>
            <a:off x="6210147" y="3799332"/>
            <a:ext cx="5478627" cy="2446020"/>
          </a:xfrm>
          <a:prstGeom prst="roundRect">
            <a:avLst>
              <a:gd name="adj" fmla="val 6000"/>
            </a:avLst>
          </a:prstGeom>
          <a:solidFill>
            <a:srgbClr val="F0F0F0"/>
          </a:solidFill>
          <a:ln>
            <a:noFill/>
          </a:ln>
          <a:effectLst/>
        </p:spPr>
        <p:txBody>
          <a:bodyPr rtlCol="0" anchor="ctr"/>
          <a:lstStyle/>
          <a:p/>
        </p:txBody>
      </p:sp>
      <p:sp>
        <p:nvSpPr>
          <p:cNvPr id="28" name="Oval 27"/>
          <p:cNvSpPr/>
          <p:nvPr/>
        </p:nvSpPr>
        <p:spPr>
          <a:xfrm>
            <a:off x="6347307" y="3936492"/>
            <a:ext cx="502920" cy="50292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4</a:t>
            </a:r>
          </a:p>
        </p:txBody>
      </p:sp>
      <p:sp>
        <p:nvSpPr>
          <p:cNvPr id="29" name="TextBox 28"/>
          <p:cNvSpPr txBox="1"/>
          <p:nvPr/>
        </p:nvSpPr>
        <p:spPr>
          <a:xfrm>
            <a:off x="6987387" y="3872484"/>
            <a:ext cx="4564227" cy="9144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Toplam kaç kişi açıkta kalır, kaç çadır gerekir? Bu iki sayı arasında nasıl bir ilişki var?</a:t>
            </a:r>
          </a:p>
        </p:txBody>
      </p:sp>
      <p:sp>
        <p:nvSpPr>
          <p:cNvPr id="30" name="Rounded Rectangle 29"/>
          <p:cNvSpPr/>
          <p:nvPr/>
        </p:nvSpPr>
        <p:spPr>
          <a:xfrm>
            <a:off x="6393027" y="4850892"/>
            <a:ext cx="5112867" cy="12573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1" name="Connector 30"/>
          <p:cNvCxnSpPr/>
          <p:nvPr/>
        </p:nvCxnSpPr>
        <p:spPr>
          <a:xfrm>
            <a:off x="6575907" y="5165217"/>
            <a:ext cx="4747107" cy="0"/>
          </a:xfrm>
          <a:prstGeom prst="line">
            <a:avLst/>
          </a:prstGeom>
          <a:ln w="12700">
            <a:solidFill>
              <a:srgbClr val="D9D9D9"/>
            </a:solidFill>
            <a:prstDash val="dash"/>
          </a:ln>
        </p:spPr>
      </p:cxnSp>
      <p:cxnSp>
        <p:nvCxnSpPr>
          <p:cNvPr id="32" name="Connector 31"/>
          <p:cNvCxnSpPr/>
          <p:nvPr/>
        </p:nvCxnSpPr>
        <p:spPr>
          <a:xfrm>
            <a:off x="6575907" y="5479542"/>
            <a:ext cx="4747107" cy="0"/>
          </a:xfrm>
          <a:prstGeom prst="line">
            <a:avLst/>
          </a:prstGeom>
          <a:ln w="12700">
            <a:solidFill>
              <a:srgbClr val="D9D9D9"/>
            </a:solidFill>
            <a:prstDash val="dash"/>
          </a:ln>
        </p:spPr>
      </p:cxnSp>
      <p:cxnSp>
        <p:nvCxnSpPr>
          <p:cNvPr id="33" name="Connector 32"/>
          <p:cNvCxnSpPr/>
          <p:nvPr/>
        </p:nvCxnSpPr>
        <p:spPr>
          <a:xfrm>
            <a:off x="6575907" y="5793867"/>
            <a:ext cx="4747107" cy="0"/>
          </a:xfrm>
          <a:prstGeom prst="line">
            <a:avLst/>
          </a:prstGeom>
          <a:ln w="12700">
            <a:solidFill>
              <a:srgbClr val="D9D9D9"/>
            </a:solidFill>
            <a:prstDash val="dash"/>
          </a:ln>
        </p:spPr>
      </p:cxn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196 / 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ectangle 5"/>
          <p:cNvSpPr/>
          <p:nvPr/>
        </p:nvSpPr>
        <p:spPr>
          <a:xfrm>
            <a:off x="502920" y="1216152"/>
            <a:ext cx="118872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Mahalle</a:t>
            </a:r>
          </a:p>
        </p:txBody>
      </p:sp>
      <p:sp>
        <p:nvSpPr>
          <p:cNvPr id="7" name="Rectangle 6"/>
          <p:cNvSpPr/>
          <p:nvPr/>
        </p:nvSpPr>
        <p:spPr>
          <a:xfrm>
            <a:off x="1691640" y="1216152"/>
            <a:ext cx="82296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Şiddet</a:t>
            </a:r>
          </a:p>
        </p:txBody>
      </p:sp>
      <p:sp>
        <p:nvSpPr>
          <p:cNvPr id="8" name="Rectangle 7"/>
          <p:cNvSpPr/>
          <p:nvPr/>
        </p:nvSpPr>
        <p:spPr>
          <a:xfrm>
            <a:off x="2514600" y="1216152"/>
            <a:ext cx="96012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Nüfus</a:t>
            </a:r>
          </a:p>
        </p:txBody>
      </p:sp>
      <p:sp>
        <p:nvSpPr>
          <p:cNvPr id="9" name="Rectangle 8"/>
          <p:cNvSpPr/>
          <p:nvPr/>
        </p:nvSpPr>
        <p:spPr>
          <a:xfrm>
            <a:off x="3474720" y="1216152"/>
            <a:ext cx="96012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Ağır hasar</a:t>
            </a:r>
          </a:p>
        </p:txBody>
      </p:sp>
      <p:sp>
        <p:nvSpPr>
          <p:cNvPr id="10" name="Rectangle 9"/>
          <p:cNvSpPr/>
          <p:nvPr/>
        </p:nvSpPr>
        <p:spPr>
          <a:xfrm>
            <a:off x="4434840" y="1216152"/>
            <a:ext cx="96012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Can kaybı</a:t>
            </a:r>
          </a:p>
        </p:txBody>
      </p:sp>
      <p:sp>
        <p:nvSpPr>
          <p:cNvPr id="11" name="Rectangle 10"/>
          <p:cNvSpPr/>
          <p:nvPr/>
        </p:nvSpPr>
        <p:spPr>
          <a:xfrm>
            <a:off x="5394960" y="1216152"/>
            <a:ext cx="1143000" cy="566928"/>
          </a:xfrm>
          <a:prstGeom prst="rect">
            <a:avLst/>
          </a:prstGeom>
          <a:solidFill>
            <a:srgbClr val="1E7B6E"/>
          </a:solidFill>
          <a:ln w="9525">
            <a:solidFill>
              <a:srgbClr val="FFFFFF"/>
            </a:solidFill>
          </a:ln>
          <a:effectLst/>
        </p:spPr>
        <p:txBody>
          <a:bodyPr rtlCol="0" anchor="ctr" wrap="square" lIns="27432" rIns="27432" tIns="9144" bIns="9144">
            <a:noAutofit/>
          </a:bodyPr>
          <a:lstStyle/>
          <a:p>
            <a:pPr algn="ctr">
              <a:spcBef>
                <a:spcPts val="0"/>
              </a:spcBef>
              <a:spcAft>
                <a:spcPts val="0"/>
              </a:spcAft>
            </a:pPr>
            <a:r>
              <a:rPr lang="tr-TR" sz="1400" b="1" i="0">
                <a:solidFill>
                  <a:srgbClr val="FFFFFF"/>
                </a:solidFill>
                <a:latin typeface="Calibri"/>
              </a:rPr>
              <a:t>Açıkta kalan</a:t>
            </a:r>
          </a:p>
        </p:txBody>
      </p:sp>
      <p:sp>
        <p:nvSpPr>
          <p:cNvPr id="12" name="Rectangle 11"/>
          <p:cNvSpPr/>
          <p:nvPr/>
        </p:nvSpPr>
        <p:spPr>
          <a:xfrm>
            <a:off x="502920" y="1783080"/>
            <a:ext cx="11887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1. Mahalle</a:t>
            </a:r>
          </a:p>
        </p:txBody>
      </p:sp>
      <p:sp>
        <p:nvSpPr>
          <p:cNvPr id="13" name="Rectangle 12"/>
          <p:cNvSpPr/>
          <p:nvPr/>
        </p:nvSpPr>
        <p:spPr>
          <a:xfrm>
            <a:off x="1691640" y="1783080"/>
            <a:ext cx="822960" cy="429768"/>
          </a:xfrm>
          <a:prstGeom prst="rect">
            <a:avLst/>
          </a:prstGeom>
          <a:solidFill>
            <a:srgbClr val="A82E2E"/>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FFFFFF"/>
                </a:solidFill>
                <a:latin typeface="Calibri"/>
              </a:rPr>
              <a:t>IX</a:t>
            </a:r>
          </a:p>
        </p:txBody>
      </p:sp>
      <p:sp>
        <p:nvSpPr>
          <p:cNvPr id="14" name="Rectangle 13"/>
          <p:cNvSpPr/>
          <p:nvPr/>
        </p:nvSpPr>
        <p:spPr>
          <a:xfrm>
            <a:off x="2514600" y="178308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3.890</a:t>
            </a:r>
          </a:p>
        </p:txBody>
      </p:sp>
      <p:sp>
        <p:nvSpPr>
          <p:cNvPr id="15" name="Rectangle 14"/>
          <p:cNvSpPr/>
          <p:nvPr/>
        </p:nvSpPr>
        <p:spPr>
          <a:xfrm>
            <a:off x="3474720" y="178308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243</a:t>
            </a:r>
          </a:p>
        </p:txBody>
      </p:sp>
      <p:sp>
        <p:nvSpPr>
          <p:cNvPr id="16" name="Rectangle 15"/>
          <p:cNvSpPr/>
          <p:nvPr/>
        </p:nvSpPr>
        <p:spPr>
          <a:xfrm>
            <a:off x="4434840" y="178308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63</a:t>
            </a:r>
          </a:p>
        </p:txBody>
      </p:sp>
      <p:sp>
        <p:nvSpPr>
          <p:cNvPr id="17" name="Rectangle 16"/>
          <p:cNvSpPr/>
          <p:nvPr/>
        </p:nvSpPr>
        <p:spPr>
          <a:xfrm>
            <a:off x="5394960" y="1783080"/>
            <a:ext cx="114300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2.094</a:t>
            </a:r>
          </a:p>
        </p:txBody>
      </p:sp>
      <p:sp>
        <p:nvSpPr>
          <p:cNvPr id="18" name="Rectangle 17"/>
          <p:cNvSpPr/>
          <p:nvPr/>
        </p:nvSpPr>
        <p:spPr>
          <a:xfrm>
            <a:off x="502920" y="2212848"/>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2. Mahalle</a:t>
            </a:r>
          </a:p>
        </p:txBody>
      </p:sp>
      <p:sp>
        <p:nvSpPr>
          <p:cNvPr id="19" name="Rectangle 18"/>
          <p:cNvSpPr/>
          <p:nvPr/>
        </p:nvSpPr>
        <p:spPr>
          <a:xfrm>
            <a:off x="1691640" y="2212848"/>
            <a:ext cx="822960" cy="429768"/>
          </a:xfrm>
          <a:prstGeom prst="rect">
            <a:avLst/>
          </a:prstGeom>
          <a:solidFill>
            <a:srgbClr val="F09E4C"/>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VII</a:t>
            </a:r>
          </a:p>
        </p:txBody>
      </p:sp>
      <p:sp>
        <p:nvSpPr>
          <p:cNvPr id="20" name="Rectangle 19"/>
          <p:cNvSpPr/>
          <p:nvPr/>
        </p:nvSpPr>
        <p:spPr>
          <a:xfrm>
            <a:off x="2514600" y="2212848"/>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2.560</a:t>
            </a:r>
          </a:p>
        </p:txBody>
      </p:sp>
      <p:sp>
        <p:nvSpPr>
          <p:cNvPr id="21" name="Rectangle 20"/>
          <p:cNvSpPr/>
          <p:nvPr/>
        </p:nvSpPr>
        <p:spPr>
          <a:xfrm>
            <a:off x="3474720" y="2212848"/>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15</a:t>
            </a:r>
          </a:p>
        </p:txBody>
      </p:sp>
      <p:sp>
        <p:nvSpPr>
          <p:cNvPr id="22" name="Rectangle 21"/>
          <p:cNvSpPr/>
          <p:nvPr/>
        </p:nvSpPr>
        <p:spPr>
          <a:xfrm>
            <a:off x="4434840" y="2212848"/>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4</a:t>
            </a:r>
          </a:p>
        </p:txBody>
      </p:sp>
      <p:sp>
        <p:nvSpPr>
          <p:cNvPr id="23" name="Rectangle 22"/>
          <p:cNvSpPr/>
          <p:nvPr/>
        </p:nvSpPr>
        <p:spPr>
          <a:xfrm>
            <a:off x="5394960" y="2212848"/>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237</a:t>
            </a:r>
          </a:p>
        </p:txBody>
      </p:sp>
      <p:sp>
        <p:nvSpPr>
          <p:cNvPr id="24" name="Rectangle 23"/>
          <p:cNvSpPr/>
          <p:nvPr/>
        </p:nvSpPr>
        <p:spPr>
          <a:xfrm>
            <a:off x="502920" y="2642616"/>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3. Mahalle</a:t>
            </a:r>
          </a:p>
        </p:txBody>
      </p:sp>
      <p:sp>
        <p:nvSpPr>
          <p:cNvPr id="25" name="Rectangle 24"/>
          <p:cNvSpPr/>
          <p:nvPr/>
        </p:nvSpPr>
        <p:spPr>
          <a:xfrm>
            <a:off x="1691640" y="2642616"/>
            <a:ext cx="822960" cy="429768"/>
          </a:xfrm>
          <a:prstGeom prst="rect">
            <a:avLst/>
          </a:prstGeom>
          <a:solidFill>
            <a:srgbClr val="F6D36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a:t>
            </a:r>
          </a:p>
        </p:txBody>
      </p:sp>
      <p:sp>
        <p:nvSpPr>
          <p:cNvPr id="26" name="Rectangle 25"/>
          <p:cNvSpPr/>
          <p:nvPr/>
        </p:nvSpPr>
        <p:spPr>
          <a:xfrm>
            <a:off x="2514600" y="264261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2.424</a:t>
            </a:r>
          </a:p>
        </p:txBody>
      </p:sp>
      <p:sp>
        <p:nvSpPr>
          <p:cNvPr id="27" name="Rectangle 26"/>
          <p:cNvSpPr/>
          <p:nvPr/>
        </p:nvSpPr>
        <p:spPr>
          <a:xfrm>
            <a:off x="3474720" y="264261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a:t>
            </a:r>
          </a:p>
        </p:txBody>
      </p:sp>
      <p:sp>
        <p:nvSpPr>
          <p:cNvPr id="28" name="Rectangle 27"/>
          <p:cNvSpPr/>
          <p:nvPr/>
        </p:nvSpPr>
        <p:spPr>
          <a:xfrm>
            <a:off x="4434840" y="264261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0</a:t>
            </a:r>
          </a:p>
        </p:txBody>
      </p:sp>
      <p:sp>
        <p:nvSpPr>
          <p:cNvPr id="29" name="Rectangle 28"/>
          <p:cNvSpPr/>
          <p:nvPr/>
        </p:nvSpPr>
        <p:spPr>
          <a:xfrm>
            <a:off x="5394960" y="2642616"/>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16</a:t>
            </a:r>
          </a:p>
        </p:txBody>
      </p:sp>
      <p:sp>
        <p:nvSpPr>
          <p:cNvPr id="30" name="Rectangle 29"/>
          <p:cNvSpPr/>
          <p:nvPr/>
        </p:nvSpPr>
        <p:spPr>
          <a:xfrm>
            <a:off x="502920" y="3072384"/>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4. Mahalle</a:t>
            </a:r>
          </a:p>
        </p:txBody>
      </p:sp>
      <p:sp>
        <p:nvSpPr>
          <p:cNvPr id="31" name="Rectangle 30"/>
          <p:cNvSpPr/>
          <p:nvPr/>
        </p:nvSpPr>
        <p:spPr>
          <a:xfrm>
            <a:off x="1691640" y="3072384"/>
            <a:ext cx="822960" cy="429768"/>
          </a:xfrm>
          <a:prstGeom prst="rect">
            <a:avLst/>
          </a:prstGeom>
          <a:solidFill>
            <a:srgbClr val="F6D36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a:t>
            </a:r>
          </a:p>
        </p:txBody>
      </p:sp>
      <p:sp>
        <p:nvSpPr>
          <p:cNvPr id="32" name="Rectangle 31"/>
          <p:cNvSpPr/>
          <p:nvPr/>
        </p:nvSpPr>
        <p:spPr>
          <a:xfrm>
            <a:off x="2514600" y="307238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2.335</a:t>
            </a:r>
          </a:p>
        </p:txBody>
      </p:sp>
      <p:sp>
        <p:nvSpPr>
          <p:cNvPr id="33" name="Rectangle 32"/>
          <p:cNvSpPr/>
          <p:nvPr/>
        </p:nvSpPr>
        <p:spPr>
          <a:xfrm>
            <a:off x="3474720" y="307238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a:t>
            </a:r>
          </a:p>
        </p:txBody>
      </p:sp>
      <p:sp>
        <p:nvSpPr>
          <p:cNvPr id="34" name="Rectangle 33"/>
          <p:cNvSpPr/>
          <p:nvPr/>
        </p:nvSpPr>
        <p:spPr>
          <a:xfrm>
            <a:off x="4434840" y="307238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0</a:t>
            </a:r>
          </a:p>
        </p:txBody>
      </p:sp>
      <p:sp>
        <p:nvSpPr>
          <p:cNvPr id="35" name="Rectangle 34"/>
          <p:cNvSpPr/>
          <p:nvPr/>
        </p:nvSpPr>
        <p:spPr>
          <a:xfrm>
            <a:off x="5394960" y="3072384"/>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16</a:t>
            </a:r>
          </a:p>
        </p:txBody>
      </p:sp>
      <p:sp>
        <p:nvSpPr>
          <p:cNvPr id="36" name="Rectangle 35"/>
          <p:cNvSpPr/>
          <p:nvPr/>
        </p:nvSpPr>
        <p:spPr>
          <a:xfrm>
            <a:off x="502920" y="3502152"/>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5. Mahalle</a:t>
            </a:r>
          </a:p>
        </p:txBody>
      </p:sp>
      <p:sp>
        <p:nvSpPr>
          <p:cNvPr id="37" name="Rectangle 36"/>
          <p:cNvSpPr/>
          <p:nvPr/>
        </p:nvSpPr>
        <p:spPr>
          <a:xfrm>
            <a:off x="1691640" y="3502152"/>
            <a:ext cx="822960" cy="429768"/>
          </a:xfrm>
          <a:prstGeom prst="rect">
            <a:avLst/>
          </a:prstGeom>
          <a:solidFill>
            <a:srgbClr val="F09E4C"/>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VII</a:t>
            </a:r>
          </a:p>
        </p:txBody>
      </p:sp>
      <p:sp>
        <p:nvSpPr>
          <p:cNvPr id="38" name="Rectangle 37"/>
          <p:cNvSpPr/>
          <p:nvPr/>
        </p:nvSpPr>
        <p:spPr>
          <a:xfrm>
            <a:off x="2514600" y="3502152"/>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5.607</a:t>
            </a:r>
          </a:p>
        </p:txBody>
      </p:sp>
      <p:sp>
        <p:nvSpPr>
          <p:cNvPr id="39" name="Rectangle 38"/>
          <p:cNvSpPr/>
          <p:nvPr/>
        </p:nvSpPr>
        <p:spPr>
          <a:xfrm>
            <a:off x="3474720" y="3502152"/>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23</a:t>
            </a:r>
          </a:p>
        </p:txBody>
      </p:sp>
      <p:sp>
        <p:nvSpPr>
          <p:cNvPr id="40" name="Rectangle 39"/>
          <p:cNvSpPr/>
          <p:nvPr/>
        </p:nvSpPr>
        <p:spPr>
          <a:xfrm>
            <a:off x="4434840" y="3502152"/>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6</a:t>
            </a:r>
          </a:p>
        </p:txBody>
      </p:sp>
      <p:sp>
        <p:nvSpPr>
          <p:cNvPr id="41" name="Rectangle 40"/>
          <p:cNvSpPr/>
          <p:nvPr/>
        </p:nvSpPr>
        <p:spPr>
          <a:xfrm>
            <a:off x="5394960" y="3502152"/>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357</a:t>
            </a:r>
          </a:p>
        </p:txBody>
      </p:sp>
      <p:sp>
        <p:nvSpPr>
          <p:cNvPr id="42" name="Rectangle 41"/>
          <p:cNvSpPr/>
          <p:nvPr/>
        </p:nvSpPr>
        <p:spPr>
          <a:xfrm>
            <a:off x="502920" y="3931920"/>
            <a:ext cx="11887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6. Mahalle</a:t>
            </a:r>
          </a:p>
        </p:txBody>
      </p:sp>
      <p:sp>
        <p:nvSpPr>
          <p:cNvPr id="43" name="Rectangle 42"/>
          <p:cNvSpPr/>
          <p:nvPr/>
        </p:nvSpPr>
        <p:spPr>
          <a:xfrm>
            <a:off x="1691640" y="3931920"/>
            <a:ext cx="822960" cy="429768"/>
          </a:xfrm>
          <a:prstGeom prst="rect">
            <a:avLst/>
          </a:prstGeom>
          <a:solidFill>
            <a:srgbClr val="A82E2E"/>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FFFFFF"/>
                </a:solidFill>
                <a:latin typeface="Calibri"/>
              </a:rPr>
              <a:t>IX</a:t>
            </a:r>
          </a:p>
        </p:txBody>
      </p:sp>
      <p:sp>
        <p:nvSpPr>
          <p:cNvPr id="44" name="Rectangle 43"/>
          <p:cNvSpPr/>
          <p:nvPr/>
        </p:nvSpPr>
        <p:spPr>
          <a:xfrm>
            <a:off x="2514600" y="393192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4.477</a:t>
            </a:r>
          </a:p>
        </p:txBody>
      </p:sp>
      <p:sp>
        <p:nvSpPr>
          <p:cNvPr id="45" name="Rectangle 44"/>
          <p:cNvSpPr/>
          <p:nvPr/>
        </p:nvSpPr>
        <p:spPr>
          <a:xfrm>
            <a:off x="3474720" y="393192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311</a:t>
            </a:r>
          </a:p>
        </p:txBody>
      </p:sp>
      <p:sp>
        <p:nvSpPr>
          <p:cNvPr id="46" name="Rectangle 45"/>
          <p:cNvSpPr/>
          <p:nvPr/>
        </p:nvSpPr>
        <p:spPr>
          <a:xfrm>
            <a:off x="4434840" y="3931920"/>
            <a:ext cx="96012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81</a:t>
            </a:r>
          </a:p>
        </p:txBody>
      </p:sp>
      <p:sp>
        <p:nvSpPr>
          <p:cNvPr id="47" name="Rectangle 46"/>
          <p:cNvSpPr/>
          <p:nvPr/>
        </p:nvSpPr>
        <p:spPr>
          <a:xfrm>
            <a:off x="5394960" y="3931920"/>
            <a:ext cx="1143000" cy="429768"/>
          </a:xfrm>
          <a:prstGeom prst="rect">
            <a:avLst/>
          </a:prstGeom>
          <a:solidFill>
            <a:srgbClr val="F9E1E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2.684</a:t>
            </a:r>
          </a:p>
        </p:txBody>
      </p:sp>
      <p:sp>
        <p:nvSpPr>
          <p:cNvPr id="48" name="Rectangle 47"/>
          <p:cNvSpPr/>
          <p:nvPr/>
        </p:nvSpPr>
        <p:spPr>
          <a:xfrm>
            <a:off x="502920" y="4361688"/>
            <a:ext cx="1188720" cy="429768"/>
          </a:xfrm>
          <a:prstGeom prst="rect">
            <a:avLst/>
          </a:prstGeom>
          <a:solidFill>
            <a:srgbClr val="E3ECF5"/>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7. Mahalle</a:t>
            </a:r>
          </a:p>
        </p:txBody>
      </p:sp>
      <p:sp>
        <p:nvSpPr>
          <p:cNvPr id="49" name="Rectangle 48"/>
          <p:cNvSpPr/>
          <p:nvPr/>
        </p:nvSpPr>
        <p:spPr>
          <a:xfrm>
            <a:off x="1691640" y="4361688"/>
            <a:ext cx="822960" cy="429768"/>
          </a:xfrm>
          <a:prstGeom prst="rect">
            <a:avLst/>
          </a:prstGeom>
          <a:solidFill>
            <a:srgbClr val="D9622B"/>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FFFFFF"/>
                </a:solidFill>
                <a:latin typeface="Calibri"/>
              </a:rPr>
              <a:t>VIII</a:t>
            </a:r>
          </a:p>
        </p:txBody>
      </p:sp>
      <p:sp>
        <p:nvSpPr>
          <p:cNvPr id="50" name="Rectangle 49"/>
          <p:cNvSpPr/>
          <p:nvPr/>
        </p:nvSpPr>
        <p:spPr>
          <a:xfrm>
            <a:off x="2514600" y="4361688"/>
            <a:ext cx="960120" cy="429768"/>
          </a:xfrm>
          <a:prstGeom prst="rect">
            <a:avLst/>
          </a:prstGeom>
          <a:solidFill>
            <a:srgbClr val="E3ECF5"/>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6.447</a:t>
            </a:r>
          </a:p>
        </p:txBody>
      </p:sp>
      <p:sp>
        <p:nvSpPr>
          <p:cNvPr id="51" name="Rectangle 50"/>
          <p:cNvSpPr/>
          <p:nvPr/>
        </p:nvSpPr>
        <p:spPr>
          <a:xfrm>
            <a:off x="3474720" y="4361688"/>
            <a:ext cx="960120" cy="429768"/>
          </a:xfrm>
          <a:prstGeom prst="rect">
            <a:avLst/>
          </a:prstGeom>
          <a:solidFill>
            <a:srgbClr val="E3ECF5"/>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82</a:t>
            </a:r>
          </a:p>
        </p:txBody>
      </p:sp>
      <p:sp>
        <p:nvSpPr>
          <p:cNvPr id="52" name="Rectangle 51"/>
          <p:cNvSpPr/>
          <p:nvPr/>
        </p:nvSpPr>
        <p:spPr>
          <a:xfrm>
            <a:off x="4434840" y="4361688"/>
            <a:ext cx="960120" cy="429768"/>
          </a:xfrm>
          <a:prstGeom prst="rect">
            <a:avLst/>
          </a:prstGeom>
          <a:solidFill>
            <a:srgbClr val="E3ECF5"/>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21</a:t>
            </a:r>
          </a:p>
        </p:txBody>
      </p:sp>
      <p:sp>
        <p:nvSpPr>
          <p:cNvPr id="53" name="Rectangle 52"/>
          <p:cNvSpPr/>
          <p:nvPr/>
        </p:nvSpPr>
        <p:spPr>
          <a:xfrm>
            <a:off x="5394960" y="4361688"/>
            <a:ext cx="1143000" cy="429768"/>
          </a:xfrm>
          <a:prstGeom prst="rect">
            <a:avLst/>
          </a:prstGeom>
          <a:solidFill>
            <a:srgbClr val="E3ECF5"/>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840</a:t>
            </a:r>
          </a:p>
        </p:txBody>
      </p:sp>
      <p:sp>
        <p:nvSpPr>
          <p:cNvPr id="54" name="Rectangle 53"/>
          <p:cNvSpPr/>
          <p:nvPr/>
        </p:nvSpPr>
        <p:spPr>
          <a:xfrm>
            <a:off x="502920" y="4791456"/>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8. Mahalle</a:t>
            </a:r>
          </a:p>
        </p:txBody>
      </p:sp>
      <p:sp>
        <p:nvSpPr>
          <p:cNvPr id="55" name="Rectangle 54"/>
          <p:cNvSpPr/>
          <p:nvPr/>
        </p:nvSpPr>
        <p:spPr>
          <a:xfrm>
            <a:off x="1691640" y="4791456"/>
            <a:ext cx="822960" cy="429768"/>
          </a:xfrm>
          <a:prstGeom prst="rect">
            <a:avLst/>
          </a:prstGeom>
          <a:solidFill>
            <a:srgbClr val="F6D36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a:t>
            </a:r>
          </a:p>
        </p:txBody>
      </p:sp>
      <p:sp>
        <p:nvSpPr>
          <p:cNvPr id="56" name="Rectangle 55"/>
          <p:cNvSpPr/>
          <p:nvPr/>
        </p:nvSpPr>
        <p:spPr>
          <a:xfrm>
            <a:off x="2514600" y="479145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2.480</a:t>
            </a:r>
          </a:p>
        </p:txBody>
      </p:sp>
      <p:sp>
        <p:nvSpPr>
          <p:cNvPr id="57" name="Rectangle 56"/>
          <p:cNvSpPr/>
          <p:nvPr/>
        </p:nvSpPr>
        <p:spPr>
          <a:xfrm>
            <a:off x="3474720" y="479145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a:t>
            </a:r>
          </a:p>
        </p:txBody>
      </p:sp>
      <p:sp>
        <p:nvSpPr>
          <p:cNvPr id="58" name="Rectangle 57"/>
          <p:cNvSpPr/>
          <p:nvPr/>
        </p:nvSpPr>
        <p:spPr>
          <a:xfrm>
            <a:off x="4434840" y="4791456"/>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0</a:t>
            </a:r>
          </a:p>
        </p:txBody>
      </p:sp>
      <p:sp>
        <p:nvSpPr>
          <p:cNvPr id="59" name="Rectangle 58"/>
          <p:cNvSpPr/>
          <p:nvPr/>
        </p:nvSpPr>
        <p:spPr>
          <a:xfrm>
            <a:off x="5394960" y="4791456"/>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16</a:t>
            </a:r>
          </a:p>
        </p:txBody>
      </p:sp>
      <p:sp>
        <p:nvSpPr>
          <p:cNvPr id="60" name="Rectangle 59"/>
          <p:cNvSpPr/>
          <p:nvPr/>
        </p:nvSpPr>
        <p:spPr>
          <a:xfrm>
            <a:off x="502920" y="5221224"/>
            <a:ext cx="11887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0" i="0">
                <a:solidFill>
                  <a:srgbClr val="262626"/>
                </a:solidFill>
                <a:latin typeface="Calibri"/>
              </a:rPr>
              <a:t>9. Mahalle</a:t>
            </a:r>
          </a:p>
        </p:txBody>
      </p:sp>
      <p:sp>
        <p:nvSpPr>
          <p:cNvPr id="61" name="Rectangle 60"/>
          <p:cNvSpPr/>
          <p:nvPr/>
        </p:nvSpPr>
        <p:spPr>
          <a:xfrm>
            <a:off x="1691640" y="5221224"/>
            <a:ext cx="822960" cy="429768"/>
          </a:xfrm>
          <a:prstGeom prst="rect">
            <a:avLst/>
          </a:prstGeom>
          <a:solidFill>
            <a:srgbClr val="F6D36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VI</a:t>
            </a:r>
          </a:p>
        </p:txBody>
      </p:sp>
      <p:sp>
        <p:nvSpPr>
          <p:cNvPr id="62" name="Rectangle 61"/>
          <p:cNvSpPr/>
          <p:nvPr/>
        </p:nvSpPr>
        <p:spPr>
          <a:xfrm>
            <a:off x="2514600" y="522122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2.869</a:t>
            </a:r>
          </a:p>
        </p:txBody>
      </p:sp>
      <p:sp>
        <p:nvSpPr>
          <p:cNvPr id="63" name="Rectangle 62"/>
          <p:cNvSpPr/>
          <p:nvPr/>
        </p:nvSpPr>
        <p:spPr>
          <a:xfrm>
            <a:off x="3474720" y="522122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1</a:t>
            </a:r>
          </a:p>
        </p:txBody>
      </p:sp>
      <p:sp>
        <p:nvSpPr>
          <p:cNvPr id="64" name="Rectangle 63"/>
          <p:cNvSpPr/>
          <p:nvPr/>
        </p:nvSpPr>
        <p:spPr>
          <a:xfrm>
            <a:off x="4434840" y="5221224"/>
            <a:ext cx="96012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0</a:t>
            </a:r>
          </a:p>
        </p:txBody>
      </p:sp>
      <p:sp>
        <p:nvSpPr>
          <p:cNvPr id="65" name="Rectangle 64"/>
          <p:cNvSpPr/>
          <p:nvPr/>
        </p:nvSpPr>
        <p:spPr>
          <a:xfrm>
            <a:off x="5394960" y="5221224"/>
            <a:ext cx="1143000" cy="429768"/>
          </a:xfrm>
          <a:prstGeom prst="rect">
            <a:avLst/>
          </a:prstGeom>
          <a:solidFill>
            <a:srgbClr val="FFFFFF"/>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0" i="0">
                <a:solidFill>
                  <a:srgbClr val="262626"/>
                </a:solidFill>
                <a:latin typeface="Calibri"/>
              </a:rPr>
              <a:t>20</a:t>
            </a:r>
          </a:p>
        </p:txBody>
      </p:sp>
      <p:sp>
        <p:nvSpPr>
          <p:cNvPr id="66" name="Rectangle 65"/>
          <p:cNvSpPr/>
          <p:nvPr/>
        </p:nvSpPr>
        <p:spPr>
          <a:xfrm>
            <a:off x="502920" y="5650992"/>
            <a:ext cx="118872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l">
              <a:spcBef>
                <a:spcPts val="0"/>
              </a:spcBef>
              <a:spcAft>
                <a:spcPts val="0"/>
              </a:spcAft>
            </a:pPr>
            <a:r>
              <a:rPr lang="tr-TR" sz="1700" b="1" i="0">
                <a:solidFill>
                  <a:srgbClr val="262626"/>
                </a:solidFill>
                <a:latin typeface="Calibri"/>
              </a:rPr>
              <a:t>Toplam</a:t>
            </a:r>
          </a:p>
        </p:txBody>
      </p:sp>
      <p:sp>
        <p:nvSpPr>
          <p:cNvPr id="67" name="Rectangle 66"/>
          <p:cNvSpPr/>
          <p:nvPr/>
        </p:nvSpPr>
        <p:spPr>
          <a:xfrm>
            <a:off x="1691640" y="5650992"/>
            <a:ext cx="82296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p>
        </p:txBody>
      </p:sp>
      <p:sp>
        <p:nvSpPr>
          <p:cNvPr id="68" name="Rectangle 67"/>
          <p:cNvSpPr/>
          <p:nvPr/>
        </p:nvSpPr>
        <p:spPr>
          <a:xfrm>
            <a:off x="2514600" y="5650992"/>
            <a:ext cx="96012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1" i="0">
                <a:solidFill>
                  <a:srgbClr val="262626"/>
                </a:solidFill>
                <a:latin typeface="Calibri"/>
              </a:rPr>
              <a:t>33.085</a:t>
            </a:r>
          </a:p>
        </p:txBody>
      </p:sp>
      <p:sp>
        <p:nvSpPr>
          <p:cNvPr id="69" name="Rectangle 68"/>
          <p:cNvSpPr/>
          <p:nvPr/>
        </p:nvSpPr>
        <p:spPr>
          <a:xfrm>
            <a:off x="3474720" y="5650992"/>
            <a:ext cx="96012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1" i="0">
                <a:solidFill>
                  <a:srgbClr val="262626"/>
                </a:solidFill>
                <a:latin typeface="Calibri"/>
              </a:rPr>
              <a:t>677</a:t>
            </a:r>
          </a:p>
        </p:txBody>
      </p:sp>
      <p:sp>
        <p:nvSpPr>
          <p:cNvPr id="70" name="Rectangle 69"/>
          <p:cNvSpPr/>
          <p:nvPr/>
        </p:nvSpPr>
        <p:spPr>
          <a:xfrm>
            <a:off x="4434840" y="5650992"/>
            <a:ext cx="96012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1" i="0">
                <a:solidFill>
                  <a:srgbClr val="262626"/>
                </a:solidFill>
                <a:latin typeface="Calibri"/>
              </a:rPr>
              <a:t>176</a:t>
            </a:r>
          </a:p>
        </p:txBody>
      </p:sp>
      <p:sp>
        <p:nvSpPr>
          <p:cNvPr id="71" name="Rectangle 70"/>
          <p:cNvSpPr/>
          <p:nvPr/>
        </p:nvSpPr>
        <p:spPr>
          <a:xfrm>
            <a:off x="5394960" y="5650992"/>
            <a:ext cx="1143000" cy="429768"/>
          </a:xfrm>
          <a:prstGeom prst="rect">
            <a:avLst/>
          </a:prstGeom>
          <a:solidFill>
            <a:srgbClr val="FFF3D1"/>
          </a:solidFill>
          <a:ln w="6350">
            <a:solidFill>
              <a:srgbClr val="D9D9D9"/>
            </a:solidFill>
          </a:ln>
          <a:effectLst/>
        </p:spPr>
        <p:txBody>
          <a:bodyPr rtlCol="0" anchor="ctr" wrap="square" lIns="54864" rIns="54864" tIns="9144" bIns="9144">
            <a:noAutofit/>
          </a:bodyPr>
          <a:lstStyle/>
          <a:p>
            <a:pPr algn="ctr">
              <a:spcBef>
                <a:spcPts val="0"/>
              </a:spcBef>
              <a:spcAft>
                <a:spcPts val="0"/>
              </a:spcAft>
            </a:pPr>
            <a:r>
              <a:rPr lang="tr-TR" sz="1700" b="1" i="0">
                <a:solidFill>
                  <a:srgbClr val="262626"/>
                </a:solidFill>
                <a:latin typeface="Calibri"/>
              </a:rPr>
              <a:t>6.280</a:t>
            </a:r>
          </a:p>
        </p:txBody>
      </p:sp>
      <p:sp>
        <p:nvSpPr>
          <p:cNvPr id="72" name="Rounded Rectangle 71"/>
          <p:cNvSpPr/>
          <p:nvPr/>
        </p:nvSpPr>
        <p:spPr>
          <a:xfrm>
            <a:off x="6766560" y="1216152"/>
            <a:ext cx="4922215" cy="1200150"/>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800" b="1" i="0">
                <a:solidFill>
                  <a:srgbClr val="262626"/>
                </a:solidFill>
                <a:latin typeface="Calibri"/>
              </a:rPr>
              <a:t>1)</a:t>
            </a:r>
            <a:r>
              <a:rPr lang="tr-TR" sz="1800" b="0" i="0">
                <a:solidFill>
                  <a:srgbClr val="262626"/>
                </a:solidFill>
                <a:latin typeface="Calibri"/>
              </a:rPr>
              <a:t> 1. ve 6. mahalle (IX): ağır hasar 243 ve 311, can kaybı 63 ve 81</a:t>
            </a:r>
          </a:p>
        </p:txBody>
      </p:sp>
      <p:sp>
        <p:nvSpPr>
          <p:cNvPr id="73" name="Rounded Rectangle 72"/>
          <p:cNvSpPr/>
          <p:nvPr/>
        </p:nvSpPr>
        <p:spPr>
          <a:xfrm>
            <a:off x="6766560" y="2507742"/>
            <a:ext cx="4922215" cy="1200150"/>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800" b="1" i="0">
                <a:solidFill>
                  <a:srgbClr val="262626"/>
                </a:solidFill>
                <a:latin typeface="Calibri"/>
              </a:rPr>
              <a:t>2)</a:t>
            </a:r>
            <a:r>
              <a:rPr lang="tr-TR" sz="1800" b="0" i="0">
                <a:solidFill>
                  <a:srgbClr val="262626"/>
                </a:solidFill>
                <a:latin typeface="Calibri"/>
              </a:rPr>
              <a:t> 7. Mahalle en kalabalık (VIII): can kaybı 21 — sonucu şiddet belirliyor</a:t>
            </a:r>
          </a:p>
        </p:txBody>
      </p:sp>
      <p:sp>
        <p:nvSpPr>
          <p:cNvPr id="74" name="Rounded Rectangle 73"/>
          <p:cNvSpPr/>
          <p:nvPr/>
        </p:nvSpPr>
        <p:spPr>
          <a:xfrm>
            <a:off x="6766560" y="3799332"/>
            <a:ext cx="4922215" cy="1200150"/>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800" b="1" i="0">
                <a:solidFill>
                  <a:srgbClr val="262626"/>
                </a:solidFill>
                <a:latin typeface="Calibri"/>
              </a:rPr>
              <a:t>3)</a:t>
            </a:r>
            <a:r>
              <a:rPr lang="tr-TR" sz="1800" b="0" i="0">
                <a:solidFill>
                  <a:srgbClr val="262626"/>
                </a:solidFill>
                <a:latin typeface="Calibri"/>
              </a:rPr>
              <a:t> VI olanlar: can kaybı 0, ağır hasar 1</a:t>
            </a:r>
          </a:p>
        </p:txBody>
      </p:sp>
      <p:sp>
        <p:nvSpPr>
          <p:cNvPr id="75" name="Rounded Rectangle 74"/>
          <p:cNvSpPr/>
          <p:nvPr/>
        </p:nvSpPr>
        <p:spPr>
          <a:xfrm>
            <a:off x="6766560" y="5090922"/>
            <a:ext cx="4922215" cy="1200150"/>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800" b="1" i="0">
                <a:solidFill>
                  <a:srgbClr val="262626"/>
                </a:solidFill>
                <a:latin typeface="Calibri"/>
              </a:rPr>
              <a:t>4)</a:t>
            </a:r>
            <a:r>
              <a:rPr lang="tr-TR" sz="1800" b="0" i="0">
                <a:solidFill>
                  <a:srgbClr val="262626"/>
                </a:solidFill>
                <a:latin typeface="Calibri"/>
              </a:rPr>
              <a:t> 6.280 kişi açıkta, 1.570 çadır: çadır ≈ açıkta kalan ÷ 4</a:t>
            </a:r>
          </a:p>
        </p:txBody>
      </p:sp>
      <p:sp>
        <p:nvSpPr>
          <p:cNvPr id="76" name="TextBox 7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77" name="Rounded Rectangle 7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78" name="TextBox 7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197 / 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Deprem senaryosu tablosuna göre aşağıdakilerden hangisi söylenebilir?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Nüfusu en kalabalık mahallede can kaybı en yüksektir.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Şiddet arttıkça ağır hasarlı konut sayısı genel olarak artar.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Açıkta kalacak insan sayısı en fazla 7. mahallededir.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Bütün mahallelerde çadır ihtiyacı eşittir.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Konut sayısı en az olan mahallede ağır hasar en fazladır.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198 / 250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Deprem senaryosu tablosuna göre aşağıdakilerden hangisi söylenebilir?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Nüfusu en kalabalık mahallede can kaybı en yüksektir.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Şiddet arttıkça ağır hasarlı konut sayısı genel olarak artar.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Açıkta kalacak insan sayısı en fazla 7. mahallededir.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Bütün mahallelerde çadır ihtiyacı eşittir.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Konut sayısı en az olan mahallede ağır hasar en fazladır.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50" b="0" i="0">
                <a:solidFill>
                  <a:srgbClr val="262626"/>
                </a:solidFill>
                <a:latin typeface="Calibri"/>
              </a:rPr>
              <a:t>Ağır hasar VI şiddetli mahallelerde 1, VII'de 15 ve 23, VIII'de 82, IX'da 243 ve 311 konuttur. En kalabalık 7. mahallede can kaybı 21'dir (en yüksek 6. mahalle: 81); en çok açıkta kalan 6. mahalledir (2.684).</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199 / 250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öneriler oluşturalım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ADIM · 6 dk</a:t>
            </a:r>
          </a:p>
        </p:txBody>
      </p:sp>
      <p:sp>
        <p:nvSpPr>
          <p:cNvPr id="6" name="Rounded Rectangle 5"/>
          <p:cNvSpPr/>
          <p:nvPr/>
        </p:nvSpPr>
        <p:spPr>
          <a:xfrm>
            <a:off x="502920" y="1216152"/>
            <a:ext cx="2659303" cy="2377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2659303" cy="658368"/>
          </a:xfrm>
          <a:prstGeom prst="roundRect">
            <a:avLst>
              <a:gd name="adj" fmla="val 25000"/>
            </a:avLst>
          </a:prstGeom>
          <a:solidFill>
            <a:srgbClr val="1F86BF"/>
          </a:solidFill>
          <a:ln>
            <a:noFill/>
          </a:ln>
          <a:effectLst/>
        </p:spPr>
        <p:txBody>
          <a:bodyPr rtlCol="0" anchor="ctr"/>
          <a:lstStyle/>
          <a:p/>
        </p:txBody>
      </p:sp>
      <p:sp>
        <p:nvSpPr>
          <p:cNvPr id="8" name="Rectangle 7"/>
          <p:cNvSpPr/>
          <p:nvPr/>
        </p:nvSpPr>
        <p:spPr>
          <a:xfrm>
            <a:off x="502920" y="1545336"/>
            <a:ext cx="2659303" cy="329184"/>
          </a:xfrm>
          <a:prstGeom prst="rect">
            <a:avLst/>
          </a:prstGeom>
          <a:solidFill>
            <a:srgbClr val="1F86BF"/>
          </a:solidFill>
          <a:ln>
            <a:noFill/>
          </a:ln>
          <a:effectLst/>
        </p:spPr>
        <p:txBody>
          <a:bodyPr rtlCol="0" anchor="ctr"/>
          <a:lstStyle/>
          <a:p/>
        </p:txBody>
      </p:sp>
      <p:sp>
        <p:nvSpPr>
          <p:cNvPr id="9" name="TextBox 8"/>
          <p:cNvSpPr txBox="1"/>
          <p:nvPr/>
        </p:nvSpPr>
        <p:spPr>
          <a:xfrm>
            <a:off x="594360" y="1216152"/>
            <a:ext cx="2476423" cy="658368"/>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Risk ve zarar azaltma</a:t>
            </a:r>
          </a:p>
        </p:txBody>
      </p:sp>
      <p:sp>
        <p:nvSpPr>
          <p:cNvPr id="10" name="TextBox 9"/>
          <p:cNvSpPr txBox="1"/>
          <p:nvPr/>
        </p:nvSpPr>
        <p:spPr>
          <a:xfrm>
            <a:off x="612648" y="1947672"/>
            <a:ext cx="2439847" cy="1572768"/>
          </a:xfrm>
          <a:prstGeom prst="rect">
            <a:avLst/>
          </a:prstGeom>
          <a:noFill/>
        </p:spPr>
        <p:txBody>
          <a:bodyPr wrap="square" anchor="ctr" lIns="73152" rIns="73152" tIns="36576" bIns="36576">
            <a:noAutofit/>
          </a:bodyPr>
          <a:lstStyle/>
          <a:p>
            <a:pPr algn="ctr">
              <a:spcBef>
                <a:spcPts val="0"/>
              </a:spcBef>
              <a:spcAft>
                <a:spcPts val="600"/>
              </a:spcAft>
            </a:pPr>
            <a:r>
              <a:rPr lang="tr-TR" sz="1900" b="1" i="0">
                <a:solidFill>
                  <a:srgbClr val="262626"/>
                </a:solidFill>
                <a:latin typeface="Calibri"/>
              </a:rPr>
              <a:t>en az 2 öneri</a:t>
            </a:r>
          </a:p>
          <a:p>
            <a:pPr algn="ctr">
              <a:spcBef>
                <a:spcPts val="0"/>
              </a:spcBef>
              <a:spcAft>
                <a:spcPts val="0"/>
              </a:spcAft>
            </a:pPr>
            <a:r>
              <a:rPr lang="tr-TR" sz="1900" b="0" i="0">
                <a:solidFill>
                  <a:srgbClr val="262626"/>
                </a:solidFill>
                <a:latin typeface="Calibri"/>
              </a:rPr>
              <a:t>+ dayandığı sayı</a:t>
            </a:r>
          </a:p>
        </p:txBody>
      </p:sp>
      <p:sp>
        <p:nvSpPr>
          <p:cNvPr id="11" name="Rounded Rectangle 10"/>
          <p:cNvSpPr/>
          <p:nvPr/>
        </p:nvSpPr>
        <p:spPr>
          <a:xfrm>
            <a:off x="3345103" y="1216152"/>
            <a:ext cx="2659303" cy="23774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5103" y="1216152"/>
            <a:ext cx="2659303" cy="658368"/>
          </a:xfrm>
          <a:prstGeom prst="roundRect">
            <a:avLst>
              <a:gd name="adj" fmla="val 25000"/>
            </a:avLst>
          </a:prstGeom>
          <a:solidFill>
            <a:srgbClr val="D97316"/>
          </a:solidFill>
          <a:ln>
            <a:noFill/>
          </a:ln>
          <a:effectLst/>
        </p:spPr>
        <p:txBody>
          <a:bodyPr rtlCol="0" anchor="ctr"/>
          <a:lstStyle/>
          <a:p/>
        </p:txBody>
      </p:sp>
      <p:sp>
        <p:nvSpPr>
          <p:cNvPr id="13" name="Rectangle 12"/>
          <p:cNvSpPr/>
          <p:nvPr/>
        </p:nvSpPr>
        <p:spPr>
          <a:xfrm>
            <a:off x="3345103" y="1545336"/>
            <a:ext cx="2659303" cy="329184"/>
          </a:xfrm>
          <a:prstGeom prst="rect">
            <a:avLst/>
          </a:prstGeom>
          <a:solidFill>
            <a:srgbClr val="D97316"/>
          </a:solidFill>
          <a:ln>
            <a:noFill/>
          </a:ln>
          <a:effectLst/>
        </p:spPr>
        <p:txBody>
          <a:bodyPr rtlCol="0" anchor="ctr"/>
          <a:lstStyle/>
          <a:p/>
        </p:txBody>
      </p:sp>
      <p:sp>
        <p:nvSpPr>
          <p:cNvPr id="14" name="TextBox 13"/>
          <p:cNvSpPr txBox="1"/>
          <p:nvPr/>
        </p:nvSpPr>
        <p:spPr>
          <a:xfrm>
            <a:off x="3436543" y="1216152"/>
            <a:ext cx="2476423" cy="658368"/>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Hazırlıklı olma</a:t>
            </a:r>
          </a:p>
        </p:txBody>
      </p:sp>
      <p:sp>
        <p:nvSpPr>
          <p:cNvPr id="15" name="TextBox 14"/>
          <p:cNvSpPr txBox="1"/>
          <p:nvPr/>
        </p:nvSpPr>
        <p:spPr>
          <a:xfrm>
            <a:off x="3454831" y="1947672"/>
            <a:ext cx="2439847" cy="1572768"/>
          </a:xfrm>
          <a:prstGeom prst="rect">
            <a:avLst/>
          </a:prstGeom>
          <a:noFill/>
        </p:spPr>
        <p:txBody>
          <a:bodyPr wrap="square" anchor="ctr" lIns="73152" rIns="73152" tIns="36576" bIns="36576">
            <a:noAutofit/>
          </a:bodyPr>
          <a:lstStyle/>
          <a:p>
            <a:pPr algn="ctr">
              <a:spcBef>
                <a:spcPts val="0"/>
              </a:spcBef>
              <a:spcAft>
                <a:spcPts val="600"/>
              </a:spcAft>
            </a:pPr>
            <a:r>
              <a:rPr lang="tr-TR" sz="1900" b="1" i="0">
                <a:solidFill>
                  <a:srgbClr val="262626"/>
                </a:solidFill>
                <a:latin typeface="Calibri"/>
              </a:rPr>
              <a:t>en az 2 öneri</a:t>
            </a:r>
          </a:p>
          <a:p>
            <a:pPr algn="ctr">
              <a:spcBef>
                <a:spcPts val="0"/>
              </a:spcBef>
              <a:spcAft>
                <a:spcPts val="0"/>
              </a:spcAft>
            </a:pPr>
            <a:r>
              <a:rPr lang="tr-TR" sz="1900" b="0" i="0">
                <a:solidFill>
                  <a:srgbClr val="262626"/>
                </a:solidFill>
                <a:latin typeface="Calibri"/>
              </a:rPr>
              <a:t>+ dayandığı sayı</a:t>
            </a:r>
          </a:p>
        </p:txBody>
      </p:sp>
      <p:sp>
        <p:nvSpPr>
          <p:cNvPr id="16" name="Rounded Rectangle 15"/>
          <p:cNvSpPr/>
          <p:nvPr/>
        </p:nvSpPr>
        <p:spPr>
          <a:xfrm>
            <a:off x="6187286" y="1216152"/>
            <a:ext cx="2659303" cy="23774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87286" y="1216152"/>
            <a:ext cx="2659303" cy="658368"/>
          </a:xfrm>
          <a:prstGeom prst="roundRect">
            <a:avLst>
              <a:gd name="adj" fmla="val 25000"/>
            </a:avLst>
          </a:prstGeom>
          <a:solidFill>
            <a:srgbClr val="CC3333"/>
          </a:solidFill>
          <a:ln>
            <a:noFill/>
          </a:ln>
          <a:effectLst/>
        </p:spPr>
        <p:txBody>
          <a:bodyPr rtlCol="0" anchor="ctr"/>
          <a:lstStyle/>
          <a:p/>
        </p:txBody>
      </p:sp>
      <p:sp>
        <p:nvSpPr>
          <p:cNvPr id="18" name="Rectangle 17"/>
          <p:cNvSpPr/>
          <p:nvPr/>
        </p:nvSpPr>
        <p:spPr>
          <a:xfrm>
            <a:off x="6187286" y="1545336"/>
            <a:ext cx="2659303" cy="329184"/>
          </a:xfrm>
          <a:prstGeom prst="rect">
            <a:avLst/>
          </a:prstGeom>
          <a:solidFill>
            <a:srgbClr val="CC3333"/>
          </a:solidFill>
          <a:ln>
            <a:noFill/>
          </a:ln>
          <a:effectLst/>
        </p:spPr>
        <p:txBody>
          <a:bodyPr rtlCol="0" anchor="ctr"/>
          <a:lstStyle/>
          <a:p/>
        </p:txBody>
      </p:sp>
      <p:sp>
        <p:nvSpPr>
          <p:cNvPr id="19" name="TextBox 18"/>
          <p:cNvSpPr txBox="1"/>
          <p:nvPr/>
        </p:nvSpPr>
        <p:spPr>
          <a:xfrm>
            <a:off x="6278726" y="1216152"/>
            <a:ext cx="2476423" cy="658368"/>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Müdahale</a:t>
            </a:r>
          </a:p>
        </p:txBody>
      </p:sp>
      <p:sp>
        <p:nvSpPr>
          <p:cNvPr id="20" name="TextBox 19"/>
          <p:cNvSpPr txBox="1"/>
          <p:nvPr/>
        </p:nvSpPr>
        <p:spPr>
          <a:xfrm>
            <a:off x="6297014" y="1947672"/>
            <a:ext cx="2439847" cy="1572768"/>
          </a:xfrm>
          <a:prstGeom prst="rect">
            <a:avLst/>
          </a:prstGeom>
          <a:noFill/>
        </p:spPr>
        <p:txBody>
          <a:bodyPr wrap="square" anchor="ctr" lIns="73152" rIns="73152" tIns="36576" bIns="36576">
            <a:noAutofit/>
          </a:bodyPr>
          <a:lstStyle/>
          <a:p>
            <a:pPr algn="ctr">
              <a:spcBef>
                <a:spcPts val="0"/>
              </a:spcBef>
              <a:spcAft>
                <a:spcPts val="600"/>
              </a:spcAft>
            </a:pPr>
            <a:r>
              <a:rPr lang="tr-TR" sz="1900" b="1" i="0">
                <a:solidFill>
                  <a:srgbClr val="262626"/>
                </a:solidFill>
                <a:latin typeface="Calibri"/>
              </a:rPr>
              <a:t>en az 2 öneri</a:t>
            </a:r>
          </a:p>
          <a:p>
            <a:pPr algn="ctr">
              <a:spcBef>
                <a:spcPts val="0"/>
              </a:spcBef>
              <a:spcAft>
                <a:spcPts val="0"/>
              </a:spcAft>
            </a:pPr>
            <a:r>
              <a:rPr lang="tr-TR" sz="1900" b="0" i="0">
                <a:solidFill>
                  <a:srgbClr val="262626"/>
                </a:solidFill>
                <a:latin typeface="Calibri"/>
              </a:rPr>
              <a:t>+ dayandığı sayı</a:t>
            </a:r>
          </a:p>
        </p:txBody>
      </p:sp>
      <p:sp>
        <p:nvSpPr>
          <p:cNvPr id="21" name="Rounded Rectangle 20"/>
          <p:cNvSpPr/>
          <p:nvPr/>
        </p:nvSpPr>
        <p:spPr>
          <a:xfrm>
            <a:off x="9029469" y="1216152"/>
            <a:ext cx="2659303" cy="237744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29469" y="1216152"/>
            <a:ext cx="2659303" cy="658368"/>
          </a:xfrm>
          <a:prstGeom prst="roundRect">
            <a:avLst>
              <a:gd name="adj" fmla="val 25000"/>
            </a:avLst>
          </a:prstGeom>
          <a:solidFill>
            <a:srgbClr val="55992E"/>
          </a:solidFill>
          <a:ln>
            <a:noFill/>
          </a:ln>
          <a:effectLst/>
        </p:spPr>
        <p:txBody>
          <a:bodyPr rtlCol="0" anchor="ctr"/>
          <a:lstStyle/>
          <a:p/>
        </p:txBody>
      </p:sp>
      <p:sp>
        <p:nvSpPr>
          <p:cNvPr id="23" name="Rectangle 22"/>
          <p:cNvSpPr/>
          <p:nvPr/>
        </p:nvSpPr>
        <p:spPr>
          <a:xfrm>
            <a:off x="9029469" y="1545336"/>
            <a:ext cx="2659303" cy="329184"/>
          </a:xfrm>
          <a:prstGeom prst="rect">
            <a:avLst/>
          </a:prstGeom>
          <a:solidFill>
            <a:srgbClr val="55992E"/>
          </a:solidFill>
          <a:ln>
            <a:noFill/>
          </a:ln>
          <a:effectLst/>
        </p:spPr>
        <p:txBody>
          <a:bodyPr rtlCol="0" anchor="ctr"/>
          <a:lstStyle/>
          <a:p/>
        </p:txBody>
      </p:sp>
      <p:sp>
        <p:nvSpPr>
          <p:cNvPr id="24" name="TextBox 23"/>
          <p:cNvSpPr txBox="1"/>
          <p:nvPr/>
        </p:nvSpPr>
        <p:spPr>
          <a:xfrm>
            <a:off x="9120909" y="1216152"/>
            <a:ext cx="2476423" cy="658368"/>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İyileştirme</a:t>
            </a:r>
          </a:p>
        </p:txBody>
      </p:sp>
      <p:sp>
        <p:nvSpPr>
          <p:cNvPr id="25" name="TextBox 24"/>
          <p:cNvSpPr txBox="1"/>
          <p:nvPr/>
        </p:nvSpPr>
        <p:spPr>
          <a:xfrm>
            <a:off x="9139197" y="1947672"/>
            <a:ext cx="2439847" cy="1572768"/>
          </a:xfrm>
          <a:prstGeom prst="rect">
            <a:avLst/>
          </a:prstGeom>
          <a:noFill/>
        </p:spPr>
        <p:txBody>
          <a:bodyPr wrap="square" anchor="ctr" lIns="73152" rIns="73152" tIns="36576" bIns="36576">
            <a:noAutofit/>
          </a:bodyPr>
          <a:lstStyle/>
          <a:p>
            <a:pPr algn="ctr">
              <a:spcBef>
                <a:spcPts val="0"/>
              </a:spcBef>
              <a:spcAft>
                <a:spcPts val="600"/>
              </a:spcAft>
            </a:pPr>
            <a:r>
              <a:rPr lang="tr-TR" sz="1900" b="1" i="0">
                <a:solidFill>
                  <a:srgbClr val="262626"/>
                </a:solidFill>
                <a:latin typeface="Calibri"/>
              </a:rPr>
              <a:t>en az 2 öneri</a:t>
            </a:r>
          </a:p>
          <a:p>
            <a:pPr algn="ctr">
              <a:spcBef>
                <a:spcPts val="0"/>
              </a:spcBef>
              <a:spcAft>
                <a:spcPts val="0"/>
              </a:spcAft>
            </a:pPr>
            <a:r>
              <a:rPr lang="tr-TR" sz="1900" b="0" i="0">
                <a:solidFill>
                  <a:srgbClr val="262626"/>
                </a:solidFill>
                <a:latin typeface="Calibri"/>
              </a:rPr>
              <a:t>+ dayandığı sayı</a:t>
            </a:r>
          </a:p>
        </p:txBody>
      </p:sp>
      <p:sp>
        <p:nvSpPr>
          <p:cNvPr id="26" name="Rounded Rectangle 25"/>
          <p:cNvSpPr/>
          <p:nvPr/>
        </p:nvSpPr>
        <p:spPr>
          <a:xfrm>
            <a:off x="502920" y="3776472"/>
            <a:ext cx="11185855" cy="2468880"/>
          </a:xfrm>
          <a:prstGeom prst="roundRect">
            <a:avLst>
              <a:gd name="adj" fmla="val 8000"/>
            </a:avLst>
          </a:prstGeom>
          <a:solidFill>
            <a:srgbClr val="FFF3D1"/>
          </a:solidFill>
          <a:ln>
            <a:noFill/>
          </a:ln>
          <a:effectLst/>
        </p:spPr>
        <p:txBody>
          <a:bodyPr rtlCol="0" anchor="ctr" wrap="square" lIns="320040" rIns="320040" tIns="73152" bIns="73152">
            <a:noAutofit/>
          </a:bodyPr>
          <a:lstStyle/>
          <a:p>
            <a:pPr algn="l">
              <a:spcBef>
                <a:spcPts val="0"/>
              </a:spcBef>
              <a:spcAft>
                <a:spcPts val="800"/>
              </a:spcAft>
            </a:pPr>
            <a:r>
              <a:rPr lang="tr-TR" sz="2300" b="1" i="0">
                <a:solidFill>
                  <a:srgbClr val="1E7B6E"/>
                </a:solidFill>
                <a:latin typeface="Calibri"/>
              </a:rPr>
              <a:t>Önerimizin kalıbı</a:t>
            </a:r>
          </a:p>
          <a:p>
            <a:pPr algn="l" marL="368886" indent="-368886">
              <a:spcBef>
                <a:spcPts val="0"/>
              </a:spcBef>
              <a:spcAft>
                <a:spcPts val="800"/>
              </a:spcAft>
            </a:pPr>
            <a:r>
              <a:rPr lang="tr-TR" sz="2300" b="1" i="0">
                <a:solidFill>
                  <a:srgbClr val="1E7B6E"/>
                </a:solidFill>
                <a:latin typeface="Calibri"/>
              </a:rPr>
              <a:t>1.  </a:t>
            </a:r>
            <a:r>
              <a:rPr lang="tr-TR" sz="2300" b="0" i="0">
                <a:solidFill>
                  <a:srgbClr val="262626"/>
                </a:solidFill>
                <a:latin typeface="Calibri"/>
              </a:rPr>
              <a:t>Tabloda gördük ki …</a:t>
            </a:r>
          </a:p>
          <a:p>
            <a:pPr algn="l" marL="368886" indent="-368886">
              <a:spcBef>
                <a:spcPts val="0"/>
              </a:spcBef>
              <a:spcAft>
                <a:spcPts val="800"/>
              </a:spcAft>
            </a:pPr>
            <a:r>
              <a:rPr lang="tr-TR" sz="2300" b="1" i="0">
                <a:solidFill>
                  <a:srgbClr val="1E7B6E"/>
                </a:solidFill>
                <a:latin typeface="Calibri"/>
              </a:rPr>
              <a:t>2.  </a:t>
            </a:r>
            <a:r>
              <a:rPr lang="tr-TR" sz="2300" b="0" i="0">
                <a:solidFill>
                  <a:srgbClr val="262626"/>
                </a:solidFill>
                <a:latin typeface="Calibri"/>
              </a:rPr>
              <a:t>Bu yüzden öneriyoruz ki …</a:t>
            </a:r>
          </a:p>
          <a:p>
            <a:pPr algn="l" marL="368886" indent="-368886">
              <a:spcBef>
                <a:spcPts val="0"/>
              </a:spcBef>
              <a:spcAft>
                <a:spcPts val="0"/>
              </a:spcAft>
            </a:pPr>
            <a:r>
              <a:rPr lang="tr-TR" sz="2300" b="1" i="0">
                <a:solidFill>
                  <a:srgbClr val="1E7B6E"/>
                </a:solidFill>
                <a:latin typeface="Calibri"/>
              </a:rPr>
              <a:t>3.  </a:t>
            </a:r>
            <a:r>
              <a:rPr lang="tr-TR" sz="2300" b="0" i="0">
                <a:solidFill>
                  <a:srgbClr val="262626"/>
                </a:solidFill>
                <a:latin typeface="Calibri"/>
              </a:rPr>
              <a:t>Bu öneri … aşamasına girer.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209</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200 / 250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 örnek öneriler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659303"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7" name="Rounded Rectangle 6"/>
          <p:cNvSpPr/>
          <p:nvPr/>
        </p:nvSpPr>
        <p:spPr>
          <a:xfrm>
            <a:off x="502920" y="1216152"/>
            <a:ext cx="2659303" cy="658368"/>
          </a:xfrm>
          <a:prstGeom prst="roundRect">
            <a:avLst>
              <a:gd name="adj" fmla="val 20000"/>
            </a:avLst>
          </a:prstGeom>
          <a:solidFill>
            <a:srgbClr val="1F86BF"/>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Risk ve zarar azaltma</a:t>
            </a:r>
          </a:p>
        </p:txBody>
      </p:sp>
      <p:sp>
        <p:nvSpPr>
          <p:cNvPr id="8" name="TextBox 7"/>
          <p:cNvSpPr txBox="1"/>
          <p:nvPr/>
        </p:nvSpPr>
        <p:spPr>
          <a:xfrm>
            <a:off x="612648" y="1993392"/>
            <a:ext cx="2439847" cy="4160520"/>
          </a:xfrm>
          <a:prstGeom prst="rect">
            <a:avLst/>
          </a:prstGeom>
          <a:noFill/>
        </p:spPr>
        <p:txBody>
          <a:bodyPr wrap="square" anchor="ctr" lIns="73152" rIns="73152" tIns="36576" bIns="36576">
            <a:noAutofit/>
          </a:bodyPr>
          <a:lstStyle/>
          <a:p>
            <a:pPr algn="l" marL="261051" indent="-261051">
              <a:spcBef>
                <a:spcPts val="0"/>
              </a:spcBef>
              <a:spcAft>
                <a:spcPts val="400"/>
              </a:spcAft>
            </a:pPr>
            <a:r>
              <a:rPr lang="tr-TR" sz="2100" b="1" i="0">
                <a:solidFill>
                  <a:srgbClr val="1F86BF"/>
                </a:solidFill>
                <a:latin typeface="Calibri"/>
              </a:rPr>
              <a:t>•  </a:t>
            </a:r>
            <a:r>
              <a:rPr lang="tr-TR" sz="2100" b="0" i="0">
                <a:solidFill>
                  <a:srgbClr val="262626"/>
                </a:solidFill>
                <a:latin typeface="Calibri"/>
              </a:rPr>
              <a:t>1. ve 6. mahallede binaları güçlendir</a:t>
            </a:r>
          </a:p>
          <a:p>
            <a:pPr algn="l">
              <a:spcBef>
                <a:spcPts val="0"/>
              </a:spcBef>
              <a:spcAft>
                <a:spcPts val="2200"/>
              </a:spcAft>
            </a:pPr>
            <a:r>
              <a:rPr lang="tr-TR" sz="1900" b="0" i="1">
                <a:solidFill>
                  <a:srgbClr val="767676"/>
                </a:solidFill>
                <a:latin typeface="Calibri"/>
              </a:rPr>
              <a:t>Dayanak: ağır hasar 243 ve 311</a:t>
            </a:r>
          </a:p>
          <a:p>
            <a:pPr algn="l" marL="261051" indent="-261051">
              <a:spcBef>
                <a:spcPts val="0"/>
              </a:spcBef>
              <a:spcAft>
                <a:spcPts val="400"/>
              </a:spcAft>
            </a:pPr>
            <a:r>
              <a:rPr lang="tr-TR" sz="2100" b="1" i="0">
                <a:solidFill>
                  <a:srgbClr val="1F86BF"/>
                </a:solidFill>
                <a:latin typeface="Calibri"/>
              </a:rPr>
              <a:t>•  </a:t>
            </a:r>
            <a:r>
              <a:rPr lang="tr-TR" sz="2100" b="0" i="0">
                <a:solidFill>
                  <a:srgbClr val="262626"/>
                </a:solidFill>
                <a:latin typeface="Calibri"/>
              </a:rPr>
              <a:t>Yeni yapılar yönetmeliğe uygun</a:t>
            </a:r>
          </a:p>
          <a:p>
            <a:pPr algn="l">
              <a:spcBef>
                <a:spcPts val="0"/>
              </a:spcBef>
              <a:spcAft>
                <a:spcPts val="0"/>
              </a:spcAft>
            </a:pPr>
            <a:r>
              <a:rPr lang="tr-TR" sz="1900" b="0" i="1">
                <a:solidFill>
                  <a:srgbClr val="767676"/>
                </a:solidFill>
                <a:latin typeface="Calibri"/>
              </a:rPr>
              <a:t>Dayanak: şiddet arttıkça hasar artıyor</a:t>
            </a:r>
          </a:p>
        </p:txBody>
      </p:sp>
      <p:sp>
        <p:nvSpPr>
          <p:cNvPr id="9" name="Rounded Rectangle 8"/>
          <p:cNvSpPr/>
          <p:nvPr/>
        </p:nvSpPr>
        <p:spPr>
          <a:xfrm>
            <a:off x="3345103" y="1216152"/>
            <a:ext cx="2659303"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0" name="Rounded Rectangle 9"/>
          <p:cNvSpPr/>
          <p:nvPr/>
        </p:nvSpPr>
        <p:spPr>
          <a:xfrm>
            <a:off x="3345103" y="1216152"/>
            <a:ext cx="2659303" cy="658368"/>
          </a:xfrm>
          <a:prstGeom prst="roundRect">
            <a:avLst>
              <a:gd name="adj" fmla="val 20000"/>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Hazırlıklı olma</a:t>
            </a:r>
          </a:p>
        </p:txBody>
      </p:sp>
      <p:sp>
        <p:nvSpPr>
          <p:cNvPr id="11" name="TextBox 10"/>
          <p:cNvSpPr txBox="1"/>
          <p:nvPr/>
        </p:nvSpPr>
        <p:spPr>
          <a:xfrm>
            <a:off x="3454831" y="1993392"/>
            <a:ext cx="2439847" cy="4160520"/>
          </a:xfrm>
          <a:prstGeom prst="rect">
            <a:avLst/>
          </a:prstGeom>
          <a:noFill/>
        </p:spPr>
        <p:txBody>
          <a:bodyPr wrap="square" anchor="ctr" lIns="73152" rIns="73152" tIns="36576" bIns="36576">
            <a:noAutofit/>
          </a:bodyPr>
          <a:lstStyle/>
          <a:p>
            <a:pPr algn="l" marL="261051" indent="-261051">
              <a:spcBef>
                <a:spcPts val="0"/>
              </a:spcBef>
              <a:spcAft>
                <a:spcPts val="400"/>
              </a:spcAft>
            </a:pPr>
            <a:r>
              <a:rPr lang="tr-TR" sz="2100" b="1" i="0">
                <a:solidFill>
                  <a:srgbClr val="D97316"/>
                </a:solidFill>
                <a:latin typeface="Calibri"/>
              </a:rPr>
              <a:t>•  </a:t>
            </a:r>
            <a:r>
              <a:rPr lang="tr-TR" sz="2100" b="0" i="0">
                <a:solidFill>
                  <a:srgbClr val="262626"/>
                </a:solidFill>
                <a:latin typeface="Calibri"/>
              </a:rPr>
              <a:t>6.280 kişi, 1.570 çadır için alan belirle</a:t>
            </a:r>
          </a:p>
          <a:p>
            <a:pPr algn="l">
              <a:spcBef>
                <a:spcPts val="0"/>
              </a:spcBef>
              <a:spcAft>
                <a:spcPts val="2200"/>
              </a:spcAft>
            </a:pPr>
            <a:r>
              <a:rPr lang="tr-TR" sz="1900" b="0" i="1">
                <a:solidFill>
                  <a:srgbClr val="767676"/>
                </a:solidFill>
                <a:latin typeface="Calibri"/>
              </a:rPr>
              <a:t>Dayanak: Toplam satırı</a:t>
            </a:r>
          </a:p>
          <a:p>
            <a:pPr algn="l" marL="261051" indent="-261051">
              <a:spcBef>
                <a:spcPts val="0"/>
              </a:spcBef>
              <a:spcAft>
                <a:spcPts val="400"/>
              </a:spcAft>
            </a:pPr>
            <a:r>
              <a:rPr lang="tr-TR" sz="2100" b="1" i="0">
                <a:solidFill>
                  <a:srgbClr val="D97316"/>
                </a:solidFill>
                <a:latin typeface="Calibri"/>
              </a:rPr>
              <a:t>•  </a:t>
            </a:r>
            <a:r>
              <a:rPr lang="tr-TR" sz="2100" b="0" i="0">
                <a:solidFill>
                  <a:srgbClr val="262626"/>
                </a:solidFill>
                <a:latin typeface="Calibri"/>
              </a:rPr>
              <a:t>1. ve 6. mahallede tahliye tatbikatı</a:t>
            </a:r>
          </a:p>
          <a:p>
            <a:pPr algn="l">
              <a:spcBef>
                <a:spcPts val="0"/>
              </a:spcBef>
              <a:spcAft>
                <a:spcPts val="0"/>
              </a:spcAft>
            </a:pPr>
            <a:r>
              <a:rPr lang="tr-TR" sz="1900" b="0" i="1">
                <a:solidFill>
                  <a:srgbClr val="767676"/>
                </a:solidFill>
                <a:latin typeface="Calibri"/>
              </a:rPr>
              <a:t>Dayanak: açıkta kalan 2.094 ve 2.684</a:t>
            </a:r>
          </a:p>
        </p:txBody>
      </p:sp>
      <p:sp>
        <p:nvSpPr>
          <p:cNvPr id="12" name="Rounded Rectangle 11"/>
          <p:cNvSpPr/>
          <p:nvPr/>
        </p:nvSpPr>
        <p:spPr>
          <a:xfrm>
            <a:off x="6187286" y="1216152"/>
            <a:ext cx="2659303"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3" name="Rounded Rectangle 12"/>
          <p:cNvSpPr/>
          <p:nvPr/>
        </p:nvSpPr>
        <p:spPr>
          <a:xfrm>
            <a:off x="6187286" y="1216152"/>
            <a:ext cx="2659303" cy="658368"/>
          </a:xfrm>
          <a:prstGeom prst="roundRect">
            <a:avLst>
              <a:gd name="adj" fmla="val 20000"/>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Müdahale</a:t>
            </a:r>
          </a:p>
        </p:txBody>
      </p:sp>
      <p:sp>
        <p:nvSpPr>
          <p:cNvPr id="14" name="TextBox 13"/>
          <p:cNvSpPr txBox="1"/>
          <p:nvPr/>
        </p:nvSpPr>
        <p:spPr>
          <a:xfrm>
            <a:off x="6297014" y="1993392"/>
            <a:ext cx="2439847" cy="4160520"/>
          </a:xfrm>
          <a:prstGeom prst="rect">
            <a:avLst/>
          </a:prstGeom>
          <a:noFill/>
        </p:spPr>
        <p:txBody>
          <a:bodyPr wrap="square" anchor="ctr" lIns="73152" rIns="73152" tIns="36576" bIns="36576">
            <a:noAutofit/>
          </a:bodyPr>
          <a:lstStyle/>
          <a:p>
            <a:pPr algn="l" marL="261051" indent="-261051">
              <a:spcBef>
                <a:spcPts val="0"/>
              </a:spcBef>
              <a:spcAft>
                <a:spcPts val="400"/>
              </a:spcAft>
            </a:pPr>
            <a:r>
              <a:rPr lang="tr-TR" sz="2100" b="1" i="0">
                <a:solidFill>
                  <a:srgbClr val="CC3333"/>
                </a:solidFill>
                <a:latin typeface="Calibri"/>
              </a:rPr>
              <a:t>•  </a:t>
            </a:r>
            <a:r>
              <a:rPr lang="tr-TR" sz="2100" b="0" i="0">
                <a:solidFill>
                  <a:srgbClr val="262626"/>
                </a:solidFill>
                <a:latin typeface="Calibri"/>
              </a:rPr>
              <a:t>Arama kurtarma önce 1. ve 6. mahalleye</a:t>
            </a:r>
          </a:p>
          <a:p>
            <a:pPr algn="l">
              <a:spcBef>
                <a:spcPts val="0"/>
              </a:spcBef>
              <a:spcAft>
                <a:spcPts val="2200"/>
              </a:spcAft>
            </a:pPr>
            <a:r>
              <a:rPr lang="tr-TR" sz="1900" b="0" i="1">
                <a:solidFill>
                  <a:srgbClr val="767676"/>
                </a:solidFill>
                <a:latin typeface="Calibri"/>
              </a:rPr>
              <a:t>Dayanak: can kaybı 63 ve 81</a:t>
            </a:r>
          </a:p>
          <a:p>
            <a:pPr algn="l" marL="261051" indent="-261051">
              <a:spcBef>
                <a:spcPts val="0"/>
              </a:spcBef>
              <a:spcAft>
                <a:spcPts val="400"/>
              </a:spcAft>
            </a:pPr>
            <a:r>
              <a:rPr lang="tr-TR" sz="2100" b="1" i="0">
                <a:solidFill>
                  <a:srgbClr val="CC3333"/>
                </a:solidFill>
                <a:latin typeface="Calibri"/>
              </a:rPr>
              <a:t>•  </a:t>
            </a:r>
            <a:r>
              <a:rPr lang="tr-TR" sz="2100" b="0" i="0">
                <a:solidFill>
                  <a:srgbClr val="262626"/>
                </a:solidFill>
                <a:latin typeface="Calibri"/>
              </a:rPr>
              <a:t>443 yaralı: 111 yataklı, 332 ayakta tedavi</a:t>
            </a:r>
          </a:p>
          <a:p>
            <a:pPr algn="l">
              <a:spcBef>
                <a:spcPts val="0"/>
              </a:spcBef>
              <a:spcAft>
                <a:spcPts val="0"/>
              </a:spcAft>
            </a:pPr>
            <a:r>
              <a:rPr lang="tr-TR" sz="1900" b="0" i="1">
                <a:solidFill>
                  <a:srgbClr val="767676"/>
                </a:solidFill>
                <a:latin typeface="Calibri"/>
              </a:rPr>
              <a:t>Dayanak: Toplam satırı</a:t>
            </a:r>
          </a:p>
        </p:txBody>
      </p:sp>
      <p:sp>
        <p:nvSpPr>
          <p:cNvPr id="15" name="Rounded Rectangle 14"/>
          <p:cNvSpPr/>
          <p:nvPr/>
        </p:nvSpPr>
        <p:spPr>
          <a:xfrm>
            <a:off x="9029469" y="1216152"/>
            <a:ext cx="2659303" cy="5029200"/>
          </a:xfrm>
          <a:prstGeom prst="roundRect">
            <a:avLst>
              <a:gd name="adj" fmla="val 5000"/>
            </a:avLst>
          </a:prstGeom>
          <a:solidFill>
            <a:srgbClr val="E3F1E4"/>
          </a:solidFill>
          <a:ln w="12700">
            <a:solidFill>
              <a:srgbClr val="2E7D32"/>
            </a:solidFill>
          </a:ln>
          <a:effectLst/>
        </p:spPr>
        <p:txBody>
          <a:bodyPr rtlCol="0" anchor="ctr"/>
          <a:lstStyle/>
          <a:p/>
        </p:txBody>
      </p:sp>
      <p:sp>
        <p:nvSpPr>
          <p:cNvPr id="16" name="Rounded Rectangle 15"/>
          <p:cNvSpPr/>
          <p:nvPr/>
        </p:nvSpPr>
        <p:spPr>
          <a:xfrm>
            <a:off x="9029469" y="1216152"/>
            <a:ext cx="2659303" cy="658368"/>
          </a:xfrm>
          <a:prstGeom prst="roundRect">
            <a:avLst>
              <a:gd name="adj" fmla="val 20000"/>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İyileştirme</a:t>
            </a:r>
          </a:p>
        </p:txBody>
      </p:sp>
      <p:sp>
        <p:nvSpPr>
          <p:cNvPr id="17" name="TextBox 16"/>
          <p:cNvSpPr txBox="1"/>
          <p:nvPr/>
        </p:nvSpPr>
        <p:spPr>
          <a:xfrm>
            <a:off x="9139197" y="1993392"/>
            <a:ext cx="2439847" cy="4160520"/>
          </a:xfrm>
          <a:prstGeom prst="rect">
            <a:avLst/>
          </a:prstGeom>
          <a:noFill/>
        </p:spPr>
        <p:txBody>
          <a:bodyPr wrap="square" anchor="ctr" lIns="73152" rIns="73152" tIns="36576" bIns="36576">
            <a:noAutofit/>
          </a:bodyPr>
          <a:lstStyle/>
          <a:p>
            <a:pPr algn="l" marL="261051" indent="-261051">
              <a:spcBef>
                <a:spcPts val="0"/>
              </a:spcBef>
              <a:spcAft>
                <a:spcPts val="400"/>
              </a:spcAft>
            </a:pPr>
            <a:r>
              <a:rPr lang="tr-TR" sz="2100" b="1" i="0">
                <a:solidFill>
                  <a:srgbClr val="55992E"/>
                </a:solidFill>
                <a:latin typeface="Calibri"/>
              </a:rPr>
              <a:t>•  </a:t>
            </a:r>
            <a:r>
              <a:rPr lang="tr-TR" sz="2100" b="0" i="0">
                <a:solidFill>
                  <a:srgbClr val="262626"/>
                </a:solidFill>
                <a:latin typeface="Calibri"/>
              </a:rPr>
              <a:t>677 ağır hasarlı konut için kalıcı konut</a:t>
            </a:r>
          </a:p>
          <a:p>
            <a:pPr algn="l">
              <a:spcBef>
                <a:spcPts val="0"/>
              </a:spcBef>
              <a:spcAft>
                <a:spcPts val="2200"/>
              </a:spcAft>
            </a:pPr>
            <a:r>
              <a:rPr lang="tr-TR" sz="1900" b="0" i="1">
                <a:solidFill>
                  <a:srgbClr val="767676"/>
                </a:solidFill>
                <a:latin typeface="Calibri"/>
              </a:rPr>
              <a:t>Dayanak: Toplam satırı</a:t>
            </a:r>
          </a:p>
          <a:p>
            <a:pPr algn="l" marL="261051" indent="-261051">
              <a:spcBef>
                <a:spcPts val="0"/>
              </a:spcBef>
              <a:spcAft>
                <a:spcPts val="400"/>
              </a:spcAft>
            </a:pPr>
            <a:r>
              <a:rPr lang="tr-TR" sz="2100" b="1" i="0">
                <a:solidFill>
                  <a:srgbClr val="55992E"/>
                </a:solidFill>
                <a:latin typeface="Calibri"/>
              </a:rPr>
              <a:t>•  </a:t>
            </a:r>
            <a:r>
              <a:rPr lang="tr-TR" sz="2100" b="0" i="0">
                <a:solidFill>
                  <a:srgbClr val="262626"/>
                </a:solidFill>
                <a:latin typeface="Calibri"/>
              </a:rPr>
              <a:t>Psikososyal destek, çocuklara eğitim</a:t>
            </a:r>
          </a:p>
          <a:p>
            <a:pPr algn="l">
              <a:spcBef>
                <a:spcPts val="0"/>
              </a:spcBef>
              <a:spcAft>
                <a:spcPts val="0"/>
              </a:spcAft>
            </a:pPr>
            <a:r>
              <a:rPr lang="tr-TR" sz="1900" b="0" i="1">
                <a:solidFill>
                  <a:srgbClr val="767676"/>
                </a:solidFill>
                <a:latin typeface="Calibri"/>
              </a:rPr>
              <a:t>Dayanak: açıkta kalan 6.280</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209</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201 / 250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adım: coğrafi temsil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ADIM · 5 dk</a:t>
            </a:r>
          </a:p>
        </p:txBody>
      </p:sp>
      <p:sp>
        <p:nvSpPr>
          <p:cNvPr id="6" name="Rounded Rectangle 5"/>
          <p:cNvSpPr/>
          <p:nvPr/>
        </p:nvSpPr>
        <p:spPr>
          <a:xfrm>
            <a:off x="502920" y="1216152"/>
            <a:ext cx="11185855" cy="9144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914400"/>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10774375" cy="9144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Önerilerinizi amaca uygun coğrafi temsillerle (harita, tablo, grafik, şekil, diyagram vb.) zenginleştiriniz.</a:t>
            </a:r>
          </a:p>
        </p:txBody>
      </p:sp>
      <p:sp>
        <p:nvSpPr>
          <p:cNvPr id="9" name="Rounded Rectangle 8"/>
          <p:cNvSpPr/>
          <p:nvPr/>
        </p:nvSpPr>
        <p:spPr>
          <a:xfrm>
            <a:off x="502920" y="2359152"/>
            <a:ext cx="3594506" cy="246888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359152"/>
            <a:ext cx="3594506" cy="530352"/>
          </a:xfrm>
          <a:prstGeom prst="roundRect">
            <a:avLst>
              <a:gd name="adj" fmla="val 25000"/>
            </a:avLst>
          </a:prstGeom>
          <a:solidFill>
            <a:srgbClr val="1E7B6E"/>
          </a:solidFill>
          <a:ln>
            <a:noFill/>
          </a:ln>
          <a:effectLst/>
        </p:spPr>
        <p:txBody>
          <a:bodyPr rtlCol="0" anchor="ctr"/>
          <a:lstStyle/>
          <a:p/>
        </p:txBody>
      </p:sp>
      <p:sp>
        <p:nvSpPr>
          <p:cNvPr id="11" name="Rectangle 10"/>
          <p:cNvSpPr/>
          <p:nvPr/>
        </p:nvSpPr>
        <p:spPr>
          <a:xfrm>
            <a:off x="502920" y="2624328"/>
            <a:ext cx="3594506" cy="265176"/>
          </a:xfrm>
          <a:prstGeom prst="rect">
            <a:avLst/>
          </a:prstGeom>
          <a:solidFill>
            <a:srgbClr val="1E7B6E"/>
          </a:solidFill>
          <a:ln>
            <a:noFill/>
          </a:ln>
          <a:effectLst/>
        </p:spPr>
        <p:txBody>
          <a:bodyPr rtlCol="0" anchor="ctr"/>
          <a:lstStyle/>
          <a:p/>
        </p:txBody>
      </p:sp>
      <p:sp>
        <p:nvSpPr>
          <p:cNvPr id="12" name="TextBox 11"/>
          <p:cNvSpPr txBox="1"/>
          <p:nvPr/>
        </p:nvSpPr>
        <p:spPr>
          <a:xfrm>
            <a:off x="594360" y="2359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Çubuk grafik</a:t>
            </a:r>
          </a:p>
        </p:txBody>
      </p:sp>
      <p:sp>
        <p:nvSpPr>
          <p:cNvPr id="13" name="TextBox 12"/>
          <p:cNvSpPr txBox="1"/>
          <p:nvPr/>
        </p:nvSpPr>
        <p:spPr>
          <a:xfrm>
            <a:off x="612648" y="2962656"/>
            <a:ext cx="3375050" cy="179222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Mahallelere göre açıkta kalan insan sayısı ya da can kaybı</a:t>
            </a:r>
          </a:p>
        </p:txBody>
      </p:sp>
      <p:sp>
        <p:nvSpPr>
          <p:cNvPr id="14" name="Rounded Rectangle 13"/>
          <p:cNvSpPr/>
          <p:nvPr/>
        </p:nvSpPr>
        <p:spPr>
          <a:xfrm>
            <a:off x="4298594" y="2359152"/>
            <a:ext cx="3594506" cy="246888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8594" y="2359152"/>
            <a:ext cx="3594506" cy="530352"/>
          </a:xfrm>
          <a:prstGeom prst="roundRect">
            <a:avLst>
              <a:gd name="adj" fmla="val 25000"/>
            </a:avLst>
          </a:prstGeom>
          <a:solidFill>
            <a:srgbClr val="D9622B"/>
          </a:solidFill>
          <a:ln>
            <a:noFill/>
          </a:ln>
          <a:effectLst/>
        </p:spPr>
        <p:txBody>
          <a:bodyPr rtlCol="0" anchor="ctr"/>
          <a:lstStyle/>
          <a:p/>
        </p:txBody>
      </p:sp>
      <p:sp>
        <p:nvSpPr>
          <p:cNvPr id="16" name="Rectangle 15"/>
          <p:cNvSpPr/>
          <p:nvPr/>
        </p:nvSpPr>
        <p:spPr>
          <a:xfrm>
            <a:off x="4298594" y="2624328"/>
            <a:ext cx="3594506" cy="265176"/>
          </a:xfrm>
          <a:prstGeom prst="rect">
            <a:avLst/>
          </a:prstGeom>
          <a:solidFill>
            <a:srgbClr val="D9622B"/>
          </a:solidFill>
          <a:ln>
            <a:noFill/>
          </a:ln>
          <a:effectLst/>
        </p:spPr>
        <p:txBody>
          <a:bodyPr rtlCol="0" anchor="ctr"/>
          <a:lstStyle/>
          <a:p/>
        </p:txBody>
      </p:sp>
      <p:sp>
        <p:nvSpPr>
          <p:cNvPr id="17" name="TextBox 16"/>
          <p:cNvSpPr txBox="1"/>
          <p:nvPr/>
        </p:nvSpPr>
        <p:spPr>
          <a:xfrm>
            <a:off x="4390034" y="2359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Renk kodlu tablo</a:t>
            </a:r>
          </a:p>
        </p:txBody>
      </p:sp>
      <p:sp>
        <p:nvSpPr>
          <p:cNvPr id="18" name="TextBox 17"/>
          <p:cNvSpPr txBox="1"/>
          <p:nvPr/>
        </p:nvSpPr>
        <p:spPr>
          <a:xfrm>
            <a:off x="4408322" y="2962656"/>
            <a:ext cx="3375050" cy="179222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Şiddete göre renklendirilmiş mahalleler: açıktan koyuya</a:t>
            </a:r>
          </a:p>
        </p:txBody>
      </p:sp>
      <p:sp>
        <p:nvSpPr>
          <p:cNvPr id="19" name="Rounded Rectangle 18"/>
          <p:cNvSpPr/>
          <p:nvPr/>
        </p:nvSpPr>
        <p:spPr>
          <a:xfrm>
            <a:off x="8094268" y="2359152"/>
            <a:ext cx="3594506" cy="246888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94268" y="2359152"/>
            <a:ext cx="3594506" cy="530352"/>
          </a:xfrm>
          <a:prstGeom prst="roundRect">
            <a:avLst>
              <a:gd name="adj" fmla="val 25000"/>
            </a:avLst>
          </a:prstGeom>
          <a:solidFill>
            <a:srgbClr val="D97316"/>
          </a:solidFill>
          <a:ln>
            <a:noFill/>
          </a:ln>
          <a:effectLst/>
        </p:spPr>
        <p:txBody>
          <a:bodyPr rtlCol="0" anchor="ctr"/>
          <a:lstStyle/>
          <a:p/>
        </p:txBody>
      </p:sp>
      <p:sp>
        <p:nvSpPr>
          <p:cNvPr id="21" name="Rectangle 20"/>
          <p:cNvSpPr/>
          <p:nvPr/>
        </p:nvSpPr>
        <p:spPr>
          <a:xfrm>
            <a:off x="8094268" y="2624328"/>
            <a:ext cx="3594506" cy="265176"/>
          </a:xfrm>
          <a:prstGeom prst="rect">
            <a:avLst/>
          </a:prstGeom>
          <a:solidFill>
            <a:srgbClr val="D97316"/>
          </a:solidFill>
          <a:ln>
            <a:noFill/>
          </a:ln>
          <a:effectLst/>
        </p:spPr>
        <p:txBody>
          <a:bodyPr rtlCol="0" anchor="ctr"/>
          <a:lstStyle/>
          <a:p/>
        </p:txBody>
      </p:sp>
      <p:sp>
        <p:nvSpPr>
          <p:cNvPr id="22" name="TextBox 21"/>
          <p:cNvSpPr txBox="1"/>
          <p:nvPr/>
        </p:nvSpPr>
        <p:spPr>
          <a:xfrm>
            <a:off x="8185708" y="2359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Diyagram</a:t>
            </a:r>
          </a:p>
        </p:txBody>
      </p:sp>
      <p:sp>
        <p:nvSpPr>
          <p:cNvPr id="23" name="TextBox 22"/>
          <p:cNvSpPr txBox="1"/>
          <p:nvPr/>
        </p:nvSpPr>
        <p:spPr>
          <a:xfrm>
            <a:off x="8203996" y="2962656"/>
            <a:ext cx="3375050" cy="179222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Dört aşamalı döngü üzerine grubun önerileri</a:t>
            </a:r>
          </a:p>
        </p:txBody>
      </p:sp>
      <p:sp>
        <p:nvSpPr>
          <p:cNvPr id="24" name="Rounded Rectangle 23"/>
          <p:cNvSpPr/>
          <p:nvPr/>
        </p:nvSpPr>
        <p:spPr>
          <a:xfrm>
            <a:off x="502920" y="5010912"/>
            <a:ext cx="11185855" cy="594360"/>
          </a:xfrm>
          <a:prstGeom prst="roundRect">
            <a:avLst>
              <a:gd name="adj" fmla="val 8000"/>
            </a:avLst>
          </a:prstGeom>
          <a:solidFill>
            <a:srgbClr val="F9E1E1"/>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Kroki çizilmez:</a:t>
            </a:r>
            <a:r>
              <a:rPr lang="tr-TR" sz="2000" b="0" i="0">
                <a:solidFill>
                  <a:srgbClr val="262626"/>
                </a:solidFill>
                <a:latin typeface="Calibri"/>
              </a:rPr>
              <a:t> tabloda mahallelerin konumu verilmemiş</a:t>
            </a:r>
          </a:p>
        </p:txBody>
      </p:sp>
      <p:sp>
        <p:nvSpPr>
          <p:cNvPr id="25" name="Rounded Rectangle 24"/>
          <p:cNvSpPr/>
          <p:nvPr/>
        </p:nvSpPr>
        <p:spPr>
          <a:xfrm>
            <a:off x="502920" y="5696712"/>
            <a:ext cx="11185855" cy="5943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İyi bir temsil: </a:t>
            </a:r>
            <a:r>
              <a:rPr lang="tr-TR" sz="2000" b="1" i="0">
                <a:solidFill>
                  <a:srgbClr val="262626"/>
                </a:solidFill>
                <a:latin typeface="Calibri"/>
              </a:rPr>
              <a:t>başlık · birim · kaynak (kitap s. 209)</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202 / 250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adım — örnek grafik</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8412480" cy="4572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Mahallelere göre açıkta kalacak insan sayısı (kişi) · deprem senaryosu</a:t>
            </a:r>
          </a:p>
        </p:txBody>
      </p:sp>
      <p:cxnSp>
        <p:nvCxnSpPr>
          <p:cNvPr id="7" name="Connector 6"/>
          <p:cNvCxnSpPr/>
          <p:nvPr/>
        </p:nvCxnSpPr>
        <p:spPr>
          <a:xfrm>
            <a:off x="1417320" y="5285232"/>
            <a:ext cx="7315200" cy="0"/>
          </a:xfrm>
          <a:prstGeom prst="line">
            <a:avLst/>
          </a:prstGeom>
          <a:ln w="19050">
            <a:solidFill>
              <a:srgbClr val="D9D9D9"/>
            </a:solidFill>
          </a:ln>
        </p:spPr>
      </p:cxnSp>
      <p:sp>
        <p:nvSpPr>
          <p:cNvPr id="8" name="TextBox 7"/>
          <p:cNvSpPr txBox="1"/>
          <p:nvPr/>
        </p:nvSpPr>
        <p:spPr>
          <a:xfrm>
            <a:off x="502920" y="512978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0</a:t>
            </a:r>
          </a:p>
        </p:txBody>
      </p:sp>
      <p:cxnSp>
        <p:nvCxnSpPr>
          <p:cNvPr id="9" name="Connector 8"/>
          <p:cNvCxnSpPr/>
          <p:nvPr/>
        </p:nvCxnSpPr>
        <p:spPr>
          <a:xfrm>
            <a:off x="1417320" y="4698492"/>
            <a:ext cx="7315200" cy="0"/>
          </a:xfrm>
          <a:prstGeom prst="line">
            <a:avLst/>
          </a:prstGeom>
          <a:ln w="9525">
            <a:solidFill>
              <a:srgbClr val="D9D9D9"/>
            </a:solidFill>
            <a:prstDash val="dash"/>
          </a:ln>
        </p:spPr>
      </p:cxnSp>
      <p:sp>
        <p:nvSpPr>
          <p:cNvPr id="10" name="TextBox 9"/>
          <p:cNvSpPr txBox="1"/>
          <p:nvPr/>
        </p:nvSpPr>
        <p:spPr>
          <a:xfrm>
            <a:off x="502920" y="454304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500</a:t>
            </a:r>
          </a:p>
        </p:txBody>
      </p:sp>
      <p:cxnSp>
        <p:nvCxnSpPr>
          <p:cNvPr id="11" name="Connector 10"/>
          <p:cNvCxnSpPr/>
          <p:nvPr/>
        </p:nvCxnSpPr>
        <p:spPr>
          <a:xfrm>
            <a:off x="1417320" y="4111752"/>
            <a:ext cx="7315200" cy="0"/>
          </a:xfrm>
          <a:prstGeom prst="line">
            <a:avLst/>
          </a:prstGeom>
          <a:ln w="9525">
            <a:solidFill>
              <a:srgbClr val="D9D9D9"/>
            </a:solidFill>
            <a:prstDash val="dash"/>
          </a:ln>
        </p:spPr>
      </p:cxnSp>
      <p:sp>
        <p:nvSpPr>
          <p:cNvPr id="12" name="TextBox 11"/>
          <p:cNvSpPr txBox="1"/>
          <p:nvPr/>
        </p:nvSpPr>
        <p:spPr>
          <a:xfrm>
            <a:off x="502920" y="395630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1.000</a:t>
            </a:r>
          </a:p>
        </p:txBody>
      </p:sp>
      <p:cxnSp>
        <p:nvCxnSpPr>
          <p:cNvPr id="13" name="Connector 12"/>
          <p:cNvCxnSpPr/>
          <p:nvPr/>
        </p:nvCxnSpPr>
        <p:spPr>
          <a:xfrm>
            <a:off x="1417320" y="3525012"/>
            <a:ext cx="7315200" cy="0"/>
          </a:xfrm>
          <a:prstGeom prst="line">
            <a:avLst/>
          </a:prstGeom>
          <a:ln w="9525">
            <a:solidFill>
              <a:srgbClr val="D9D9D9"/>
            </a:solidFill>
            <a:prstDash val="dash"/>
          </a:ln>
        </p:spPr>
      </p:cxnSp>
      <p:sp>
        <p:nvSpPr>
          <p:cNvPr id="14" name="TextBox 13"/>
          <p:cNvSpPr txBox="1"/>
          <p:nvPr/>
        </p:nvSpPr>
        <p:spPr>
          <a:xfrm>
            <a:off x="502920" y="336956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1.500</a:t>
            </a:r>
          </a:p>
        </p:txBody>
      </p:sp>
      <p:cxnSp>
        <p:nvCxnSpPr>
          <p:cNvPr id="15" name="Connector 14"/>
          <p:cNvCxnSpPr/>
          <p:nvPr/>
        </p:nvCxnSpPr>
        <p:spPr>
          <a:xfrm>
            <a:off x="1417320" y="2938272"/>
            <a:ext cx="7315200" cy="0"/>
          </a:xfrm>
          <a:prstGeom prst="line">
            <a:avLst/>
          </a:prstGeom>
          <a:ln w="9525">
            <a:solidFill>
              <a:srgbClr val="D9D9D9"/>
            </a:solidFill>
            <a:prstDash val="dash"/>
          </a:ln>
        </p:spPr>
      </p:cxnSp>
      <p:sp>
        <p:nvSpPr>
          <p:cNvPr id="16" name="TextBox 15"/>
          <p:cNvSpPr txBox="1"/>
          <p:nvPr/>
        </p:nvSpPr>
        <p:spPr>
          <a:xfrm>
            <a:off x="502920" y="278282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2.000</a:t>
            </a:r>
          </a:p>
        </p:txBody>
      </p:sp>
      <p:cxnSp>
        <p:nvCxnSpPr>
          <p:cNvPr id="17" name="Connector 16"/>
          <p:cNvCxnSpPr/>
          <p:nvPr/>
        </p:nvCxnSpPr>
        <p:spPr>
          <a:xfrm>
            <a:off x="1417320" y="2351532"/>
            <a:ext cx="7315200" cy="0"/>
          </a:xfrm>
          <a:prstGeom prst="line">
            <a:avLst/>
          </a:prstGeom>
          <a:ln w="9525">
            <a:solidFill>
              <a:srgbClr val="D9D9D9"/>
            </a:solidFill>
            <a:prstDash val="dash"/>
          </a:ln>
        </p:spPr>
      </p:cxnSp>
      <p:sp>
        <p:nvSpPr>
          <p:cNvPr id="18" name="TextBox 17"/>
          <p:cNvSpPr txBox="1"/>
          <p:nvPr/>
        </p:nvSpPr>
        <p:spPr>
          <a:xfrm>
            <a:off x="502920" y="219608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2.500</a:t>
            </a:r>
          </a:p>
        </p:txBody>
      </p:sp>
      <p:cxnSp>
        <p:nvCxnSpPr>
          <p:cNvPr id="19" name="Connector 18"/>
          <p:cNvCxnSpPr/>
          <p:nvPr/>
        </p:nvCxnSpPr>
        <p:spPr>
          <a:xfrm>
            <a:off x="1417320" y="1764792"/>
            <a:ext cx="7315200" cy="0"/>
          </a:xfrm>
          <a:prstGeom prst="line">
            <a:avLst/>
          </a:prstGeom>
          <a:ln w="9525">
            <a:solidFill>
              <a:srgbClr val="D9D9D9"/>
            </a:solidFill>
            <a:prstDash val="dash"/>
          </a:ln>
        </p:spPr>
      </p:cxnSp>
      <p:sp>
        <p:nvSpPr>
          <p:cNvPr id="20" name="TextBox 19"/>
          <p:cNvSpPr txBox="1"/>
          <p:nvPr/>
        </p:nvSpPr>
        <p:spPr>
          <a:xfrm>
            <a:off x="502920" y="1609344"/>
            <a:ext cx="841248" cy="310896"/>
          </a:xfrm>
          <a:prstGeom prst="rect">
            <a:avLst/>
          </a:prstGeom>
          <a:noFill/>
        </p:spPr>
        <p:txBody>
          <a:bodyPr wrap="square" anchor="ctr" lIns="73152" rIns="73152" tIns="36576" bIns="36576">
            <a:noAutofit/>
          </a:bodyPr>
          <a:lstStyle/>
          <a:p>
            <a:pPr algn="r">
              <a:spcBef>
                <a:spcPts val="0"/>
              </a:spcBef>
              <a:spcAft>
                <a:spcPts val="0"/>
              </a:spcAft>
            </a:pPr>
            <a:r>
              <a:rPr lang="tr-TR" sz="1300" b="0" i="0">
                <a:solidFill>
                  <a:srgbClr val="767676"/>
                </a:solidFill>
                <a:latin typeface="Calibri"/>
              </a:rPr>
              <a:t>3.000</a:t>
            </a:r>
          </a:p>
        </p:txBody>
      </p:sp>
      <p:sp>
        <p:nvSpPr>
          <p:cNvPr id="21" name="Rectangle 20"/>
          <p:cNvSpPr/>
          <p:nvPr/>
        </p:nvSpPr>
        <p:spPr>
          <a:xfrm>
            <a:off x="1571752" y="2827964"/>
            <a:ext cx="503936" cy="2457267"/>
          </a:xfrm>
          <a:prstGeom prst="rect">
            <a:avLst/>
          </a:prstGeom>
          <a:solidFill>
            <a:srgbClr val="A82E2E"/>
          </a:solidFill>
          <a:ln>
            <a:noFill/>
          </a:ln>
          <a:effectLst/>
        </p:spPr>
        <p:txBody>
          <a:bodyPr rtlCol="0" anchor="ctr"/>
          <a:lstStyle/>
          <a:p/>
        </p:txBody>
      </p:sp>
      <p:sp>
        <p:nvSpPr>
          <p:cNvPr id="22" name="TextBox 21"/>
          <p:cNvSpPr txBox="1"/>
          <p:nvPr/>
        </p:nvSpPr>
        <p:spPr>
          <a:xfrm>
            <a:off x="1388872" y="2498780"/>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2.094</a:t>
            </a:r>
          </a:p>
        </p:txBody>
      </p:sp>
      <p:sp>
        <p:nvSpPr>
          <p:cNvPr id="23" name="TextBox 22"/>
          <p:cNvSpPr txBox="1"/>
          <p:nvPr/>
        </p:nvSpPr>
        <p:spPr>
          <a:xfrm>
            <a:off x="14173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1.</a:t>
            </a:r>
          </a:p>
        </p:txBody>
      </p:sp>
      <p:sp>
        <p:nvSpPr>
          <p:cNvPr id="24" name="TextBox 23"/>
          <p:cNvSpPr txBox="1"/>
          <p:nvPr/>
        </p:nvSpPr>
        <p:spPr>
          <a:xfrm>
            <a:off x="14173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IX</a:t>
            </a:r>
          </a:p>
        </p:txBody>
      </p:sp>
      <p:sp>
        <p:nvSpPr>
          <p:cNvPr id="25" name="Rectangle 24"/>
          <p:cNvSpPr/>
          <p:nvPr/>
        </p:nvSpPr>
        <p:spPr>
          <a:xfrm>
            <a:off x="2384552" y="5007117"/>
            <a:ext cx="503936" cy="278114"/>
          </a:xfrm>
          <a:prstGeom prst="rect">
            <a:avLst/>
          </a:prstGeom>
          <a:solidFill>
            <a:srgbClr val="F09E4C"/>
          </a:solidFill>
          <a:ln>
            <a:noFill/>
          </a:ln>
          <a:effectLst/>
        </p:spPr>
        <p:txBody>
          <a:bodyPr rtlCol="0" anchor="ctr"/>
          <a:lstStyle/>
          <a:p/>
        </p:txBody>
      </p:sp>
      <p:sp>
        <p:nvSpPr>
          <p:cNvPr id="26" name="TextBox 25"/>
          <p:cNvSpPr txBox="1"/>
          <p:nvPr/>
        </p:nvSpPr>
        <p:spPr>
          <a:xfrm>
            <a:off x="2201672" y="4677933"/>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237</a:t>
            </a:r>
          </a:p>
        </p:txBody>
      </p:sp>
      <p:sp>
        <p:nvSpPr>
          <p:cNvPr id="27" name="TextBox 26"/>
          <p:cNvSpPr txBox="1"/>
          <p:nvPr/>
        </p:nvSpPr>
        <p:spPr>
          <a:xfrm>
            <a:off x="22301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2.</a:t>
            </a:r>
          </a:p>
        </p:txBody>
      </p:sp>
      <p:sp>
        <p:nvSpPr>
          <p:cNvPr id="28" name="TextBox 27"/>
          <p:cNvSpPr txBox="1"/>
          <p:nvPr/>
        </p:nvSpPr>
        <p:spPr>
          <a:xfrm>
            <a:off x="22301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VII</a:t>
            </a:r>
          </a:p>
        </p:txBody>
      </p:sp>
      <p:sp>
        <p:nvSpPr>
          <p:cNvPr id="29" name="Rectangle 28"/>
          <p:cNvSpPr/>
          <p:nvPr/>
        </p:nvSpPr>
        <p:spPr>
          <a:xfrm>
            <a:off x="3197352" y="5266456"/>
            <a:ext cx="503936" cy="18775"/>
          </a:xfrm>
          <a:prstGeom prst="rect">
            <a:avLst/>
          </a:prstGeom>
          <a:solidFill>
            <a:srgbClr val="F6D36F"/>
          </a:solidFill>
          <a:ln>
            <a:noFill/>
          </a:ln>
          <a:effectLst/>
        </p:spPr>
        <p:txBody>
          <a:bodyPr rtlCol="0" anchor="ctr"/>
          <a:lstStyle/>
          <a:p/>
        </p:txBody>
      </p:sp>
      <p:sp>
        <p:nvSpPr>
          <p:cNvPr id="30" name="TextBox 29"/>
          <p:cNvSpPr txBox="1"/>
          <p:nvPr/>
        </p:nvSpPr>
        <p:spPr>
          <a:xfrm>
            <a:off x="3014472" y="4937272"/>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16</a:t>
            </a:r>
          </a:p>
        </p:txBody>
      </p:sp>
      <p:sp>
        <p:nvSpPr>
          <p:cNvPr id="31" name="TextBox 30"/>
          <p:cNvSpPr txBox="1"/>
          <p:nvPr/>
        </p:nvSpPr>
        <p:spPr>
          <a:xfrm>
            <a:off x="30429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3.</a:t>
            </a:r>
          </a:p>
        </p:txBody>
      </p:sp>
      <p:sp>
        <p:nvSpPr>
          <p:cNvPr id="32" name="TextBox 31"/>
          <p:cNvSpPr txBox="1"/>
          <p:nvPr/>
        </p:nvSpPr>
        <p:spPr>
          <a:xfrm>
            <a:off x="30429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a:t>
            </a:r>
          </a:p>
        </p:txBody>
      </p:sp>
      <p:sp>
        <p:nvSpPr>
          <p:cNvPr id="33" name="Rectangle 32"/>
          <p:cNvSpPr/>
          <p:nvPr/>
        </p:nvSpPr>
        <p:spPr>
          <a:xfrm>
            <a:off x="4010152" y="5266456"/>
            <a:ext cx="503936" cy="18775"/>
          </a:xfrm>
          <a:prstGeom prst="rect">
            <a:avLst/>
          </a:prstGeom>
          <a:solidFill>
            <a:srgbClr val="F6D36F"/>
          </a:solidFill>
          <a:ln>
            <a:noFill/>
          </a:ln>
          <a:effectLst/>
        </p:spPr>
        <p:txBody>
          <a:bodyPr rtlCol="0" anchor="ctr"/>
          <a:lstStyle/>
          <a:p/>
        </p:txBody>
      </p:sp>
      <p:sp>
        <p:nvSpPr>
          <p:cNvPr id="34" name="TextBox 33"/>
          <p:cNvSpPr txBox="1"/>
          <p:nvPr/>
        </p:nvSpPr>
        <p:spPr>
          <a:xfrm>
            <a:off x="3827272" y="4937272"/>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16</a:t>
            </a:r>
          </a:p>
        </p:txBody>
      </p:sp>
      <p:sp>
        <p:nvSpPr>
          <p:cNvPr id="35" name="TextBox 34"/>
          <p:cNvSpPr txBox="1"/>
          <p:nvPr/>
        </p:nvSpPr>
        <p:spPr>
          <a:xfrm>
            <a:off x="38557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4.</a:t>
            </a:r>
          </a:p>
        </p:txBody>
      </p:sp>
      <p:sp>
        <p:nvSpPr>
          <p:cNvPr id="36" name="TextBox 35"/>
          <p:cNvSpPr txBox="1"/>
          <p:nvPr/>
        </p:nvSpPr>
        <p:spPr>
          <a:xfrm>
            <a:off x="38557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a:t>
            </a:r>
          </a:p>
        </p:txBody>
      </p:sp>
      <p:sp>
        <p:nvSpPr>
          <p:cNvPr id="37" name="Rectangle 36"/>
          <p:cNvSpPr/>
          <p:nvPr/>
        </p:nvSpPr>
        <p:spPr>
          <a:xfrm>
            <a:off x="4822952" y="4866299"/>
            <a:ext cx="503936" cy="418932"/>
          </a:xfrm>
          <a:prstGeom prst="rect">
            <a:avLst/>
          </a:prstGeom>
          <a:solidFill>
            <a:srgbClr val="F09E4C"/>
          </a:solidFill>
          <a:ln>
            <a:noFill/>
          </a:ln>
          <a:effectLst/>
        </p:spPr>
        <p:txBody>
          <a:bodyPr rtlCol="0" anchor="ctr"/>
          <a:lstStyle/>
          <a:p/>
        </p:txBody>
      </p:sp>
      <p:sp>
        <p:nvSpPr>
          <p:cNvPr id="38" name="TextBox 37"/>
          <p:cNvSpPr txBox="1"/>
          <p:nvPr/>
        </p:nvSpPr>
        <p:spPr>
          <a:xfrm>
            <a:off x="4640072" y="4537115"/>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357</a:t>
            </a:r>
          </a:p>
        </p:txBody>
      </p:sp>
      <p:sp>
        <p:nvSpPr>
          <p:cNvPr id="39" name="TextBox 38"/>
          <p:cNvSpPr txBox="1"/>
          <p:nvPr/>
        </p:nvSpPr>
        <p:spPr>
          <a:xfrm>
            <a:off x="46685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5.</a:t>
            </a:r>
          </a:p>
        </p:txBody>
      </p:sp>
      <p:sp>
        <p:nvSpPr>
          <p:cNvPr id="40" name="TextBox 39"/>
          <p:cNvSpPr txBox="1"/>
          <p:nvPr/>
        </p:nvSpPr>
        <p:spPr>
          <a:xfrm>
            <a:off x="46685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VII</a:t>
            </a:r>
          </a:p>
        </p:txBody>
      </p:sp>
      <p:sp>
        <p:nvSpPr>
          <p:cNvPr id="41" name="Rectangle 40"/>
          <p:cNvSpPr/>
          <p:nvPr/>
        </p:nvSpPr>
        <p:spPr>
          <a:xfrm>
            <a:off x="5635752" y="2135611"/>
            <a:ext cx="503936" cy="3149620"/>
          </a:xfrm>
          <a:prstGeom prst="rect">
            <a:avLst/>
          </a:prstGeom>
          <a:solidFill>
            <a:srgbClr val="A82E2E"/>
          </a:solidFill>
          <a:ln>
            <a:noFill/>
          </a:ln>
          <a:effectLst/>
        </p:spPr>
        <p:txBody>
          <a:bodyPr rtlCol="0" anchor="ctr"/>
          <a:lstStyle/>
          <a:p/>
        </p:txBody>
      </p:sp>
      <p:sp>
        <p:nvSpPr>
          <p:cNvPr id="42" name="TextBox 41"/>
          <p:cNvSpPr txBox="1"/>
          <p:nvPr/>
        </p:nvSpPr>
        <p:spPr>
          <a:xfrm>
            <a:off x="5452872" y="1806427"/>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2.684</a:t>
            </a:r>
          </a:p>
        </p:txBody>
      </p:sp>
      <p:sp>
        <p:nvSpPr>
          <p:cNvPr id="43" name="TextBox 42"/>
          <p:cNvSpPr txBox="1"/>
          <p:nvPr/>
        </p:nvSpPr>
        <p:spPr>
          <a:xfrm>
            <a:off x="54813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6.</a:t>
            </a:r>
          </a:p>
        </p:txBody>
      </p:sp>
      <p:sp>
        <p:nvSpPr>
          <p:cNvPr id="44" name="TextBox 43"/>
          <p:cNvSpPr txBox="1"/>
          <p:nvPr/>
        </p:nvSpPr>
        <p:spPr>
          <a:xfrm>
            <a:off x="54813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IX</a:t>
            </a:r>
          </a:p>
        </p:txBody>
      </p:sp>
      <p:sp>
        <p:nvSpPr>
          <p:cNvPr id="45" name="Rectangle 44"/>
          <p:cNvSpPr/>
          <p:nvPr/>
        </p:nvSpPr>
        <p:spPr>
          <a:xfrm>
            <a:off x="6448552" y="4299508"/>
            <a:ext cx="503936" cy="985723"/>
          </a:xfrm>
          <a:prstGeom prst="rect">
            <a:avLst/>
          </a:prstGeom>
          <a:solidFill>
            <a:srgbClr val="D9622B"/>
          </a:solidFill>
          <a:ln>
            <a:noFill/>
          </a:ln>
          <a:effectLst/>
        </p:spPr>
        <p:txBody>
          <a:bodyPr rtlCol="0" anchor="ctr"/>
          <a:lstStyle/>
          <a:p/>
        </p:txBody>
      </p:sp>
      <p:sp>
        <p:nvSpPr>
          <p:cNvPr id="46" name="TextBox 45"/>
          <p:cNvSpPr txBox="1"/>
          <p:nvPr/>
        </p:nvSpPr>
        <p:spPr>
          <a:xfrm>
            <a:off x="6265672" y="3970324"/>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840</a:t>
            </a:r>
          </a:p>
        </p:txBody>
      </p:sp>
      <p:sp>
        <p:nvSpPr>
          <p:cNvPr id="47" name="TextBox 46"/>
          <p:cNvSpPr txBox="1"/>
          <p:nvPr/>
        </p:nvSpPr>
        <p:spPr>
          <a:xfrm>
            <a:off x="62941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7.</a:t>
            </a:r>
          </a:p>
        </p:txBody>
      </p:sp>
      <p:sp>
        <p:nvSpPr>
          <p:cNvPr id="48" name="TextBox 47"/>
          <p:cNvSpPr txBox="1"/>
          <p:nvPr/>
        </p:nvSpPr>
        <p:spPr>
          <a:xfrm>
            <a:off x="62941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VIII</a:t>
            </a:r>
          </a:p>
        </p:txBody>
      </p:sp>
      <p:sp>
        <p:nvSpPr>
          <p:cNvPr id="49" name="Rectangle 48"/>
          <p:cNvSpPr/>
          <p:nvPr/>
        </p:nvSpPr>
        <p:spPr>
          <a:xfrm>
            <a:off x="7261352" y="5266456"/>
            <a:ext cx="503936" cy="18775"/>
          </a:xfrm>
          <a:prstGeom prst="rect">
            <a:avLst/>
          </a:prstGeom>
          <a:solidFill>
            <a:srgbClr val="F6D36F"/>
          </a:solidFill>
          <a:ln>
            <a:noFill/>
          </a:ln>
          <a:effectLst/>
        </p:spPr>
        <p:txBody>
          <a:bodyPr rtlCol="0" anchor="ctr"/>
          <a:lstStyle/>
          <a:p/>
        </p:txBody>
      </p:sp>
      <p:sp>
        <p:nvSpPr>
          <p:cNvPr id="50" name="TextBox 49"/>
          <p:cNvSpPr txBox="1"/>
          <p:nvPr/>
        </p:nvSpPr>
        <p:spPr>
          <a:xfrm>
            <a:off x="7078472" y="4937272"/>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16</a:t>
            </a:r>
          </a:p>
        </p:txBody>
      </p:sp>
      <p:sp>
        <p:nvSpPr>
          <p:cNvPr id="51" name="TextBox 50"/>
          <p:cNvSpPr txBox="1"/>
          <p:nvPr/>
        </p:nvSpPr>
        <p:spPr>
          <a:xfrm>
            <a:off x="71069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8.</a:t>
            </a:r>
          </a:p>
        </p:txBody>
      </p:sp>
      <p:sp>
        <p:nvSpPr>
          <p:cNvPr id="52" name="TextBox 51"/>
          <p:cNvSpPr txBox="1"/>
          <p:nvPr/>
        </p:nvSpPr>
        <p:spPr>
          <a:xfrm>
            <a:off x="71069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a:t>
            </a:r>
          </a:p>
        </p:txBody>
      </p:sp>
      <p:sp>
        <p:nvSpPr>
          <p:cNvPr id="53" name="Rectangle 52"/>
          <p:cNvSpPr/>
          <p:nvPr/>
        </p:nvSpPr>
        <p:spPr>
          <a:xfrm>
            <a:off x="8074152" y="5261762"/>
            <a:ext cx="503936" cy="23469"/>
          </a:xfrm>
          <a:prstGeom prst="rect">
            <a:avLst/>
          </a:prstGeom>
          <a:solidFill>
            <a:srgbClr val="F6D36F"/>
          </a:solidFill>
          <a:ln>
            <a:noFill/>
          </a:ln>
          <a:effectLst/>
        </p:spPr>
        <p:txBody>
          <a:bodyPr rtlCol="0" anchor="ctr"/>
          <a:lstStyle/>
          <a:p/>
        </p:txBody>
      </p:sp>
      <p:sp>
        <p:nvSpPr>
          <p:cNvPr id="54" name="TextBox 53"/>
          <p:cNvSpPr txBox="1"/>
          <p:nvPr/>
        </p:nvSpPr>
        <p:spPr>
          <a:xfrm>
            <a:off x="7891272" y="4932578"/>
            <a:ext cx="869696" cy="310896"/>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262626"/>
                </a:solidFill>
                <a:latin typeface="Calibri"/>
              </a:rPr>
              <a:t>20</a:t>
            </a:r>
          </a:p>
        </p:txBody>
      </p:sp>
      <p:sp>
        <p:nvSpPr>
          <p:cNvPr id="55" name="TextBox 54"/>
          <p:cNvSpPr txBox="1"/>
          <p:nvPr/>
        </p:nvSpPr>
        <p:spPr>
          <a:xfrm>
            <a:off x="7919720" y="5321808"/>
            <a:ext cx="812800" cy="310896"/>
          </a:xfrm>
          <a:prstGeom prst="rect">
            <a:avLst/>
          </a:prstGeom>
          <a:noFill/>
        </p:spPr>
        <p:txBody>
          <a:bodyPr wrap="square" anchor="ctr" lIns="73152" rIns="73152" tIns="36576" bIns="36576">
            <a:noAutofit/>
          </a:bodyPr>
          <a:lstStyle/>
          <a:p>
            <a:pPr algn="ctr">
              <a:spcBef>
                <a:spcPts val="0"/>
              </a:spcBef>
              <a:spcAft>
                <a:spcPts val="0"/>
              </a:spcAft>
            </a:pPr>
            <a:r>
              <a:rPr lang="tr-TR" sz="1500" b="1" i="0">
                <a:solidFill>
                  <a:srgbClr val="262626"/>
                </a:solidFill>
                <a:latin typeface="Calibri"/>
              </a:rPr>
              <a:t>9.</a:t>
            </a:r>
          </a:p>
        </p:txBody>
      </p:sp>
      <p:sp>
        <p:nvSpPr>
          <p:cNvPr id="56" name="TextBox 55"/>
          <p:cNvSpPr txBox="1"/>
          <p:nvPr/>
        </p:nvSpPr>
        <p:spPr>
          <a:xfrm>
            <a:off x="7919720" y="5614416"/>
            <a:ext cx="812800" cy="274320"/>
          </a:xfrm>
          <a:prstGeom prst="rect">
            <a:avLst/>
          </a:prstGeom>
          <a:noFill/>
        </p:spPr>
        <p:txBody>
          <a:bodyPr wrap="square" anchor="ctr" lIns="73152" rIns="73152" tIns="36576" bIns="36576">
            <a:noAutofit/>
          </a:bodyPr>
          <a:lstStyle/>
          <a:p>
            <a:pPr algn="ctr">
              <a:spcBef>
                <a:spcPts val="0"/>
              </a:spcBef>
              <a:spcAft>
                <a:spcPts val="0"/>
              </a:spcAft>
            </a:pPr>
            <a:r>
              <a:rPr lang="tr-TR" sz="1200" b="0" i="0">
                <a:solidFill>
                  <a:srgbClr val="767676"/>
                </a:solidFill>
                <a:latin typeface="Calibri"/>
              </a:rPr>
              <a:t>VI</a:t>
            </a:r>
          </a:p>
        </p:txBody>
      </p:sp>
      <p:sp>
        <p:nvSpPr>
          <p:cNvPr id="57" name="TextBox 56"/>
          <p:cNvSpPr txBox="1"/>
          <p:nvPr/>
        </p:nvSpPr>
        <p:spPr>
          <a:xfrm>
            <a:off x="9052560" y="1719072"/>
            <a:ext cx="2636215" cy="384048"/>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262626"/>
                </a:solidFill>
                <a:latin typeface="Calibri"/>
              </a:rPr>
              <a:t>Şiddet</a:t>
            </a:r>
          </a:p>
        </p:txBody>
      </p:sp>
      <p:sp>
        <p:nvSpPr>
          <p:cNvPr id="58" name="Rectangle 57"/>
          <p:cNvSpPr/>
          <p:nvPr/>
        </p:nvSpPr>
        <p:spPr>
          <a:xfrm>
            <a:off x="9052560" y="2185416"/>
            <a:ext cx="457200" cy="292608"/>
          </a:xfrm>
          <a:prstGeom prst="rect">
            <a:avLst/>
          </a:prstGeom>
          <a:solidFill>
            <a:srgbClr val="A82E2E"/>
          </a:solidFill>
          <a:ln>
            <a:noFill/>
          </a:ln>
          <a:effectLst/>
        </p:spPr>
        <p:txBody>
          <a:bodyPr rtlCol="0" anchor="ctr"/>
          <a:lstStyle/>
          <a:p/>
        </p:txBody>
      </p:sp>
      <p:sp>
        <p:nvSpPr>
          <p:cNvPr id="59" name="TextBox 58"/>
          <p:cNvSpPr txBox="1"/>
          <p:nvPr/>
        </p:nvSpPr>
        <p:spPr>
          <a:xfrm>
            <a:off x="9601200" y="2130552"/>
            <a:ext cx="2087575"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IX</a:t>
            </a:r>
          </a:p>
        </p:txBody>
      </p:sp>
      <p:sp>
        <p:nvSpPr>
          <p:cNvPr id="60" name="Rectangle 59"/>
          <p:cNvSpPr/>
          <p:nvPr/>
        </p:nvSpPr>
        <p:spPr>
          <a:xfrm>
            <a:off x="9052560" y="2624328"/>
            <a:ext cx="457200" cy="292608"/>
          </a:xfrm>
          <a:prstGeom prst="rect">
            <a:avLst/>
          </a:prstGeom>
          <a:solidFill>
            <a:srgbClr val="D9622B"/>
          </a:solidFill>
          <a:ln>
            <a:noFill/>
          </a:ln>
          <a:effectLst/>
        </p:spPr>
        <p:txBody>
          <a:bodyPr rtlCol="0" anchor="ctr"/>
          <a:lstStyle/>
          <a:p/>
        </p:txBody>
      </p:sp>
      <p:sp>
        <p:nvSpPr>
          <p:cNvPr id="61" name="TextBox 60"/>
          <p:cNvSpPr txBox="1"/>
          <p:nvPr/>
        </p:nvSpPr>
        <p:spPr>
          <a:xfrm>
            <a:off x="9601200" y="2569464"/>
            <a:ext cx="2087575"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VIII</a:t>
            </a:r>
          </a:p>
        </p:txBody>
      </p:sp>
      <p:sp>
        <p:nvSpPr>
          <p:cNvPr id="62" name="Rectangle 61"/>
          <p:cNvSpPr/>
          <p:nvPr/>
        </p:nvSpPr>
        <p:spPr>
          <a:xfrm>
            <a:off x="9052560" y="3063240"/>
            <a:ext cx="457200" cy="292608"/>
          </a:xfrm>
          <a:prstGeom prst="rect">
            <a:avLst/>
          </a:prstGeom>
          <a:solidFill>
            <a:srgbClr val="F09E4C"/>
          </a:solidFill>
          <a:ln>
            <a:noFill/>
          </a:ln>
          <a:effectLst/>
        </p:spPr>
        <p:txBody>
          <a:bodyPr rtlCol="0" anchor="ctr"/>
          <a:lstStyle/>
          <a:p/>
        </p:txBody>
      </p:sp>
      <p:sp>
        <p:nvSpPr>
          <p:cNvPr id="63" name="TextBox 62"/>
          <p:cNvSpPr txBox="1"/>
          <p:nvPr/>
        </p:nvSpPr>
        <p:spPr>
          <a:xfrm>
            <a:off x="9601200" y="3008376"/>
            <a:ext cx="2087575"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VII</a:t>
            </a:r>
          </a:p>
        </p:txBody>
      </p:sp>
      <p:sp>
        <p:nvSpPr>
          <p:cNvPr id="64" name="Rectangle 63"/>
          <p:cNvSpPr/>
          <p:nvPr/>
        </p:nvSpPr>
        <p:spPr>
          <a:xfrm>
            <a:off x="9052560" y="3502152"/>
            <a:ext cx="457200" cy="292608"/>
          </a:xfrm>
          <a:prstGeom prst="rect">
            <a:avLst/>
          </a:prstGeom>
          <a:solidFill>
            <a:srgbClr val="F6D36F"/>
          </a:solidFill>
          <a:ln>
            <a:noFill/>
          </a:ln>
          <a:effectLst/>
        </p:spPr>
        <p:txBody>
          <a:bodyPr rtlCol="0" anchor="ctr"/>
          <a:lstStyle/>
          <a:p/>
        </p:txBody>
      </p:sp>
      <p:sp>
        <p:nvSpPr>
          <p:cNvPr id="65" name="TextBox 64"/>
          <p:cNvSpPr txBox="1"/>
          <p:nvPr/>
        </p:nvSpPr>
        <p:spPr>
          <a:xfrm>
            <a:off x="9601200" y="3447288"/>
            <a:ext cx="2087575"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VI</a:t>
            </a:r>
          </a:p>
        </p:txBody>
      </p:sp>
      <p:sp>
        <p:nvSpPr>
          <p:cNvPr id="66" name="Rounded Rectangle 65"/>
          <p:cNvSpPr/>
          <p:nvPr/>
        </p:nvSpPr>
        <p:spPr>
          <a:xfrm>
            <a:off x="9052560" y="4005072"/>
            <a:ext cx="2636215" cy="2240280"/>
          </a:xfrm>
          <a:prstGeom prst="roundRect">
            <a:avLst>
              <a:gd name="adj" fmla="val 6000"/>
            </a:avLst>
          </a:prstGeom>
          <a:solidFill>
            <a:srgbClr val="E3F1E4"/>
          </a:solidFill>
          <a:ln>
            <a:noFill/>
          </a:ln>
          <a:effectLst/>
        </p:spPr>
        <p:txBody>
          <a:bodyPr rtlCol="0" anchor="ctr"/>
          <a:lstStyle/>
          <a:p/>
        </p:txBody>
      </p:sp>
      <p:sp>
        <p:nvSpPr>
          <p:cNvPr id="67" name="Rectangle 66"/>
          <p:cNvSpPr/>
          <p:nvPr/>
        </p:nvSpPr>
        <p:spPr>
          <a:xfrm>
            <a:off x="9052560" y="4005072"/>
            <a:ext cx="109728" cy="2240280"/>
          </a:xfrm>
          <a:prstGeom prst="rect">
            <a:avLst/>
          </a:prstGeom>
          <a:solidFill>
            <a:srgbClr val="2E7D32"/>
          </a:solidFill>
          <a:ln>
            <a:noFill/>
          </a:ln>
          <a:effectLst/>
        </p:spPr>
        <p:txBody>
          <a:bodyPr rtlCol="0" anchor="ctr"/>
          <a:lstStyle/>
          <a:p/>
        </p:txBody>
      </p:sp>
      <p:sp>
        <p:nvSpPr>
          <p:cNvPr id="68" name="TextBox 67"/>
          <p:cNvSpPr txBox="1"/>
          <p:nvPr/>
        </p:nvSpPr>
        <p:spPr>
          <a:xfrm>
            <a:off x="9281160" y="4059936"/>
            <a:ext cx="2316175" cy="213055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Çıkarım</a:t>
            </a:r>
          </a:p>
          <a:p>
            <a:pPr algn="l">
              <a:spcBef>
                <a:spcPts val="0"/>
              </a:spcBef>
              <a:spcAft>
                <a:spcPts val="0"/>
              </a:spcAft>
            </a:pPr>
            <a:r>
              <a:rPr lang="tr-TR" sz="1800" b="0" i="0">
                <a:solidFill>
                  <a:srgbClr val="262626"/>
                </a:solidFill>
                <a:latin typeface="Calibri"/>
              </a:rPr>
              <a:t>Açıkta kalanların yaklaşık %76'sı şiddeti IX olan 1. ve 6. mahallede</a:t>
            </a:r>
          </a:p>
        </p:txBody>
      </p:sp>
      <p:sp>
        <p:nvSpPr>
          <p:cNvPr id="69" name="TextBox 68"/>
          <p:cNvSpPr txBox="1"/>
          <p:nvPr/>
        </p:nvSpPr>
        <p:spPr>
          <a:xfrm>
            <a:off x="1417320" y="5998464"/>
            <a:ext cx="73152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Grafik: kitap s. 209 tablosundan çizildi · alt satır: şiddet</a:t>
            </a:r>
          </a:p>
        </p:txBody>
      </p:sp>
      <p:sp>
        <p:nvSpPr>
          <p:cNvPr id="70" name="TextBox 6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71" name="Rounded Rectangle 7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72" name="TextBox 7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203 / 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adım: sunum ve ölçütler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4. ADIM</a:t>
            </a:r>
          </a:p>
        </p:txBody>
      </p:sp>
      <p:sp>
        <p:nvSpPr>
          <p:cNvPr id="6" name="Rounded Rectangle 5"/>
          <p:cNvSpPr/>
          <p:nvPr/>
        </p:nvSpPr>
        <p:spPr>
          <a:xfrm>
            <a:off x="502920" y="1216152"/>
            <a:ext cx="11185855" cy="7772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777240"/>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10774375" cy="7772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Çalışmanızı sunum hâline getirerek sınıfta paylaşınız.</a:t>
            </a:r>
          </a:p>
        </p:txBody>
      </p:sp>
      <p:sp>
        <p:nvSpPr>
          <p:cNvPr id="9" name="Rounded Rectangle 8"/>
          <p:cNvSpPr/>
          <p:nvPr/>
        </p:nvSpPr>
        <p:spPr>
          <a:xfrm>
            <a:off x="502920" y="2176272"/>
            <a:ext cx="2117551" cy="502920"/>
          </a:xfrm>
          <a:prstGeom prst="roundRect">
            <a:avLst>
              <a:gd name="adj" fmla="val 50000"/>
            </a:avLst>
          </a:prstGeom>
          <a:solidFill>
            <a:srgbClr val="1E7B6E"/>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FFFFFF"/>
                </a:solidFill>
                <a:latin typeface="Calibri"/>
              </a:rPr>
              <a:t>6 grup × 1 dakika</a:t>
            </a:r>
          </a:p>
        </p:txBody>
      </p:sp>
      <p:sp>
        <p:nvSpPr>
          <p:cNvPr id="10" name="Rounded Rectangle 9"/>
          <p:cNvSpPr/>
          <p:nvPr/>
        </p:nvSpPr>
        <p:spPr>
          <a:xfrm>
            <a:off x="2803351" y="2176272"/>
            <a:ext cx="1364517" cy="502920"/>
          </a:xfrm>
          <a:prstGeom prst="roundRect">
            <a:avLst>
              <a:gd name="adj" fmla="val 50000"/>
            </a:avLst>
          </a:prstGeom>
          <a:solidFill>
            <a:srgbClr val="1E7B6E"/>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FFFFFF"/>
                </a:solidFill>
                <a:latin typeface="Calibri"/>
              </a:rPr>
              <a:t>kum saati</a:t>
            </a:r>
          </a:p>
        </p:txBody>
      </p:sp>
      <p:sp>
        <p:nvSpPr>
          <p:cNvPr id="11" name="Rounded Rectangle 10"/>
          <p:cNvSpPr/>
          <p:nvPr/>
        </p:nvSpPr>
        <p:spPr>
          <a:xfrm>
            <a:off x="4350748" y="2176272"/>
            <a:ext cx="2876760" cy="502920"/>
          </a:xfrm>
          <a:prstGeom prst="roundRect">
            <a:avLst>
              <a:gd name="adj" fmla="val 50000"/>
            </a:avLst>
          </a:prstGeom>
          <a:solidFill>
            <a:srgbClr val="1E7B6E"/>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FFFFFF"/>
                </a:solidFill>
                <a:latin typeface="Calibri"/>
              </a:rPr>
              <a:t>sınıftan tek cümle dönüt</a:t>
            </a:r>
          </a:p>
        </p:txBody>
      </p:sp>
      <p:sp>
        <p:nvSpPr>
          <p:cNvPr id="12" name="Rounded Rectangle 11"/>
          <p:cNvSpPr/>
          <p:nvPr/>
        </p:nvSpPr>
        <p:spPr>
          <a:xfrm>
            <a:off x="502920" y="2907792"/>
            <a:ext cx="11185855" cy="137160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400"/>
              </a:spcAft>
            </a:pPr>
            <a:r>
              <a:rPr lang="tr-TR" sz="1500" b="1" i="0">
                <a:solidFill>
                  <a:srgbClr val="1E7B6E"/>
                </a:solidFill>
                <a:latin typeface="Calibri"/>
              </a:rPr>
              <a:t>DEĞERLENDİRME</a:t>
            </a:r>
          </a:p>
          <a:p>
            <a:pPr algn="l">
              <a:spcBef>
                <a:spcPts val="0"/>
              </a:spcBef>
              <a:spcAft>
                <a:spcPts val="0"/>
              </a:spcAft>
            </a:pPr>
            <a:r>
              <a:rPr lang="tr-TR" sz="2000" b="0" i="0">
                <a:solidFill>
                  <a:srgbClr val="262626"/>
                </a:solidFill>
                <a:latin typeface="Calibri"/>
              </a:rPr>
              <a:t>Performans göreviniz; bilgi inceleme, içerik, sonuç çıkarma, rapor hazırlama ve rapor sunma ölçütlerine göre karekodda verilen analitik dereceli puanlama anahtarıyla değerlendirilecektir.</a:t>
            </a:r>
          </a:p>
        </p:txBody>
      </p:sp>
      <p:sp>
        <p:nvSpPr>
          <p:cNvPr id="13" name="Rounded Rectangle 12"/>
          <p:cNvSpPr/>
          <p:nvPr/>
        </p:nvSpPr>
        <p:spPr>
          <a:xfrm>
            <a:off x="502920" y="4462272"/>
            <a:ext cx="2127443" cy="914400"/>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bilgi inceleme</a:t>
            </a:r>
          </a:p>
        </p:txBody>
      </p:sp>
      <p:sp>
        <p:nvSpPr>
          <p:cNvPr id="14" name="Rounded Rectangle 13"/>
          <p:cNvSpPr/>
          <p:nvPr/>
        </p:nvSpPr>
        <p:spPr>
          <a:xfrm>
            <a:off x="2767523" y="4462272"/>
            <a:ext cx="2127443" cy="91440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içerik</a:t>
            </a:r>
          </a:p>
        </p:txBody>
      </p:sp>
      <p:sp>
        <p:nvSpPr>
          <p:cNvPr id="15" name="Rounded Rectangle 14"/>
          <p:cNvSpPr/>
          <p:nvPr/>
        </p:nvSpPr>
        <p:spPr>
          <a:xfrm>
            <a:off x="5032126" y="4462272"/>
            <a:ext cx="2127443" cy="914400"/>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sonuç çıkarma</a:t>
            </a:r>
          </a:p>
        </p:txBody>
      </p:sp>
      <p:sp>
        <p:nvSpPr>
          <p:cNvPr id="16" name="Rounded Rectangle 15"/>
          <p:cNvSpPr/>
          <p:nvPr/>
        </p:nvSpPr>
        <p:spPr>
          <a:xfrm>
            <a:off x="7296729" y="4462272"/>
            <a:ext cx="2127443" cy="91440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rapor hazırlama</a:t>
            </a:r>
          </a:p>
        </p:txBody>
      </p:sp>
      <p:sp>
        <p:nvSpPr>
          <p:cNvPr id="17" name="Rounded Rectangle 16"/>
          <p:cNvSpPr/>
          <p:nvPr/>
        </p:nvSpPr>
        <p:spPr>
          <a:xfrm>
            <a:off x="9561332" y="4462272"/>
            <a:ext cx="2127443" cy="914400"/>
          </a:xfrm>
          <a:prstGeom prst="roundRect">
            <a:avLst>
              <a:gd name="adj" fmla="val 20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rapor sunma</a:t>
            </a:r>
          </a:p>
        </p:txBody>
      </p:sp>
      <p:sp>
        <p:nvSpPr>
          <p:cNvPr id="18" name="Rounded Rectangle 17"/>
          <p:cNvSpPr/>
          <p:nvPr/>
        </p:nvSpPr>
        <p:spPr>
          <a:xfrm>
            <a:off x="502920" y="5559552"/>
            <a:ext cx="11185855" cy="7315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0" i="0">
                <a:solidFill>
                  <a:srgbClr val="262626"/>
                </a:solidFill>
                <a:latin typeface="Calibri"/>
              </a:rPr>
              <a:t>Analitik dereceli puanlama anahtarı kitabın karekodunda: </a:t>
            </a:r>
            <a:r>
              <a:rPr lang="tr-TR" sz="1900" b="1" i="0">
                <a:solidFill>
                  <a:srgbClr val="262626"/>
                </a:solidFill>
                <a:latin typeface="Calibri"/>
              </a:rPr>
              <a:t>çıktısı öğretmende</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204 / 250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Örnek sunum akışı (1 dakika)</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932688"/>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16152"/>
            <a:ext cx="1600200" cy="932688"/>
          </a:xfrm>
          <a:prstGeom prst="roundRect">
            <a:avLst>
              <a:gd name="adj" fmla="val 8000"/>
            </a:avLst>
          </a:prstGeom>
          <a:solidFill>
            <a:srgbClr val="2E7D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 BULGU</a:t>
            </a:r>
          </a:p>
        </p:txBody>
      </p:sp>
      <p:sp>
        <p:nvSpPr>
          <p:cNvPr id="8" name="TextBox 7"/>
          <p:cNvSpPr txBox="1"/>
          <p:nvPr/>
        </p:nvSpPr>
        <p:spPr>
          <a:xfrm>
            <a:off x="2240280" y="1216152"/>
            <a:ext cx="9357055" cy="9326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Bilgi inceleme:</a:t>
            </a:r>
            <a:r>
              <a:rPr lang="tr-TR" sz="2000" b="0" i="0">
                <a:solidFill>
                  <a:srgbClr val="262626"/>
                </a:solidFill>
                <a:latin typeface="Calibri"/>
              </a:rPr>
              <a:t> “Tabloda gördük ki 1. ve 6. mahallede şiddet IX; 554 konut ağır hasarlı.”</a:t>
            </a:r>
          </a:p>
        </p:txBody>
      </p:sp>
      <p:sp>
        <p:nvSpPr>
          <p:cNvPr id="9" name="Rounded Rectangle 8"/>
          <p:cNvSpPr/>
          <p:nvPr/>
        </p:nvSpPr>
        <p:spPr>
          <a:xfrm>
            <a:off x="502920" y="2240280"/>
            <a:ext cx="11185855" cy="932688"/>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240280"/>
            <a:ext cx="1600200" cy="932688"/>
          </a:xfrm>
          <a:prstGeom prst="roundRect">
            <a:avLst>
              <a:gd name="adj" fmla="val 8000"/>
            </a:avLst>
          </a:prstGeom>
          <a:solidFill>
            <a:srgbClr val="2E7D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 ÖNERİ</a:t>
            </a:r>
          </a:p>
        </p:txBody>
      </p:sp>
      <p:sp>
        <p:nvSpPr>
          <p:cNvPr id="11" name="TextBox 10"/>
          <p:cNvSpPr txBox="1"/>
          <p:nvPr/>
        </p:nvSpPr>
        <p:spPr>
          <a:xfrm>
            <a:off x="2240280" y="2240280"/>
            <a:ext cx="9357055" cy="9326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İçerik:</a:t>
            </a:r>
            <a:r>
              <a:rPr lang="tr-TR" sz="2000" b="0" i="0">
                <a:solidFill>
                  <a:srgbClr val="262626"/>
                </a:solidFill>
                <a:latin typeface="Calibri"/>
              </a:rPr>
              <a:t> “Bu yüzden binalar güçlendirilsin, 1.570 çadırlık alan önceden belirlensin.”</a:t>
            </a:r>
          </a:p>
        </p:txBody>
      </p:sp>
      <p:sp>
        <p:nvSpPr>
          <p:cNvPr id="12" name="Rounded Rectangle 11"/>
          <p:cNvSpPr/>
          <p:nvPr/>
        </p:nvSpPr>
        <p:spPr>
          <a:xfrm>
            <a:off x="502920" y="3264408"/>
            <a:ext cx="11185855" cy="93268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264408"/>
            <a:ext cx="1600200" cy="932688"/>
          </a:xfrm>
          <a:prstGeom prst="roundRect">
            <a:avLst>
              <a:gd name="adj" fmla="val 8000"/>
            </a:avLst>
          </a:prstGeom>
          <a:solidFill>
            <a:srgbClr val="2E7D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 AŞAMA</a:t>
            </a:r>
          </a:p>
        </p:txBody>
      </p:sp>
      <p:sp>
        <p:nvSpPr>
          <p:cNvPr id="14" name="TextBox 13"/>
          <p:cNvSpPr txBox="1"/>
          <p:nvPr/>
        </p:nvSpPr>
        <p:spPr>
          <a:xfrm>
            <a:off x="2240280" y="3264408"/>
            <a:ext cx="9357055" cy="9326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Sonuç çıkarma:</a:t>
            </a:r>
            <a:r>
              <a:rPr lang="tr-TR" sz="2000" b="0" i="0">
                <a:solidFill>
                  <a:srgbClr val="262626"/>
                </a:solidFill>
                <a:latin typeface="Calibri"/>
              </a:rPr>
              <a:t> “Bu öneriler risk ve zarar azaltma ile hazırlıklı olma aşamalarına girer.”</a:t>
            </a:r>
          </a:p>
        </p:txBody>
      </p:sp>
      <p:sp>
        <p:nvSpPr>
          <p:cNvPr id="15" name="Rounded Rectangle 14"/>
          <p:cNvSpPr/>
          <p:nvPr/>
        </p:nvSpPr>
        <p:spPr>
          <a:xfrm>
            <a:off x="502920" y="4288536"/>
            <a:ext cx="11185855" cy="93268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4288536"/>
            <a:ext cx="1600200" cy="932688"/>
          </a:xfrm>
          <a:prstGeom prst="roundRect">
            <a:avLst>
              <a:gd name="adj" fmla="val 8000"/>
            </a:avLst>
          </a:prstGeom>
          <a:solidFill>
            <a:srgbClr val="2E7D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 TEMSİL</a:t>
            </a:r>
          </a:p>
        </p:txBody>
      </p:sp>
      <p:sp>
        <p:nvSpPr>
          <p:cNvPr id="17" name="TextBox 16"/>
          <p:cNvSpPr txBox="1"/>
          <p:nvPr/>
        </p:nvSpPr>
        <p:spPr>
          <a:xfrm>
            <a:off x="2240280" y="4288536"/>
            <a:ext cx="9357055" cy="9326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Rapor hazırlama:</a:t>
            </a:r>
            <a:r>
              <a:rPr lang="tr-TR" sz="2000" b="0" i="0">
                <a:solidFill>
                  <a:srgbClr val="262626"/>
                </a:solidFill>
                <a:latin typeface="Calibri"/>
              </a:rPr>
              <a:t> “Grafiğimiz açıkta kalanların %76'sının bu iki mahallede olduğunu gösteriyor.”</a:t>
            </a:r>
          </a:p>
        </p:txBody>
      </p:sp>
      <p:sp>
        <p:nvSpPr>
          <p:cNvPr id="18" name="Rounded Rectangle 17"/>
          <p:cNvSpPr/>
          <p:nvPr/>
        </p:nvSpPr>
        <p:spPr>
          <a:xfrm>
            <a:off x="502920" y="5312664"/>
            <a:ext cx="11185855" cy="932688"/>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5312664"/>
            <a:ext cx="1600200" cy="932688"/>
          </a:xfrm>
          <a:prstGeom prst="roundRect">
            <a:avLst>
              <a:gd name="adj" fmla="val 8000"/>
            </a:avLst>
          </a:prstGeom>
          <a:solidFill>
            <a:srgbClr val="2E7D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5 · SUNUM</a:t>
            </a:r>
          </a:p>
        </p:txBody>
      </p:sp>
      <p:sp>
        <p:nvSpPr>
          <p:cNvPr id="20" name="TextBox 19"/>
          <p:cNvSpPr txBox="1"/>
          <p:nvPr/>
        </p:nvSpPr>
        <p:spPr>
          <a:xfrm>
            <a:off x="2240280" y="5312664"/>
            <a:ext cx="9357055" cy="93268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Rapor sunma:</a:t>
            </a:r>
            <a:r>
              <a:rPr lang="tr-TR" sz="2000" b="0" i="0">
                <a:solidFill>
                  <a:srgbClr val="262626"/>
                </a:solidFill>
                <a:latin typeface="Calibri"/>
              </a:rPr>
              <a:t> 1 dakika, herkesin duyacağı ses, sonunda bir soru</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205 / 250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Öz değerlendirme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ÖZ DEĞERLENDİRME</a:t>
            </a:r>
          </a:p>
        </p:txBody>
      </p:sp>
      <p:sp>
        <p:nvSpPr>
          <p:cNvPr id="6" name="Rounded Rectangle 5"/>
          <p:cNvSpPr/>
          <p:nvPr/>
        </p:nvSpPr>
        <p:spPr>
          <a:xfrm>
            <a:off x="502920" y="1216152"/>
            <a:ext cx="11185855" cy="82296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822960"/>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10774375" cy="8229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Ayrıca öz değerlendirme formunu doldurarak kendinizi değerlendiriniz.</a:t>
            </a:r>
          </a:p>
        </p:txBody>
      </p:sp>
      <p:sp>
        <p:nvSpPr>
          <p:cNvPr id="9" name="Rounded Rectangle 8"/>
          <p:cNvSpPr/>
          <p:nvPr/>
        </p:nvSpPr>
        <p:spPr>
          <a:xfrm>
            <a:off x="502920" y="2221992"/>
            <a:ext cx="11185855" cy="740664"/>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221992"/>
            <a:ext cx="1600200" cy="740664"/>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FORM</a:t>
            </a:r>
          </a:p>
        </p:txBody>
      </p:sp>
      <p:sp>
        <p:nvSpPr>
          <p:cNvPr id="11" name="TextBox 10"/>
          <p:cNvSpPr txBox="1"/>
          <p:nvPr/>
        </p:nvSpPr>
        <p:spPr>
          <a:xfrm>
            <a:off x="2240280" y="2221992"/>
            <a:ext cx="9357055" cy="74066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Öz değerlendirme formunun çıktısını öğretmenin dağıtır</a:t>
            </a:r>
          </a:p>
        </p:txBody>
      </p:sp>
      <p:sp>
        <p:nvSpPr>
          <p:cNvPr id="12" name="Rounded Rectangle 11"/>
          <p:cNvSpPr/>
          <p:nvPr/>
        </p:nvSpPr>
        <p:spPr>
          <a:xfrm>
            <a:off x="502920" y="3072384"/>
            <a:ext cx="11185855" cy="740664"/>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072384"/>
            <a:ext cx="1600200" cy="740664"/>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dk</a:t>
            </a:r>
          </a:p>
        </p:txBody>
      </p:sp>
      <p:sp>
        <p:nvSpPr>
          <p:cNvPr id="14" name="TextBox 13"/>
          <p:cNvSpPr txBox="1"/>
          <p:nvPr/>
        </p:nvSpPr>
        <p:spPr>
          <a:xfrm>
            <a:off x="2240280" y="3072384"/>
            <a:ext cx="9357055" cy="74066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Bireysel ve sessiz: dürüstçe işaretle</a:t>
            </a:r>
          </a:p>
        </p:txBody>
      </p:sp>
      <p:sp>
        <p:nvSpPr>
          <p:cNvPr id="15" name="Rounded Rectangle 14"/>
          <p:cNvSpPr/>
          <p:nvPr/>
        </p:nvSpPr>
        <p:spPr>
          <a:xfrm>
            <a:off x="502920" y="3922776"/>
            <a:ext cx="11185855" cy="740664"/>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3922776"/>
            <a:ext cx="1600200" cy="740664"/>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SORU</a:t>
            </a:r>
          </a:p>
        </p:txBody>
      </p:sp>
      <p:sp>
        <p:nvSpPr>
          <p:cNvPr id="17" name="TextBox 16"/>
          <p:cNvSpPr txBox="1"/>
          <p:nvPr/>
        </p:nvSpPr>
        <p:spPr>
          <a:xfrm>
            <a:off x="2240280" y="3922776"/>
            <a:ext cx="9357055" cy="74066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Neyi iyi yaptım? Neyi geliştirebilirim?</a:t>
            </a:r>
          </a:p>
        </p:txBody>
      </p:sp>
      <p:sp>
        <p:nvSpPr>
          <p:cNvPr id="18" name="Rounded Rectangle 17"/>
          <p:cNvSpPr/>
          <p:nvPr/>
        </p:nvSpPr>
        <p:spPr>
          <a:xfrm>
            <a:off x="502920" y="4773168"/>
            <a:ext cx="11185855" cy="740664"/>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4773168"/>
            <a:ext cx="1600200" cy="740664"/>
          </a:xfrm>
          <a:prstGeom prst="roundRect">
            <a:avLst>
              <a:gd name="adj" fmla="val 8000"/>
            </a:avLst>
          </a:prstGeom>
          <a:solidFill>
            <a:srgbClr val="1E7B6E"/>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TESLİM</a:t>
            </a:r>
          </a:p>
        </p:txBody>
      </p:sp>
      <p:sp>
        <p:nvSpPr>
          <p:cNvPr id="20" name="TextBox 19"/>
          <p:cNvSpPr txBox="1"/>
          <p:nvPr/>
        </p:nvSpPr>
        <p:spPr>
          <a:xfrm>
            <a:off x="2240280" y="4773168"/>
            <a:ext cx="9357055" cy="74066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Formu grubunun ürünüyle birlikte teslim et</a:t>
            </a:r>
          </a:p>
        </p:txBody>
      </p:sp>
      <p:sp>
        <p:nvSpPr>
          <p:cNvPr id="21" name="Rounded Rectangle 20"/>
          <p:cNvSpPr/>
          <p:nvPr/>
        </p:nvSpPr>
        <p:spPr>
          <a:xfrm>
            <a:off x="502920" y="5696712"/>
            <a:ext cx="11185855" cy="5943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Evde: çalışma kâğıdı </a:t>
            </a:r>
            <a:r>
              <a:rPr lang="tr-TR" sz="2000" b="1" i="0">
                <a:solidFill>
                  <a:srgbClr val="262626"/>
                </a:solidFill>
                <a:latin typeface="Calibri"/>
              </a:rPr>
              <a:t>17. madde</a:t>
            </a:r>
            <a:r>
              <a:rPr lang="tr-TR" sz="2000" b="0" i="0">
                <a:solidFill>
                  <a:srgbClr val="262626"/>
                </a:solidFill>
                <a:latin typeface="Calibri"/>
              </a:rPr>
              <a:t> (öz değerlendirme)</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206 / 250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 ve uluslararası iş birliği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DAYANIŞMA</a:t>
            </a:r>
          </a:p>
        </p:txBody>
      </p:sp>
      <p:sp>
        <p:nvSpPr>
          <p:cNvPr id="6" name="Rounded Rectangle 5"/>
          <p:cNvSpPr/>
          <p:nvPr/>
        </p:nvSpPr>
        <p:spPr>
          <a:xfrm>
            <a:off x="502920" y="1216152"/>
            <a:ext cx="11185855" cy="621792"/>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621792"/>
          </a:xfrm>
          <a:prstGeom prst="rect">
            <a:avLst/>
          </a:prstGeom>
          <a:solidFill>
            <a:srgbClr val="1E7B6E"/>
          </a:solidFill>
          <a:ln>
            <a:noFill/>
          </a:ln>
          <a:effectLst/>
        </p:spPr>
        <p:txBody>
          <a:bodyPr rtlCol="0" anchor="ctr"/>
          <a:lstStyle/>
          <a:p/>
        </p:txBody>
      </p:sp>
      <p:sp>
        <p:nvSpPr>
          <p:cNvPr id="8" name="TextBox 7"/>
          <p:cNvSpPr txBox="1"/>
          <p:nvPr/>
        </p:nvSpPr>
        <p:spPr>
          <a:xfrm>
            <a:off x="777240" y="1216152"/>
            <a:ext cx="10774375" cy="62179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Afetler, çoğu zaman meydana geldiği şehir veya ülkenin müdahale becerisini aşan sorunlara yol açar.</a:t>
            </a:r>
          </a:p>
        </p:txBody>
      </p:sp>
      <p:sp>
        <p:nvSpPr>
          <p:cNvPr id="9" name="Rounded Rectangle 8"/>
          <p:cNvSpPr/>
          <p:nvPr/>
        </p:nvSpPr>
        <p:spPr>
          <a:xfrm>
            <a:off x="502920" y="1975104"/>
            <a:ext cx="5478627" cy="4270248"/>
          </a:xfrm>
          <a:prstGeom prst="roundRect">
            <a:avLst>
              <a:gd name="adj" fmla="val 4000"/>
            </a:avLst>
          </a:prstGeom>
          <a:solidFill>
            <a:srgbClr val="F0F0F0"/>
          </a:solidFill>
          <a:ln>
            <a:noFill/>
          </a:ln>
          <a:effectLst/>
        </p:spPr>
        <p:txBody>
          <a:bodyPr rtlCol="0" anchor="ctr"/>
          <a:lstStyle/>
          <a:p/>
        </p:txBody>
      </p:sp>
      <p:sp>
        <p:nvSpPr>
          <p:cNvPr id="10" name="Rounded Rectangle 9"/>
          <p:cNvSpPr/>
          <p:nvPr/>
        </p:nvSpPr>
        <p:spPr>
          <a:xfrm>
            <a:off x="502920" y="1975104"/>
            <a:ext cx="5478627" cy="713232"/>
          </a:xfrm>
          <a:prstGeom prst="roundRect">
            <a:avLst>
              <a:gd name="adj" fmla="val 15000"/>
            </a:avLst>
          </a:prstGeom>
          <a:solidFill>
            <a:srgbClr val="1E7B6E"/>
          </a:solidFill>
          <a:ln>
            <a:noFill/>
          </a:ln>
          <a:effectLst/>
        </p:spPr>
        <p:txBody>
          <a:bodyPr rtlCol="0" anchor="ctr" wrap="square" lIns="137160" rIns="137160" tIns="73152" bIns="73152">
            <a:noAutofit/>
          </a:bodyPr>
          <a:lstStyle/>
          <a:p>
            <a:pPr algn="l">
              <a:spcBef>
                <a:spcPts val="0"/>
              </a:spcBef>
              <a:spcAft>
                <a:spcPts val="0"/>
              </a:spcAft>
            </a:pPr>
            <a:r>
              <a:rPr lang="tr-TR" sz="1600" b="1" i="0">
                <a:solidFill>
                  <a:srgbClr val="FFFFFF"/>
                </a:solidFill>
                <a:latin typeface="Calibri"/>
              </a:rPr>
              <a:t>Türkiye’den Uzanan Yardım Eli “İyilik Treni” Afganistan’a Ulaştı</a:t>
            </a:r>
          </a:p>
        </p:txBody>
      </p:sp>
      <p:pic>
        <p:nvPicPr>
          <p:cNvPr id="11" name="Picture 10" descr="h33_s205_iyilik_treni.jpg"/>
          <p:cNvPicPr>
            <a:picLocks noChangeAspect="1"/>
          </p:cNvPicPr>
          <p:nvPr/>
        </p:nvPicPr>
        <p:blipFill>
          <a:blip r:embed="rId3"/>
          <a:stretch>
            <a:fillRect/>
          </a:stretch>
        </p:blipFill>
        <p:spPr>
          <a:xfrm>
            <a:off x="612648" y="2802317"/>
            <a:ext cx="2514600" cy="1637413"/>
          </a:xfrm>
          <a:prstGeom prst="rect">
            <a:avLst/>
          </a:prstGeom>
          <a:ln w="9525">
            <a:solidFill>
              <a:srgbClr val="D9D9D9"/>
            </a:solidFill>
          </a:ln>
        </p:spPr>
      </p:pic>
      <p:sp>
        <p:nvSpPr>
          <p:cNvPr id="12" name="TextBox 11"/>
          <p:cNvSpPr txBox="1"/>
          <p:nvPr/>
        </p:nvSpPr>
        <p:spPr>
          <a:xfrm>
            <a:off x="612648" y="4467162"/>
            <a:ext cx="2514600" cy="731520"/>
          </a:xfrm>
          <a:prstGeom prst="rect">
            <a:avLst/>
          </a:prstGeom>
          <a:noFill/>
        </p:spPr>
        <p:txBody>
          <a:bodyPr wrap="square" anchor="t" lIns="73152" rIns="73152" tIns="36576" bIns="36576">
            <a:noAutofit/>
          </a:bodyPr>
          <a:lstStyle/>
          <a:p>
            <a:pPr algn="l">
              <a:spcBef>
                <a:spcPts val="0"/>
              </a:spcBef>
              <a:spcAft>
                <a:spcPts val="0"/>
              </a:spcAft>
            </a:pPr>
            <a:r>
              <a:rPr lang="tr-TR" sz="1250" b="0" i="1">
                <a:solidFill>
                  <a:srgbClr val="767676"/>
                </a:solidFill>
                <a:latin typeface="Calibri"/>
              </a:rPr>
              <a:t>Türkiye’den Afganistan’a gönderilen İyilik Treni</a:t>
            </a:r>
          </a:p>
        </p:txBody>
      </p:sp>
      <p:sp>
        <p:nvSpPr>
          <p:cNvPr id="13" name="TextBox 12"/>
          <p:cNvSpPr txBox="1"/>
          <p:nvPr/>
        </p:nvSpPr>
        <p:spPr>
          <a:xfrm>
            <a:off x="3264408" y="2779776"/>
            <a:ext cx="2625699" cy="2331720"/>
          </a:xfrm>
          <a:prstGeom prst="rect">
            <a:avLst/>
          </a:prstGeom>
          <a:noFill/>
        </p:spPr>
        <p:txBody>
          <a:bodyPr wrap="square" anchor="t" lIns="73152" rIns="73152" tIns="36576" bIns="36576">
            <a:noAutofit/>
          </a:bodyPr>
          <a:lstStyle/>
          <a:p>
            <a:pPr algn="l" marL="236189" indent="-236189">
              <a:spcBef>
                <a:spcPts val="0"/>
              </a:spcBef>
              <a:spcAft>
                <a:spcPts val="800"/>
              </a:spcAft>
            </a:pPr>
            <a:r>
              <a:rPr lang="tr-TR" sz="1900" b="1" i="0">
                <a:solidFill>
                  <a:srgbClr val="1E7B6E"/>
                </a:solidFill>
                <a:latin typeface="Calibri"/>
              </a:rPr>
              <a:t>•  </a:t>
            </a:r>
            <a:r>
              <a:rPr lang="tr-TR" sz="1900" b="0" i="0">
                <a:solidFill>
                  <a:srgbClr val="262626"/>
                </a:solidFill>
                <a:latin typeface="Calibri"/>
              </a:rPr>
              <a:t>Afganistan'a 750 ton insani yardım</a:t>
            </a:r>
          </a:p>
          <a:p>
            <a:pPr algn="l" marL="236189" indent="-236189">
              <a:spcBef>
                <a:spcPts val="0"/>
              </a:spcBef>
              <a:spcAft>
                <a:spcPts val="0"/>
              </a:spcAft>
            </a:pPr>
            <a:r>
              <a:rPr lang="tr-TR" sz="1900" b="1" i="0">
                <a:solidFill>
                  <a:srgbClr val="1E7B6E"/>
                </a:solidFill>
                <a:latin typeface="Calibri"/>
              </a:rPr>
              <a:t>•  </a:t>
            </a:r>
            <a:r>
              <a:rPr lang="tr-TR" sz="1900" b="0" i="0">
                <a:solidFill>
                  <a:srgbClr val="262626"/>
                </a:solidFill>
                <a:latin typeface="Calibri"/>
              </a:rPr>
              <a:t>Türkiye, acil insani yardımda başı çeken ülkelerden</a:t>
            </a:r>
          </a:p>
        </p:txBody>
      </p:sp>
      <p:sp>
        <p:nvSpPr>
          <p:cNvPr id="14" name="Rounded Rectangle 13"/>
          <p:cNvSpPr/>
          <p:nvPr/>
        </p:nvSpPr>
        <p:spPr>
          <a:xfrm>
            <a:off x="612648" y="5221224"/>
            <a:ext cx="5259171" cy="932688"/>
          </a:xfrm>
          <a:prstGeom prst="roundRect">
            <a:avLst>
              <a:gd name="adj" fmla="val 8000"/>
            </a:avLst>
          </a:prstGeom>
          <a:solidFill>
            <a:srgbClr val="FFFFFF"/>
          </a:solidFill>
          <a:ln w="12700">
            <a:solidFill>
              <a:srgbClr val="1E7B6E"/>
            </a:solidFill>
          </a:ln>
          <a:effectLst/>
        </p:spPr>
        <p:txBody>
          <a:bodyPr rtlCol="0" anchor="ctr" wrap="square" lIns="109728" rIns="109728" tIns="73152" bIns="73152">
            <a:noAutofit/>
          </a:bodyPr>
          <a:lstStyle/>
          <a:p>
            <a:pPr algn="l">
              <a:spcBef>
                <a:spcPts val="0"/>
              </a:spcBef>
              <a:spcAft>
                <a:spcPts val="0"/>
              </a:spcAft>
            </a:pPr>
            <a:r>
              <a:rPr lang="tr-TR" sz="1500" b="1" i="0">
                <a:solidFill>
                  <a:srgbClr val="262626"/>
                </a:solidFill>
                <a:latin typeface="Calibri"/>
              </a:rPr>
              <a:t>Türkiye'nin yardımları:</a:t>
            </a:r>
            <a:r>
              <a:rPr lang="tr-TR" sz="1500" b="0" i="0">
                <a:solidFill>
                  <a:srgbClr val="262626"/>
                </a:solidFill>
                <a:latin typeface="Calibri"/>
              </a:rPr>
              <a:t> 2004 Güneydoğu Asya depremi · 2011 Japonya depremi · 2014 Balkanlar ve 2016 Makedonya selleri · 2023 Yunanistan orman yangını</a:t>
            </a:r>
          </a:p>
        </p:txBody>
      </p:sp>
      <p:sp>
        <p:nvSpPr>
          <p:cNvPr id="15" name="Rounded Rectangle 14"/>
          <p:cNvSpPr/>
          <p:nvPr/>
        </p:nvSpPr>
        <p:spPr>
          <a:xfrm>
            <a:off x="6210147" y="1975104"/>
            <a:ext cx="5478627" cy="4270248"/>
          </a:xfrm>
          <a:prstGeom prst="roundRect">
            <a:avLst>
              <a:gd name="adj" fmla="val 4000"/>
            </a:avLst>
          </a:prstGeom>
          <a:solidFill>
            <a:srgbClr val="F0F0F0"/>
          </a:solidFill>
          <a:ln>
            <a:noFill/>
          </a:ln>
          <a:effectLst/>
        </p:spPr>
        <p:txBody>
          <a:bodyPr rtlCol="0" anchor="ctr"/>
          <a:lstStyle/>
          <a:p/>
        </p:txBody>
      </p:sp>
      <p:sp>
        <p:nvSpPr>
          <p:cNvPr id="16" name="Rounded Rectangle 15"/>
          <p:cNvSpPr/>
          <p:nvPr/>
        </p:nvSpPr>
        <p:spPr>
          <a:xfrm>
            <a:off x="6210147" y="1975104"/>
            <a:ext cx="5478627" cy="713232"/>
          </a:xfrm>
          <a:prstGeom prst="roundRect">
            <a:avLst>
              <a:gd name="adj" fmla="val 15000"/>
            </a:avLst>
          </a:prstGeom>
          <a:solidFill>
            <a:srgbClr val="D3373A"/>
          </a:solidFill>
          <a:ln>
            <a:noFill/>
          </a:ln>
          <a:effectLst/>
        </p:spPr>
        <p:txBody>
          <a:bodyPr rtlCol="0" anchor="ctr" wrap="square" lIns="137160" rIns="137160" tIns="73152" bIns="73152">
            <a:noAutofit/>
          </a:bodyPr>
          <a:lstStyle/>
          <a:p>
            <a:pPr algn="l">
              <a:spcBef>
                <a:spcPts val="0"/>
              </a:spcBef>
              <a:spcAft>
                <a:spcPts val="0"/>
              </a:spcAft>
            </a:pPr>
            <a:r>
              <a:rPr lang="tr-TR" sz="1600" b="1" i="0">
                <a:solidFill>
                  <a:srgbClr val="FFFFFF"/>
                </a:solidFill>
                <a:latin typeface="Calibri"/>
              </a:rPr>
              <a:t>Türkiye’deki Orman Yangınlarına Altı Ülkeden Hava Desteği Geldi</a:t>
            </a:r>
          </a:p>
        </p:txBody>
      </p:sp>
      <p:pic>
        <p:nvPicPr>
          <p:cNvPr id="17" name="Picture 16" descr="h33_s205_yangin.jpg"/>
          <p:cNvPicPr>
            <a:picLocks noChangeAspect="1"/>
          </p:cNvPicPr>
          <p:nvPr/>
        </p:nvPicPr>
        <p:blipFill>
          <a:blip r:embed="rId4"/>
          <a:stretch>
            <a:fillRect/>
          </a:stretch>
        </p:blipFill>
        <p:spPr>
          <a:xfrm>
            <a:off x="6319875" y="2807345"/>
            <a:ext cx="2514600" cy="1627356"/>
          </a:xfrm>
          <a:prstGeom prst="rect">
            <a:avLst/>
          </a:prstGeom>
          <a:ln w="9525">
            <a:solidFill>
              <a:srgbClr val="D9D9D9"/>
            </a:solidFill>
          </a:ln>
        </p:spPr>
      </p:pic>
      <p:sp>
        <p:nvSpPr>
          <p:cNvPr id="18" name="TextBox 17"/>
          <p:cNvSpPr txBox="1"/>
          <p:nvPr/>
        </p:nvSpPr>
        <p:spPr>
          <a:xfrm>
            <a:off x="6319875" y="4462134"/>
            <a:ext cx="2514600" cy="731520"/>
          </a:xfrm>
          <a:prstGeom prst="rect">
            <a:avLst/>
          </a:prstGeom>
          <a:noFill/>
        </p:spPr>
        <p:txBody>
          <a:bodyPr wrap="square" anchor="t" lIns="73152" rIns="73152" tIns="36576" bIns="36576">
            <a:noAutofit/>
          </a:bodyPr>
          <a:lstStyle/>
          <a:p>
            <a:pPr algn="l">
              <a:spcBef>
                <a:spcPts val="0"/>
              </a:spcBef>
              <a:spcAft>
                <a:spcPts val="0"/>
              </a:spcAft>
            </a:pPr>
            <a:r>
              <a:rPr lang="tr-TR" sz="1250" b="0" i="1">
                <a:solidFill>
                  <a:srgbClr val="767676"/>
                </a:solidFill>
                <a:latin typeface="Calibri"/>
              </a:rPr>
              <a:t>Uluslararası yardım ekiplerinin yangın bölgesindeki çalışmalarından bir kare</a:t>
            </a:r>
          </a:p>
        </p:txBody>
      </p:sp>
      <p:sp>
        <p:nvSpPr>
          <p:cNvPr id="19" name="TextBox 18"/>
          <p:cNvSpPr txBox="1"/>
          <p:nvPr/>
        </p:nvSpPr>
        <p:spPr>
          <a:xfrm>
            <a:off x="8971635" y="2779776"/>
            <a:ext cx="2625699" cy="2331720"/>
          </a:xfrm>
          <a:prstGeom prst="rect">
            <a:avLst/>
          </a:prstGeom>
          <a:noFill/>
        </p:spPr>
        <p:txBody>
          <a:bodyPr wrap="square" anchor="t" lIns="73152" rIns="73152" tIns="36576" bIns="36576">
            <a:noAutofit/>
          </a:bodyPr>
          <a:lstStyle/>
          <a:p>
            <a:pPr algn="l" marL="236189" indent="-236189">
              <a:spcBef>
                <a:spcPts val="0"/>
              </a:spcBef>
              <a:spcAft>
                <a:spcPts val="800"/>
              </a:spcAft>
            </a:pPr>
            <a:r>
              <a:rPr lang="tr-TR" sz="1900" b="1" i="0">
                <a:solidFill>
                  <a:srgbClr val="D3373A"/>
                </a:solidFill>
                <a:latin typeface="Calibri"/>
              </a:rPr>
              <a:t>•  </a:t>
            </a:r>
            <a:r>
              <a:rPr lang="tr-TR" sz="1900" b="0" i="0">
                <a:solidFill>
                  <a:srgbClr val="262626"/>
                </a:solidFill>
                <a:latin typeface="Calibri"/>
              </a:rPr>
              <a:t>“Yeşil Vatan”daki yangınlara 6 ülkeden 18 hava aracı</a:t>
            </a:r>
          </a:p>
          <a:p>
            <a:pPr algn="l" marL="236189" indent="-236189">
              <a:spcBef>
                <a:spcPts val="0"/>
              </a:spcBef>
              <a:spcAft>
                <a:spcPts val="0"/>
              </a:spcAft>
            </a:pPr>
            <a:r>
              <a:rPr lang="tr-TR" sz="1900" b="1" i="0">
                <a:solidFill>
                  <a:srgbClr val="D3373A"/>
                </a:solidFill>
                <a:latin typeface="Calibri"/>
              </a:rPr>
              <a:t>•  </a:t>
            </a:r>
            <a:r>
              <a:rPr lang="tr-TR" sz="1900" b="0" i="0">
                <a:solidFill>
                  <a:srgbClr val="262626"/>
                </a:solidFill>
                <a:latin typeface="Calibri"/>
              </a:rPr>
              <a:t>Türkiye'nin 45 helikopter ve 3 uçağına ek destek</a:t>
            </a:r>
          </a:p>
        </p:txBody>
      </p:sp>
      <p:sp>
        <p:nvSpPr>
          <p:cNvPr id="20" name="Rounded Rectangle 19"/>
          <p:cNvSpPr/>
          <p:nvPr/>
        </p:nvSpPr>
        <p:spPr>
          <a:xfrm>
            <a:off x="6319875" y="5221224"/>
            <a:ext cx="5259171" cy="932688"/>
          </a:xfrm>
          <a:prstGeom prst="roundRect">
            <a:avLst>
              <a:gd name="adj" fmla="val 8000"/>
            </a:avLst>
          </a:prstGeom>
          <a:solidFill>
            <a:srgbClr val="FFFFFF"/>
          </a:solidFill>
          <a:ln w="12700">
            <a:solidFill>
              <a:srgbClr val="D3373A"/>
            </a:solidFill>
          </a:ln>
          <a:effectLst/>
        </p:spPr>
        <p:txBody>
          <a:bodyPr rtlCol="0" anchor="ctr" wrap="square" lIns="109728" rIns="109728" tIns="73152" bIns="73152">
            <a:noAutofit/>
          </a:bodyPr>
          <a:lstStyle/>
          <a:p>
            <a:pPr algn="l">
              <a:spcBef>
                <a:spcPts val="0"/>
              </a:spcBef>
              <a:spcAft>
                <a:spcPts val="0"/>
              </a:spcAft>
            </a:pPr>
            <a:r>
              <a:rPr lang="tr-TR" sz="1500" b="1" i="0">
                <a:solidFill>
                  <a:srgbClr val="262626"/>
                </a:solidFill>
                <a:latin typeface="Calibri"/>
              </a:rPr>
              <a:t>Ülkeler:</a:t>
            </a:r>
            <a:r>
              <a:rPr lang="tr-TR" sz="1500" b="0" i="0">
                <a:solidFill>
                  <a:srgbClr val="262626"/>
                </a:solidFill>
                <a:latin typeface="Calibri"/>
              </a:rPr>
              <a:t> Azerbaycan, İran, Rusya, Hırvatistan, İspanya, Ukrayna · </a:t>
            </a:r>
            <a:r>
              <a:rPr lang="tr-TR" sz="1500" b="1" i="0">
                <a:solidFill>
                  <a:srgbClr val="262626"/>
                </a:solidFill>
                <a:latin typeface="Calibri"/>
              </a:rPr>
              <a:t>Yerler:</a:t>
            </a:r>
            <a:r>
              <a:rPr lang="tr-TR" sz="1500" b="0" i="0">
                <a:solidFill>
                  <a:srgbClr val="262626"/>
                </a:solidFill>
                <a:latin typeface="Calibri"/>
              </a:rPr>
              <a:t> Muğla, Antalya, Dalaman</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205</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207 / 250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Afetlerde Dayanışma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sp>
        <p:nvSpPr>
          <p:cNvPr id="6" name="Rounded Rectangle 5"/>
          <p:cNvSpPr/>
          <p:nvPr/>
        </p:nvSpPr>
        <p:spPr>
          <a:xfrm>
            <a:off x="502920" y="1216152"/>
            <a:ext cx="11185855" cy="105156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28930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1. SORU</a:t>
            </a:r>
          </a:p>
        </p:txBody>
      </p:sp>
      <p:sp>
        <p:nvSpPr>
          <p:cNvPr id="8" name="TextBox 7"/>
          <p:cNvSpPr txBox="1"/>
          <p:nvPr/>
        </p:nvSpPr>
        <p:spPr>
          <a:xfrm>
            <a:off x="685800" y="1636776"/>
            <a:ext cx="10820095" cy="539496"/>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Afet ve acil durumlarda uluslararası iş birliğinin önemini açıklayınız.</a:t>
            </a:r>
          </a:p>
        </p:txBody>
      </p:sp>
      <p:sp>
        <p:nvSpPr>
          <p:cNvPr id="9" name="Rounded Rectangle 8"/>
          <p:cNvSpPr/>
          <p:nvPr/>
        </p:nvSpPr>
        <p:spPr>
          <a:xfrm>
            <a:off x="502920" y="2404872"/>
            <a:ext cx="11185855" cy="1600200"/>
          </a:xfrm>
          <a:prstGeom prst="roundRect">
            <a:avLst>
              <a:gd name="adj" fmla="val 6000"/>
            </a:avLst>
          </a:prstGeom>
          <a:solidFill>
            <a:srgbClr val="FFF3D1"/>
          </a:solidFill>
          <a:ln>
            <a:noFill/>
          </a:ln>
          <a:effectLst/>
        </p:spPr>
        <p:txBody>
          <a:bodyPr rtlCol="0" anchor="ctr"/>
          <a:lstStyle/>
          <a:p/>
        </p:txBody>
      </p:sp>
      <p:sp>
        <p:nvSpPr>
          <p:cNvPr id="10" name="TextBox 9"/>
          <p:cNvSpPr txBox="1"/>
          <p:nvPr/>
        </p:nvSpPr>
        <p:spPr>
          <a:xfrm>
            <a:off x="685800" y="247802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2. SORU · SLOGAN</a:t>
            </a:r>
          </a:p>
        </p:txBody>
      </p:sp>
      <p:sp>
        <p:nvSpPr>
          <p:cNvPr id="11" name="TextBox 10"/>
          <p:cNvSpPr txBox="1"/>
          <p:nvPr/>
        </p:nvSpPr>
        <p:spPr>
          <a:xfrm>
            <a:off x="685800" y="2825496"/>
            <a:ext cx="10820095" cy="1088136"/>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Afetlerde ihtiyaç duyulan yardımları amacına uygun şekilde ulaştırmak, bu süreçte herkesin hakkına saygı göstermek veya “Yeşil Vatan” bilincini yaygınlaştırmak için neler yapılmalıdır? Bu konudaki düşüncelerinizi yansıtan bir slogan oluşturunuz.</a:t>
            </a:r>
          </a:p>
        </p:txBody>
      </p:sp>
      <p:sp>
        <p:nvSpPr>
          <p:cNvPr id="12" name="TextBox 11"/>
          <p:cNvSpPr txBox="1"/>
          <p:nvPr/>
        </p:nvSpPr>
        <p:spPr>
          <a:xfrm>
            <a:off x="502920" y="4142232"/>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1E7B6E"/>
                </a:solidFill>
                <a:latin typeface="Calibri"/>
              </a:rPr>
              <a:t>Her grup bir tema seçer:</a:t>
            </a:r>
          </a:p>
        </p:txBody>
      </p:sp>
      <p:sp>
        <p:nvSpPr>
          <p:cNvPr id="13" name="Rounded Rectangle 12"/>
          <p:cNvSpPr/>
          <p:nvPr/>
        </p:nvSpPr>
        <p:spPr>
          <a:xfrm>
            <a:off x="502920" y="4599432"/>
            <a:ext cx="3606698" cy="960120"/>
          </a:xfrm>
          <a:prstGeom prst="roundRect">
            <a:avLst>
              <a:gd name="adj" fmla="val 8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Yardımların amacına uygun ulaştırılması</a:t>
            </a:r>
          </a:p>
        </p:txBody>
      </p:sp>
      <p:sp>
        <p:nvSpPr>
          <p:cNvPr id="14" name="Rounded Rectangle 13"/>
          <p:cNvSpPr/>
          <p:nvPr/>
        </p:nvSpPr>
        <p:spPr>
          <a:xfrm>
            <a:off x="4292498" y="4599432"/>
            <a:ext cx="3606698" cy="960120"/>
          </a:xfrm>
          <a:prstGeom prst="roundRect">
            <a:avLst>
              <a:gd name="adj" fmla="val 8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Herkesin hakkına saygı</a:t>
            </a:r>
          </a:p>
        </p:txBody>
      </p:sp>
      <p:sp>
        <p:nvSpPr>
          <p:cNvPr id="15" name="Rounded Rectangle 14"/>
          <p:cNvSpPr/>
          <p:nvPr/>
        </p:nvSpPr>
        <p:spPr>
          <a:xfrm>
            <a:off x="8082076" y="4599432"/>
            <a:ext cx="3606698" cy="960120"/>
          </a:xfrm>
          <a:prstGeom prst="roundRect">
            <a:avLst>
              <a:gd name="adj" fmla="val 8000"/>
            </a:avLst>
          </a:prstGeom>
          <a:solidFill>
            <a:srgbClr val="4E8A2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“Yeşil Vatan” bilinci</a:t>
            </a:r>
          </a:p>
        </p:txBody>
      </p:sp>
      <p:sp>
        <p:nvSpPr>
          <p:cNvPr id="16" name="Rounded Rectangle 15"/>
          <p:cNvSpPr/>
          <p:nvPr/>
        </p:nvSpPr>
        <p:spPr>
          <a:xfrm>
            <a:off x="502920" y="5696712"/>
            <a:ext cx="11185855" cy="5943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Ölçüt:</a:t>
            </a:r>
            <a:r>
              <a:rPr lang="tr-TR" sz="1900" b="0" i="0">
                <a:solidFill>
                  <a:srgbClr val="262626"/>
                </a:solidFill>
                <a:latin typeface="Calibri"/>
              </a:rPr>
              <a:t> slogan seçtiğin özelliği vurguluyor mu? · 2 dakika · grup başına bir şerit</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205</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208 / 250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Afetlerde Dayanışma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224028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224028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213055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1 · İş birliği neden önemli?</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Afet çoğu zaman ülkenin müdahale becerisini aşar</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Destekle imkân artar, zarar hızlı giderilir</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Örnek: altı ülkeden 18 hava aracı</a:t>
            </a:r>
          </a:p>
        </p:txBody>
      </p:sp>
      <p:sp>
        <p:nvSpPr>
          <p:cNvPr id="9" name="Rounded Rectangle 8"/>
          <p:cNvSpPr/>
          <p:nvPr/>
        </p:nvSpPr>
        <p:spPr>
          <a:xfrm>
            <a:off x="6210147" y="1216152"/>
            <a:ext cx="5478627" cy="224028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224028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213055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2 · Ne yapılmalı?</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Önce ihtiyacı tespit et; güvenilir kurumla dağıt</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Kayıtlı ve adil dağıtım; savunmasıza öncelik</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Yeşil Vatan: ormanda ateş yakma, ağaç dik</a:t>
            </a:r>
          </a:p>
        </p:txBody>
      </p:sp>
      <p:sp>
        <p:nvSpPr>
          <p:cNvPr id="12" name="Rounded Rectangle 11"/>
          <p:cNvSpPr/>
          <p:nvPr/>
        </p:nvSpPr>
        <p:spPr>
          <a:xfrm>
            <a:off x="502920" y="3593592"/>
            <a:ext cx="3606698" cy="1143000"/>
          </a:xfrm>
          <a:prstGeom prst="roundRect">
            <a:avLst>
              <a:gd name="adj" fmla="val 8000"/>
            </a:avLst>
          </a:prstGeom>
          <a:solidFill>
            <a:srgbClr val="FFFFFF"/>
          </a:solidFill>
          <a:ln w="381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100" b="1" i="1">
                <a:solidFill>
                  <a:srgbClr val="1E7B6E"/>
                </a:solidFill>
                <a:latin typeface="Calibri"/>
              </a:rPr>
              <a:t>“Doğru yardım, doğru adrese!”</a:t>
            </a:r>
          </a:p>
        </p:txBody>
      </p:sp>
      <p:sp>
        <p:nvSpPr>
          <p:cNvPr id="13" name="Rounded Rectangle 12"/>
          <p:cNvSpPr/>
          <p:nvPr/>
        </p:nvSpPr>
        <p:spPr>
          <a:xfrm>
            <a:off x="4292498" y="3593592"/>
            <a:ext cx="3606698" cy="1143000"/>
          </a:xfrm>
          <a:prstGeom prst="roundRect">
            <a:avLst>
              <a:gd name="adj" fmla="val 8000"/>
            </a:avLst>
          </a:prstGeom>
          <a:solidFill>
            <a:srgbClr val="FFFFFF"/>
          </a:solidFill>
          <a:ln w="38100">
            <a:solidFill>
              <a:srgbClr val="4F4F4F"/>
            </a:solidFill>
          </a:ln>
          <a:effectLst/>
        </p:spPr>
        <p:txBody>
          <a:bodyPr rtlCol="0" anchor="ctr" wrap="square" lIns="128016" rIns="128016" tIns="73152" bIns="73152">
            <a:noAutofit/>
          </a:bodyPr>
          <a:lstStyle/>
          <a:p>
            <a:pPr algn="ctr">
              <a:spcBef>
                <a:spcPts val="0"/>
              </a:spcBef>
              <a:spcAft>
                <a:spcPts val="0"/>
              </a:spcAft>
            </a:pPr>
            <a:r>
              <a:rPr lang="tr-TR" sz="2100" b="1" i="1">
                <a:solidFill>
                  <a:srgbClr val="4F4F4F"/>
                </a:solidFill>
                <a:latin typeface="Calibri"/>
              </a:rPr>
              <a:t>“Yardımda sıra herkesin hakkı!”</a:t>
            </a:r>
          </a:p>
        </p:txBody>
      </p:sp>
      <p:sp>
        <p:nvSpPr>
          <p:cNvPr id="14" name="Rounded Rectangle 13"/>
          <p:cNvSpPr/>
          <p:nvPr/>
        </p:nvSpPr>
        <p:spPr>
          <a:xfrm>
            <a:off x="8082076" y="3593592"/>
            <a:ext cx="3606698" cy="1143000"/>
          </a:xfrm>
          <a:prstGeom prst="roundRect">
            <a:avLst>
              <a:gd name="adj" fmla="val 8000"/>
            </a:avLst>
          </a:prstGeom>
          <a:solidFill>
            <a:srgbClr val="FFFFFF"/>
          </a:solidFill>
          <a:ln w="38100">
            <a:solidFill>
              <a:srgbClr val="4E8A2E"/>
            </a:solidFill>
          </a:ln>
          <a:effectLst/>
        </p:spPr>
        <p:txBody>
          <a:bodyPr rtlCol="0" anchor="ctr" wrap="square" lIns="128016" rIns="128016" tIns="73152" bIns="73152">
            <a:noAutofit/>
          </a:bodyPr>
          <a:lstStyle/>
          <a:p>
            <a:pPr algn="ctr">
              <a:spcBef>
                <a:spcPts val="0"/>
              </a:spcBef>
              <a:spcAft>
                <a:spcPts val="0"/>
              </a:spcAft>
            </a:pPr>
            <a:r>
              <a:rPr lang="tr-TR" sz="2100" b="1" i="1">
                <a:solidFill>
                  <a:srgbClr val="4E8A2E"/>
                </a:solidFill>
                <a:latin typeface="Calibri"/>
              </a:rPr>
              <a:t>“Yeşil Vatan'a kıvılcım bırakma!”</a:t>
            </a:r>
          </a:p>
        </p:txBody>
      </p:sp>
      <p:sp>
        <p:nvSpPr>
          <p:cNvPr id="15" name="Rounded Rectangle 14"/>
          <p:cNvSpPr/>
          <p:nvPr/>
        </p:nvSpPr>
        <p:spPr>
          <a:xfrm>
            <a:off x="502920" y="4873752"/>
            <a:ext cx="11185855" cy="1417320"/>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l">
              <a:spcBef>
                <a:spcPts val="0"/>
              </a:spcBef>
              <a:spcAft>
                <a:spcPts val="0"/>
              </a:spcAft>
            </a:pPr>
            <a:r>
              <a:rPr lang="tr-TR" sz="2000" b="1" i="0">
                <a:solidFill>
                  <a:srgbClr val="262626"/>
                </a:solidFill>
                <a:latin typeface="Calibri"/>
              </a:rPr>
              <a:t>Etik Günü sorumuz:</a:t>
            </a:r>
            <a:r>
              <a:rPr lang="tr-TR" sz="2000" b="0" i="0">
                <a:solidFill>
                  <a:srgbClr val="262626"/>
                </a:solidFill>
                <a:latin typeface="Calibri"/>
              </a:rPr>
              <a:t> Afette yardım kime, nasıl ulaşmalı? → İhtiyacı olana, amacına uygun, güvenilir kurumlar aracılığıyla ve herkesin hakkına saygıyla.</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203-205</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209 / 250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 ve mekânsal bilgi teknolojileri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350" b="1" i="0">
                <a:solidFill>
                  <a:srgbClr val="FFFFFF"/>
                </a:solidFill>
                <a:latin typeface="Calibri"/>
              </a:rPr>
              <a:t>CBS · UZAKTAN ALGILAMA</a:t>
            </a:r>
          </a:p>
        </p:txBody>
      </p:sp>
      <p:sp>
        <p:nvSpPr>
          <p:cNvPr id="6" name="Rounded Rectangle 5"/>
          <p:cNvSpPr/>
          <p:nvPr/>
        </p:nvSpPr>
        <p:spPr>
          <a:xfrm>
            <a:off x="502920" y="1216152"/>
            <a:ext cx="6858000" cy="173590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735908"/>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6446520" cy="173590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Bütüncül afet yönetiminde ihtiyaç duyulan verilere hızlı ve doğru şekilde ulaşılması ve bu verilerden yeni bilgiler üretilmesinde CBS ve uzaktan algılama teknolojilerinden yararlanılmaktadır.</a:t>
            </a:r>
          </a:p>
        </p:txBody>
      </p:sp>
      <p:sp>
        <p:nvSpPr>
          <p:cNvPr id="9" name="Rounded Rectangle 8"/>
          <p:cNvSpPr/>
          <p:nvPr/>
        </p:nvSpPr>
        <p:spPr>
          <a:xfrm>
            <a:off x="502920" y="3089220"/>
            <a:ext cx="6858000" cy="1509485"/>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089220"/>
            <a:ext cx="118872" cy="1509485"/>
          </a:xfrm>
          <a:prstGeom prst="rect">
            <a:avLst/>
          </a:prstGeom>
          <a:solidFill>
            <a:srgbClr val="2C6696"/>
          </a:solidFill>
          <a:ln>
            <a:noFill/>
          </a:ln>
          <a:effectLst/>
        </p:spPr>
        <p:txBody>
          <a:bodyPr rtlCol="0" anchor="ctr"/>
          <a:lstStyle/>
          <a:p/>
        </p:txBody>
      </p:sp>
      <p:sp>
        <p:nvSpPr>
          <p:cNvPr id="11" name="TextBox 10"/>
          <p:cNvSpPr txBox="1"/>
          <p:nvPr/>
        </p:nvSpPr>
        <p:spPr>
          <a:xfrm>
            <a:off x="777240" y="3089220"/>
            <a:ext cx="6446520" cy="1509485"/>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Örneğin volkanik bir faaliyet ve lav akışının etkileri, bir kasırganın etkilediği bölgeler ve bu afetin hangi yönde ilerlediği bu sayede tespit edilebilmektedir.</a:t>
            </a:r>
          </a:p>
        </p:txBody>
      </p:sp>
      <p:sp>
        <p:nvSpPr>
          <p:cNvPr id="12" name="Rounded Rectangle 11"/>
          <p:cNvSpPr/>
          <p:nvPr/>
        </p:nvSpPr>
        <p:spPr>
          <a:xfrm>
            <a:off x="502920" y="4735865"/>
            <a:ext cx="6858000" cy="1509485"/>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735865"/>
            <a:ext cx="118872" cy="1509485"/>
          </a:xfrm>
          <a:prstGeom prst="rect">
            <a:avLst/>
          </a:prstGeom>
          <a:solidFill>
            <a:srgbClr val="2C6696"/>
          </a:solidFill>
          <a:ln>
            <a:noFill/>
          </a:ln>
          <a:effectLst/>
        </p:spPr>
        <p:txBody>
          <a:bodyPr rtlCol="0" anchor="ctr"/>
          <a:lstStyle/>
          <a:p/>
        </p:txBody>
      </p:sp>
      <p:sp>
        <p:nvSpPr>
          <p:cNvPr id="14" name="TextBox 13"/>
          <p:cNvSpPr txBox="1"/>
          <p:nvPr/>
        </p:nvSpPr>
        <p:spPr>
          <a:xfrm>
            <a:off x="777240" y="4735865"/>
            <a:ext cx="6446520" cy="1509485"/>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Uzaktan algılama verileri doğrultusunda afetlere karşı erken uyarı sistemleri hazırlanarak önlem alma ve kurtarma çalışmaları yapılabilmektedir.</a:t>
            </a:r>
          </a:p>
        </p:txBody>
      </p:sp>
      <p:pic>
        <p:nvPicPr>
          <p:cNvPr id="15" name="Picture 14" descr="h33_s206_iss.jpg"/>
          <p:cNvPicPr>
            <a:picLocks noChangeAspect="1"/>
          </p:cNvPicPr>
          <p:nvPr/>
        </p:nvPicPr>
        <p:blipFill>
          <a:blip r:embed="rId3"/>
          <a:stretch>
            <a:fillRect/>
          </a:stretch>
        </p:blipFill>
        <p:spPr>
          <a:xfrm>
            <a:off x="7589520" y="1270723"/>
            <a:ext cx="4099255" cy="3182696"/>
          </a:xfrm>
          <a:prstGeom prst="rect">
            <a:avLst/>
          </a:prstGeom>
          <a:ln w="9525">
            <a:solidFill>
              <a:srgbClr val="D9D9D9"/>
            </a:solidFill>
          </a:ln>
        </p:spPr>
      </p:pic>
      <p:sp>
        <p:nvSpPr>
          <p:cNvPr id="16" name="TextBox 15"/>
          <p:cNvSpPr txBox="1"/>
          <p:nvPr/>
        </p:nvSpPr>
        <p:spPr>
          <a:xfrm>
            <a:off x="7589520" y="4499140"/>
            <a:ext cx="4099255" cy="56692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Freddy Kasırgası'nın uzay istasyonundan görünümü (kitap s. 206)</a:t>
            </a:r>
          </a:p>
        </p:txBody>
      </p:sp>
      <p:sp>
        <p:nvSpPr>
          <p:cNvPr id="17" name="Rounded Rectangle 16"/>
          <p:cNvSpPr/>
          <p:nvPr/>
        </p:nvSpPr>
        <p:spPr>
          <a:xfrm>
            <a:off x="7589520" y="5330952"/>
            <a:ext cx="4099255" cy="914400"/>
          </a:xfrm>
          <a:prstGeom prst="roundRect">
            <a:avLst>
              <a:gd name="adj" fmla="val 8000"/>
            </a:avLst>
          </a:prstGeom>
          <a:solidFill>
            <a:srgbClr val="E3ECF5"/>
          </a:solidFill>
          <a:ln w="19050">
            <a:solidFill>
              <a:srgbClr val="2C6696"/>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CBS: Coğrafi Bilgi Sistemleri</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210 / 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Freddy Kasırgası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1. SORU</a:t>
            </a:r>
          </a:p>
        </p:txBody>
      </p:sp>
      <p:sp>
        <p:nvSpPr>
          <p:cNvPr id="6" name="Rounded Rectangle 5"/>
          <p:cNvSpPr/>
          <p:nvPr/>
        </p:nvSpPr>
        <p:spPr>
          <a:xfrm>
            <a:off x="502920" y="1216152"/>
            <a:ext cx="11185855" cy="74980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749808"/>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10774375" cy="74980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Aşağıdaki harita ve görsellerde Uluslararası Uzay İstasyonu verilerine göre 2023 yılında meydana gelen Freddy Kasırgası’nın yönü ve uzay istasyonundan görünümü verilmiştir.</a:t>
            </a:r>
          </a:p>
        </p:txBody>
      </p:sp>
      <p:pic>
        <p:nvPicPr>
          <p:cNvPr id="9" name="Picture 8" descr="h33_s206_freddy.jpg"/>
          <p:cNvPicPr>
            <a:picLocks noChangeAspect="1"/>
          </p:cNvPicPr>
          <p:nvPr/>
        </p:nvPicPr>
        <p:blipFill>
          <a:blip r:embed="rId3"/>
          <a:stretch>
            <a:fillRect/>
          </a:stretch>
        </p:blipFill>
        <p:spPr>
          <a:xfrm>
            <a:off x="502920" y="2084832"/>
            <a:ext cx="5872190" cy="4160520"/>
          </a:xfrm>
          <a:prstGeom prst="rect">
            <a:avLst/>
          </a:prstGeom>
          <a:ln w="9525">
            <a:solidFill>
              <a:srgbClr val="D9D9D9"/>
            </a:solidFill>
          </a:ln>
        </p:spPr>
      </p:pic>
      <p:sp>
        <p:nvSpPr>
          <p:cNvPr id="10" name="Rounded Rectangle 9"/>
          <p:cNvSpPr/>
          <p:nvPr/>
        </p:nvSpPr>
        <p:spPr>
          <a:xfrm>
            <a:off x="6603710" y="2084832"/>
            <a:ext cx="5085065" cy="1920240"/>
          </a:xfrm>
          <a:prstGeom prst="roundRect">
            <a:avLst>
              <a:gd name="adj" fmla="val 6000"/>
            </a:avLst>
          </a:prstGeom>
          <a:solidFill>
            <a:srgbClr val="FFF3D1"/>
          </a:solidFill>
          <a:ln>
            <a:noFill/>
          </a:ln>
          <a:effectLst/>
        </p:spPr>
        <p:txBody>
          <a:bodyPr rtlCol="0" anchor="ctr"/>
          <a:lstStyle/>
          <a:p/>
        </p:txBody>
      </p:sp>
      <p:sp>
        <p:nvSpPr>
          <p:cNvPr id="11" name="TextBox 10"/>
          <p:cNvSpPr txBox="1"/>
          <p:nvPr/>
        </p:nvSpPr>
        <p:spPr>
          <a:xfrm>
            <a:off x="6786590" y="2157984"/>
            <a:ext cx="471930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1. SORU</a:t>
            </a:r>
          </a:p>
        </p:txBody>
      </p:sp>
      <p:sp>
        <p:nvSpPr>
          <p:cNvPr id="12" name="TextBox 11"/>
          <p:cNvSpPr txBox="1"/>
          <p:nvPr/>
        </p:nvSpPr>
        <p:spPr>
          <a:xfrm>
            <a:off x="6786590" y="2505456"/>
            <a:ext cx="4719305" cy="140817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Uzaktan algılama sistemi verilerinden yararlanarak Freddy Kasırgası’na karşı tedbir alması gereken ülkeler hangileridir?</a:t>
            </a:r>
          </a:p>
        </p:txBody>
      </p:sp>
      <p:sp>
        <p:nvSpPr>
          <p:cNvPr id="13" name="Rounded Rectangle 12"/>
          <p:cNvSpPr/>
          <p:nvPr/>
        </p:nvSpPr>
        <p:spPr>
          <a:xfrm>
            <a:off x="6603710" y="4142232"/>
            <a:ext cx="5085065" cy="96012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00"/>
              </a:spcAft>
            </a:pPr>
            <a:r>
              <a:rPr lang="tr-TR" sz="1700" b="1" i="0">
                <a:solidFill>
                  <a:srgbClr val="1E7B6E"/>
                </a:solidFill>
                <a:latin typeface="Calibri"/>
              </a:rPr>
              <a:t>İpucu</a:t>
            </a:r>
          </a:p>
          <a:p>
            <a:pPr algn="l">
              <a:spcBef>
                <a:spcPts val="0"/>
              </a:spcBef>
              <a:spcAft>
                <a:spcPts val="0"/>
              </a:spcAft>
            </a:pPr>
            <a:r>
              <a:rPr lang="tr-TR" sz="1700" b="0" i="0">
                <a:solidFill>
                  <a:srgbClr val="262626"/>
                </a:solidFill>
                <a:latin typeface="Calibri"/>
              </a:rPr>
              <a:t>İz hangi ülkeleri geçiyor, hangilerine yaklaşıyor?</a:t>
            </a:r>
          </a:p>
        </p:txBody>
      </p:sp>
      <p:sp>
        <p:nvSpPr>
          <p:cNvPr id="14" name="Rounded Rectangle 13"/>
          <p:cNvSpPr/>
          <p:nvPr/>
        </p:nvSpPr>
        <p:spPr>
          <a:xfrm>
            <a:off x="6603710" y="5239512"/>
            <a:ext cx="5085065" cy="100584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6786590" y="5574792"/>
            <a:ext cx="4719305" cy="0"/>
          </a:xfrm>
          <a:prstGeom prst="line">
            <a:avLst/>
          </a:prstGeom>
          <a:ln w="12700">
            <a:solidFill>
              <a:srgbClr val="D9D9D9"/>
            </a:solidFill>
            <a:prstDash val="dash"/>
          </a:ln>
        </p:spPr>
      </p:cxnSp>
      <p:cxnSp>
        <p:nvCxnSpPr>
          <p:cNvPr id="16" name="Connector 15"/>
          <p:cNvCxnSpPr/>
          <p:nvPr/>
        </p:nvCxnSpPr>
        <p:spPr>
          <a:xfrm>
            <a:off x="6786590" y="5910072"/>
            <a:ext cx="4719305" cy="0"/>
          </a:xfrm>
          <a:prstGeom prst="line">
            <a:avLst/>
          </a:prstGeom>
          <a:ln w="12700">
            <a:solidFill>
              <a:srgbClr val="D9D9D9"/>
            </a:solidFill>
            <a:prstDash val="dash"/>
          </a:ln>
        </p:spPr>
      </p:cxn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211 / 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Freddy Kasırgası: 1.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3_s206_freddy.jpg"/>
          <p:cNvPicPr>
            <a:picLocks noChangeAspect="1"/>
          </p:cNvPicPr>
          <p:nvPr/>
        </p:nvPicPr>
        <p:blipFill>
          <a:blip r:embed="rId3"/>
          <a:stretch>
            <a:fillRect/>
          </a:stretch>
        </p:blipFill>
        <p:spPr>
          <a:xfrm>
            <a:off x="502920" y="1216152"/>
            <a:ext cx="7098251" cy="5029200"/>
          </a:xfrm>
          <a:prstGeom prst="rect">
            <a:avLst/>
          </a:prstGeom>
          <a:ln w="9525">
            <a:solidFill>
              <a:srgbClr val="D9D9D9"/>
            </a:solidFill>
          </a:ln>
        </p:spPr>
      </p:pic>
      <p:sp>
        <p:nvSpPr>
          <p:cNvPr id="7" name="Oval 6"/>
          <p:cNvSpPr/>
          <p:nvPr/>
        </p:nvSpPr>
        <p:spPr>
          <a:xfrm>
            <a:off x="5121378" y="4128636"/>
            <a:ext cx="329184" cy="32918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a:t>
            </a:r>
          </a:p>
        </p:txBody>
      </p:sp>
      <p:sp>
        <p:nvSpPr>
          <p:cNvPr id="8" name="Oval 7"/>
          <p:cNvSpPr/>
          <p:nvPr/>
        </p:nvSpPr>
        <p:spPr>
          <a:xfrm>
            <a:off x="1920805" y="4477320"/>
            <a:ext cx="329184" cy="329184"/>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2</a:t>
            </a:r>
          </a:p>
        </p:txBody>
      </p:sp>
      <p:sp>
        <p:nvSpPr>
          <p:cNvPr id="9" name="Oval 8"/>
          <p:cNvSpPr/>
          <p:nvPr/>
        </p:nvSpPr>
        <p:spPr>
          <a:xfrm>
            <a:off x="630908" y="4217716"/>
            <a:ext cx="329184" cy="329184"/>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3</a:t>
            </a:r>
          </a:p>
        </p:txBody>
      </p:sp>
      <p:sp>
        <p:nvSpPr>
          <p:cNvPr id="10" name="Oval 9"/>
          <p:cNvSpPr/>
          <p:nvPr/>
        </p:nvSpPr>
        <p:spPr>
          <a:xfrm>
            <a:off x="2287166" y="3054586"/>
            <a:ext cx="329184" cy="329184"/>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4</a:t>
            </a:r>
          </a:p>
        </p:txBody>
      </p:sp>
      <p:sp>
        <p:nvSpPr>
          <p:cNvPr id="11" name="Oval 10"/>
          <p:cNvSpPr/>
          <p:nvPr/>
        </p:nvSpPr>
        <p:spPr>
          <a:xfrm>
            <a:off x="1495928" y="2665179"/>
            <a:ext cx="329184" cy="329184"/>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5</a:t>
            </a:r>
          </a:p>
        </p:txBody>
      </p:sp>
      <p:sp>
        <p:nvSpPr>
          <p:cNvPr id="12" name="Rounded Rectangle 11"/>
          <p:cNvSpPr/>
          <p:nvPr/>
        </p:nvSpPr>
        <p:spPr>
          <a:xfrm>
            <a:off x="7829771" y="1216152"/>
            <a:ext cx="3859004" cy="713232"/>
          </a:xfrm>
          <a:prstGeom prst="roundRect">
            <a:avLst>
              <a:gd name="adj" fmla="val 15000"/>
            </a:avLst>
          </a:prstGeom>
          <a:solidFill>
            <a:srgbClr val="E3F1E4"/>
          </a:solidFill>
          <a:ln w="12700">
            <a:solidFill>
              <a:srgbClr val="2E7D32"/>
            </a:solidFill>
          </a:ln>
          <a:effectLst/>
        </p:spPr>
        <p:txBody>
          <a:bodyPr rtlCol="0" anchor="ctr"/>
          <a:lstStyle/>
          <a:p/>
        </p:txBody>
      </p:sp>
      <p:sp>
        <p:nvSpPr>
          <p:cNvPr id="13" name="Oval 12"/>
          <p:cNvSpPr/>
          <p:nvPr/>
        </p:nvSpPr>
        <p:spPr>
          <a:xfrm>
            <a:off x="7902923" y="1380744"/>
            <a:ext cx="384048" cy="38404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4" name="TextBox 13"/>
          <p:cNvSpPr txBox="1"/>
          <p:nvPr/>
        </p:nvSpPr>
        <p:spPr>
          <a:xfrm>
            <a:off x="8360123" y="1216152"/>
            <a:ext cx="3264644" cy="71323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Madagaskar</a:t>
            </a:r>
            <a:r>
              <a:rPr lang="tr-TR" sz="1700" b="0" i="0">
                <a:solidFill>
                  <a:srgbClr val="262626"/>
                </a:solidFill>
                <a:latin typeface="Calibri"/>
              </a:rPr>
              <a:t> · 21 Şubat: iz adayı doğudan batıya geçer</a:t>
            </a:r>
          </a:p>
        </p:txBody>
      </p:sp>
      <p:sp>
        <p:nvSpPr>
          <p:cNvPr id="15" name="Rounded Rectangle 14"/>
          <p:cNvSpPr/>
          <p:nvPr/>
        </p:nvSpPr>
        <p:spPr>
          <a:xfrm>
            <a:off x="7829771" y="2002536"/>
            <a:ext cx="3859004" cy="713232"/>
          </a:xfrm>
          <a:prstGeom prst="roundRect">
            <a:avLst>
              <a:gd name="adj" fmla="val 15000"/>
            </a:avLst>
          </a:prstGeom>
          <a:solidFill>
            <a:srgbClr val="E3F1E4"/>
          </a:solidFill>
          <a:ln w="12700">
            <a:solidFill>
              <a:srgbClr val="2E7D32"/>
            </a:solidFill>
          </a:ln>
          <a:effectLst/>
        </p:spPr>
        <p:txBody>
          <a:bodyPr rtlCol="0" anchor="ctr"/>
          <a:lstStyle/>
          <a:p/>
        </p:txBody>
      </p:sp>
      <p:sp>
        <p:nvSpPr>
          <p:cNvPr id="16" name="Oval 15"/>
          <p:cNvSpPr/>
          <p:nvPr/>
        </p:nvSpPr>
        <p:spPr>
          <a:xfrm>
            <a:off x="7902923" y="2167128"/>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7" name="TextBox 16"/>
          <p:cNvSpPr txBox="1"/>
          <p:nvPr/>
        </p:nvSpPr>
        <p:spPr>
          <a:xfrm>
            <a:off x="8360123" y="2002536"/>
            <a:ext cx="3264644" cy="71323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Mozambik</a:t>
            </a:r>
            <a:r>
              <a:rPr lang="tr-TR" sz="1700" b="0" i="0">
                <a:solidFill>
                  <a:srgbClr val="262626"/>
                </a:solidFill>
                <a:latin typeface="Calibri"/>
              </a:rPr>
              <a:t> · 24 Şubat: iz kıyıdan karaya çıkar</a:t>
            </a:r>
          </a:p>
        </p:txBody>
      </p:sp>
      <p:sp>
        <p:nvSpPr>
          <p:cNvPr id="18" name="Rounded Rectangle 17"/>
          <p:cNvSpPr/>
          <p:nvPr/>
        </p:nvSpPr>
        <p:spPr>
          <a:xfrm>
            <a:off x="7829771" y="2788920"/>
            <a:ext cx="3859004" cy="713232"/>
          </a:xfrm>
          <a:prstGeom prst="roundRect">
            <a:avLst>
              <a:gd name="adj" fmla="val 15000"/>
            </a:avLst>
          </a:prstGeom>
          <a:solidFill>
            <a:srgbClr val="E3F1E4"/>
          </a:solidFill>
          <a:ln w="12700">
            <a:solidFill>
              <a:srgbClr val="2E7D32"/>
            </a:solidFill>
          </a:ln>
          <a:effectLst/>
        </p:spPr>
        <p:txBody>
          <a:bodyPr rtlCol="0" anchor="ctr"/>
          <a:lstStyle/>
          <a:p/>
        </p:txBody>
      </p:sp>
      <p:sp>
        <p:nvSpPr>
          <p:cNvPr id="19" name="Oval 18"/>
          <p:cNvSpPr/>
          <p:nvPr/>
        </p:nvSpPr>
        <p:spPr>
          <a:xfrm>
            <a:off x="7902923" y="2953512"/>
            <a:ext cx="384048" cy="384048"/>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0" name="TextBox 19"/>
          <p:cNvSpPr txBox="1"/>
          <p:nvPr/>
        </p:nvSpPr>
        <p:spPr>
          <a:xfrm>
            <a:off x="8360123" y="2788920"/>
            <a:ext cx="3264644" cy="71323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Zimbabve</a:t>
            </a:r>
            <a:r>
              <a:rPr lang="tr-TR" sz="1700" b="0" i="0">
                <a:solidFill>
                  <a:srgbClr val="262626"/>
                </a:solidFill>
                <a:latin typeface="Calibri"/>
              </a:rPr>
              <a:t> · 24 Şubat'tan sonra iç döngü güneydoğusuna girer</a:t>
            </a:r>
          </a:p>
        </p:txBody>
      </p:sp>
      <p:sp>
        <p:nvSpPr>
          <p:cNvPr id="21" name="Rounded Rectangle 20"/>
          <p:cNvSpPr/>
          <p:nvPr/>
        </p:nvSpPr>
        <p:spPr>
          <a:xfrm>
            <a:off x="7829771" y="3575304"/>
            <a:ext cx="3859004" cy="713232"/>
          </a:xfrm>
          <a:prstGeom prst="roundRect">
            <a:avLst>
              <a:gd name="adj" fmla="val 15000"/>
            </a:avLst>
          </a:prstGeom>
          <a:solidFill>
            <a:srgbClr val="E3F1E4"/>
          </a:solidFill>
          <a:ln w="12700">
            <a:solidFill>
              <a:srgbClr val="2E7D32"/>
            </a:solidFill>
          </a:ln>
          <a:effectLst/>
        </p:spPr>
        <p:txBody>
          <a:bodyPr rtlCol="0" anchor="ctr"/>
          <a:lstStyle/>
          <a:p/>
        </p:txBody>
      </p:sp>
      <p:sp>
        <p:nvSpPr>
          <p:cNvPr id="22" name="Oval 21"/>
          <p:cNvSpPr/>
          <p:nvPr/>
        </p:nvSpPr>
        <p:spPr>
          <a:xfrm>
            <a:off x="7902923" y="3739896"/>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23" name="TextBox 22"/>
          <p:cNvSpPr txBox="1"/>
          <p:nvPr/>
        </p:nvSpPr>
        <p:spPr>
          <a:xfrm>
            <a:off x="8360123" y="3575304"/>
            <a:ext cx="3264644" cy="71323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Mozambik</a:t>
            </a:r>
            <a:r>
              <a:rPr lang="tr-TR" sz="1700" b="0" i="0">
                <a:solidFill>
                  <a:srgbClr val="262626"/>
                </a:solidFill>
                <a:latin typeface="Calibri"/>
              </a:rPr>
              <a:t> · 11 Mart: iz ikinci kez karaya çıkar</a:t>
            </a:r>
          </a:p>
        </p:txBody>
      </p:sp>
      <p:sp>
        <p:nvSpPr>
          <p:cNvPr id="24" name="Rounded Rectangle 23"/>
          <p:cNvSpPr/>
          <p:nvPr/>
        </p:nvSpPr>
        <p:spPr>
          <a:xfrm>
            <a:off x="7829771" y="4361688"/>
            <a:ext cx="3859004" cy="713232"/>
          </a:xfrm>
          <a:prstGeom prst="roundRect">
            <a:avLst>
              <a:gd name="adj" fmla="val 15000"/>
            </a:avLst>
          </a:prstGeom>
          <a:solidFill>
            <a:srgbClr val="E3F1E4"/>
          </a:solidFill>
          <a:ln w="12700">
            <a:solidFill>
              <a:srgbClr val="2E7D32"/>
            </a:solidFill>
          </a:ln>
          <a:effectLst/>
        </p:spPr>
        <p:txBody>
          <a:bodyPr rtlCol="0" anchor="ctr"/>
          <a:lstStyle/>
          <a:p/>
        </p:txBody>
      </p:sp>
      <p:sp>
        <p:nvSpPr>
          <p:cNvPr id="25" name="Oval 24"/>
          <p:cNvSpPr/>
          <p:nvPr/>
        </p:nvSpPr>
        <p:spPr>
          <a:xfrm>
            <a:off x="7902923" y="4526280"/>
            <a:ext cx="384048" cy="384048"/>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26" name="TextBox 25"/>
          <p:cNvSpPr txBox="1"/>
          <p:nvPr/>
        </p:nvSpPr>
        <p:spPr>
          <a:xfrm>
            <a:off x="8360123" y="4361688"/>
            <a:ext cx="3264644" cy="71323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Malavi</a:t>
            </a:r>
            <a:r>
              <a:rPr lang="tr-TR" sz="1700" b="0" i="0">
                <a:solidFill>
                  <a:srgbClr val="262626"/>
                </a:solidFill>
                <a:latin typeface="Calibri"/>
              </a:rPr>
              <a:t> · izin sonu: güney sınırına ulaşır</a:t>
            </a:r>
          </a:p>
        </p:txBody>
      </p:sp>
      <p:sp>
        <p:nvSpPr>
          <p:cNvPr id="27" name="Rounded Rectangle 26"/>
          <p:cNvSpPr/>
          <p:nvPr/>
        </p:nvSpPr>
        <p:spPr>
          <a:xfrm>
            <a:off x="7829771" y="5148072"/>
            <a:ext cx="3859004" cy="11430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00"/>
              </a:spcAft>
            </a:pPr>
            <a:r>
              <a:rPr lang="tr-TR" sz="1800" b="1" i="0">
                <a:solidFill>
                  <a:srgbClr val="262626"/>
                </a:solidFill>
                <a:latin typeface="Calibri"/>
              </a:rPr>
              <a:t>Zambiya izden uzak</a:t>
            </a:r>
          </a:p>
          <a:p>
            <a:pPr algn="l">
              <a:spcBef>
                <a:spcPts val="0"/>
              </a:spcBef>
              <a:spcAft>
                <a:spcPts val="0"/>
              </a:spcAft>
            </a:pPr>
            <a:r>
              <a:rPr lang="tr-TR" sz="1500" b="0" i="1">
                <a:solidFill>
                  <a:srgbClr val="262626"/>
                </a:solidFill>
                <a:latin typeface="Calibri"/>
              </a:rPr>
              <a:t>Kitap s. 195: “Freddy Kasırgası ve Sel Afeti (Malawi)”</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195, 206</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212 / 250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Freddy Kasırgası: 2. ve 3. sorular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2-3</a:t>
            </a:r>
          </a:p>
        </p:txBody>
      </p:sp>
      <p:sp>
        <p:nvSpPr>
          <p:cNvPr id="6" name="Rounded Rectangle 5"/>
          <p:cNvSpPr/>
          <p:nvPr/>
        </p:nvSpPr>
        <p:spPr>
          <a:xfrm>
            <a:off x="502920" y="1216152"/>
            <a:ext cx="11185855" cy="105156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28930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2. SORU</a:t>
            </a:r>
          </a:p>
        </p:txBody>
      </p:sp>
      <p:sp>
        <p:nvSpPr>
          <p:cNvPr id="8" name="TextBox 7"/>
          <p:cNvSpPr txBox="1"/>
          <p:nvPr/>
        </p:nvSpPr>
        <p:spPr>
          <a:xfrm>
            <a:off x="685800" y="1636776"/>
            <a:ext cx="10820095" cy="539496"/>
          </a:xfrm>
          <a:prstGeom prst="rect">
            <a:avLst/>
          </a:prstGeom>
          <a:noFill/>
        </p:spPr>
        <p:txBody>
          <a:bodyPr wrap="square" anchor="ctr" lIns="73152" rIns="73152" tIns="36576" bIns="36576">
            <a:noAutofit/>
          </a:bodyPr>
          <a:lstStyle/>
          <a:p>
            <a:pPr algn="l">
              <a:spcBef>
                <a:spcPts val="0"/>
              </a:spcBef>
              <a:spcAft>
                <a:spcPts val="0"/>
              </a:spcAft>
            </a:pPr>
            <a:r>
              <a:rPr lang="tr-TR" sz="1750" b="1" i="0">
                <a:solidFill>
                  <a:srgbClr val="262626"/>
                </a:solidFill>
                <a:latin typeface="Calibri"/>
              </a:rPr>
              <a:t>CBS sayesinde söz konusu bölgenin afet öncesi, esnası ve sonrası durumu hakkında ne tür veriler elde edilebilir?</a:t>
            </a:r>
          </a:p>
        </p:txBody>
      </p:sp>
      <p:sp>
        <p:nvSpPr>
          <p:cNvPr id="9" name="Rounded Rectangle 8"/>
          <p:cNvSpPr/>
          <p:nvPr/>
        </p:nvSpPr>
        <p:spPr>
          <a:xfrm>
            <a:off x="502920" y="2359152"/>
            <a:ext cx="11185855" cy="128016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685800" y="2679192"/>
            <a:ext cx="10820095" cy="0"/>
          </a:xfrm>
          <a:prstGeom prst="line">
            <a:avLst/>
          </a:prstGeom>
          <a:ln w="12700">
            <a:solidFill>
              <a:srgbClr val="D9D9D9"/>
            </a:solidFill>
            <a:prstDash val="dash"/>
          </a:ln>
        </p:spPr>
      </p:cxnSp>
      <p:cxnSp>
        <p:nvCxnSpPr>
          <p:cNvPr id="11" name="Connector 10"/>
          <p:cNvCxnSpPr/>
          <p:nvPr/>
        </p:nvCxnSpPr>
        <p:spPr>
          <a:xfrm>
            <a:off x="685800" y="2999232"/>
            <a:ext cx="10820095" cy="0"/>
          </a:xfrm>
          <a:prstGeom prst="line">
            <a:avLst/>
          </a:prstGeom>
          <a:ln w="12700">
            <a:solidFill>
              <a:srgbClr val="D9D9D9"/>
            </a:solidFill>
            <a:prstDash val="dash"/>
          </a:ln>
        </p:spPr>
      </p:cxnSp>
      <p:cxnSp>
        <p:nvCxnSpPr>
          <p:cNvPr id="12" name="Connector 11"/>
          <p:cNvCxnSpPr/>
          <p:nvPr/>
        </p:nvCxnSpPr>
        <p:spPr>
          <a:xfrm>
            <a:off x="685800" y="3319272"/>
            <a:ext cx="10820095" cy="0"/>
          </a:xfrm>
          <a:prstGeom prst="line">
            <a:avLst/>
          </a:prstGeom>
          <a:ln w="12700">
            <a:solidFill>
              <a:srgbClr val="D9D9D9"/>
            </a:solidFill>
            <a:prstDash val="dash"/>
          </a:ln>
        </p:spPr>
      </p:cxnSp>
      <p:sp>
        <p:nvSpPr>
          <p:cNvPr id="13" name="Rounded Rectangle 12"/>
          <p:cNvSpPr/>
          <p:nvPr/>
        </p:nvSpPr>
        <p:spPr>
          <a:xfrm>
            <a:off x="502920" y="3776472"/>
            <a:ext cx="11185855" cy="1051560"/>
          </a:xfrm>
          <a:prstGeom prst="roundRect">
            <a:avLst>
              <a:gd name="adj" fmla="val 6000"/>
            </a:avLst>
          </a:prstGeom>
          <a:solidFill>
            <a:srgbClr val="FFF3D1"/>
          </a:solidFill>
          <a:ln>
            <a:noFill/>
          </a:ln>
          <a:effectLst/>
        </p:spPr>
        <p:txBody>
          <a:bodyPr rtlCol="0" anchor="ctr"/>
          <a:lstStyle/>
          <a:p/>
        </p:txBody>
      </p:sp>
      <p:sp>
        <p:nvSpPr>
          <p:cNvPr id="14" name="TextBox 13"/>
          <p:cNvSpPr txBox="1"/>
          <p:nvPr/>
        </p:nvSpPr>
        <p:spPr>
          <a:xfrm>
            <a:off x="685800" y="384962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1E7B6E"/>
                </a:solidFill>
                <a:latin typeface="Calibri"/>
              </a:rPr>
              <a:t>3. SORU</a:t>
            </a:r>
          </a:p>
        </p:txBody>
      </p:sp>
      <p:sp>
        <p:nvSpPr>
          <p:cNvPr id="15" name="TextBox 14"/>
          <p:cNvSpPr txBox="1"/>
          <p:nvPr/>
        </p:nvSpPr>
        <p:spPr>
          <a:xfrm>
            <a:off x="685800" y="4197096"/>
            <a:ext cx="10820095" cy="539496"/>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CBS sayesinde elde edilen verilerin kullanılması afet yönetimi açısından ne gibi avantajlar sağlar?</a:t>
            </a:r>
          </a:p>
        </p:txBody>
      </p:sp>
      <p:sp>
        <p:nvSpPr>
          <p:cNvPr id="16" name="Rounded Rectangle 15"/>
          <p:cNvSpPr/>
          <p:nvPr/>
        </p:nvSpPr>
        <p:spPr>
          <a:xfrm>
            <a:off x="502920" y="4919472"/>
            <a:ext cx="11185855" cy="128016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7" name="Connector 16"/>
          <p:cNvCxnSpPr/>
          <p:nvPr/>
        </p:nvCxnSpPr>
        <p:spPr>
          <a:xfrm>
            <a:off x="685800" y="5239512"/>
            <a:ext cx="10820095" cy="0"/>
          </a:xfrm>
          <a:prstGeom prst="line">
            <a:avLst/>
          </a:prstGeom>
          <a:ln w="12700">
            <a:solidFill>
              <a:srgbClr val="D9D9D9"/>
            </a:solidFill>
            <a:prstDash val="dash"/>
          </a:ln>
        </p:spPr>
      </p:cxnSp>
      <p:cxnSp>
        <p:nvCxnSpPr>
          <p:cNvPr id="18" name="Connector 17"/>
          <p:cNvCxnSpPr/>
          <p:nvPr/>
        </p:nvCxnSpPr>
        <p:spPr>
          <a:xfrm>
            <a:off x="685800" y="5559552"/>
            <a:ext cx="10820095" cy="0"/>
          </a:xfrm>
          <a:prstGeom prst="line">
            <a:avLst/>
          </a:prstGeom>
          <a:ln w="12700">
            <a:solidFill>
              <a:srgbClr val="D9D9D9"/>
            </a:solidFill>
            <a:prstDash val="dash"/>
          </a:ln>
        </p:spPr>
      </p:cxnSp>
      <p:cxnSp>
        <p:nvCxnSpPr>
          <p:cNvPr id="19" name="Connector 18"/>
          <p:cNvCxnSpPr/>
          <p:nvPr/>
        </p:nvCxnSpPr>
        <p:spPr>
          <a:xfrm>
            <a:off x="685800" y="5879592"/>
            <a:ext cx="10820095" cy="0"/>
          </a:xfrm>
          <a:prstGeom prst="line">
            <a:avLst/>
          </a:prstGeom>
          <a:ln w="12700">
            <a:solidFill>
              <a:srgbClr val="D9D9D9"/>
            </a:solidFill>
            <a:prstDash val="dash"/>
          </a:ln>
        </p:spPr>
      </p:cxn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213 / 250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ve 3. sorular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70432"/>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E7D32"/>
                </a:solidFill>
                <a:latin typeface="Calibri"/>
              </a:rPr>
              <a:t>2 · CBS ile elde edilen veriler</a:t>
            </a:r>
          </a:p>
        </p:txBody>
      </p:sp>
      <p:sp>
        <p:nvSpPr>
          <p:cNvPr id="7" name="Rounded Rectangle 6"/>
          <p:cNvSpPr/>
          <p:nvPr/>
        </p:nvSpPr>
        <p:spPr>
          <a:xfrm>
            <a:off x="502920" y="1627632"/>
            <a:ext cx="3606698" cy="2697480"/>
          </a:xfrm>
          <a:prstGeom prst="roundRect">
            <a:avLst>
              <a:gd name="adj" fmla="val 5000"/>
            </a:avLst>
          </a:prstGeom>
          <a:solidFill>
            <a:srgbClr val="E3F1E4"/>
          </a:solidFill>
          <a:ln>
            <a:noFill/>
          </a:ln>
          <a:effectLst/>
        </p:spPr>
        <p:txBody>
          <a:bodyPr rtlCol="0" anchor="ctr"/>
          <a:lstStyle/>
          <a:p/>
        </p:txBody>
      </p:sp>
      <p:sp>
        <p:nvSpPr>
          <p:cNvPr id="8" name="Rounded Rectangle 7"/>
          <p:cNvSpPr/>
          <p:nvPr/>
        </p:nvSpPr>
        <p:spPr>
          <a:xfrm>
            <a:off x="502920" y="1627632"/>
            <a:ext cx="3606698" cy="502920"/>
          </a:xfrm>
          <a:prstGeom prst="roundRect">
            <a:avLst>
              <a:gd name="adj" fmla="val 25000"/>
            </a:avLst>
          </a:prstGeom>
          <a:solidFill>
            <a:srgbClr val="1F86BF"/>
          </a:solidFill>
          <a:ln>
            <a:noFill/>
          </a:ln>
          <a:effectLst/>
        </p:spPr>
        <p:txBody>
          <a:bodyPr rtlCol="0" anchor="ctr"/>
          <a:lstStyle/>
          <a:p/>
        </p:txBody>
      </p:sp>
      <p:sp>
        <p:nvSpPr>
          <p:cNvPr id="9" name="Rectangle 8"/>
          <p:cNvSpPr/>
          <p:nvPr/>
        </p:nvSpPr>
        <p:spPr>
          <a:xfrm>
            <a:off x="502920" y="1879092"/>
            <a:ext cx="3606698" cy="251460"/>
          </a:xfrm>
          <a:prstGeom prst="rect">
            <a:avLst/>
          </a:prstGeom>
          <a:solidFill>
            <a:srgbClr val="1F86BF"/>
          </a:solidFill>
          <a:ln>
            <a:noFill/>
          </a:ln>
          <a:effectLst/>
        </p:spPr>
        <p:txBody>
          <a:bodyPr rtlCol="0" anchor="ctr"/>
          <a:lstStyle/>
          <a:p/>
        </p:txBody>
      </p:sp>
      <p:sp>
        <p:nvSpPr>
          <p:cNvPr id="10" name="TextBox 9"/>
          <p:cNvSpPr txBox="1"/>
          <p:nvPr/>
        </p:nvSpPr>
        <p:spPr>
          <a:xfrm>
            <a:off x="594360" y="1627632"/>
            <a:ext cx="3423818" cy="502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öncesi</a:t>
            </a:r>
          </a:p>
        </p:txBody>
      </p:sp>
      <p:sp>
        <p:nvSpPr>
          <p:cNvPr id="11" name="TextBox 10"/>
          <p:cNvSpPr txBox="1"/>
          <p:nvPr/>
        </p:nvSpPr>
        <p:spPr>
          <a:xfrm>
            <a:off x="612648" y="2203704"/>
            <a:ext cx="3387242" cy="204825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Kasırganın yolu, hızı, yönü</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Tehlikedeki kıyılar ve yerleşmeler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Tahliye yolları</a:t>
            </a:r>
          </a:p>
        </p:txBody>
      </p:sp>
      <p:sp>
        <p:nvSpPr>
          <p:cNvPr id="12" name="Rounded Rectangle 11"/>
          <p:cNvSpPr/>
          <p:nvPr/>
        </p:nvSpPr>
        <p:spPr>
          <a:xfrm>
            <a:off x="4292498" y="1627632"/>
            <a:ext cx="3606698" cy="2697480"/>
          </a:xfrm>
          <a:prstGeom prst="roundRect">
            <a:avLst>
              <a:gd name="adj" fmla="val 5000"/>
            </a:avLst>
          </a:prstGeom>
          <a:solidFill>
            <a:srgbClr val="E3F1E4"/>
          </a:solidFill>
          <a:ln>
            <a:noFill/>
          </a:ln>
          <a:effectLst/>
        </p:spPr>
        <p:txBody>
          <a:bodyPr rtlCol="0" anchor="ctr"/>
          <a:lstStyle/>
          <a:p/>
        </p:txBody>
      </p:sp>
      <p:sp>
        <p:nvSpPr>
          <p:cNvPr id="13" name="Rounded Rectangle 12"/>
          <p:cNvSpPr/>
          <p:nvPr/>
        </p:nvSpPr>
        <p:spPr>
          <a:xfrm>
            <a:off x="4292498" y="1627632"/>
            <a:ext cx="3606698" cy="502920"/>
          </a:xfrm>
          <a:prstGeom prst="roundRect">
            <a:avLst>
              <a:gd name="adj" fmla="val 25000"/>
            </a:avLst>
          </a:prstGeom>
          <a:solidFill>
            <a:srgbClr val="CC3333"/>
          </a:solidFill>
          <a:ln>
            <a:noFill/>
          </a:ln>
          <a:effectLst/>
        </p:spPr>
        <p:txBody>
          <a:bodyPr rtlCol="0" anchor="ctr"/>
          <a:lstStyle/>
          <a:p/>
        </p:txBody>
      </p:sp>
      <p:sp>
        <p:nvSpPr>
          <p:cNvPr id="14" name="Rectangle 13"/>
          <p:cNvSpPr/>
          <p:nvPr/>
        </p:nvSpPr>
        <p:spPr>
          <a:xfrm>
            <a:off x="4292498" y="1879092"/>
            <a:ext cx="3606698" cy="251460"/>
          </a:xfrm>
          <a:prstGeom prst="rect">
            <a:avLst/>
          </a:prstGeom>
          <a:solidFill>
            <a:srgbClr val="CC3333"/>
          </a:solidFill>
          <a:ln>
            <a:noFill/>
          </a:ln>
          <a:effectLst/>
        </p:spPr>
        <p:txBody>
          <a:bodyPr rtlCol="0" anchor="ctr"/>
          <a:lstStyle/>
          <a:p/>
        </p:txBody>
      </p:sp>
      <p:sp>
        <p:nvSpPr>
          <p:cNvPr id="15" name="TextBox 14"/>
          <p:cNvSpPr txBox="1"/>
          <p:nvPr/>
        </p:nvSpPr>
        <p:spPr>
          <a:xfrm>
            <a:off x="4383938" y="1627632"/>
            <a:ext cx="3423818" cy="502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esnası</a:t>
            </a:r>
          </a:p>
        </p:txBody>
      </p:sp>
      <p:sp>
        <p:nvSpPr>
          <p:cNvPr id="16" name="TextBox 15"/>
          <p:cNvSpPr txBox="1"/>
          <p:nvPr/>
        </p:nvSpPr>
        <p:spPr>
          <a:xfrm>
            <a:off x="4402226" y="2203704"/>
            <a:ext cx="3387242" cy="204825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Uydu fotoğrafıyla etkilenen alanlar</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Tahliye edilecek insanların yeri</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Açık ve kapalı yollar</a:t>
            </a:r>
          </a:p>
        </p:txBody>
      </p:sp>
      <p:sp>
        <p:nvSpPr>
          <p:cNvPr id="17" name="Rounded Rectangle 16"/>
          <p:cNvSpPr/>
          <p:nvPr/>
        </p:nvSpPr>
        <p:spPr>
          <a:xfrm>
            <a:off x="8082076" y="1627632"/>
            <a:ext cx="3606698" cy="2697480"/>
          </a:xfrm>
          <a:prstGeom prst="roundRect">
            <a:avLst>
              <a:gd name="adj" fmla="val 5000"/>
            </a:avLst>
          </a:prstGeom>
          <a:solidFill>
            <a:srgbClr val="E3F1E4"/>
          </a:solidFill>
          <a:ln>
            <a:noFill/>
          </a:ln>
          <a:effectLst/>
        </p:spPr>
        <p:txBody>
          <a:bodyPr rtlCol="0" anchor="ctr"/>
          <a:lstStyle/>
          <a:p/>
        </p:txBody>
      </p:sp>
      <p:sp>
        <p:nvSpPr>
          <p:cNvPr id="18" name="Rounded Rectangle 17"/>
          <p:cNvSpPr/>
          <p:nvPr/>
        </p:nvSpPr>
        <p:spPr>
          <a:xfrm>
            <a:off x="8082076" y="1627632"/>
            <a:ext cx="3606698" cy="502920"/>
          </a:xfrm>
          <a:prstGeom prst="roundRect">
            <a:avLst>
              <a:gd name="adj" fmla="val 25000"/>
            </a:avLst>
          </a:prstGeom>
          <a:solidFill>
            <a:srgbClr val="55992E"/>
          </a:solidFill>
          <a:ln>
            <a:noFill/>
          </a:ln>
          <a:effectLst/>
        </p:spPr>
        <p:txBody>
          <a:bodyPr rtlCol="0" anchor="ctr"/>
          <a:lstStyle/>
          <a:p/>
        </p:txBody>
      </p:sp>
      <p:sp>
        <p:nvSpPr>
          <p:cNvPr id="19" name="Rectangle 18"/>
          <p:cNvSpPr/>
          <p:nvPr/>
        </p:nvSpPr>
        <p:spPr>
          <a:xfrm>
            <a:off x="8082076" y="1879092"/>
            <a:ext cx="3606698" cy="251460"/>
          </a:xfrm>
          <a:prstGeom prst="rect">
            <a:avLst/>
          </a:prstGeom>
          <a:solidFill>
            <a:srgbClr val="55992E"/>
          </a:solidFill>
          <a:ln>
            <a:noFill/>
          </a:ln>
          <a:effectLst/>
        </p:spPr>
        <p:txBody>
          <a:bodyPr rtlCol="0" anchor="ctr"/>
          <a:lstStyle/>
          <a:p/>
        </p:txBody>
      </p:sp>
      <p:sp>
        <p:nvSpPr>
          <p:cNvPr id="20" name="TextBox 19"/>
          <p:cNvSpPr txBox="1"/>
          <p:nvPr/>
        </p:nvSpPr>
        <p:spPr>
          <a:xfrm>
            <a:off x="8173516" y="1627632"/>
            <a:ext cx="3423818" cy="502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Afet sonrası</a:t>
            </a:r>
          </a:p>
        </p:txBody>
      </p:sp>
      <p:sp>
        <p:nvSpPr>
          <p:cNvPr id="21" name="TextBox 20"/>
          <p:cNvSpPr txBox="1"/>
          <p:nvPr/>
        </p:nvSpPr>
        <p:spPr>
          <a:xfrm>
            <a:off x="8191804" y="2203704"/>
            <a:ext cx="3387242" cy="204825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Hasar gören bina ve altyapı</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Yardım ve barınma noktaları</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Yeniden yapılanma planı</a:t>
            </a:r>
          </a:p>
        </p:txBody>
      </p:sp>
      <p:sp>
        <p:nvSpPr>
          <p:cNvPr id="22" name="Rounded Rectangle 21"/>
          <p:cNvSpPr/>
          <p:nvPr/>
        </p:nvSpPr>
        <p:spPr>
          <a:xfrm>
            <a:off x="502920" y="4462272"/>
            <a:ext cx="11185855" cy="1783080"/>
          </a:xfrm>
          <a:prstGeom prst="roundRect">
            <a:avLst>
              <a:gd name="adj" fmla="val 6000"/>
            </a:avLst>
          </a:prstGeom>
          <a:solidFill>
            <a:srgbClr val="E3F1E4"/>
          </a:solidFill>
          <a:ln>
            <a:noFill/>
          </a:ln>
          <a:effectLst/>
        </p:spPr>
        <p:txBody>
          <a:bodyPr rtlCol="0" anchor="ctr"/>
          <a:lstStyle/>
          <a:p/>
        </p:txBody>
      </p:sp>
      <p:sp>
        <p:nvSpPr>
          <p:cNvPr id="23" name="Rectangle 22"/>
          <p:cNvSpPr/>
          <p:nvPr/>
        </p:nvSpPr>
        <p:spPr>
          <a:xfrm>
            <a:off x="502920" y="4462272"/>
            <a:ext cx="109728" cy="1783080"/>
          </a:xfrm>
          <a:prstGeom prst="rect">
            <a:avLst/>
          </a:prstGeom>
          <a:solidFill>
            <a:srgbClr val="2E7D32"/>
          </a:solidFill>
          <a:ln>
            <a:noFill/>
          </a:ln>
          <a:effectLst/>
        </p:spPr>
        <p:txBody>
          <a:bodyPr rtlCol="0" anchor="ctr"/>
          <a:lstStyle/>
          <a:p/>
        </p:txBody>
      </p:sp>
      <p:sp>
        <p:nvSpPr>
          <p:cNvPr id="24" name="TextBox 23"/>
          <p:cNvSpPr txBox="1"/>
          <p:nvPr/>
        </p:nvSpPr>
        <p:spPr>
          <a:xfrm>
            <a:off x="731520" y="4517136"/>
            <a:ext cx="10865815" cy="167335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3 · Avantajları</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Verilere hızlı ve doğru ulaşılır; veriler bir arada sunulur</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Erken uyarı ve önceden önlem; kurtarma doğru yere yönlendirilir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Afetin etkileri asgari düzeye iner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214 / 250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 kutusu: AFAD</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BİLGİ KUTUSU</a:t>
            </a:r>
          </a:p>
        </p:txBody>
      </p:sp>
      <p:sp>
        <p:nvSpPr>
          <p:cNvPr id="6" name="TextBox 5"/>
          <p:cNvSpPr txBox="1"/>
          <p:nvPr/>
        </p:nvSpPr>
        <p:spPr>
          <a:xfrm>
            <a:off x="502920" y="1188720"/>
            <a:ext cx="6766560" cy="566928"/>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C6696"/>
                </a:solidFill>
                <a:latin typeface="Calibri"/>
              </a:rPr>
              <a:t>T.C. İçişleri Bakanlığı Afet ve Acil Durum Yönetimi Başkanlığı</a:t>
            </a:r>
          </a:p>
        </p:txBody>
      </p:sp>
      <p:sp>
        <p:nvSpPr>
          <p:cNvPr id="7" name="Rounded Rectangle 6"/>
          <p:cNvSpPr/>
          <p:nvPr/>
        </p:nvSpPr>
        <p:spPr>
          <a:xfrm>
            <a:off x="502920" y="1810512"/>
            <a:ext cx="6766560" cy="4434840"/>
          </a:xfrm>
          <a:prstGeom prst="roundRect">
            <a:avLst>
              <a:gd name="adj" fmla="val 8000"/>
            </a:avLst>
          </a:prstGeom>
          <a:solidFill>
            <a:srgbClr val="E3ECF5"/>
          </a:solidFill>
          <a:ln>
            <a:noFill/>
          </a:ln>
          <a:effectLst/>
        </p:spPr>
        <p:txBody>
          <a:bodyPr rtlCol="0" anchor="ctr" wrap="square" lIns="228600" rIns="228600" tIns="73152" bIns="73152">
            <a:noAutofit/>
          </a:bodyPr>
          <a:lstStyle/>
          <a:p>
            <a:pPr algn="l">
              <a:spcBef>
                <a:spcPts val="0"/>
              </a:spcBef>
              <a:spcAft>
                <a:spcPts val="1114"/>
              </a:spcAft>
            </a:pPr>
            <a:r>
              <a:rPr lang="tr-TR" sz="1950" b="1" i="0">
                <a:solidFill>
                  <a:srgbClr val="2C6696"/>
                </a:solidFill>
                <a:latin typeface="Calibri"/>
              </a:rPr>
              <a:t>Başlıca görev ve yetkileri</a:t>
            </a:r>
          </a:p>
          <a:p>
            <a:pPr algn="l" marL="242405" indent="-242405">
              <a:spcBef>
                <a:spcPts val="0"/>
              </a:spcBef>
              <a:spcAft>
                <a:spcPts val="1114"/>
              </a:spcAft>
            </a:pPr>
            <a:r>
              <a:rPr lang="tr-TR" sz="1950" b="1" i="0">
                <a:solidFill>
                  <a:srgbClr val="2C6696"/>
                </a:solidFill>
                <a:latin typeface="Calibri"/>
              </a:rPr>
              <a:t>•  </a:t>
            </a:r>
            <a:r>
              <a:rPr lang="tr-TR" sz="1950" b="0" i="0">
                <a:solidFill>
                  <a:srgbClr val="262626"/>
                </a:solidFill>
                <a:latin typeface="Calibri"/>
              </a:rPr>
              <a:t>Afet ve acil durumlar ile sivil savunmaya ilişkin hizmetlerin ülke genelinde etkin bir şekilde gerçekleştirilmesi için gerekli önlemleri alma</a:t>
            </a:r>
          </a:p>
          <a:p>
            <a:pPr algn="l" marL="242405" indent="-242405">
              <a:spcBef>
                <a:spcPts val="0"/>
              </a:spcBef>
              <a:spcAft>
                <a:spcPts val="1114"/>
              </a:spcAft>
            </a:pPr>
            <a:r>
              <a:rPr lang="tr-TR" sz="1950" b="1" i="0">
                <a:solidFill>
                  <a:srgbClr val="2C6696"/>
                </a:solidFill>
                <a:latin typeface="Calibri"/>
              </a:rPr>
              <a:t>•  </a:t>
            </a:r>
            <a:r>
              <a:rPr lang="tr-TR" sz="1950" b="0" i="0">
                <a:solidFill>
                  <a:srgbClr val="262626"/>
                </a:solidFill>
                <a:latin typeface="Calibri"/>
              </a:rPr>
              <a:t>Afete sebep olabilecek olayların meydana gelmesinden önce hazırlık ve risk azaltma, olay sırasında yapılacak müdahale ve olay sonrasında gerçekleştirilecek iyileştirme çalışmalarını yürüten kurum ve kuruluşlar arasında koordinasyonu sağlama</a:t>
            </a:r>
          </a:p>
          <a:p>
            <a:pPr algn="l" marL="242405" indent="-242405">
              <a:spcBef>
                <a:spcPts val="0"/>
              </a:spcBef>
              <a:spcAft>
                <a:spcPts val="0"/>
              </a:spcAft>
            </a:pPr>
            <a:r>
              <a:rPr lang="tr-TR" sz="1950" b="1" i="0">
                <a:solidFill>
                  <a:srgbClr val="2C6696"/>
                </a:solidFill>
                <a:latin typeface="Calibri"/>
              </a:rPr>
              <a:t>•  </a:t>
            </a:r>
            <a:r>
              <a:rPr lang="tr-TR" sz="1950" b="0" i="0">
                <a:solidFill>
                  <a:srgbClr val="262626"/>
                </a:solidFill>
                <a:latin typeface="Calibri"/>
              </a:rPr>
              <a:t>Yurt içi ve yurt dışında insani yardım operasyonlarını yapma, koordine etme, bu konularda politika önerilerini geliştirme ve uygulama</a:t>
            </a:r>
          </a:p>
        </p:txBody>
      </p:sp>
      <p:pic>
        <p:nvPicPr>
          <p:cNvPr id="8" name="Picture 7" descr="h33_s207_afad.jpg"/>
          <p:cNvPicPr>
            <a:picLocks noChangeAspect="1"/>
          </p:cNvPicPr>
          <p:nvPr/>
        </p:nvPicPr>
        <p:blipFill>
          <a:blip r:embed="rId3"/>
          <a:stretch>
            <a:fillRect/>
          </a:stretch>
        </p:blipFill>
        <p:spPr>
          <a:xfrm>
            <a:off x="8948402" y="1188720"/>
            <a:ext cx="1290050" cy="566928"/>
          </a:xfrm>
          <a:prstGeom prst="rect">
            <a:avLst/>
          </a:prstGeom>
        </p:spPr>
      </p:pic>
      <p:sp>
        <p:nvSpPr>
          <p:cNvPr id="9" name="TextBox 8"/>
          <p:cNvSpPr txBox="1"/>
          <p:nvPr/>
        </p:nvSpPr>
        <p:spPr>
          <a:xfrm>
            <a:off x="7498080" y="1828800"/>
            <a:ext cx="4190695" cy="3657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C6696"/>
                </a:solidFill>
                <a:latin typeface="Calibri"/>
              </a:rPr>
              <a:t>Hizmetler: www.afad.gov.tr</a:t>
            </a:r>
          </a:p>
        </p:txBody>
      </p:sp>
      <p:sp>
        <p:nvSpPr>
          <p:cNvPr id="10" name="Rounded Rectangle 9"/>
          <p:cNvSpPr/>
          <p:nvPr/>
        </p:nvSpPr>
        <p:spPr>
          <a:xfrm>
            <a:off x="7498080" y="2221992"/>
            <a:ext cx="3051785" cy="38404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1500" b="0" i="0">
                <a:solidFill>
                  <a:srgbClr val="262626"/>
                </a:solidFill>
                <a:latin typeface="Calibri"/>
              </a:rPr>
              <a:t>Afet ve acil durum eğitim merkezi</a:t>
            </a:r>
          </a:p>
        </p:txBody>
      </p:sp>
      <p:sp>
        <p:nvSpPr>
          <p:cNvPr id="11" name="Rounded Rectangle 10"/>
          <p:cNvSpPr/>
          <p:nvPr/>
        </p:nvSpPr>
        <p:spPr>
          <a:xfrm>
            <a:off x="7498080" y="2679192"/>
            <a:ext cx="2025383" cy="38404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1500" b="0" i="0">
                <a:solidFill>
                  <a:srgbClr val="262626"/>
                </a:solidFill>
                <a:latin typeface="Calibri"/>
              </a:rPr>
              <a:t>Yardım kampanyaları</a:t>
            </a:r>
          </a:p>
        </p:txBody>
      </p:sp>
      <p:sp>
        <p:nvSpPr>
          <p:cNvPr id="12" name="Rounded Rectangle 11"/>
          <p:cNvSpPr/>
          <p:nvPr/>
        </p:nvSpPr>
        <p:spPr>
          <a:xfrm>
            <a:off x="9596615" y="2679192"/>
            <a:ext cx="1840848" cy="38404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1500" b="0" i="0">
                <a:solidFill>
                  <a:srgbClr val="262626"/>
                </a:solidFill>
                <a:latin typeface="Calibri"/>
              </a:rPr>
              <a:t>Afete hazır Türkiye</a:t>
            </a:r>
          </a:p>
        </p:txBody>
      </p:sp>
      <p:sp>
        <p:nvSpPr>
          <p:cNvPr id="13" name="Rounded Rectangle 12"/>
          <p:cNvSpPr/>
          <p:nvPr/>
        </p:nvSpPr>
        <p:spPr>
          <a:xfrm>
            <a:off x="7498080" y="3136392"/>
            <a:ext cx="1417241" cy="38404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1500" b="0" i="0">
                <a:solidFill>
                  <a:srgbClr val="262626"/>
                </a:solidFill>
                <a:latin typeface="Calibri"/>
              </a:rPr>
              <a:t>Afet raporları</a:t>
            </a:r>
          </a:p>
        </p:txBody>
      </p:sp>
      <p:sp>
        <p:nvSpPr>
          <p:cNvPr id="14" name="TextBox 13"/>
          <p:cNvSpPr txBox="1"/>
          <p:nvPr/>
        </p:nvSpPr>
        <p:spPr>
          <a:xfrm>
            <a:off x="7498080" y="3630168"/>
            <a:ext cx="4190695" cy="3657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Bazı projeler (kitapta 18 proje)</a:t>
            </a:r>
          </a:p>
        </p:txBody>
      </p:sp>
      <p:sp>
        <p:nvSpPr>
          <p:cNvPr id="15" name="Rounded Rectangle 14"/>
          <p:cNvSpPr/>
          <p:nvPr/>
        </p:nvSpPr>
        <p:spPr>
          <a:xfrm>
            <a:off x="7498080" y="4041647"/>
            <a:ext cx="3728821" cy="420624"/>
          </a:xfrm>
          <a:prstGeom prst="roundRect">
            <a:avLst>
              <a:gd name="adj" fmla="val 50000"/>
            </a:avLst>
          </a:prstGeom>
          <a:solidFill>
            <a:srgbClr val="FFFFFF"/>
          </a:solidFill>
          <a:ln w="25400">
            <a:solidFill>
              <a:srgbClr val="4F4F4F"/>
            </a:solidFill>
          </a:ln>
          <a:effectLst/>
        </p:spPr>
        <p:txBody>
          <a:bodyPr rtlCol="0" anchor="ctr" wrap="square" lIns="73152" rIns="73152" tIns="18288" bIns="18288">
            <a:noAutofit/>
          </a:bodyPr>
          <a:lstStyle/>
          <a:p>
            <a:pPr algn="ctr">
              <a:spcBef>
                <a:spcPts val="0"/>
              </a:spcBef>
              <a:spcAft>
                <a:spcPts val="0"/>
              </a:spcAft>
            </a:pPr>
            <a:r>
              <a:rPr lang="tr-TR" sz="1600" b="0" i="0">
                <a:solidFill>
                  <a:srgbClr val="262626"/>
                </a:solidFill>
                <a:latin typeface="Calibri"/>
              </a:rPr>
              <a:t>Türkiye Afet Risk Azaltma Planı (TARAP)</a:t>
            </a:r>
          </a:p>
        </p:txBody>
      </p:sp>
      <p:sp>
        <p:nvSpPr>
          <p:cNvPr id="16" name="Rounded Rectangle 15"/>
          <p:cNvSpPr/>
          <p:nvPr/>
        </p:nvSpPr>
        <p:spPr>
          <a:xfrm>
            <a:off x="7498080" y="4553711"/>
            <a:ext cx="4072094" cy="420624"/>
          </a:xfrm>
          <a:prstGeom prst="roundRect">
            <a:avLst>
              <a:gd name="adj" fmla="val 50000"/>
            </a:avLst>
          </a:prstGeom>
          <a:solidFill>
            <a:srgbClr val="FFFFFF"/>
          </a:solidFill>
          <a:ln w="25400">
            <a:solidFill>
              <a:srgbClr val="4F4F4F"/>
            </a:solidFill>
          </a:ln>
          <a:effectLst/>
        </p:spPr>
        <p:txBody>
          <a:bodyPr rtlCol="0" anchor="ctr" wrap="square" lIns="73152" rIns="73152" tIns="18288" bIns="18288">
            <a:noAutofit/>
          </a:bodyPr>
          <a:lstStyle/>
          <a:p>
            <a:pPr algn="ctr">
              <a:spcBef>
                <a:spcPts val="0"/>
              </a:spcBef>
              <a:spcAft>
                <a:spcPts val="0"/>
              </a:spcAft>
            </a:pPr>
            <a:r>
              <a:rPr lang="tr-TR" sz="1600" b="0" i="0">
                <a:solidFill>
                  <a:srgbClr val="262626"/>
                </a:solidFill>
                <a:latin typeface="Calibri"/>
              </a:rPr>
              <a:t>Bütünleşik İkaz Alarm Sistemi Projesi (İKAS)</a:t>
            </a:r>
          </a:p>
        </p:txBody>
      </p:sp>
      <p:sp>
        <p:nvSpPr>
          <p:cNvPr id="17" name="Rounded Rectangle 16"/>
          <p:cNvSpPr/>
          <p:nvPr/>
        </p:nvSpPr>
        <p:spPr>
          <a:xfrm>
            <a:off x="7498080" y="5065775"/>
            <a:ext cx="3072498" cy="420624"/>
          </a:xfrm>
          <a:prstGeom prst="roundRect">
            <a:avLst>
              <a:gd name="adj" fmla="val 50000"/>
            </a:avLst>
          </a:prstGeom>
          <a:solidFill>
            <a:srgbClr val="FFFFFF"/>
          </a:solidFill>
          <a:ln w="25400">
            <a:solidFill>
              <a:srgbClr val="4F4F4F"/>
            </a:solidFill>
          </a:ln>
          <a:effectLst/>
        </p:spPr>
        <p:txBody>
          <a:bodyPr rtlCol="0" anchor="ctr" wrap="square" lIns="73152" rIns="73152" tIns="18288" bIns="18288">
            <a:noAutofit/>
          </a:bodyPr>
          <a:lstStyle/>
          <a:p>
            <a:pPr algn="ctr">
              <a:spcBef>
                <a:spcPts val="0"/>
              </a:spcBef>
              <a:spcAft>
                <a:spcPts val="0"/>
              </a:spcAft>
            </a:pPr>
            <a:r>
              <a:rPr lang="tr-TR" sz="1600" b="0" i="0">
                <a:solidFill>
                  <a:srgbClr val="262626"/>
                </a:solidFill>
                <a:latin typeface="Calibri"/>
              </a:rPr>
              <a:t>Türkiye Deprem Tehlike Haritası</a:t>
            </a:r>
          </a:p>
        </p:txBody>
      </p:sp>
      <p:sp>
        <p:nvSpPr>
          <p:cNvPr id="18" name="Rounded Rectangle 17"/>
          <p:cNvSpPr/>
          <p:nvPr/>
        </p:nvSpPr>
        <p:spPr>
          <a:xfrm>
            <a:off x="7498080" y="5577839"/>
            <a:ext cx="2604672" cy="420624"/>
          </a:xfrm>
          <a:prstGeom prst="roundRect">
            <a:avLst>
              <a:gd name="adj" fmla="val 50000"/>
            </a:avLst>
          </a:prstGeom>
          <a:solidFill>
            <a:srgbClr val="FFFFFF"/>
          </a:solidFill>
          <a:ln w="25400">
            <a:solidFill>
              <a:srgbClr val="4F4F4F"/>
            </a:solidFill>
          </a:ln>
          <a:effectLst/>
        </p:spPr>
        <p:txBody>
          <a:bodyPr rtlCol="0" anchor="ctr" wrap="square" lIns="73152" rIns="73152" tIns="18288" bIns="18288">
            <a:noAutofit/>
          </a:bodyPr>
          <a:lstStyle/>
          <a:p>
            <a:pPr algn="ctr">
              <a:spcBef>
                <a:spcPts val="0"/>
              </a:spcBef>
              <a:spcAft>
                <a:spcPts val="0"/>
              </a:spcAft>
            </a:pPr>
            <a:r>
              <a:rPr lang="tr-TR" sz="1600" b="0" i="0">
                <a:solidFill>
                  <a:srgbClr val="262626"/>
                </a:solidFill>
                <a:latin typeface="Calibri"/>
              </a:rPr>
              <a:t>Afete Hazır Türkiye Projesi</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207</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215 / 250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uzaktan algılama verileriyle aşağıdakilerden hangisi tespit edilebilir?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kasırganın etkilediği bölgeler ve ilerleme yönü</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Afetzedelerin duygu durumu</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Toplanan bağışların miktarı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Gönüllülerin sayısı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Yardım tekliflerinin değerlendirilmesi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216 / 250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uzaktan algılama verileriyle aşağıdakilerden hangisi tespit edilebilir?</a:t>
            </a:r>
          </a:p>
        </p:txBody>
      </p:sp>
      <p:sp>
        <p:nvSpPr>
          <p:cNvPr id="7" name="Rounded Rectangle 6"/>
          <p:cNvSpPr/>
          <p:nvPr/>
        </p:nvSpPr>
        <p:spPr>
          <a:xfrm>
            <a:off x="502920" y="263347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8" name="Oval 7"/>
          <p:cNvSpPr/>
          <p:nvPr/>
        </p:nvSpPr>
        <p:spPr>
          <a:xfrm>
            <a:off x="594360" y="258958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Bir kasırganın etkilediği bölgeler ve ilerleme yönü</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Afetzedelerin duygu durumu</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Toplanan bağışların miktarı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Gönüllülerin sayısı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Yardım tekliflerinin değerlendirilmesi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Örneğin volkanik bir faaliyet ve lav akışının etkileri, bir kasırganın etkilediği bölgeler ve bu afetin hangi yönde ilerlediği bu sayede tespit edilebilmektedir.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217 / 250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Ünitemizin özeti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3594506" cy="3749039"/>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94506" cy="530352"/>
          </a:xfrm>
          <a:prstGeom prst="roundRect">
            <a:avLst>
              <a:gd name="adj" fmla="val 25000"/>
            </a:avLst>
          </a:prstGeom>
          <a:solidFill>
            <a:srgbClr val="A63A32"/>
          </a:solidFill>
          <a:ln>
            <a:noFill/>
          </a:ln>
          <a:effectLst/>
        </p:spPr>
        <p:txBody>
          <a:bodyPr rtlCol="0" anchor="ctr"/>
          <a:lstStyle/>
          <a:p/>
        </p:txBody>
      </p:sp>
      <p:sp>
        <p:nvSpPr>
          <p:cNvPr id="8" name="Rectangle 7"/>
          <p:cNvSpPr/>
          <p:nvPr/>
        </p:nvSpPr>
        <p:spPr>
          <a:xfrm>
            <a:off x="502920" y="1481328"/>
            <a:ext cx="3594506" cy="265176"/>
          </a:xfrm>
          <a:prstGeom prst="rect">
            <a:avLst/>
          </a:prstGeom>
          <a:solidFill>
            <a:srgbClr val="A63A32"/>
          </a:solidFill>
          <a:ln>
            <a:noFill/>
          </a:ln>
          <a:effectLst/>
        </p:spPr>
        <p:txBody>
          <a:bodyPr rtlCol="0" anchor="ctr"/>
          <a:lstStyle/>
          <a:p/>
        </p:txBody>
      </p:sp>
      <p:sp>
        <p:nvSpPr>
          <p:cNvPr id="9" name="TextBox 8"/>
          <p:cNvSpPr txBox="1"/>
          <p:nvPr/>
        </p:nvSpPr>
        <p:spPr>
          <a:xfrm>
            <a:off x="594360"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6.1.1 · Tehlike, risk, afet</a:t>
            </a:r>
          </a:p>
        </p:txBody>
      </p:sp>
      <p:sp>
        <p:nvSpPr>
          <p:cNvPr id="10" name="TextBox 9"/>
          <p:cNvSpPr txBox="1"/>
          <p:nvPr/>
        </p:nvSpPr>
        <p:spPr>
          <a:xfrm>
            <a:off x="612648" y="1819656"/>
            <a:ext cx="3375050" cy="3072383"/>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Doğa ve insan kaynaklı tehlikeler, önlem alınmazsa güvenlik açığına neden olarak risk oluşturur. İnsanların bu risklere maruz kalmasıyla da afetler meydana gelebilir.</a:t>
            </a:r>
          </a:p>
        </p:txBody>
      </p:sp>
      <p:sp>
        <p:nvSpPr>
          <p:cNvPr id="11" name="Rounded Rectangle 10"/>
          <p:cNvSpPr/>
          <p:nvPr/>
        </p:nvSpPr>
        <p:spPr>
          <a:xfrm>
            <a:off x="4298594" y="1216152"/>
            <a:ext cx="3594506" cy="3749039"/>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16152"/>
            <a:ext cx="3594506" cy="530352"/>
          </a:xfrm>
          <a:prstGeom prst="roundRect">
            <a:avLst>
              <a:gd name="adj" fmla="val 25000"/>
            </a:avLst>
          </a:prstGeom>
          <a:solidFill>
            <a:srgbClr val="6A4C93"/>
          </a:solidFill>
          <a:ln>
            <a:noFill/>
          </a:ln>
          <a:effectLst/>
        </p:spPr>
        <p:txBody>
          <a:bodyPr rtlCol="0" anchor="ctr"/>
          <a:lstStyle/>
          <a:p/>
        </p:txBody>
      </p:sp>
      <p:sp>
        <p:nvSpPr>
          <p:cNvPr id="13" name="Rectangle 12"/>
          <p:cNvSpPr/>
          <p:nvPr/>
        </p:nvSpPr>
        <p:spPr>
          <a:xfrm>
            <a:off x="4298594" y="1481328"/>
            <a:ext cx="3594506" cy="265176"/>
          </a:xfrm>
          <a:prstGeom prst="rect">
            <a:avLst/>
          </a:prstGeom>
          <a:solidFill>
            <a:srgbClr val="6A4C93"/>
          </a:solidFill>
          <a:ln>
            <a:noFill/>
          </a:ln>
          <a:effectLst/>
        </p:spPr>
        <p:txBody>
          <a:bodyPr rtlCol="0" anchor="ctr"/>
          <a:lstStyle/>
          <a:p/>
        </p:txBody>
      </p:sp>
      <p:sp>
        <p:nvSpPr>
          <p:cNvPr id="14" name="TextBox 13"/>
          <p:cNvSpPr txBox="1"/>
          <p:nvPr/>
        </p:nvSpPr>
        <p:spPr>
          <a:xfrm>
            <a:off x="4390034"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6.1.2 · Afet türleri</a:t>
            </a:r>
          </a:p>
        </p:txBody>
      </p:sp>
      <p:sp>
        <p:nvSpPr>
          <p:cNvPr id="15" name="TextBox 14"/>
          <p:cNvSpPr txBox="1"/>
          <p:nvPr/>
        </p:nvSpPr>
        <p:spPr>
          <a:xfrm>
            <a:off x="4408322" y="1819656"/>
            <a:ext cx="3375050" cy="3072383"/>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Afetler, oluşum nedenlerine göre doğa kaynaklı ve insan kaynaklı olabilmektedir. Doğa: jeolojik · klimatik-hidrolojik · biyolojik. İnsan: sosyal · teknolojik.</a:t>
            </a:r>
          </a:p>
        </p:txBody>
      </p:sp>
      <p:sp>
        <p:nvSpPr>
          <p:cNvPr id="16" name="Rounded Rectangle 15"/>
          <p:cNvSpPr/>
          <p:nvPr/>
        </p:nvSpPr>
        <p:spPr>
          <a:xfrm>
            <a:off x="8094268" y="1216152"/>
            <a:ext cx="3594506" cy="3749039"/>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16152"/>
            <a:ext cx="3594506" cy="530352"/>
          </a:xfrm>
          <a:prstGeom prst="roundRect">
            <a:avLst>
              <a:gd name="adj" fmla="val 25000"/>
            </a:avLst>
          </a:prstGeom>
          <a:solidFill>
            <a:srgbClr val="1E7B6E"/>
          </a:solidFill>
          <a:ln>
            <a:noFill/>
          </a:ln>
          <a:effectLst/>
        </p:spPr>
        <p:txBody>
          <a:bodyPr rtlCol="0" anchor="ctr"/>
          <a:lstStyle/>
          <a:p/>
        </p:txBody>
      </p:sp>
      <p:sp>
        <p:nvSpPr>
          <p:cNvPr id="18" name="Rectangle 17"/>
          <p:cNvSpPr/>
          <p:nvPr/>
        </p:nvSpPr>
        <p:spPr>
          <a:xfrm>
            <a:off x="8094268" y="1481328"/>
            <a:ext cx="3594506" cy="265176"/>
          </a:xfrm>
          <a:prstGeom prst="rect">
            <a:avLst/>
          </a:prstGeom>
          <a:solidFill>
            <a:srgbClr val="1E7B6E"/>
          </a:solidFill>
          <a:ln>
            <a:noFill/>
          </a:ln>
          <a:effectLst/>
        </p:spPr>
        <p:txBody>
          <a:bodyPr rtlCol="0" anchor="ctr"/>
          <a:lstStyle/>
          <a:p/>
        </p:txBody>
      </p:sp>
      <p:sp>
        <p:nvSpPr>
          <p:cNvPr id="19" name="TextBox 18"/>
          <p:cNvSpPr txBox="1"/>
          <p:nvPr/>
        </p:nvSpPr>
        <p:spPr>
          <a:xfrm>
            <a:off x="8185708"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6.1.3 · Bütüncül afet yönetimi</a:t>
            </a:r>
          </a:p>
        </p:txBody>
      </p:sp>
      <p:sp>
        <p:nvSpPr>
          <p:cNvPr id="20" name="TextBox 19"/>
          <p:cNvSpPr txBox="1"/>
          <p:nvPr/>
        </p:nvSpPr>
        <p:spPr>
          <a:xfrm>
            <a:off x="8203996" y="1819656"/>
            <a:ext cx="3375050" cy="3072383"/>
          </a:xfrm>
          <a:prstGeom prst="rect">
            <a:avLst/>
          </a:prstGeom>
          <a:noFill/>
        </p:spPr>
        <p:txBody>
          <a:bodyPr wrap="square" anchor="t" lIns="73152" rIns="73152" tIns="36576" bIns="36576">
            <a:noAutofit/>
          </a:bodyPr>
          <a:lstStyle/>
          <a:p>
            <a:pPr algn="l">
              <a:spcBef>
                <a:spcPts val="0"/>
              </a:spcBef>
              <a:spcAft>
                <a:spcPts val="0"/>
              </a:spcAft>
            </a:pPr>
            <a:r>
              <a:rPr lang="tr-TR" sz="2150" b="0" i="0">
                <a:solidFill>
                  <a:srgbClr val="262626"/>
                </a:solidFill>
                <a:latin typeface="Calibri"/>
              </a:rPr>
              <a:t>Risk ve zarar azaltma → hazırlıklı olma → AFET → müdahale → iyileştirme → başa dönüş. Bütüncül afet yönetiminin aşamaları; bir bütünlük içerisinde olup afet öncesi, esnası ve sonrasında uygulanabilecek niteliktedir.</a:t>
            </a:r>
          </a:p>
        </p:txBody>
      </p:sp>
      <p:sp>
        <p:nvSpPr>
          <p:cNvPr id="21" name="Rounded Rectangle 20"/>
          <p:cNvSpPr/>
          <p:nvPr/>
        </p:nvSpPr>
        <p:spPr>
          <a:xfrm>
            <a:off x="502920" y="5148071"/>
            <a:ext cx="11185855" cy="1143001"/>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1" i="0">
                <a:solidFill>
                  <a:srgbClr val="262626"/>
                </a:solidFill>
                <a:latin typeface="Calibri"/>
              </a:rPr>
              <a:t>7. üniteye köprü:</a:t>
            </a:r>
            <a:r>
              <a:rPr lang="tr-TR" sz="2200" b="0" i="0">
                <a:solidFill>
                  <a:srgbClr val="262626"/>
                </a:solidFill>
                <a:latin typeface="Calibri"/>
              </a:rPr>
              <a:t> “Bölge” deyince aklına ne geliyor? Defterine bir kelime yaz.</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191-203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218 / 250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33.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008126"/>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1948815"/>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00812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Afet öncesi, esnası ve sonrası için birer 'yapılması gereken' yazınız.</a:t>
            </a:r>
          </a:p>
        </p:txBody>
      </p:sp>
      <p:sp>
        <p:nvSpPr>
          <p:cNvPr id="10" name="Rounded Rectangle 9"/>
          <p:cNvSpPr/>
          <p:nvPr/>
        </p:nvSpPr>
        <p:spPr>
          <a:xfrm>
            <a:off x="502920" y="2937510"/>
            <a:ext cx="11185855" cy="1008126"/>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121533"/>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2937510"/>
            <a:ext cx="9997135" cy="100812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Afette doğru bilgiye nasıl ulaşırsınız; bilgi paylaşırken nelere dikkat edersiniz?</a:t>
            </a:r>
          </a:p>
        </p:txBody>
      </p:sp>
      <p:sp>
        <p:nvSpPr>
          <p:cNvPr id="13" name="Rounded Rectangle 12"/>
          <p:cNvSpPr/>
          <p:nvPr/>
        </p:nvSpPr>
        <p:spPr>
          <a:xfrm>
            <a:off x="502920" y="4110228"/>
            <a:ext cx="11185855" cy="1008126"/>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4294251"/>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110228"/>
            <a:ext cx="9997135" cy="100812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Deprem senaryosunda 1. ve 6. mahallelerde kayıplar neden yüksektir; hangi aşamada ne önerirsiniz?</a:t>
            </a:r>
          </a:p>
        </p:txBody>
      </p:sp>
      <p:sp>
        <p:nvSpPr>
          <p:cNvPr id="16" name="Rounded Rectangle 15"/>
          <p:cNvSpPr/>
          <p:nvPr/>
        </p:nvSpPr>
        <p:spPr>
          <a:xfrm>
            <a:off x="502920" y="5282946"/>
            <a:ext cx="11185855" cy="1008126"/>
          </a:xfrm>
          <a:prstGeom prst="roundRect">
            <a:avLst>
              <a:gd name="adj" fmla="val 10000"/>
            </a:avLst>
          </a:prstGeom>
          <a:solidFill>
            <a:srgbClr val="F0F0F0"/>
          </a:solidFill>
          <a:ln>
            <a:noFill/>
          </a:ln>
          <a:effectLst/>
        </p:spPr>
        <p:txBody>
          <a:bodyPr rtlCol="0" anchor="ctr"/>
          <a:lstStyle/>
          <a:p/>
        </p:txBody>
      </p:sp>
      <p:sp>
        <p:nvSpPr>
          <p:cNvPr id="17" name="Oval 16"/>
          <p:cNvSpPr/>
          <p:nvPr/>
        </p:nvSpPr>
        <p:spPr>
          <a:xfrm>
            <a:off x="667512" y="5466969"/>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4</a:t>
            </a:r>
          </a:p>
        </p:txBody>
      </p:sp>
      <p:sp>
        <p:nvSpPr>
          <p:cNvPr id="18" name="TextBox 17"/>
          <p:cNvSpPr txBox="1"/>
          <p:nvPr/>
        </p:nvSpPr>
        <p:spPr>
          <a:xfrm>
            <a:off x="1508760" y="5282946"/>
            <a:ext cx="9997135" cy="100812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Ek (birleştirilen şubeler): Risk yönetimi ile kriz yönetimi hangi aşamaları kapsar?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202-209</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219 / 250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33.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Çalışma kâğıdı: 13-16. maddeler ve 17. madde (öz değerlendirme).</a:t>
            </a:r>
          </a:p>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32. haftada dersi olmayan şubeler: 11-12. maddeler de; s. 205-207 konuları 15. madde ile.</a:t>
            </a:r>
          </a:p>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Ünite ölçme soruları (s. 210-213): 1, 2, 5 ve 8 deftere.</a:t>
            </a:r>
          </a:p>
          <a:p>
            <a:pPr algn="l" marL="323206" indent="-323206">
              <a:spcBef>
                <a:spcPts val="0"/>
              </a:spcBef>
              <a:spcAft>
                <a:spcPts val="1200"/>
              </a:spcAft>
            </a:pPr>
            <a:r>
              <a:rPr lang="tr-TR" sz="2600" b="1" i="0">
                <a:solidFill>
                  <a:srgbClr val="1E7B6E"/>
                </a:solidFill>
                <a:latin typeface="Calibri"/>
              </a:rPr>
              <a:t>•  </a:t>
            </a:r>
            <a:r>
              <a:rPr lang="tr-TR" sz="2600" b="0" i="0">
                <a:solidFill>
                  <a:srgbClr val="262626"/>
                </a:solidFill>
                <a:latin typeface="Calibri"/>
              </a:rPr>
              <a:t>MEBİ ve EBA: 6. ünite konu tekrarı ve etkinlik çözümleri (erişimin yoksa okul laboratuvarında).</a:t>
            </a:r>
          </a:p>
          <a:p>
            <a:pPr algn="l" marL="323206" indent="-323206">
              <a:spcBef>
                <a:spcPts val="0"/>
              </a:spcBef>
              <a:spcAft>
                <a:spcPts val="0"/>
              </a:spcAft>
            </a:pPr>
            <a:r>
              <a:rPr lang="tr-TR" sz="2600" b="1" i="0">
                <a:solidFill>
                  <a:srgbClr val="1E7B6E"/>
                </a:solidFill>
                <a:latin typeface="Calibri"/>
              </a:rPr>
              <a:t>•  </a:t>
            </a:r>
            <a:r>
              <a:rPr lang="tr-TR" sz="2600" b="0" i="0">
                <a:solidFill>
                  <a:srgbClr val="262626"/>
                </a:solidFill>
                <a:latin typeface="Calibri"/>
              </a:rPr>
              <a:t>7. üniteye hazırlık: açılış sayfasını incele; “bölge” kelimesinin çağrıştırdığı üç örneği yaz.</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210-213</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220 / 250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GNL-COG9-SN-U6 — 33. hafta · Bütüncül Afet Yönetimi II: İstasyonlar ve Deprem Senaryosu (slayt 168-220)</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