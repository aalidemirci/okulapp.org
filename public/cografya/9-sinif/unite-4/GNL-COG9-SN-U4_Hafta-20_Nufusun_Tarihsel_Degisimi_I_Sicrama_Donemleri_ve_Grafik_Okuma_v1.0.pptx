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lang="tr-TR" sz="1200"/>
            </a:lvl1pPr>
          </a:lstStyle>
          <a:p>
            <a:endParaRPr lang="tr-T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lang="tr-TR" sz="1200"/>
            </a:lvl1pPr>
          </a:lstStyle>
          <a:p>
            <a:fld id="{0F89C1C7-3DCD-1040-A9CF-14679D8B5DDD}" type="datetimeFigureOut">
              <a:rPr lang="tr-TR" smtClean="0"/>
              <a:t>10/17/16</a:t>
            </a:fld>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lang="tr-TR" sz="1200"/>
            </a:lvl1pPr>
          </a:lstStyle>
          <a:p>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lang="tr-TR" sz="1200"/>
            </a:lvl1pPr>
          </a:lstStyle>
          <a:p>
            <a:fld id="{BB5E49A5-4136-284D-997B-48E1D791AD67}" type="slidenum">
              <a:rPr lang="tr-TR" smtClean="0"/>
              <a:t>‹#›</a:t>
            </a:fld>
            <a:endParaRPr lang="tr-TR"/>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lang="tr-TR" sz="1200" kern="1200">
        <a:solidFill>
          <a:schemeClr val="tx1"/>
        </a:solidFill>
        <a:latin typeface="+mn-lt"/>
        <a:ea typeface="+mn-ea"/>
        <a:cs typeface="+mn-cs"/>
      </a:defRPr>
    </a:lvl1pPr>
    <a:lvl2pPr marL="457200" algn="l" defTabSz="457200" rtl="0" eaLnBrk="1" latinLnBrk="0" hangingPunct="1">
      <a:defRPr lang="tr-TR" sz="1200" kern="1200">
        <a:solidFill>
          <a:schemeClr val="tx1"/>
        </a:solidFill>
        <a:latin typeface="+mn-lt"/>
        <a:ea typeface="+mn-ea"/>
        <a:cs typeface="+mn-cs"/>
      </a:defRPr>
    </a:lvl2pPr>
    <a:lvl3pPr marL="914400" algn="l" defTabSz="457200" rtl="0" eaLnBrk="1" latinLnBrk="0" hangingPunct="1">
      <a:defRPr lang="tr-TR" sz="1200" kern="1200">
        <a:solidFill>
          <a:schemeClr val="tx1"/>
        </a:solidFill>
        <a:latin typeface="+mn-lt"/>
        <a:ea typeface="+mn-ea"/>
        <a:cs typeface="+mn-cs"/>
      </a:defRPr>
    </a:lvl3pPr>
    <a:lvl4pPr marL="1371600" algn="l" defTabSz="457200" rtl="0" eaLnBrk="1" latinLnBrk="0" hangingPunct="1">
      <a:defRPr lang="tr-TR" sz="1200" kern="1200">
        <a:solidFill>
          <a:schemeClr val="tx1"/>
        </a:solidFill>
        <a:latin typeface="+mn-lt"/>
        <a:ea typeface="+mn-ea"/>
        <a:cs typeface="+mn-cs"/>
      </a:defRPr>
    </a:lvl4pPr>
    <a:lvl5pPr marL="1828800" algn="l" defTabSz="457200" rtl="0" eaLnBrk="1" latinLnBrk="0" hangingPunct="1">
      <a:defRPr lang="tr-TR" sz="1200" kern="1200">
        <a:solidFill>
          <a:schemeClr val="tx1"/>
        </a:solidFill>
        <a:latin typeface="+mn-lt"/>
        <a:ea typeface="+mn-ea"/>
        <a:cs typeface="+mn-cs"/>
      </a:defRPr>
    </a:lvl5pPr>
    <a:lvl6pPr marL="2286000" algn="l" defTabSz="457200" rtl="0" eaLnBrk="1" latinLnBrk="0" hangingPunct="1">
      <a:defRPr lang="tr-TR" sz="1200" kern="1200">
        <a:solidFill>
          <a:schemeClr val="tx1"/>
        </a:solidFill>
        <a:latin typeface="+mn-lt"/>
        <a:ea typeface="+mn-ea"/>
        <a:cs typeface="+mn-cs"/>
      </a:defRPr>
    </a:lvl6pPr>
    <a:lvl7pPr marL="2743200" algn="l" defTabSz="457200" rtl="0" eaLnBrk="1" latinLnBrk="0" hangingPunct="1">
      <a:defRPr lang="tr-TR" sz="1200" kern="1200">
        <a:solidFill>
          <a:schemeClr val="tx1"/>
        </a:solidFill>
        <a:latin typeface="+mn-lt"/>
        <a:ea typeface="+mn-ea"/>
        <a:cs typeface="+mn-cs"/>
      </a:defRPr>
    </a:lvl7pPr>
    <a:lvl8pPr marL="3200400" algn="l" defTabSz="457200" rtl="0" eaLnBrk="1" latinLnBrk="0" hangingPunct="1">
      <a:defRPr lang="tr-TR" sz="1200" kern="1200">
        <a:solidFill>
          <a:schemeClr val="tx1"/>
        </a:solidFill>
        <a:latin typeface="+mn-lt"/>
        <a:ea typeface="+mn-ea"/>
        <a:cs typeface="+mn-cs"/>
      </a:defRPr>
    </a:lvl8pPr>
    <a:lvl9pPr marL="3657600" algn="l" defTabSz="457200" rtl="0" eaLnBrk="1" latinLnBrk="0" hangingPunct="1">
      <a:defRPr lang="tr-T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Üniteyi tanıtmak; kapak fotoğrafıyla 'nüfus' kavramına ilk bakışı açmak.</a:t>
            </a:r>
          </a:p>
          <a:p/>
          <a:p>
            <a:r>
              <a:t>SÜRE: Giriş aşamasının (20. hafta 1. aşama, 5 dk) ilk dakikası; aşamanın slaytları 1-7.</a:t>
            </a:r>
          </a:p>
          <a:p/>
          <a:p>
            <a:r>
              <a:t>NASIL: Fotoğrafı 15 saniye inceletin: 'Bu fotoğrafta insanlar hakkında ne söyleyebiliriz? Bu kadar insan nerede, neden bir arada?' Kısa iki-üç cevap alın; ünitenin konusunun insanlar, yani nüfus olduğunu söyleyin. Fotoğrafın çekildiği yer kitapta yazılmaz; yer adı söylemeyin.</a:t>
            </a:r>
          </a:p>
          <a:p/>
          <a:p>
            <a:r>
              <a:t>BEKLENEN CEVAP: Kalabalık bir yerde çok sayıda insan bir arada; insanların bir yerde toplanması ulaşım, iş, çarşı-pazar gibi nedenlere bağlıdır (nüfusun dağılışı, 22. hafta).</a:t>
            </a:r>
          </a:p>
          <a:p/>
          <a:p>
            <a:r>
              <a:t>KAYNAK: Ders kitabı s. 138-139 ünite açılış görseli.</a:t>
            </a:r>
          </a:p>
          <a:p/>
          <a:p>
            <a:r>
              <a:t>NOT: Bu sunum yalnız okul içi ders kullanımı içindir: harita, grafik ve fotoğraflar MEB ders kitabındandır; dosya okul dışında paylaşılmaz, internete konmaz.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dört öğrenme çıktısını ve hangi haftalarda işleneceğini göstermek.</a:t>
            </a:r>
          </a:p>
          <a:p/>
          <a:p>
            <a:r>
              <a:t>NASIL: Kartları soldan sağa okuyun; her kartın altındaki italik cümle kitabın ünite açılışındaki amaç cümlesidir (kitap üç amaç cümlesi verir; ilki hem 4.1.1'i hem 4.1.3'ü kapsar). Performans görevini önceden duyurun: 'Yaşadığımız Yerin Nüfus Dinamikleri' 24. haftada verilecek, 27. haftada teslim edilecek (s. 165).</a:t>
            </a:r>
          </a:p>
          <a:p/>
          <a:p>
            <a:r>
              <a:t>KAYNAK: Program (2026): COĞ.9.4.1-9.4.4; kitap s. 138 'Bu ünitede … amaçlanmaktadır.'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Ünitede kullanılacak ölçme araçlarını öğrencinin diliyle duyurmak.</a:t>
            </a:r>
          </a:p>
          <a:p/>
          <a:p>
            <a:r>
              <a:t>NASIL: Dört kartı kısaca tanıtın; hangisinin ne zaman yapılacağını alttaki çiplerden gösterin. Analitik dereceli puanlama anahtarı, öz ve grup değerlendirme formları kitaptaki karekodlardadır; çıktıları öğretmen getirir (öğrenci telefonu kullanılmaz). Ünite boyunca öğrenme günlüğü tutulur (program: öğrenme kanıtı). Ünite sonunda 12 soruluk ölçme ve değerlendirme bölümü vardır (s. 166-169).</a:t>
            </a:r>
          </a:p>
          <a:p/>
          <a:p>
            <a:r>
              <a:t>KAYNAK: Kitap s. 138: 'Ünitede sizden … beklenmektedir.' Program, Öğrenme Kanıtları.</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on iki anahtar kavramını dört grupta göstermek.</a:t>
            </a:r>
          </a:p>
          <a:p/>
          <a:p>
            <a:r>
              <a:t>NASIL: Kavramları sesli okutun; 'Hangilerini ortaokulda duydunuz? Hangisini bugün açıklayabilirsiniz?' sorusuyla ön bilgiyi yoklayın (ön değerlendirmenin kelime ilişkilendirme testine köprü). Gruplama sunum içindir; kavram listesi kitapla (ve programla) aynıdır.</a:t>
            </a:r>
          </a:p>
          <a:p/>
          <a:p>
            <a:r>
              <a:t>KAYNAK: Kitap s. 139 Anahtar Kavramlar (program listesiyle aynı).</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öğrenme çıktısını ve üç süreç bileşenini tanıtmak.</a:t>
            </a:r>
          </a:p>
          <a:p/>
          <a:p>
            <a:r>
              <a:t>SÜRE: 80 dakikalık akış (ders planı, 20. hafta): giriş 5 · ön değerlendirme 8 · köprü kurma 7 · Çatalhöyük ve üç sıçrama 10 · grafik okuma ve Grafik 4.1 10 (40. dk) · geçiş 2 · s. 143 etkinliği (Yönerge 1) 16 · paylaşım ve 1950 sonrası 8 · dünya nüfusunun geleceği 8 · toparlama 6.</a:t>
            </a:r>
          </a:p>
          <a:p/>
          <a:p>
            <a:r>
              <a:t>NASIL: Çıktıyı öğrencinin diliyle söyleyin: 'Bu hafta dünya nüfusunun binlerce yıl içinde nasıl değiştiğini grafiklerden okuyacağız: önce bir grafiğin parçalarını tanıyacağız (a), sonra parçalar arasındaki ilişkiyi kuracağız (b), en sonunda grafikten sonuç çıkaracağız (c).' Giriş aşamasının (5 dk) ilk dört slaytı ünite açılışıdır; bu ayraç, yol haritası ve gruplar slaytı aşamanın kalanıdır.</a:t>
            </a:r>
          </a:p>
          <a:p/>
          <a:p>
            <a:r>
              <a:t>KAYNAK: Program (2026) COĞ.9.4.1 a-c; ders planı 20. hafta; kitap 4.1.1 (s. 140-145).</a:t>
            </a:r>
          </a:p>
          <a:p/>
          <a:p>
            <a:r>
              <a:t>NOT: Kitap 2026-2027 baskısı: s. 140-143 önceki baskıyla aynıdır. s. 143 etkinliğinin Yönerge 2'si (Türkiye-Demokratik Kongo-Almanya grafiği) 21. haftada işlenir.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Dersin yol haritasını göstermek (30 sn).</a:t>
            </a:r>
          </a:p>
          <a:p/>
          <a:p>
            <a:r>
              <a:t>NASIL: Her istasyonu bir cümleyle söyleyin; 3. istasyondan (grafik okuma) sonra dersin ilk yarısı biter. Etkinlik ve sonrası grup düzeninde yapılır.</a:t>
            </a:r>
          </a:p>
          <a:p/>
          <a:p>
            <a:r>
              <a:t>KAYNAK: Ders planı 20. hafta akışı.</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 başında yeniden karılan grupları ve ünite boyunca tutulacak öğrenme günlüğünü tanıtmak.</a:t>
            </a:r>
          </a:p>
          <a:p/>
          <a:p>
            <a:r>
              <a:t>NASIL: Grup listesini öğretmen bilgisayarından yansıtın; sunuma öğrenci adı yazılmaz. Gruplar heterojendir (3. ünite gözlemleri ve 1. dönem P2 kayıtları); roller bu hafta sizce atanır, sonraki haftalarda döner. Öğrenme günlüğü: defterin son 6 sayfası ayrılır, tarih atılır; her hafta sonunda 3-4 cümle yazılır; ilk kayıt bu dersin 3-2-1 Başla etkinliğidir. 27. haftada toplanır.</a:t>
            </a:r>
          </a:p>
          <a:p/>
          <a:p>
            <a:r>
              <a:t>KAYNAK: Program COĞ.9.4.4 uygulamaları: Ünite boyunca öğrenme günlüğü tutulması sağlanarak öğrencilerin öğrenmelerini öğrenme günlükleri üzerinden değerlendirmeleri sağlanabilir (SDB1.1, SDB2.1). Ders planı 20. hafta 1. aşama.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ön değerlendirme sürecinin ilk önerisi: İstanbul'un iki yıllık nüfusundan değişimi yorumlamak ve nedenini tahmin etmek (not amaçlı değil).</a:t>
            </a:r>
          </a:p>
          <a:p/>
          <a:p>
            <a:r>
              <a:t>SÜRE: Ön değerlendirme 8 dk: İstanbul tahmini 3 dk · yaprak (A + B) 4 dk · örnek cevaplar 1 dk.</a:t>
            </a:r>
          </a:p>
          <a:p/>
          <a:p>
            <a:r>
              <a:t>NASIL: İstanbul'un iki farklı yıla ait toplam nüfusunu (TÜİK nüfus istatistiklerinden önceden alınmış değerler; yıllar arasında en az on yıl önerilir) kutulara söyleyerek tahtaya yazın. Sunuma rakam yazılmaz. 1 dakika düşün, 1 dakika sıra arkadaşıyla eşleş; üç ikiliden tahmin alın. Doğru-yanlış demeyin: 'Bu tahmini ünitede sınayacağız.'</a:t>
            </a:r>
          </a:p>
          <a:p/>
          <a:p>
            <a:r>
              <a:t>BEKLENEN CEVAP: Örnek cevap izleyen slaytta.</a:t>
            </a:r>
          </a:p>
          <a:p/>
          <a:p>
            <a:r>
              <a:t>KAYNAK: Program Ön Değerlendirme Süreci: Yaşanılan ilin farklı yıllardaki nüfus verilerinden yararlanılarak nüfus miktarında meydana gelen değişime yönelik yorum yapılması ve bu değişimin nedenlerine ilişkin tahmin yürütülmesi sağlanabilir. TÜİK: kitap s. 165 Bilgi Kutusu.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Değişimin nasıl hesaplanacağını ve olası nedenleri göstermek.</a:t>
            </a:r>
          </a:p>
          <a:p/>
          <a:p>
            <a:r>
              <a:t>NASIL: Farkı tahtada birlikte hesaplayın (sonraki yıl − önceki yıl). Nedenler tahmindir: öğrencinin gerekçeli başka tahmini de kabul edilir. Kişisel göç hikâyesi sorulmaz; örnekler genel kalır.</a:t>
            </a:r>
          </a:p>
          <a:p/>
          <a:p>
            <a:r>
              <a:t>BEKLENEN CEVAP: Fark artıysa nüfus artmıştır: doğumların ölümlerden fazla olması (doğal nüfus artışı); iş, eğitim ve sağlık olanakları nedeniyle başka yerlerden göç gelmesi. Fark eksiyse azalmıştır: doğumların azalması, başka illere ya da ülkelere göç.</a:t>
            </a:r>
          </a:p>
          <a:p/>
          <a:p>
            <a:r>
              <a:t>KAYNAK: Doğal nüfus artışı kenar notu: kitap s. 155; göç: s. 149-150 (22-23. hafta). Değişimin yönü öğretmenin tahtaya yazdığı değerlere bağlıdır; sunumda sayı yoktur.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Kelime ilişkilendirme testi ve nüfus yoğunluğu şeması (programın ön değerlendirme önerileri).</a:t>
            </a:r>
          </a:p>
          <a:p/>
          <a:p>
            <a:r>
              <a:t>NASIL: Yaprağı dağıtın. A: 'nüfus' kavramı için 1 dakika süre tutun, öğrenciler aklına gelen kelimeleri alt alta yazar (zincirleme çağrışımı önlemek için yaprakta kavram her satırın başında tekrar yazılıdır); süre bitince 30 saniyede bir cümle. B: iki kollu şemayı 2 dakikada doldurur. Sıra başları toplar. Sonra örnek cevap slaytı. Sınıf özeti (en sık yazılan ve hiç yazılmayan kavramlar) zümre dosyasına gider; şema 22. haftada geri verilir.</a:t>
            </a:r>
          </a:p>
          <a:p/>
          <a:p>
            <a:r>
              <a:t>BEKLENEN CEVAP: Örnek cevaplar izleyen slaytta.</a:t>
            </a:r>
          </a:p>
          <a:p/>
          <a:p>
            <a:r>
              <a:t>KAYNAK: Program Ön Değerlendirme Süreci: Nüfus kavramıyla ilgili kelime ilişkilendirme testi uygulanarak bu testten sonuçlar çıkarılabilir. Nüfus yoğunluğunun fazla ve az olduğu alanların özelliklerine yönelik şema hazırlatılabilir.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 ve B için örnek cevaplar; yapraklar toplandıktan sonra gösterilir.</a:t>
            </a:r>
          </a:p>
          <a:p/>
          <a:p>
            <a:r>
              <a:t>NASIL: Ön değerlendirme not amaçlı değildir; yapraktaki cevaplar değiştirilmez. A'da 'doğru' kelime yoktur: sınıfın çağrışımlarını bu örnekle karşılaştıracağız. B'nin cevabı kitabın s. 146 metnidir (22. haftada Şema 4.1 ile ayrıntılı işlenecek).</a:t>
            </a:r>
          </a:p>
          <a:p/>
          <a:p>
            <a:r>
              <a:t>BEKLENEN CEVAP: A: doğum, ölüm, göç, nüfus sayımı, TÜİK, kalabalık, şehir, köy, nüfus artışı, nüfus yoğunluğu, genç ve yaşlı nüfus; cümle: 'Bir yerin nüfusu doğum, ölüm ve göçle zaman içinde değişir.' B: yoğun — yer şekilleri sade, iklim ılıman, su ve verimli toprak, ulaşım ve sanayi gelişmiş kentler; seyrek — kutup bölgeleri, yüksek dağlık alanlar, çöller.</a:t>
            </a:r>
          </a:p>
          <a:p/>
          <a:p>
            <a:r>
              <a:t>KAYNAK: A: bilimsel (örnek çağrışımlar ve cümle; kitapta hazır cevap yok). B: kitap s. 146 metni (birebir).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Öğrenme günlüğünün ilk kaydı: ön bilgiyi ve merakı ortaya çıkarmak (köprü kurma).</a:t>
            </a:r>
          </a:p>
          <a:p/>
          <a:p>
            <a:r>
              <a:t>SÜRE: Köprü kurma 7 dk: 3-2-1 yazma 3 dk + iki okuma 1 dk · haber ve nüfus dinamikleri 3 dk.</a:t>
            </a:r>
          </a:p>
          <a:p/>
          <a:p>
            <a:r>
              <a:t>NASIL: Öğrenciler günlüklerinin ilk sayfasına yazar; 3 dakika. İsim kartıyla iki öğrenciye okutun. Merak edilen sorulardan birini tahtanın köşesine yazın: ünitede cevabını arayacağız.</a:t>
            </a:r>
          </a:p>
          <a:p/>
          <a:p>
            <a:r>
              <a:t>BEKLENEN CEVAP: 3: nüfus doğum, ölüm ve göçle değişir; nüfus verilerini TÜİK toplar; şehirlerde nüfus yoğundur. 2: dünya nüfusu nasıl bu kadar arttı; Türkiye'nin nüfusu gelecekte nasıl değişecek. 1: göç ya da kentleşme.</a:t>
            </a:r>
          </a:p>
          <a:p/>
          <a:p>
            <a:r>
              <a:t>KAYNAK: Kitap s. 140 '3-2-1 Başla' (yönergeler birebir); TÜİK: s. 165 Bilgi Kutusu. Örnek cevap bilimsel (kişisel kayıt örneği).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Öğrenme günlüğünün ilk kaydı: ön bilgiyi ve merakı ortaya çıkarmak (köprü kurma).</a:t>
            </a:r>
          </a:p>
          <a:p/>
          <a:p>
            <a:r>
              <a:t>NASIL: Örnek cevap bir öğrencinin yazabileceği kayıttır; doğru-yanlış yoktur. Öğrencilerin yazdıkları 'bildiklerim'de yanlış bir bilgi varsa ünite içinde düzelteceğimizi söyleyin.</a:t>
            </a:r>
          </a:p>
          <a:p/>
          <a:p>
            <a:r>
              <a:t>BEKLENEN CEVAP: 3: nüfus doğum, ölüm ve göçle değişir; nüfus verilerini TÜİK toplar; şehirlerde nüfus yoğundur. 2: dünya nüfusu nasıl bu kadar arttı; Türkiye'nin nüfusu gelecekte nasıl değişecek. 1: göç ya da kentleşme.</a:t>
            </a:r>
          </a:p>
          <a:p/>
          <a:p>
            <a:r>
              <a:t>KAYNAK: Kitap s. 140 '3-2-1 Başla' (yönergeler birebir); TÜİK: s. 165 Bilgi Kutusu. Örnek cevap bilimsel (kişisel kayıt örneği).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köprü kurma önerisi: güncel bir nüfus haberinden nüfus verisinin kimin işine yaradığını tartışmak.</a:t>
            </a:r>
          </a:p>
          <a:p/>
          <a:p>
            <a:r>
              <a:t>NASIL: Seçtiğiniz güncel nüfus haberinin (TÜİK haber bülteni ya da gazete) yalnız başlığını ve görselini etkileşimli tahtadan yansıtın; sunumda haber yoktur. 'Bu haber kimin işine yarar?' — dört kartı sırayla sorun, isim kartıyla 3-4 cevap alın.</a:t>
            </a:r>
          </a:p>
          <a:p/>
          <a:p>
            <a:r>
              <a:t>BEKLENEN CEVAP: Örnek cevap izleyen slaytta (kitap s. 140 metniyle).</a:t>
            </a:r>
          </a:p>
          <a:p/>
          <a:p>
            <a:r>
              <a:t>KAYNAK: Program Köprü Kurma: Nüfusla ilgili güncel haberler incelenebilir; fotoğraf, harita gibi coğrafi temsiller üzerinden görsel okuma yapılabilir.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Haber sorusunun örnek cevabı ve kitabın 'Nüfus Dinamikleri Neden Önemlidir?' metni.</a:t>
            </a:r>
          </a:p>
          <a:p/>
          <a:p>
            <a:r>
              <a:t>NASIL: Önce dört kartı öğrencilerin cevaplarıyla karşılaştırın; sonra alttaki kitap cümlesini okutun ve 'nüfus dinamiği' tanımını deftere yazdırın. Ek okuma (s. 140): Demografik özellikler; nüfusun dağılışı, cinsiyet yapısı, eğitim durumu, yaş gruplarına göre dağılımı; doğum ve ölüm oranları ile göç bilgilerini içerir. Bu bilgiler, ülke politikalarının oluşturulması ve kaynakların etkili kullanılması açısından stratejik öneme sahiptir.</a:t>
            </a:r>
          </a:p>
          <a:p/>
          <a:p>
            <a:r>
              <a:t>BEKLENEN CEVAP: Belediye: konut, ulaşım, altyapı ve su planlaması (kentleşme, doğal kaynak yönetimi). Okul: derslik ve öğretmen ihtiyacı (eğitim sistemi). Hastane: sağlık hizmetleri. Aile: yaşadığı yerin hizmetleri ve refahı (s. 140: aileden başlayarak yerel, bölgesel ve küresel ölçekte refah).</a:t>
            </a:r>
          </a:p>
          <a:p/>
          <a:p>
            <a:r>
              <a:t>KAYNAK: Kitap s. 140 'Nüfus Dinamikleri Neden Önemlidir?' ve 'Nüfus Dinamiği' kenar notu (birebir).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Tek bir yerleşmenin hikâyesinden nüfusun artma ve azalma nedenlerine genelleme yapmak.</a:t>
            </a:r>
          </a:p>
          <a:p/>
          <a:p>
            <a:r>
              <a:t>SÜRE: Bu aşama 10 dk: Çatalhöyük 3 dk · üç sıçrama 3 dk · eşleştirme 3 dk · yoklama 1 dk.</a:t>
            </a:r>
          </a:p>
          <a:p/>
          <a:p>
            <a:r>
              <a:t>NASIL: Görseli 10 saniye inceletin (temsilîdir: kazı bulgularına göre yapılmış bir canlandırma). Metni dört öğrenciye birer satır okutun. Soruyu sorun; ikililer 1 dakika düşünür, iki genelleme tahtaya yazılır. 'Genelleme: yalnız Çatalhöyük için değil, her yer için geçerli olabilecek cümle.'</a:t>
            </a:r>
          </a:p>
          <a:p/>
          <a:p>
            <a:r>
              <a:t>BEKLENEN CEVAP: Örnek cevap izleyen slaytta.</a:t>
            </a:r>
          </a:p>
          <a:p/>
          <a:p>
            <a:r>
              <a:t>KAYNAK: Kitap s. 141 KONUYA BAŞLARKEN 'Çatalhöyük'te Nüfus Nasıl Arttı?' (metin birebir, kısaltılmış) ve görseli.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Çatalhöyük metninden çıkan genellemeler.</a:t>
            </a:r>
          </a:p>
          <a:p/>
          <a:p>
            <a:r>
              <a:t>NASIL: Tahtadaki genellemeleri kartlarla karşılaştırın. Son kartı vurgulayın: nüfus her zaman artmaz, kaynaklar ve doğal koşullar nüfusu azaltabilir. Köprü: 'Dünyanın tamamında da nüfusu büyük ölçüde artıran üç dönem oldu.'</a:t>
            </a:r>
          </a:p>
          <a:p/>
          <a:p>
            <a:r>
              <a:t>BEKLENEN CEVAP: Yaşam koşulları: Teknoloji, gıda üretimi ve sosyoekonomik gelişmeler hayat şartlarını iyileştirip ortalama ömrü uzatınca nüfus artar. · Tarım: Tarıma ve yerleşik hayata geçiş gıdayı artırır; nüfus artar. · Göç: Göç alan yerin nüfusu artar, göç veren yerin nüfusu azalır. · Kaynaklar: Kaynaklar yetersiz kalırsa ya da kuraklık gibi doğal koşullar ağırlaşırsa göç başlar, nüfus azalır.</a:t>
            </a:r>
          </a:p>
          <a:p/>
          <a:p>
            <a:r>
              <a:t>KAYNAK: Kitap s. 141 metni (genellemeler metindeki neden-sonuç cümlelerinden kurulmuştur).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Nüfus artış hızı kavramını ve insanlık tarihindeki üç sıçrama dönemini 'ne zaman · ne oldu · nüfusa etkisi' ile vermek.</a:t>
            </a:r>
          </a:p>
          <a:p/>
          <a:p>
            <a:r>
              <a:t>NASIL: Önce tanımı okutun: 'artış veya azalış' — hız eksi de olabilir. Üç kartı soldan sağa anlatın; öğrenciler deftere 'dönem · ne oldu · nüfusa etkisi' tablosunu çıkarır. Her kartta 'nüfus neden arttı?' sorusunu sorun: alet → beslenme ve korunma; tarım → gıda fazlası; Sanayi Devrimi → tıp ve sağlık, ölüm oranının düşmesi.</a:t>
            </a:r>
          </a:p>
          <a:p/>
          <a:p>
            <a:r>
              <a:t>KAYNAK: Kitap s. 141 (4.1 giriş metni, 'Nüfus artış hızı' kenar notu, birinci ve ikinci sıçrama) ve s. 142 (üçüncü sıçrama); renkler Grafik 4.1'deki eğri renkleridir.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OGM Materyal 'Sıçrama Dönemleri' eşleştirmesiyle paralel: kitabın yedi cümlesini üç döneme ayırmak.</a:t>
            </a:r>
          </a:p>
          <a:p/>
          <a:p>
            <a:r>
              <a:t>NASIL: Kitaplar kapalı; öğrenciler mini kâğıda 'Birinci: …, İkinci: …, Üçüncü: …' diye numaraları yazar (2 dk). Sonra cevap slaytı.</a:t>
            </a:r>
          </a:p>
          <a:p/>
          <a:p>
            <a:r>
              <a:t>BEKLENEN CEVAP: Birinci: 3, 5 · İkinci: 6, 7 · Üçüncü: 1, 2, 4.</a:t>
            </a:r>
          </a:p>
          <a:p/>
          <a:p>
            <a:r>
              <a:t>KAYNAK: Kitap s. 141-142 (cümleler birebir; 7. cümle OGM'deki gibi '…' ile kısaltıldı); OGM Materyal etkileşimli uygulama 149 (aynı yedi cümle; OGM'deki 'Ikinci', '1927'de2', 'iyileşmegöstermiştir' yazım hataları sunumda kitabın yazımıyla).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OGM Materyal 'Sıçrama Dönemleri' eşleştirmesiyle paralel: kitabın yedi cümlesini üç döneme ayırmak.</a:t>
            </a:r>
          </a:p>
          <a:p/>
          <a:p>
            <a:r>
              <a:t>NASIL: İpuçları: 'alet' birinci, 'Neolitik / tarım / ilk şehirler' ikinci, 'Sanayi Devrimi / tıp / 1 milyar' üçüncü dönemdir. 2. cümlenin dönemi cümlenin içinde yazılıdır — dikkatli okuyan hemen bulur.</a:t>
            </a:r>
          </a:p>
          <a:p/>
          <a:p>
            <a:r>
              <a:t>BEKLENEN CEVAP: Birinci: 3, 5 · İkinci: 6, 7 · Üçüncü: 1, 2, 4.</a:t>
            </a:r>
          </a:p>
          <a:p/>
          <a:p>
            <a:r>
              <a:t>KAYNAK: Kitap s. 141-142 (cümleler birebir; 7. cümle OGM'deki gibi '…' ile kısaltıldı); OGM Materyal etkileşimli uygulama 149 (aynı yedi cümle; OGM'deki 'Ikinci', '1927'de2', 'iyileşmegöstermiştir' yazım hataları sunumda kitabın yazımıyla).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Yanlış çoğunluktaysa eşleştirmenin 6-7. cümlesine dönün.</a:t>
            </a:r>
          </a:p>
          <a:p/>
          <a:p>
            <a:r>
              <a:t>BEKLENEN CEVAP: B) İkinci sıçrama: Tarım Devrimi</a:t>
            </a:r>
          </a:p>
          <a:p/>
          <a:p>
            <a:r>
              <a:t>KAYNAK: Kitap s. 141.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Tarım ve yerleşik hayatla ürün fazlası oluştu: Tarım Devrimi sayesinde nüfus artışının önemli engellerinden birinin (gıdaya erişim zorluğu ve gıda azlığı) etkisi azalırken dünyanın ilk şehirleri ortaya çıkmıştır.</a:t>
            </a:r>
          </a:p>
          <a:p/>
          <a:p>
            <a:r>
              <a:t>BEKLENEN CEVAP: B) İkinci sıçrama: Tarım Devrimi</a:t>
            </a:r>
          </a:p>
          <a:p/>
          <a:p>
            <a:r>
              <a:t>KAYNAK: Kitap s. 141.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 boyunca kullanılacak tablo-grafik okuma adımlarını vermek (süreç bileşenleri a-c).</a:t>
            </a:r>
          </a:p>
          <a:p/>
          <a:p>
            <a:r>
              <a:t>SÜRE: Bu aşama 10 dk: adımlar 3 dk · Grafik 4.1 okuma 5 dk · yoklama 2 dk.</a:t>
            </a:r>
          </a:p>
          <a:p/>
          <a:p>
            <a:r>
              <a:t>NASIL: Adımları tahtanın kenarına yazdırın; ünite boyunca her grafikte aynı sırayla kullanacağız. 1-3. adımlar grafiğin bileşenleri (a), 4-6. adımlar bileşenler arası ilişki (b), 7. adım sonuç çıkarma (c).</a:t>
            </a:r>
          </a:p>
          <a:p/>
          <a:p>
            <a:r>
              <a:t>KAYNAK: Program COĞ.9.4.1 Öğrenme-Öğretme Uygulamaları: Tablo ve grafiklerdeki bileşenler ve bu bileşenlere ait işlevler çözümlenir. Grafiklerdeki renklendirme, sembol, veri ve zaman aralıklarının dağılımı ilişkilendirilir. Tablo ve grafiklerdeki bileşenler arası ilişkiler sistematik bir yaklaşımla çözümlenir. Adım listesi ders planının grafik okuma kartıdır.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Grafik 4.1'de eksenleri, zaman aralığını ve sıçramaları okumak.</a:t>
            </a:r>
          </a:p>
          <a:p/>
          <a:p>
            <a:r>
              <a:t>NASIL: Grafiği 20 saniye sessiz inceletin. Üç soruyu sırayla sorun; harita/veri okuyucular cevap verir. 2. soruda ipucu: '1 milyon ile 100 bin arası kaç yıl? 100 bin ile 10 bin arası?'</a:t>
            </a:r>
          </a:p>
          <a:p/>
          <a:p>
            <a:r>
              <a:t>BEKLENEN CEVAP: 1) Yatay: zaman aralığı. Dikey: nüfus miktarı. | 2) Hayır: her aralıkta zaman onda birine iner (÷10). | 3) Üç dik yükselişte: **1** alet yapımı, **2** Tarım Devrimi, **3** Sanayi Devrimi.</a:t>
            </a:r>
          </a:p>
          <a:p/>
          <a:p>
            <a:r>
              <a:t>KAYNAK: Kitap s. 142 Grafik 4.1 ve üçüncü sıçrama metni ('… (Grafik 4.1)'). Aralıkların değerleri eksen etiketlerinden okunur (1 milyon, 100.000, 10.000, 1.000, 100 yıl önce).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Grafik 4.1'de eksenleri, zaman aralığını ve sıçramaları okumak.</a:t>
            </a:r>
          </a:p>
          <a:p/>
          <a:p>
            <a:r>
              <a:t>NASIL: Alttaki '÷10' etiketleri: her aralıkta zaman onda birine iner (900 bin, 90 bin, 9 bin, 900 yıl). Bu yüzden grafik çok uzun bir zamanı tek bakışta gösterir ama eğimi dikkatle yorumlamalıyız. Üç halka üç sıçramadır; renkler kitaptaki gibi.</a:t>
            </a:r>
          </a:p>
          <a:p/>
          <a:p>
            <a:r>
              <a:t>BEKLENEN CEVAP: 1) Yatay: zaman aralığı. Dikey: nüfus miktarı. | 2) Hayır: her aralıkta zaman onda birine iner (÷10). | 3) Üç dik yükselişte: **1** alet yapımı, **2** Tarım Devrimi, **3** Sanayi Devrimi.</a:t>
            </a:r>
          </a:p>
          <a:p/>
          <a:p>
            <a:r>
              <a:t>KAYNAK: Kitap s. 142 Grafik 4.1 ve üçüncü sıçrama metni ('… (Grafik 4.1)'). Aralıkların değerleri eksen etiketlerinden okunur (1 milyon, 100.000, 10.000, 1.000, 100 yıl önce).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Yanlış çoğunluktaysa okuma örneğindeki '÷10' etiketlerine dönün.</a:t>
            </a:r>
          </a:p>
          <a:p/>
          <a:p>
            <a:r>
              <a:t>BEKLENEN CEVAP: B) Her aralık bir öncekinin onda biri kadar zamanı gösterir.</a:t>
            </a:r>
          </a:p>
          <a:p/>
          <a:p>
            <a:r>
              <a:t>KAYNAK: Kitap s. 142.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1 milyon → 100.000 → 10.000 → 1.000 → 100 yıl önce: her adımda zaman onda birine iner. Böylece çok uzun bir zaman tek grafikte gösterilir.</a:t>
            </a:r>
          </a:p>
          <a:p/>
          <a:p>
            <a:r>
              <a:t>BEKLENEN CEVAP: B) Her aralık bir öncekinin onda biri kadar zamanı gösterir.</a:t>
            </a:r>
          </a:p>
          <a:p/>
          <a:p>
            <a:r>
              <a:t>KAYNAK: Kitap s. 142.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 çalışmasına geçiş: rolleri ve kuralları hatırlatmak.</a:t>
            </a:r>
          </a:p>
          <a:p/>
          <a:p>
            <a:r>
              <a:t>SÜRE: Geçiş: 2 dk (esnek).</a:t>
            </a:r>
          </a:p>
          <a:p/>
          <a:p>
            <a:r>
              <a:t>NASIL: Ayağa kalkma molası; sıralar 4'lü adalara çevrilir, malzeme sorumluları grup zarflarını alır. Roller her hafta döner; 4 kişilik grupta ilk dört rol, 5 kişilikte editör de vardır. Ünite başı: yeni grup listesini öğretmen bilgisayarından yansıtın (sunuma ad yazılmaz). Malzeme sorumluları s. 143 setini, grafik okuma kartını ve milyar basamakları tablosunu alır.</a:t>
            </a:r>
          </a:p>
          <a:p/>
          <a:p>
            <a:r>
              <a:t>KAYNAK: Ders planı (34 kişilik sınıf için grup düzeni: 6 × 4 + 2 × 5; sınıf mevcuduna göre uyarlanır).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s. 143 etkinliğini tanıtmak: bu hafta Yönerge 1 (1-3. sorular).</a:t>
            </a:r>
          </a:p>
          <a:p/>
          <a:p>
            <a:r>
              <a:t>SÜRE: Etkinlik 16 dk: 1-2. sorular 5 dk · video ve belge 3 dk · 3. soru 8 dk.</a:t>
            </a:r>
          </a:p>
          <a:p/>
          <a:p>
            <a:r>
              <a:t>NASIL: Künyeyi okutun. Grafiği gösterin: başlık 'Tarihsel Süreçte Dünya Nüfusu', kaynak BM Nüfus Dairesi (2022), yıldızlı yıllar tahminîdir. Karekoddaki video ve belge yalnız öğretmen bilgisayarından açılır; öğrenci telefonu kullanılmaz. Yönerge 2 (Türkiye-Demokratik Kongo-Almanya grafiği, 4-5. sorular) gelecek hafta.</a:t>
            </a:r>
          </a:p>
          <a:p/>
          <a:p>
            <a:r>
              <a:t>KAYNAK: Kitap s. 143 ETKİNLİK (künye, yönergeler ve sorular birebir); DEĞERLENDİRME: Öğretmeninizin rehberliğinde çalışmanızı kontrol edip varsa eksik cevaplarınızı düzenleyiniz.</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Grafiğin bileşenlerini (eksenler) ve bileşenler arası ilişkiyi okumak (a, b).</a:t>
            </a:r>
          </a:p>
          <a:p/>
          <a:p>
            <a:r>
              <a:t>NASIL: Gruplar 5 dakikada iki soruyu ortak kâğıda yazar; yazıcı, grafik okuma kartının 2. ve 5. adımını kullanır. Sonra cevap slaytı.</a:t>
            </a:r>
          </a:p>
          <a:p/>
          <a:p>
            <a:r>
              <a:t>BEKLENEN CEVAP: 1) Yatay eksen: yıllar (zaman). Dikey eksen: nüfus miktarı (milyar). | 2) Zaman ilerledikçe nüfus artar. Eğri uzun süre neredeyse yataydır; 1800'lerden sonra dikleşir, yani nüfus artışı hızlanır.</a:t>
            </a:r>
          </a:p>
          <a:p/>
          <a:p>
            <a:r>
              <a:t>KAYNAK: Kitap s. 143 grafik ve sorular 1-2; s. 141 'Nüfus artış hızı, başlangıçta düşükken son birkaç asırda katlanarak artmıştır.'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Grafiğin bileşenlerini (eksenler) ve bileşenler arası ilişkiyi okumak (a, b).</a:t>
            </a:r>
          </a:p>
          <a:p/>
          <a:p>
            <a:r>
              <a:t>NASIL: Oklar eksenleri gösterir: yatay eksen yıllar (1'den 2000'e), dikey eksen sağ tarafta, milyar. Sorun: 'Eğri neden 1800'e kadar neredeyse yatay?' — nüfus artış hızı uzun süre çok düşüktü (s. 141).</a:t>
            </a:r>
          </a:p>
          <a:p/>
          <a:p>
            <a:r>
              <a:t>BEKLENEN CEVAP: 1) Yatay eksen: yıllar (zaman). Dikey eksen: nüfus miktarı (milyar). | 2) Zaman ilerledikçe nüfus artar. Eğri uzun süre neredeyse yataydır; 1800'lerden sonra dikleşir, yani nüfus artışı hızlanır.</a:t>
            </a:r>
          </a:p>
          <a:p/>
          <a:p>
            <a:r>
              <a:t>KAYNAK: Kitap s. 143 grafik ve sorular 1-2; s. 141 'Nüfus artış hızı, başlangıçta düşükken son birkaç asırda katlanarak artmıştır.'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Videodan ve grafikten genelleme çıkarmak (süreç bileşeni c); birer milyarlık artışın süresini hesaplamak.</a:t>
            </a:r>
          </a:p>
          <a:p/>
          <a:p>
            <a:r>
              <a:t>NASIL: Önce karekoddaki 'Dünya Nüfuslanma Süreci' videosunu ve 'Kıtalara Göre Nüfuslanma' belgesini etkileşimli tahtadan açın (3 dk; açılmazsa grafik ve tabloyla sürdürün). Gruplar tablodaki 'Süre' sütununu iki yıl arasındaki farkla doldurur, sonra üç genellemeyi yazar (8 dk). Dolaşım: 'Süreyi iki yıl arasındaki farktan mı buldunuz? En kısa süre hangi basamakta?' Cevaplar paylaşımda (izleyen slayt).</a:t>
            </a:r>
          </a:p>
          <a:p/>
          <a:p>
            <a:r>
              <a:t>BEKLENEN CEVAP: Örnek cevap izleyen slaytta (paylaşımın başı).</a:t>
            </a:r>
          </a:p>
          <a:p/>
          <a:p>
            <a:r>
              <a:t>KAYNAK: Kitap s. 143 3. soru ve grafik (yıllar grafikteki etiketlerden; BM Nüfus Dairesi 2022); karekod içerikleri öğretmen bilgisayarından.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3. sorunun paylaşımı: grupların genellemeleri ve örnek cevap; milyar basamaklarının süresi.</a:t>
            </a:r>
          </a:p>
          <a:p/>
          <a:p>
            <a:r>
              <a:t>SÜRE: Paylaşım ve 1950 sonrası 8 dk: genellemeler 3 dk · seçmece 2 dk · boşluk doldurma 2 dk · yoklama 1 dk.</a:t>
            </a:r>
          </a:p>
          <a:p/>
          <a:p>
            <a:r>
              <a:t>NASIL: İsim kartıyla üç sözcüden birer genelleme alın, sonra slaytı açın. Tabloda iki vurgu: ilk basamak (123 yıl) ve en kısa basamak (1987-1998, 11 yıl). Tahminî basamakların uzaması: nüfus artmaya devam eder ama artış hızı yavaşlar. Kıtalar satırını karekod belgesiyle karşılaştırın.</a:t>
            </a:r>
          </a:p>
          <a:p/>
          <a:p>
            <a:r>
              <a:t>BEKLENEN CEVAP: a) Uzun süre çok yavaş; 1800'lerden sonra hızlandı; en hızlı dönem 1950 sonrası. Tahminî basamaklar uzuyor: artış yavaşlayacak. | b) 123 yıldan (1804-1927) 11 yıla (1987-1998) indi; sonra 12 yıl; tahminlere göre 15 ve 21 yıl. | c) Bugün dünya nüfusunun en büyük bölümü Asya'da; 1950'den sonra en hızlı artış Afrika'da; Avrupa'da artış yavaş.</a:t>
            </a:r>
          </a:p>
          <a:p/>
          <a:p>
            <a:r>
              <a:t>KAYNAK: Kitap s. 143 grafik (süreler grafiğin yıllarından hesaplandı: 1927 − 1804 = 123; 1960 − 1927 = 33; 1974 − 1960 = 14; 1987 − 1974 = 13; 1998 − 1987 = 11; 2010 − 1998 = 12; 2022 − 2010 = 12; 2037 − 2022 = 15; 2058 − 2037 = 21). Kıtalar: bilimsel; kitapta yok (BM verilerinde genel kabul; karekod belgesiyle karşılaştırılır).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OGM Materyal 'Grafik Okuma' uygulamasıyla paralel: milyar basamakları grafiğinden doğru çıkarımları seçmek; grafikten çıkarılamayan bilgiyi ayırt etmek (OB7).</a:t>
            </a:r>
          </a:p>
          <a:p/>
          <a:p>
            <a:r>
              <a:t>NASIL: Öğrenciler doğru bulduklarının numarasını mini kâğıda yazar (1 dk).</a:t>
            </a:r>
          </a:p>
          <a:p/>
          <a:p>
            <a:r>
              <a:t>BEKLENEN CEVAP: Doğru: 1, 3, 5. Yanlış: 2 (o dönemde eğri neredeyse yatay), 4 (grafikten çıkarılamaz).</a:t>
            </a:r>
          </a:p>
          <a:p/>
          <a:p>
            <a:r>
              <a:t>KAYNAK: Kitap s. 143 grafik; OGM Materyal etkileşimli uygulama 150 (beş ifade; sıra karıştırıldı). OGM: 'Dünya nüfus miktarı artışı 500 yıl önce hızlı artış göstermiştir' ifadesi sadeleştirildi; '1998 - 2010' biçimi düzeltildi. İkiye katlanma: 1927 − 1804 = 123, 1974 − 1927 = 47, 2022 − 1974 = 48.</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OGM Materyal 'Grafik Okuma' uygulamasıyla paralel: milyar basamakları grafiğinden doğru çıkarımları seçmek; grafikten çıkarılamayan bilgiyi ayırt etmek (OB7).</a:t>
            </a:r>
          </a:p>
          <a:p/>
          <a:p>
            <a:r>
              <a:t>NASIL: 4. ifadeye dikkat: gerçekte dünya nüfusunun en büyük bölümü Asya'dadır, ama bu grafik kıta göstermez — soru 'grafiğe göre' dediği için yanlıştır. 5. ifadede ikiye katlanma süreleri grafiğin yıllarından hesaplanır.</a:t>
            </a:r>
          </a:p>
          <a:p/>
          <a:p>
            <a:r>
              <a:t>BEKLENEN CEVAP: Doğru: 1, 3, 5. Yanlış: 2 (o dönemde eğri neredeyse yatay), 4 (grafikten çıkarılamaz).</a:t>
            </a:r>
          </a:p>
          <a:p/>
          <a:p>
            <a:r>
              <a:t>KAYNAK: Kitap s. 143 grafik; OGM Materyal etkileşimli uygulama 150 (beş ifade; sıra karıştırıldı). OGM: 'Dünya nüfus miktarı artışı 500 yıl önce hızlı artış göstermiştir' ifadesi sadeleştirildi; '1998 - 2010' biçimi düzeltildi. İkiye katlanma: 1927 − 1804 = 123, 1974 − 1927 = 47, 2022 − 1974 = 48.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OGM Materyal boşluk doldurma uygulamasıyla paralel: 1950 sonrası hızlı nüfuslanmanın nedenlerini kitabın paragrafıyla toplamak.</a:t>
            </a:r>
          </a:p>
          <a:p/>
          <a:p>
            <a:r>
              <a:t>NASIL: Paragrafı bir öğrenci okur, boşluklara sınıf sözlü cevap verir; sözcük kutusu ipucudur (1,5 dk).</a:t>
            </a:r>
          </a:p>
          <a:p/>
          <a:p>
            <a:r>
              <a:t>BEKLENEN CEVAP: 1 → 1950 · 2 → 11 · 3 → gelişmekte olan · 4 → teknoloji · 5 → ölüm · 6 → doğum.</a:t>
            </a:r>
          </a:p>
          <a:p/>
          <a:p>
            <a:r>
              <a:t>KAYNAK: Kitap s. 142 paragrafı (birebir); OGM Materyal etkileşimli uygulama 148 (OGM başlığı '3. Sıçrama Dönemi'dir; paragraf kitapta üçüncü sıçramanın devamı olan 1950 sonrasını anlatır).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OGM Materyal boşluk doldurma uygulamasıyla paralel: 1950 sonrası hızlı nüfuslanmanın nedenlerini kitabın paragrafıyla toplamak.</a:t>
            </a:r>
          </a:p>
          <a:p/>
          <a:p>
            <a:r>
              <a:t>NASIL: Alttaki zinciri okutun: 1950 sonrasının hızlı nüfuslanması ölüm oranının hızla düşmesi ve doğum oranının yüksek kalmasıyla oluştu. '11 yıl' grafikteki 1987 → 1998 basamağıdır (5 → 6 milyar).</a:t>
            </a:r>
          </a:p>
          <a:p/>
          <a:p>
            <a:r>
              <a:t>BEKLENEN CEVAP: 1 → 1950 · 2 → 11 · 3 → gelişmekte olan · 4 → teknoloji · 5 → ölüm · 6 → doğum.</a:t>
            </a:r>
          </a:p>
          <a:p/>
          <a:p>
            <a:r>
              <a:t>KAYNAK: Kitap s. 142 paragrafı (birebir); OGM Materyal etkileşimli uygulama 148 (OGM başlığı '3. Sıçrama Dönemi'dir; paragraf kitapta üçüncü sıçramanın devamı olan 1950 sonrasını anlatır).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Süre tablosuna dönerek gerekçelendirin.</a:t>
            </a:r>
          </a:p>
          <a:p/>
          <a:p>
            <a:r>
              <a:t>BEKLENEN CEVAP: B) Dünya nüfusu artmaya devam edecek ama artış yavaşlayacaktır.</a:t>
            </a:r>
          </a:p>
          <a:p/>
          <a:p>
            <a:r>
              <a:t>KAYNAK: Kitap s. 143 grafik (tahminî yıllar 2037 ve 2058; BM Nüfus Dairesi 2022); süreler grafiğin yıllarından hesaplandı.</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Her basamak yine bir milyar artış demektir, ama bu artış için gereken süre uzuyor: nüfus artmaya devam eder, artış hızı yavaşlar (BM Nüfus Dairesi 2022 tahmini).</a:t>
            </a:r>
          </a:p>
          <a:p/>
          <a:p>
            <a:r>
              <a:t>BEKLENEN CEVAP: B) Dünya nüfusu artmaya devam edecek ama artış yavaşlayacaktır.</a:t>
            </a:r>
          </a:p>
          <a:p/>
          <a:p>
            <a:r>
              <a:t>KAYNAK: Kitap s. 143 grafik (tahminî yıllar 2037 ve 2058; BM Nüfus Dairesi 2022); süreler grafiğin yıllarından hesaplandı.</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Dünya nüfusunun geleceğine ilişkin tahminin neden güç olduğunu ve nüfus projeksiyonu kavramını vermek.</a:t>
            </a:r>
          </a:p>
          <a:p/>
          <a:p>
            <a:r>
              <a:t>SÜRE: Bu aşama 8 dk: metin ve tanım 2 dk · tartışma 3 dk · paylaşım ve örnek cevap 2 dk · yoklama 1 dk.</a:t>
            </a:r>
          </a:p>
          <a:p/>
          <a:p>
            <a:r>
              <a:t>NASIL: Alıntıları okutun. Sorun: 'UNFPA neden tek bir sayı değil de 9-13 milyar gibi bir aralık veriyor?' 2-3 cevap alın. Projeksiyon tanımını deftere yazdırın; gelecek hafta Türkiye'nin üç senaryolu projeksiyonunu okuyacağız.</a:t>
            </a:r>
          </a:p>
          <a:p/>
          <a:p>
            <a:r>
              <a:t>BEKLENEN CEVAP: Çünkü nüfus birçok değişkene bağlıdır (doğum, ölüm, göç; ekonomik, sosyal ve siyasi gelişmeler); bunların nasıl değişeceği kesin bilinemez. Farklı varsayımlar farklı sonuç verir; bu yüzden tahmin bir aralık olarak verilir.</a:t>
            </a:r>
          </a:p>
          <a:p/>
          <a:p>
            <a:r>
              <a:t>KAYNAK: Kitap s. 142 'Dünya Nüfusunun Geleceği' ve 'Nüfus projeksiyonu' kenar notu (birebir).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s. 142 uygulaması: gelişmelerin dünya nüfusunu nasıl değiştirebileceğini tartışmak (D4.2, SDB2.1).</a:t>
            </a:r>
          </a:p>
          <a:p/>
          <a:p>
            <a:r>
              <a:t>NASIL: Gruplar 3 dakika tartışır; yazıcı iki sütunu doldurur, sözcü tek cümlelik sonucu yazar. Kural: söz kesmeden dinleme, farklı görüşe saygı. İki grup sonucunu okur; sonuç öğrenme günlüğüne de yazılır.</a:t>
            </a:r>
          </a:p>
          <a:p/>
          <a:p>
            <a:r>
              <a:t>BEKLENEN CEVAP: Örnek cevap izleyen slaytta.</a:t>
            </a:r>
          </a:p>
          <a:p/>
          <a:p>
            <a:r>
              <a:t>KAYNAK: Kitap s. 142 UYGULAMA 'Dünya Nüfusunun Geleceği' (yönerge birebir); program: çözümleme sonrası ortaya çıkan sonuçların tartışılarak yorumlanması.</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Tartışmanın örnek cevabı: nüfusu artırabilecek ve azaltabilecek gelişmeler, sonuç.</a:t>
            </a:r>
          </a:p>
          <a:p/>
          <a:p>
            <a:r>
              <a:t>NASIL: Grupların sonuç cümlelerini okuttuktan sonra açın. Siyasi gelişmeler için kitabın verdiği örnek 'sıcak çatışmalar'dır (s. 140); ülke ya da olay adı vermeyin, tarafsız kalın.</a:t>
            </a:r>
          </a:p>
          <a:p/>
          <a:p>
            <a:r>
              <a:t>BEKLENEN CEVAP: Artırabilir: tıp ve sağlıktaki ilerlemelerle ömrün uzaması ve ölüm oranlarının düşmesi; gıda üretimindeki gelişmeler. Yavaşlatabilir/azaltabilir: eğitim, kentleşme ve kadınların iş hayatına katılımının artmasıyla doğumların azalması; ekonomik krizler, salgın hastalıklar, sıcak çatışmalar, iklim değişimi. Sonuç: nüfus birçok değişkene bağlıdır; tahmin bir aralıkla verilir.</a:t>
            </a:r>
          </a:p>
          <a:p/>
          <a:p>
            <a:r>
              <a:t>KAYNAK: Kitap s. 142 (ömrün uzaması), s. 141 (gıdaya erişim), s. 160 (eğitim, kentleşme ve kadınların iş hayatına katılımı doğum oranlarını azaltır), s. 140 (iklim değişimi, sıcak çatışmalar, ekonomik krizler, salgın hastalıklar).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cevap gösterir; dağılıma bakıp cevap slaytına geçin. Diğer seçeneklerin tanımını hatırlatın: nüfus artış hızı (s. 141), nüfus dinamiği (s. 140).</a:t>
            </a:r>
          </a:p>
          <a:p/>
          <a:p>
            <a:r>
              <a:t>BEKLENEN CEVAP: B) Nüfus projeksiyonu</a:t>
            </a:r>
          </a:p>
          <a:p/>
          <a:p>
            <a:r>
              <a:t>KAYNAK: Kitap s. 142.</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Dünyanın veya bir ülkenin nüfus miktarı ve nüfusun yapısal özelliklerine göre yapılan tahminlere nüfus projeksiyonu adı verilir.</a:t>
            </a:r>
          </a:p>
          <a:p/>
          <a:p>
            <a:r>
              <a:t>BEKLENEN CEVAP: B) Nüfus projeksiyonu</a:t>
            </a:r>
          </a:p>
          <a:p/>
          <a:p>
            <a:r>
              <a:t>KAYNAK: Kitap s. 142.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üç çıkış sorusu (ders planı).</a:t>
            </a:r>
          </a:p>
          <a:p/>
          <a:p>
            <a:r>
              <a:t>SÜRE: Toparlama 6 dk: çıkış kartı 3 dk · gelecek derse hazırlık 2 dk · ev 1 dk.</a:t>
            </a:r>
          </a:p>
          <a:p/>
          <a:p>
            <a:r>
              <a:t>NASIL: Yazıcılar toplar; kartlar P2 katılım gözlemine işlenir. 1. soruda süreleri tablodan hesaplayabilirler.</a:t>
            </a:r>
          </a:p>
          <a:p/>
          <a:p>
            <a:r>
              <a:t>BEKLENEN CEVAP: 1) 1804→1927 = 123 yıl; 2010→2022 = 12 yıl; son iki yüzyılda, özellikle 1950 sonrasında nüfus artışının çok hızlandığını. · 2) doğum oranı aynı kalmış, nüfus hızla artmıştır (Sanayi Devrimi; tıp, beslenme, sağlık). · 3) gelişmiş ülkelerin sağlık ve teknoloji olanaklarıyla ölüm oranlarını hızla düşürdüler, doğum oranları yüksek kaldı.</a:t>
            </a:r>
          </a:p>
          <a:p/>
          <a:p>
            <a:r>
              <a:t>KAYNAK: Ders planı 20. hafta ölçme bölümü; kitap s. 142-143.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21. haftanın 'Türk Devletlerinin Nüfus Özellikleri' etkinliğine hazırlık: grupların devletleri ve derlenecek veriler.</a:t>
            </a:r>
          </a:p>
          <a:p/>
          <a:p>
            <a:r>
              <a:t>NASIL: Dört maddeyi okutun. Grup-devlet eşleşmesi önerimizdir (1-7. gruplar kitabın listesindeki yedi devlet; 8. grup ortak 'Türk Devletleri Nüfus Haritası'nın zeminini ve karşılaştırma tablosunu hazırlar); dilerseniz değiştirin. Veriler evde bilgisayardan, okul kütüphanesinde ya da sizin belirleyeceğiniz laboratuvar saatinde derlenir; telefon gerekmez. Güvenilir kaynak: ülkenin resmî istatistik kurumu, BM ve Dünya Bankası gibi uluslararası kuruluşlar. Kaynak ve yıl mutlaka yazılır. Karekoddaki 'Etkinlik Materyalleri' öğretmen bilgisayarından açılır.</a:t>
            </a:r>
          </a:p>
          <a:p/>
          <a:p>
            <a:r>
              <a:t>KAYNAK: Kitap s. 145 GELECEK DERSE HAZIRLIK (maddeler birebir) ve Türk Devletleri listesi; Dünya Bankası ve UNFPA kitapta geçer (s. 163 karekod, s. 142); program: verilerin doğruluğunu farklı kaynaklardan teyit etme (COĞ.9.4.4 uygulamaları).</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Ev çalışmasını ve 21. hafta hazırlığını duyurmak.</a:t>
            </a:r>
          </a:p>
          <a:p/>
          <a:p>
            <a:r>
              <a:t>NASIL: Tahtaya da yazın. Veri derleme için telefon gerekmez: evde bilgisayar, okul kütüphanesi ya da ayarladığınız laboratuvar saati. Poster malzemesi okul malzemesinden (veliye mali yük yok).</a:t>
            </a:r>
          </a:p>
          <a:p/>
          <a:p>
            <a:r>
              <a:t>KAYNAK: Ders planı 20. hafta ev çalışması (COG9-CK-U4 Bölüm 1, 1-2. sorular); kitap s. 145 'Gelecek Derse Hazırlık'.</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Kaynak gösterimi — 5846 sayılı Kanun md. 34 eğitim amaçlı seçme ve toplama eserlerde eserin ve eser sahibinin adının belirtilmesini ister. Derste gösterilmesi gerekmez; dosyayı paylaşırken bu slaytı silmeyin.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tr-TR"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lang="tr-TR">
                <a:solidFill>
                  <a:schemeClr val="tx1">
                    <a:tint val="75000"/>
                  </a:schemeClr>
                </a:solidFill>
              </a:defRPr>
            </a:lvl1pPr>
            <a:lvl2pPr marL="457200" indent="0" algn="ctr">
              <a:buNone/>
              <a:defRPr lang="tr-TR">
                <a:solidFill>
                  <a:schemeClr val="tx1">
                    <a:tint val="75000"/>
                  </a:schemeClr>
                </a:solidFill>
              </a:defRPr>
            </a:lvl2pPr>
            <a:lvl3pPr marL="914400" indent="0" algn="ctr">
              <a:buNone/>
              <a:defRPr lang="tr-TR">
                <a:solidFill>
                  <a:schemeClr val="tx1">
                    <a:tint val="75000"/>
                  </a:schemeClr>
                </a:solidFill>
              </a:defRPr>
            </a:lvl3pPr>
            <a:lvl4pPr marL="1371600" indent="0" algn="ctr">
              <a:buNone/>
              <a:defRPr lang="tr-TR">
                <a:solidFill>
                  <a:schemeClr val="tx1">
                    <a:tint val="75000"/>
                  </a:schemeClr>
                </a:solidFill>
              </a:defRPr>
            </a:lvl4pPr>
            <a:lvl5pPr marL="1828800" indent="0" algn="ctr">
              <a:buNone/>
              <a:defRPr lang="tr-TR">
                <a:solidFill>
                  <a:schemeClr val="tx1">
                    <a:tint val="75000"/>
                  </a:schemeClr>
                </a:solidFill>
              </a:defRPr>
            </a:lvl5pPr>
            <a:lvl6pPr marL="2286000" indent="0" algn="ctr">
              <a:buNone/>
              <a:defRPr lang="tr-TR">
                <a:solidFill>
                  <a:schemeClr val="tx1">
                    <a:tint val="75000"/>
                  </a:schemeClr>
                </a:solidFill>
              </a:defRPr>
            </a:lvl6pPr>
            <a:lvl7pPr marL="2743200" indent="0" algn="ctr">
              <a:buNone/>
              <a:defRPr lang="tr-TR">
                <a:solidFill>
                  <a:schemeClr val="tx1">
                    <a:tint val="75000"/>
                  </a:schemeClr>
                </a:solidFill>
              </a:defRPr>
            </a:lvl7pPr>
            <a:lvl8pPr marL="3200400" indent="0" algn="ctr">
              <a:buNone/>
              <a:defRPr lang="tr-TR">
                <a:solidFill>
                  <a:schemeClr val="tx1">
                    <a:tint val="75000"/>
                  </a:schemeClr>
                </a:solidFill>
              </a:defRPr>
            </a:lvl8pPr>
            <a:lvl9pPr marL="3657600" indent="0" algn="ctr">
              <a:buNone/>
              <a:defRPr lang="tr-TR">
                <a:solidFill>
                  <a:schemeClr val="tx1">
                    <a:tint val="75000"/>
                  </a:schemeClr>
                </a:solidFill>
              </a:defRPr>
            </a:lvl9pPr>
          </a:lstStyle>
          <a:p>
            <a:r>
              <a:rPr lang="tr-TR" smtClean="0"/>
              <a:t>Click to edit Master subtitle style</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idx="1"/>
          </p:nvPr>
        </p:nvSpPr>
        <p:spPr/>
        <p:txBody>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lang="tr-TR" sz="4000" b="1" cap="all"/>
            </a:lvl1pPr>
          </a:lstStyle>
          <a:p>
            <a:r>
              <a:rPr lang="tr-TR"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lang="tr-TR" sz="2000">
                <a:solidFill>
                  <a:schemeClr val="tx1">
                    <a:tint val="75000"/>
                  </a:schemeClr>
                </a:solidFill>
              </a:defRPr>
            </a:lvl1pPr>
            <a:lvl2pPr marL="457200" indent="0">
              <a:buNone/>
              <a:defRPr lang="tr-TR" sz="1800">
                <a:solidFill>
                  <a:schemeClr val="tx1">
                    <a:tint val="75000"/>
                  </a:schemeClr>
                </a:solidFill>
              </a:defRPr>
            </a:lvl2pPr>
            <a:lvl3pPr marL="914400" indent="0">
              <a:buNone/>
              <a:defRPr lang="tr-TR" sz="1600">
                <a:solidFill>
                  <a:schemeClr val="tx1">
                    <a:tint val="75000"/>
                  </a:schemeClr>
                </a:solidFill>
              </a:defRPr>
            </a:lvl3pPr>
            <a:lvl4pPr marL="1371600" indent="0">
              <a:buNone/>
              <a:defRPr lang="tr-TR" sz="1400">
                <a:solidFill>
                  <a:schemeClr val="tx1">
                    <a:tint val="75000"/>
                  </a:schemeClr>
                </a:solidFill>
              </a:defRPr>
            </a:lvl4pPr>
            <a:lvl5pPr marL="1828800" indent="0">
              <a:buNone/>
              <a:defRPr lang="tr-TR" sz="1400">
                <a:solidFill>
                  <a:schemeClr val="tx1">
                    <a:tint val="75000"/>
                  </a:schemeClr>
                </a:solidFill>
              </a:defRPr>
            </a:lvl5pPr>
            <a:lvl6pPr marL="2286000" indent="0">
              <a:buNone/>
              <a:defRPr lang="tr-TR" sz="1400">
                <a:solidFill>
                  <a:schemeClr val="tx1">
                    <a:tint val="75000"/>
                  </a:schemeClr>
                </a:solidFill>
              </a:defRPr>
            </a:lvl6pPr>
            <a:lvl7pPr marL="2743200" indent="0">
              <a:buNone/>
              <a:defRPr lang="tr-TR" sz="1400">
                <a:solidFill>
                  <a:schemeClr val="tx1">
                    <a:tint val="75000"/>
                  </a:schemeClr>
                </a:solidFill>
              </a:defRPr>
            </a:lvl7pPr>
            <a:lvl8pPr marL="3200400" indent="0">
              <a:buNone/>
              <a:defRPr lang="tr-TR" sz="1400">
                <a:solidFill>
                  <a:schemeClr val="tx1">
                    <a:tint val="75000"/>
                  </a:schemeClr>
                </a:solidFill>
              </a:defRPr>
            </a:lvl8pPr>
            <a:lvl9pPr marL="3657600" indent="0">
              <a:buNone/>
              <a:defRPr lang="tr-TR" sz="1400">
                <a:solidFill>
                  <a:schemeClr val="tx1">
                    <a:tint val="75000"/>
                  </a:schemeClr>
                </a:solidFill>
              </a:defRPr>
            </a:lvl9pPr>
          </a:lstStyle>
          <a:p>
            <a:pPr lvl="0"/>
            <a:r>
              <a:rPr lang="tr-TR"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tr-TR"/>
            </a:lvl1pPr>
          </a:lstStyle>
          <a:p>
            <a:r>
              <a:rPr lang="tr-TR"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7" name="Date Placeholder 6"/>
          <p:cNvSpPr>
            <a:spLocks noGrp="1"/>
          </p:cNvSpPr>
          <p:nvPr>
            <p:ph type="dt" sz="half" idx="10"/>
          </p:nvPr>
        </p:nvSpPr>
        <p:spPr/>
        <p:txBody>
          <a:bodyPr/>
          <a:lstStyle/>
          <a:p>
            <a:fld id="{5BCAD085-E8A6-8845-BD4E-CB4CCA059FC4}" type="datetimeFigureOut">
              <a:rPr lang="tr-TR" smtClean="0"/>
              <a:t>1/27/13</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Date Placeholder 2"/>
          <p:cNvSpPr>
            <a:spLocks noGrp="1"/>
          </p:cNvSpPr>
          <p:nvPr>
            <p:ph type="dt" sz="half" idx="10"/>
          </p:nvPr>
        </p:nvSpPr>
        <p:spPr/>
        <p:txBody>
          <a:bodyPr/>
          <a:lstStyle/>
          <a:p>
            <a:fld id="{5BCAD085-E8A6-8845-BD4E-CB4CCA059FC4}" type="datetimeFigureOut">
              <a:rPr lang="tr-TR" smtClean="0"/>
              <a:t>1/27/13</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lang="tr-TR" sz="2000" b="1"/>
            </a:lvl1pPr>
          </a:lstStyle>
          <a:p>
            <a:r>
              <a:rPr lang="tr-TR"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lang="tr-TR" sz="3200"/>
            </a:lvl1pPr>
            <a:lvl2pPr>
              <a:defRPr lang="tr-TR" sz="2800"/>
            </a:lvl2pPr>
            <a:lvl3pPr>
              <a:defRPr lang="tr-TR" sz="2400"/>
            </a:lvl3pPr>
            <a:lvl4pPr>
              <a:defRPr lang="tr-TR" sz="2000"/>
            </a:lvl4pPr>
            <a:lvl5pPr>
              <a:defRPr lang="tr-TR" sz="2000"/>
            </a:lvl5pPr>
            <a:lvl6pPr>
              <a:defRPr lang="tr-TR" sz="2000"/>
            </a:lvl6pPr>
            <a:lvl7pPr>
              <a:defRPr lang="tr-TR" sz="2000"/>
            </a:lvl7pPr>
            <a:lvl8pPr>
              <a:defRPr lang="tr-TR" sz="2000"/>
            </a:lvl8pPr>
            <a:lvl9pPr>
              <a:defRPr lang="tr-TR" sz="20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lang="tr-TR" sz="2000" b="1"/>
            </a:lvl1pPr>
          </a:lstStyle>
          <a:p>
            <a:r>
              <a:rPr lang="tr-TR"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lang="tr-TR" sz="3200"/>
            </a:lvl1pPr>
            <a:lvl2pPr marL="457200" indent="0">
              <a:buNone/>
              <a:defRPr lang="tr-TR" sz="2800"/>
            </a:lvl2pPr>
            <a:lvl3pPr marL="914400" indent="0">
              <a:buNone/>
              <a:defRPr lang="tr-TR" sz="2400"/>
            </a:lvl3pPr>
            <a:lvl4pPr marL="1371600" indent="0">
              <a:buNone/>
              <a:defRPr lang="tr-TR" sz="2000"/>
            </a:lvl4pPr>
            <a:lvl5pPr marL="1828800" indent="0">
              <a:buNone/>
              <a:defRPr lang="tr-TR" sz="2000"/>
            </a:lvl5pPr>
            <a:lvl6pPr marL="2286000" indent="0">
              <a:buNone/>
              <a:defRPr lang="tr-TR" sz="2000"/>
            </a:lvl6pPr>
            <a:lvl7pPr marL="2743200" indent="0">
              <a:buNone/>
              <a:defRPr lang="tr-TR" sz="2000"/>
            </a:lvl7pPr>
            <a:lvl8pPr marL="3200400" indent="0">
              <a:buNone/>
              <a:defRPr lang="tr-TR" sz="2000"/>
            </a:lvl8pPr>
            <a:lvl9pPr marL="3657600" indent="0">
              <a:buNone/>
              <a:defRPr lang="tr-T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tr-TR"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tr-TR" sz="1200">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tr-T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tr-TR" sz="1200">
                <a:solidFill>
                  <a:schemeClr val="tx1">
                    <a:tint val="75000"/>
                  </a:schemeClr>
                </a:solidFill>
              </a:defRPr>
            </a:lvl1pPr>
          </a:lstStyle>
          <a:p>
            <a:fld id="{C1FF6DA9-008F-8B48-92A6-B652298478BF}" type="slidenum">
              <a:rPr lang="tr-TR" smtClean="0"/>
              <a:t>‹#›</a:t>
            </a:fld>
            <a:endParaRPr lang="tr-T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lang="tr-T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tr-T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tr-T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tr-T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9pPr>
    </p:bodyStyle>
    <p:other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4.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apak_s138-139.jpg"/>
          <p:cNvPicPr>
            <a:picLocks noChangeAspect="1"/>
          </p:cNvPicPr>
          <p:nvPr/>
        </p:nvPicPr>
        <p:blipFill>
          <a:blip r:embed="rId2"/>
          <a:srcRect l="1" r="1"/>
          <a:stretch>
            <a:fillRect/>
          </a:stretch>
        </p:blipFill>
        <p:spPr>
          <a:xfrm>
            <a:off x="0" y="0"/>
            <a:ext cx="12191695" cy="6858000"/>
          </a:xfrm>
          <a:prstGeom prst="rect">
            <a:avLst/>
          </a:prstGeom>
        </p:spPr>
      </p:pic>
      <p:sp>
        <p:nvSpPr>
          <p:cNvPr id="3" name="Rectangle 2"/>
          <p:cNvSpPr/>
          <p:nvPr/>
        </p:nvSpPr>
        <p:spPr>
          <a:xfrm>
            <a:off x="0" y="3886200"/>
            <a:ext cx="12191695" cy="2971800"/>
          </a:xfrm>
          <a:prstGeom prst="rect">
            <a:avLst/>
          </a:prstGeom>
          <a:solidFill>
            <a:srgbClr val="4F4F4F">
              <a:alpha val="86000"/>
            </a:srgbClr>
          </a:solidFill>
          <a:ln>
            <a:noFill/>
          </a:ln>
          <a:effectLst/>
        </p:spPr>
        <p:txBody>
          <a:bodyPr rtlCol="0" anchor="ctr"/>
          <a:lstStyle/>
          <a:p/>
        </p:txBody>
      </p:sp>
      <p:sp>
        <p:nvSpPr>
          <p:cNvPr id="4" name="Rectangle 3"/>
          <p:cNvSpPr/>
          <p:nvPr/>
        </p:nvSpPr>
        <p:spPr>
          <a:xfrm>
            <a:off x="0" y="3886200"/>
            <a:ext cx="12191695" cy="73152"/>
          </a:xfrm>
          <a:prstGeom prst="rect">
            <a:avLst/>
          </a:prstGeom>
          <a:solidFill>
            <a:srgbClr val="FCC021"/>
          </a:solidFill>
          <a:ln>
            <a:noFill/>
          </a:ln>
          <a:effectLst/>
        </p:spPr>
        <p:txBody>
          <a:bodyPr rtlCol="0" anchor="ctr"/>
          <a:lstStyle/>
          <a:p/>
        </p:txBody>
      </p:sp>
      <p:sp>
        <p:nvSpPr>
          <p:cNvPr id="5" name="TextBox 4"/>
          <p:cNvSpPr txBox="1"/>
          <p:nvPr/>
        </p:nvSpPr>
        <p:spPr>
          <a:xfrm>
            <a:off x="685800" y="4069080"/>
            <a:ext cx="10789920" cy="457200"/>
          </a:xfrm>
          <a:prstGeom prst="rect">
            <a:avLst/>
          </a:prstGeom>
          <a:noFill/>
        </p:spPr>
        <p:txBody>
          <a:bodyPr wrap="square" anchor="t" lIns="73152" rIns="73152" tIns="36576" bIns="36576">
            <a:noAutofit/>
          </a:bodyPr>
          <a:lstStyle/>
          <a:p>
            <a:pPr algn="l">
              <a:spcBef>
                <a:spcPts val="0"/>
              </a:spcBef>
              <a:spcAft>
                <a:spcPts val="0"/>
              </a:spcAft>
            </a:pPr>
            <a:r>
              <a:rPr lang="tr-TR" sz="2000" b="1" i="0">
                <a:solidFill>
                  <a:srgbClr val="FCC021"/>
                </a:solidFill>
                <a:latin typeface="Calibri"/>
              </a:rPr>
              <a:t>9. SINIF COĞRAFYA · 4. ÜNİTE</a:t>
            </a:r>
          </a:p>
        </p:txBody>
      </p:sp>
      <p:sp>
        <p:nvSpPr>
          <p:cNvPr id="6" name="TextBox 5"/>
          <p:cNvSpPr txBox="1"/>
          <p:nvPr/>
        </p:nvSpPr>
        <p:spPr>
          <a:xfrm>
            <a:off x="685800" y="4498848"/>
            <a:ext cx="10789920" cy="1051560"/>
          </a:xfrm>
          <a:prstGeom prst="rect">
            <a:avLst/>
          </a:prstGeom>
          <a:noFill/>
        </p:spPr>
        <p:txBody>
          <a:bodyPr wrap="square" anchor="ctr" lIns="73152" rIns="73152" tIns="36576" bIns="36576">
            <a:noAutofit/>
          </a:bodyPr>
          <a:lstStyle/>
          <a:p>
            <a:pPr algn="l">
              <a:spcBef>
                <a:spcPts val="0"/>
              </a:spcBef>
              <a:spcAft>
                <a:spcPts val="0"/>
              </a:spcAft>
            </a:pPr>
            <a:r>
              <a:rPr lang="tr-TR" sz="6000" b="1" i="0">
                <a:solidFill>
                  <a:srgbClr val="FFFFFF"/>
                </a:solidFill>
                <a:latin typeface="Calibri"/>
              </a:rPr>
              <a:t>BEŞERÎ SİSTEMLER VE SÜREÇLER</a:t>
            </a:r>
          </a:p>
        </p:txBody>
      </p:sp>
      <p:sp>
        <p:nvSpPr>
          <p:cNvPr id="7" name="TextBox 6"/>
          <p:cNvSpPr txBox="1"/>
          <p:nvPr/>
        </p:nvSpPr>
        <p:spPr>
          <a:xfrm>
            <a:off x="685800" y="5577840"/>
            <a:ext cx="8778240" cy="1051560"/>
          </a:xfrm>
          <a:prstGeom prst="rect">
            <a:avLst/>
          </a:prstGeom>
          <a:noFill/>
        </p:spPr>
        <p:txBody>
          <a:bodyPr wrap="square" anchor="t" lIns="73152" rIns="73152" tIns="36576" bIns="36576">
            <a:noAutofit/>
          </a:bodyPr>
          <a:lstStyle/>
          <a:p>
            <a:pPr algn="l">
              <a:spcBef>
                <a:spcPts val="0"/>
              </a:spcBef>
              <a:spcAft>
                <a:spcPts val="200"/>
              </a:spcAft>
            </a:pPr>
            <a:r>
              <a:rPr lang="tr-TR" sz="1800" b="0" i="0">
                <a:solidFill>
                  <a:srgbClr val="FFFFFF"/>
                </a:solidFill>
                <a:latin typeface="Calibri"/>
              </a:rPr>
              <a:t>4.1. Nüfus Dinamikleri · 20-27. haftalar</a:t>
            </a:r>
          </a:p>
          <a:p>
            <a:pPr algn="l">
              <a:spcBef>
                <a:spcPts val="0"/>
              </a:spcBef>
              <a:spcAft>
                <a:spcPts val="0"/>
              </a:spcAft>
            </a:pPr>
            <a:r>
              <a:rPr lang="tr-TR" sz="1800" b="0" i="0">
                <a:solidFill>
                  <a:srgbClr val="FFFFFF"/>
                </a:solidFill>
                <a:latin typeface="Calibri"/>
              </a:rPr>
              <a:t>2026-2027 Eğitim ve Öğretim Yılı</a:t>
            </a:r>
          </a:p>
        </p:txBody>
      </p:sp>
      <p:sp>
        <p:nvSpPr>
          <p:cNvPr id="8" name="TextBox 7"/>
          <p:cNvSpPr txBox="1"/>
          <p:nvPr/>
        </p:nvSpPr>
        <p:spPr>
          <a:xfrm>
            <a:off x="8229600" y="6446520"/>
            <a:ext cx="3794760" cy="320040"/>
          </a:xfrm>
          <a:prstGeom prst="rect">
            <a:avLst/>
          </a:prstGeom>
          <a:noFill/>
        </p:spPr>
        <p:txBody>
          <a:bodyPr wrap="square" anchor="t" lIns="73152" rIns="73152" tIns="36576" bIns="36576">
            <a:noAutofit/>
          </a:bodyPr>
          <a:lstStyle/>
          <a:p>
            <a:pPr algn="r">
              <a:spcBef>
                <a:spcPts val="0"/>
              </a:spcBef>
              <a:spcAft>
                <a:spcPts val="0"/>
              </a:spcAft>
            </a:pPr>
            <a:r>
              <a:rPr lang="tr-TR" sz="1000" b="0" i="0">
                <a:solidFill>
                  <a:srgbClr val="F0F0F0"/>
                </a:solidFill>
                <a:latin typeface="Calibri"/>
              </a:rPr>
              <a:t>Görsel: 9. Sınıf Coğrafya Ders Kitabı, s. 138-139 (ünite açılışı)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 ünitede neler öğreneceğiz?</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4. ÜNİTE</a:t>
            </a:r>
          </a:p>
        </p:txBody>
      </p:sp>
      <p:sp>
        <p:nvSpPr>
          <p:cNvPr id="6" name="Rounded Rectangle 5"/>
          <p:cNvSpPr/>
          <p:nvPr/>
        </p:nvSpPr>
        <p:spPr>
          <a:xfrm>
            <a:off x="502920" y="1261872"/>
            <a:ext cx="2659303" cy="4983480"/>
          </a:xfrm>
          <a:prstGeom prst="roundRect">
            <a:avLst>
              <a:gd name="adj" fmla="val 4000"/>
            </a:avLst>
          </a:prstGeom>
          <a:solidFill>
            <a:srgbClr val="F0F0F0"/>
          </a:solidFill>
          <a:ln>
            <a:noFill/>
          </a:ln>
          <a:effectLst/>
        </p:spPr>
        <p:txBody>
          <a:bodyPr rtlCol="0" anchor="ctr"/>
          <a:lstStyle/>
          <a:p/>
        </p:txBody>
      </p:sp>
      <p:sp>
        <p:nvSpPr>
          <p:cNvPr id="7" name="Rounded Rectangle 6"/>
          <p:cNvSpPr/>
          <p:nvPr/>
        </p:nvSpPr>
        <p:spPr>
          <a:xfrm>
            <a:off x="502920" y="1261872"/>
            <a:ext cx="2659303" cy="566928"/>
          </a:xfrm>
          <a:prstGeom prst="roundRect">
            <a:avLst>
              <a:gd name="adj" fmla="val 15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1500" b="1" i="0">
                <a:solidFill>
                  <a:srgbClr val="FFFFFF"/>
                </a:solidFill>
                <a:latin typeface="Calibri"/>
              </a:rPr>
              <a:t>20-21. hafta · s. 140-145</a:t>
            </a:r>
          </a:p>
        </p:txBody>
      </p:sp>
      <p:sp>
        <p:nvSpPr>
          <p:cNvPr id="8" name="TextBox 7"/>
          <p:cNvSpPr txBox="1"/>
          <p:nvPr/>
        </p:nvSpPr>
        <p:spPr>
          <a:xfrm>
            <a:off x="612648" y="1920240"/>
            <a:ext cx="2439847" cy="1005840"/>
          </a:xfrm>
          <a:prstGeom prst="rect">
            <a:avLst/>
          </a:prstGeom>
          <a:noFill/>
        </p:spPr>
        <p:txBody>
          <a:bodyPr wrap="square" anchor="t" lIns="73152" rIns="73152" tIns="36576" bIns="36576">
            <a:noAutofit/>
          </a:bodyPr>
          <a:lstStyle/>
          <a:p>
            <a:pPr algn="l">
              <a:spcBef>
                <a:spcPts val="0"/>
              </a:spcBef>
              <a:spcAft>
                <a:spcPts val="0"/>
              </a:spcAft>
            </a:pPr>
            <a:r>
              <a:rPr lang="tr-TR" sz="2000" b="1" i="0">
                <a:solidFill>
                  <a:srgbClr val="2C6696"/>
                </a:solidFill>
                <a:latin typeface="Calibri"/>
              </a:rPr>
              <a:t>4.1.1. Nüfusun Tarihsel Değişimi ve Geleceği</a:t>
            </a:r>
          </a:p>
        </p:txBody>
      </p:sp>
      <p:sp>
        <p:nvSpPr>
          <p:cNvPr id="9" name="TextBox 8"/>
          <p:cNvSpPr txBox="1"/>
          <p:nvPr/>
        </p:nvSpPr>
        <p:spPr>
          <a:xfrm>
            <a:off x="612648" y="2953512"/>
            <a:ext cx="2439847" cy="347472"/>
          </a:xfrm>
          <a:prstGeom prst="rect">
            <a:avLst/>
          </a:prstGeom>
          <a:noFill/>
        </p:spPr>
        <p:txBody>
          <a:bodyPr wrap="square" anchor="t" lIns="73152" rIns="73152" tIns="36576" bIns="36576">
            <a:noAutofit/>
          </a:bodyPr>
          <a:lstStyle/>
          <a:p>
            <a:pPr algn="l">
              <a:spcBef>
                <a:spcPts val="0"/>
              </a:spcBef>
              <a:spcAft>
                <a:spcPts val="0"/>
              </a:spcAft>
            </a:pPr>
            <a:r>
              <a:rPr lang="tr-TR" sz="1500" b="1" i="0">
                <a:solidFill>
                  <a:srgbClr val="D3373A"/>
                </a:solidFill>
                <a:latin typeface="Calibri"/>
              </a:rPr>
              <a:t>COĞ.9.4.1</a:t>
            </a:r>
          </a:p>
        </p:txBody>
      </p:sp>
      <p:sp>
        <p:nvSpPr>
          <p:cNvPr id="10" name="TextBox 9"/>
          <p:cNvSpPr txBox="1"/>
          <p:nvPr/>
        </p:nvSpPr>
        <p:spPr>
          <a:xfrm>
            <a:off x="612648" y="3273552"/>
            <a:ext cx="2439847" cy="1600200"/>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262626"/>
                </a:solidFill>
                <a:latin typeface="Calibri"/>
              </a:rPr>
              <a:t>Nüfusun zaman içerisindeki değişimini tablo ve grafikler aracılığı ile yorumlayabilme</a:t>
            </a:r>
          </a:p>
        </p:txBody>
      </p:sp>
      <p:cxnSp>
        <p:nvCxnSpPr>
          <p:cNvPr id="11" name="Connector 10"/>
          <p:cNvCxnSpPr/>
          <p:nvPr/>
        </p:nvCxnSpPr>
        <p:spPr>
          <a:xfrm>
            <a:off x="667512" y="4937759"/>
            <a:ext cx="2330119" cy="0"/>
          </a:xfrm>
          <a:prstGeom prst="line">
            <a:avLst/>
          </a:prstGeom>
          <a:ln w="12700">
            <a:solidFill>
              <a:srgbClr val="D9D9D9"/>
            </a:solidFill>
          </a:ln>
        </p:spPr>
      </p:cxnSp>
      <p:sp>
        <p:nvSpPr>
          <p:cNvPr id="12" name="TextBox 11"/>
          <p:cNvSpPr txBox="1"/>
          <p:nvPr/>
        </p:nvSpPr>
        <p:spPr>
          <a:xfrm>
            <a:off x="612648" y="5010911"/>
            <a:ext cx="2439847" cy="1161289"/>
          </a:xfrm>
          <a:prstGeom prst="rect">
            <a:avLst/>
          </a:prstGeom>
          <a:noFill/>
        </p:spPr>
        <p:txBody>
          <a:bodyPr wrap="square" anchor="t" lIns="73152" rIns="73152" tIns="36576" bIns="36576">
            <a:noAutofit/>
          </a:bodyPr>
          <a:lstStyle/>
          <a:p>
            <a:pPr algn="l">
              <a:spcBef>
                <a:spcPts val="0"/>
              </a:spcBef>
              <a:spcAft>
                <a:spcPts val="0"/>
              </a:spcAft>
            </a:pPr>
            <a:r>
              <a:rPr lang="tr-TR" sz="1400" b="0" i="1">
                <a:solidFill>
                  <a:srgbClr val="767676"/>
                </a:solidFill>
                <a:latin typeface="Calibri"/>
              </a:rPr>
              <a:t>Kitap: …nüfusun tarihsel değişimi, demografik dönüşüm süreci ve nüfus piramitlerinin tablo ve grafikler üzerinden yorumlanabilmesi…</a:t>
            </a:r>
          </a:p>
        </p:txBody>
      </p:sp>
      <p:sp>
        <p:nvSpPr>
          <p:cNvPr id="13" name="Rounded Rectangle 12"/>
          <p:cNvSpPr/>
          <p:nvPr/>
        </p:nvSpPr>
        <p:spPr>
          <a:xfrm>
            <a:off x="3345103" y="1261872"/>
            <a:ext cx="2659303" cy="4983480"/>
          </a:xfrm>
          <a:prstGeom prst="roundRect">
            <a:avLst>
              <a:gd name="adj" fmla="val 4000"/>
            </a:avLst>
          </a:prstGeom>
          <a:solidFill>
            <a:srgbClr val="F0F0F0"/>
          </a:solidFill>
          <a:ln>
            <a:noFill/>
          </a:ln>
          <a:effectLst/>
        </p:spPr>
        <p:txBody>
          <a:bodyPr rtlCol="0" anchor="ctr"/>
          <a:lstStyle/>
          <a:p/>
        </p:txBody>
      </p:sp>
      <p:sp>
        <p:nvSpPr>
          <p:cNvPr id="14" name="Rounded Rectangle 13"/>
          <p:cNvSpPr/>
          <p:nvPr/>
        </p:nvSpPr>
        <p:spPr>
          <a:xfrm>
            <a:off x="3345103" y="1261872"/>
            <a:ext cx="2659303" cy="566928"/>
          </a:xfrm>
          <a:prstGeom prst="roundRect">
            <a:avLst>
              <a:gd name="adj" fmla="val 15000"/>
            </a:avLst>
          </a:prstGeom>
          <a:solidFill>
            <a:srgbClr val="1E7B6E"/>
          </a:solidFill>
          <a:ln>
            <a:noFill/>
          </a:ln>
          <a:effectLst/>
        </p:spPr>
        <p:txBody>
          <a:bodyPr rtlCol="0" anchor="ctr" wrap="square" lIns="128016" rIns="128016" tIns="73152" bIns="73152">
            <a:noAutofit/>
          </a:bodyPr>
          <a:lstStyle/>
          <a:p>
            <a:pPr algn="ctr">
              <a:spcBef>
                <a:spcPts val="0"/>
              </a:spcBef>
              <a:spcAft>
                <a:spcPts val="0"/>
              </a:spcAft>
            </a:pPr>
            <a:r>
              <a:rPr lang="tr-TR" sz="1500" b="1" i="0">
                <a:solidFill>
                  <a:srgbClr val="FFFFFF"/>
                </a:solidFill>
                <a:latin typeface="Calibri"/>
              </a:rPr>
              <a:t>22-23. hafta · s. 146-153</a:t>
            </a:r>
          </a:p>
        </p:txBody>
      </p:sp>
      <p:sp>
        <p:nvSpPr>
          <p:cNvPr id="15" name="TextBox 14"/>
          <p:cNvSpPr txBox="1"/>
          <p:nvPr/>
        </p:nvSpPr>
        <p:spPr>
          <a:xfrm>
            <a:off x="3454831" y="1920240"/>
            <a:ext cx="2439847" cy="1005840"/>
          </a:xfrm>
          <a:prstGeom prst="rect">
            <a:avLst/>
          </a:prstGeom>
          <a:noFill/>
        </p:spPr>
        <p:txBody>
          <a:bodyPr wrap="square" anchor="t" lIns="73152" rIns="73152" tIns="36576" bIns="36576">
            <a:noAutofit/>
          </a:bodyPr>
          <a:lstStyle/>
          <a:p>
            <a:pPr algn="l">
              <a:spcBef>
                <a:spcPts val="0"/>
              </a:spcBef>
              <a:spcAft>
                <a:spcPts val="0"/>
              </a:spcAft>
            </a:pPr>
            <a:r>
              <a:rPr lang="tr-TR" sz="2000" b="1" i="0">
                <a:solidFill>
                  <a:srgbClr val="1E7B6E"/>
                </a:solidFill>
                <a:latin typeface="Calibri"/>
              </a:rPr>
              <a:t>4.1.2. Nüfusun Dağılışı ve Hareketleri</a:t>
            </a:r>
          </a:p>
        </p:txBody>
      </p:sp>
      <p:sp>
        <p:nvSpPr>
          <p:cNvPr id="16" name="TextBox 15"/>
          <p:cNvSpPr txBox="1"/>
          <p:nvPr/>
        </p:nvSpPr>
        <p:spPr>
          <a:xfrm>
            <a:off x="3454831" y="2953512"/>
            <a:ext cx="2439847" cy="347472"/>
          </a:xfrm>
          <a:prstGeom prst="rect">
            <a:avLst/>
          </a:prstGeom>
          <a:noFill/>
        </p:spPr>
        <p:txBody>
          <a:bodyPr wrap="square" anchor="t" lIns="73152" rIns="73152" tIns="36576" bIns="36576">
            <a:noAutofit/>
          </a:bodyPr>
          <a:lstStyle/>
          <a:p>
            <a:pPr algn="l">
              <a:spcBef>
                <a:spcPts val="0"/>
              </a:spcBef>
              <a:spcAft>
                <a:spcPts val="0"/>
              </a:spcAft>
            </a:pPr>
            <a:r>
              <a:rPr lang="tr-TR" sz="1500" b="1" i="0">
                <a:solidFill>
                  <a:srgbClr val="D3373A"/>
                </a:solidFill>
                <a:latin typeface="Calibri"/>
              </a:rPr>
              <a:t>COĞ.9.4.2</a:t>
            </a:r>
          </a:p>
        </p:txBody>
      </p:sp>
      <p:sp>
        <p:nvSpPr>
          <p:cNvPr id="17" name="TextBox 16"/>
          <p:cNvSpPr txBox="1"/>
          <p:nvPr/>
        </p:nvSpPr>
        <p:spPr>
          <a:xfrm>
            <a:off x="3454831" y="3273552"/>
            <a:ext cx="2439847" cy="1600200"/>
          </a:xfrm>
          <a:prstGeom prst="rect">
            <a:avLst/>
          </a:prstGeom>
          <a:noFill/>
        </p:spPr>
        <p:txBody>
          <a:bodyPr wrap="square" anchor="t" lIns="73152" rIns="73152" tIns="36576" bIns="36576">
            <a:noAutofit/>
          </a:bodyPr>
          <a:lstStyle/>
          <a:p>
            <a:pPr algn="l">
              <a:spcBef>
                <a:spcPts val="0"/>
              </a:spcBef>
              <a:spcAft>
                <a:spcPts val="0"/>
              </a:spcAft>
            </a:pPr>
            <a:r>
              <a:rPr lang="tr-TR" sz="1600" b="0" i="0">
                <a:solidFill>
                  <a:srgbClr val="262626"/>
                </a:solidFill>
                <a:latin typeface="Calibri"/>
              </a:rPr>
              <a:t>Dünya ve Türkiye'deki nüfusun dağılışı ve hareketlerini etkileyen faktörler hakkında haritalar üzerinden çıkarımda bulunabilme</a:t>
            </a:r>
          </a:p>
        </p:txBody>
      </p:sp>
      <p:cxnSp>
        <p:nvCxnSpPr>
          <p:cNvPr id="18" name="Connector 17"/>
          <p:cNvCxnSpPr/>
          <p:nvPr/>
        </p:nvCxnSpPr>
        <p:spPr>
          <a:xfrm>
            <a:off x="3509695" y="4937759"/>
            <a:ext cx="2330119" cy="0"/>
          </a:xfrm>
          <a:prstGeom prst="line">
            <a:avLst/>
          </a:prstGeom>
          <a:ln w="12700">
            <a:solidFill>
              <a:srgbClr val="D9D9D9"/>
            </a:solidFill>
          </a:ln>
        </p:spPr>
      </p:cxnSp>
      <p:sp>
        <p:nvSpPr>
          <p:cNvPr id="19" name="TextBox 18"/>
          <p:cNvSpPr txBox="1"/>
          <p:nvPr/>
        </p:nvSpPr>
        <p:spPr>
          <a:xfrm>
            <a:off x="3454831" y="5010911"/>
            <a:ext cx="2439847" cy="1161289"/>
          </a:xfrm>
          <a:prstGeom prst="rect">
            <a:avLst/>
          </a:prstGeom>
          <a:noFill/>
        </p:spPr>
        <p:txBody>
          <a:bodyPr wrap="square" anchor="t" lIns="73152" rIns="73152" tIns="36576" bIns="36576">
            <a:noAutofit/>
          </a:bodyPr>
          <a:lstStyle/>
          <a:p>
            <a:pPr algn="l">
              <a:spcBef>
                <a:spcPts val="0"/>
              </a:spcBef>
              <a:spcAft>
                <a:spcPts val="0"/>
              </a:spcAft>
            </a:pPr>
            <a:r>
              <a:rPr lang="tr-TR" sz="1400" b="0" i="1">
                <a:solidFill>
                  <a:srgbClr val="767676"/>
                </a:solidFill>
                <a:latin typeface="Calibri"/>
              </a:rPr>
              <a:t>Kitap: …haritalardan yararlanılarak nüfusun dağılışı ve bu dağılışı etkileyen faktörlerle ilgili çıkarım yapılabilmesi…</a:t>
            </a:r>
          </a:p>
        </p:txBody>
      </p:sp>
      <p:sp>
        <p:nvSpPr>
          <p:cNvPr id="20" name="Rounded Rectangle 19"/>
          <p:cNvSpPr/>
          <p:nvPr/>
        </p:nvSpPr>
        <p:spPr>
          <a:xfrm>
            <a:off x="6187286" y="1261872"/>
            <a:ext cx="2659303" cy="4983480"/>
          </a:xfrm>
          <a:prstGeom prst="roundRect">
            <a:avLst>
              <a:gd name="adj" fmla="val 4000"/>
            </a:avLst>
          </a:prstGeom>
          <a:solidFill>
            <a:srgbClr val="F0F0F0"/>
          </a:solidFill>
          <a:ln>
            <a:noFill/>
          </a:ln>
          <a:effectLst/>
        </p:spPr>
        <p:txBody>
          <a:bodyPr rtlCol="0" anchor="ctr"/>
          <a:lstStyle/>
          <a:p/>
        </p:txBody>
      </p:sp>
      <p:sp>
        <p:nvSpPr>
          <p:cNvPr id="21" name="Rounded Rectangle 20"/>
          <p:cNvSpPr/>
          <p:nvPr/>
        </p:nvSpPr>
        <p:spPr>
          <a:xfrm>
            <a:off x="6187286" y="1261872"/>
            <a:ext cx="2659303" cy="566928"/>
          </a:xfrm>
          <a:prstGeom prst="roundRect">
            <a:avLst>
              <a:gd name="adj" fmla="val 15000"/>
            </a:avLst>
          </a:prstGeom>
          <a:solidFill>
            <a:srgbClr val="B85C12"/>
          </a:solidFill>
          <a:ln>
            <a:noFill/>
          </a:ln>
          <a:effectLst/>
        </p:spPr>
        <p:txBody>
          <a:bodyPr rtlCol="0" anchor="ctr" wrap="square" lIns="128016" rIns="128016" tIns="73152" bIns="73152">
            <a:noAutofit/>
          </a:bodyPr>
          <a:lstStyle/>
          <a:p>
            <a:pPr algn="ctr">
              <a:spcBef>
                <a:spcPts val="0"/>
              </a:spcBef>
              <a:spcAft>
                <a:spcPts val="0"/>
              </a:spcAft>
            </a:pPr>
            <a:r>
              <a:rPr lang="tr-TR" sz="1500" b="1" i="0">
                <a:solidFill>
                  <a:srgbClr val="FFFFFF"/>
                </a:solidFill>
                <a:latin typeface="Calibri"/>
              </a:rPr>
              <a:t>24-25. hafta · s. 154-157</a:t>
            </a:r>
          </a:p>
        </p:txBody>
      </p:sp>
      <p:sp>
        <p:nvSpPr>
          <p:cNvPr id="22" name="TextBox 21"/>
          <p:cNvSpPr txBox="1"/>
          <p:nvPr/>
        </p:nvSpPr>
        <p:spPr>
          <a:xfrm>
            <a:off x="6297014" y="1920240"/>
            <a:ext cx="2439847" cy="1005840"/>
          </a:xfrm>
          <a:prstGeom prst="rect">
            <a:avLst/>
          </a:prstGeom>
          <a:noFill/>
        </p:spPr>
        <p:txBody>
          <a:bodyPr wrap="square" anchor="t" lIns="73152" rIns="73152" tIns="36576" bIns="36576">
            <a:noAutofit/>
          </a:bodyPr>
          <a:lstStyle/>
          <a:p>
            <a:pPr algn="l">
              <a:spcBef>
                <a:spcPts val="0"/>
              </a:spcBef>
              <a:spcAft>
                <a:spcPts val="0"/>
              </a:spcAft>
            </a:pPr>
            <a:r>
              <a:rPr lang="tr-TR" sz="2000" b="1" i="0">
                <a:solidFill>
                  <a:srgbClr val="B85C12"/>
                </a:solidFill>
                <a:latin typeface="Calibri"/>
              </a:rPr>
              <a:t>4.1.3. Demografik Dönüşüm Süreci ve Nüfus Piramitleri</a:t>
            </a:r>
          </a:p>
        </p:txBody>
      </p:sp>
      <p:sp>
        <p:nvSpPr>
          <p:cNvPr id="23" name="TextBox 22"/>
          <p:cNvSpPr txBox="1"/>
          <p:nvPr/>
        </p:nvSpPr>
        <p:spPr>
          <a:xfrm>
            <a:off x="6297014" y="2953512"/>
            <a:ext cx="2439847" cy="347472"/>
          </a:xfrm>
          <a:prstGeom prst="rect">
            <a:avLst/>
          </a:prstGeom>
          <a:noFill/>
        </p:spPr>
        <p:txBody>
          <a:bodyPr wrap="square" anchor="t" lIns="73152" rIns="73152" tIns="36576" bIns="36576">
            <a:noAutofit/>
          </a:bodyPr>
          <a:lstStyle/>
          <a:p>
            <a:pPr algn="l">
              <a:spcBef>
                <a:spcPts val="0"/>
              </a:spcBef>
              <a:spcAft>
                <a:spcPts val="0"/>
              </a:spcAft>
            </a:pPr>
            <a:r>
              <a:rPr lang="tr-TR" sz="1500" b="1" i="0">
                <a:solidFill>
                  <a:srgbClr val="D3373A"/>
                </a:solidFill>
                <a:latin typeface="Calibri"/>
              </a:rPr>
              <a:t>COĞ.9.4.3</a:t>
            </a:r>
          </a:p>
        </p:txBody>
      </p:sp>
      <p:sp>
        <p:nvSpPr>
          <p:cNvPr id="24" name="TextBox 23"/>
          <p:cNvSpPr txBox="1"/>
          <p:nvPr/>
        </p:nvSpPr>
        <p:spPr>
          <a:xfrm>
            <a:off x="6297014" y="3273552"/>
            <a:ext cx="2439847" cy="1600200"/>
          </a:xfrm>
          <a:prstGeom prst="rect">
            <a:avLst/>
          </a:prstGeom>
          <a:noFill/>
        </p:spPr>
        <p:txBody>
          <a:bodyPr wrap="square" anchor="t" lIns="73152" rIns="73152" tIns="36576" bIns="36576">
            <a:noAutofit/>
          </a:bodyPr>
          <a:lstStyle/>
          <a:p>
            <a:pPr algn="l">
              <a:spcBef>
                <a:spcPts val="0"/>
              </a:spcBef>
              <a:spcAft>
                <a:spcPts val="0"/>
              </a:spcAft>
            </a:pPr>
            <a:r>
              <a:rPr lang="tr-TR" sz="1700" b="0" i="0">
                <a:solidFill>
                  <a:srgbClr val="262626"/>
                </a:solidFill>
                <a:latin typeface="Calibri"/>
              </a:rPr>
              <a:t>Türkiye ve farklı ülkelerin nüfus piramitlerinden yararlanarak demografik dönüşüm sürecini yorumlayabilme</a:t>
            </a:r>
          </a:p>
        </p:txBody>
      </p:sp>
      <p:cxnSp>
        <p:nvCxnSpPr>
          <p:cNvPr id="25" name="Connector 24"/>
          <p:cNvCxnSpPr/>
          <p:nvPr/>
        </p:nvCxnSpPr>
        <p:spPr>
          <a:xfrm>
            <a:off x="6351878" y="4937759"/>
            <a:ext cx="2330119" cy="0"/>
          </a:xfrm>
          <a:prstGeom prst="line">
            <a:avLst/>
          </a:prstGeom>
          <a:ln w="12700">
            <a:solidFill>
              <a:srgbClr val="D9D9D9"/>
            </a:solidFill>
          </a:ln>
        </p:spPr>
      </p:cxnSp>
      <p:sp>
        <p:nvSpPr>
          <p:cNvPr id="26" name="TextBox 25"/>
          <p:cNvSpPr txBox="1"/>
          <p:nvPr/>
        </p:nvSpPr>
        <p:spPr>
          <a:xfrm>
            <a:off x="6297014" y="5010911"/>
            <a:ext cx="2439847" cy="1161289"/>
          </a:xfrm>
          <a:prstGeom prst="rect">
            <a:avLst/>
          </a:prstGeom>
          <a:noFill/>
        </p:spPr>
        <p:txBody>
          <a:bodyPr wrap="square" anchor="t" lIns="73152" rIns="73152" tIns="36576" bIns="36576">
            <a:noAutofit/>
          </a:bodyPr>
          <a:lstStyle/>
          <a:p>
            <a:pPr algn="l">
              <a:spcBef>
                <a:spcPts val="0"/>
              </a:spcBef>
              <a:spcAft>
                <a:spcPts val="0"/>
              </a:spcAft>
            </a:pPr>
            <a:r>
              <a:rPr lang="tr-TR" sz="1400" b="0" i="1">
                <a:solidFill>
                  <a:srgbClr val="767676"/>
                </a:solidFill>
                <a:latin typeface="Calibri"/>
              </a:rPr>
              <a:t>Kitap: …nüfusun tarihsel değişimi, demografik dönüşüm süreci ve nüfus piramitlerinin tablo ve grafikler üzerinden yorumlanabilmesi…</a:t>
            </a:r>
          </a:p>
        </p:txBody>
      </p:sp>
      <p:sp>
        <p:nvSpPr>
          <p:cNvPr id="27" name="Rounded Rectangle 26"/>
          <p:cNvSpPr/>
          <p:nvPr/>
        </p:nvSpPr>
        <p:spPr>
          <a:xfrm>
            <a:off x="9029469" y="1261872"/>
            <a:ext cx="2659303" cy="4983480"/>
          </a:xfrm>
          <a:prstGeom prst="roundRect">
            <a:avLst>
              <a:gd name="adj" fmla="val 4000"/>
            </a:avLst>
          </a:prstGeom>
          <a:solidFill>
            <a:srgbClr val="F0F0F0"/>
          </a:solidFill>
          <a:ln>
            <a:noFill/>
          </a:ln>
          <a:effectLst/>
        </p:spPr>
        <p:txBody>
          <a:bodyPr rtlCol="0" anchor="ctr"/>
          <a:lstStyle/>
          <a:p/>
        </p:txBody>
      </p:sp>
      <p:sp>
        <p:nvSpPr>
          <p:cNvPr id="28" name="Rounded Rectangle 27"/>
          <p:cNvSpPr/>
          <p:nvPr/>
        </p:nvSpPr>
        <p:spPr>
          <a:xfrm>
            <a:off x="9029469" y="1261872"/>
            <a:ext cx="2659303" cy="566928"/>
          </a:xfrm>
          <a:prstGeom prst="roundRect">
            <a:avLst>
              <a:gd name="adj" fmla="val 15000"/>
            </a:avLst>
          </a:prstGeom>
          <a:solidFill>
            <a:srgbClr val="7A4EA0"/>
          </a:solidFill>
          <a:ln>
            <a:noFill/>
          </a:ln>
          <a:effectLst/>
        </p:spPr>
        <p:txBody>
          <a:bodyPr rtlCol="0" anchor="ctr" wrap="square" lIns="128016" rIns="128016" tIns="73152" bIns="73152">
            <a:noAutofit/>
          </a:bodyPr>
          <a:lstStyle/>
          <a:p>
            <a:pPr algn="ctr">
              <a:spcBef>
                <a:spcPts val="0"/>
              </a:spcBef>
              <a:spcAft>
                <a:spcPts val="0"/>
              </a:spcAft>
            </a:pPr>
            <a:r>
              <a:rPr lang="tr-TR" sz="1500" b="1" i="0">
                <a:solidFill>
                  <a:srgbClr val="FFFFFF"/>
                </a:solidFill>
                <a:latin typeface="Calibri"/>
              </a:rPr>
              <a:t>26-27. hafta · s. 158-165</a:t>
            </a:r>
          </a:p>
        </p:txBody>
      </p:sp>
      <p:sp>
        <p:nvSpPr>
          <p:cNvPr id="29" name="TextBox 28"/>
          <p:cNvSpPr txBox="1"/>
          <p:nvPr/>
        </p:nvSpPr>
        <p:spPr>
          <a:xfrm>
            <a:off x="9139197" y="1920240"/>
            <a:ext cx="2439847" cy="1005840"/>
          </a:xfrm>
          <a:prstGeom prst="rect">
            <a:avLst/>
          </a:prstGeom>
          <a:noFill/>
        </p:spPr>
        <p:txBody>
          <a:bodyPr wrap="square" anchor="t" lIns="73152" rIns="73152" tIns="36576" bIns="36576">
            <a:noAutofit/>
          </a:bodyPr>
          <a:lstStyle/>
          <a:p>
            <a:pPr algn="l">
              <a:spcBef>
                <a:spcPts val="0"/>
              </a:spcBef>
              <a:spcAft>
                <a:spcPts val="0"/>
              </a:spcAft>
            </a:pPr>
            <a:r>
              <a:rPr lang="tr-TR" sz="2100" b="1" i="0">
                <a:solidFill>
                  <a:srgbClr val="7A4EA0"/>
                </a:solidFill>
                <a:latin typeface="Calibri"/>
              </a:rPr>
              <a:t>4.1.4. Nüfus Politikaları</a:t>
            </a:r>
          </a:p>
        </p:txBody>
      </p:sp>
      <p:sp>
        <p:nvSpPr>
          <p:cNvPr id="30" name="TextBox 29"/>
          <p:cNvSpPr txBox="1"/>
          <p:nvPr/>
        </p:nvSpPr>
        <p:spPr>
          <a:xfrm>
            <a:off x="9139197" y="2953512"/>
            <a:ext cx="2439847" cy="347472"/>
          </a:xfrm>
          <a:prstGeom prst="rect">
            <a:avLst/>
          </a:prstGeom>
          <a:noFill/>
        </p:spPr>
        <p:txBody>
          <a:bodyPr wrap="square" anchor="t" lIns="73152" rIns="73152" tIns="36576" bIns="36576">
            <a:noAutofit/>
          </a:bodyPr>
          <a:lstStyle/>
          <a:p>
            <a:pPr algn="l">
              <a:spcBef>
                <a:spcPts val="0"/>
              </a:spcBef>
              <a:spcAft>
                <a:spcPts val="0"/>
              </a:spcAft>
            </a:pPr>
            <a:r>
              <a:rPr lang="tr-TR" sz="1500" b="1" i="0">
                <a:solidFill>
                  <a:srgbClr val="D3373A"/>
                </a:solidFill>
                <a:latin typeface="Calibri"/>
              </a:rPr>
              <a:t>COĞ.9.4.4</a:t>
            </a:r>
          </a:p>
        </p:txBody>
      </p:sp>
      <p:sp>
        <p:nvSpPr>
          <p:cNvPr id="31" name="TextBox 30"/>
          <p:cNvSpPr txBox="1"/>
          <p:nvPr/>
        </p:nvSpPr>
        <p:spPr>
          <a:xfrm>
            <a:off x="9139197" y="3273552"/>
            <a:ext cx="2439847" cy="1600200"/>
          </a:xfrm>
          <a:prstGeom prst="rect">
            <a:avLst/>
          </a:prstGeom>
          <a:noFill/>
        </p:spPr>
        <p:txBody>
          <a:bodyPr wrap="square" anchor="t" lIns="73152" rIns="73152" tIns="36576" bIns="36576">
            <a:noAutofit/>
          </a:bodyPr>
          <a:lstStyle/>
          <a:p>
            <a:pPr algn="l">
              <a:spcBef>
                <a:spcPts val="0"/>
              </a:spcBef>
              <a:spcAft>
                <a:spcPts val="0"/>
              </a:spcAft>
            </a:pPr>
            <a:r>
              <a:rPr lang="tr-TR" sz="1600" b="0" i="0">
                <a:solidFill>
                  <a:srgbClr val="262626"/>
                </a:solidFill>
                <a:latin typeface="Calibri"/>
              </a:rPr>
              <a:t>Türkiye ve farklı ülkelerdeki nüfusla ilgili fırsat ve sorunların nüfus politikalarının belirlenmesindeki etkisini sorgulayabilme</a:t>
            </a:r>
          </a:p>
        </p:txBody>
      </p:sp>
      <p:cxnSp>
        <p:nvCxnSpPr>
          <p:cNvPr id="32" name="Connector 31"/>
          <p:cNvCxnSpPr/>
          <p:nvPr/>
        </p:nvCxnSpPr>
        <p:spPr>
          <a:xfrm>
            <a:off x="9194061" y="4937759"/>
            <a:ext cx="2330119" cy="0"/>
          </a:xfrm>
          <a:prstGeom prst="line">
            <a:avLst/>
          </a:prstGeom>
          <a:ln w="12700">
            <a:solidFill>
              <a:srgbClr val="D9D9D9"/>
            </a:solidFill>
          </a:ln>
        </p:spPr>
      </p:cxnSp>
      <p:sp>
        <p:nvSpPr>
          <p:cNvPr id="33" name="TextBox 32"/>
          <p:cNvSpPr txBox="1"/>
          <p:nvPr/>
        </p:nvSpPr>
        <p:spPr>
          <a:xfrm>
            <a:off x="9139197" y="5010911"/>
            <a:ext cx="2439847" cy="1161289"/>
          </a:xfrm>
          <a:prstGeom prst="rect">
            <a:avLst/>
          </a:prstGeom>
          <a:noFill/>
        </p:spPr>
        <p:txBody>
          <a:bodyPr wrap="square" anchor="t" lIns="73152" rIns="73152" tIns="36576" bIns="36576">
            <a:noAutofit/>
          </a:bodyPr>
          <a:lstStyle/>
          <a:p>
            <a:pPr algn="l">
              <a:spcBef>
                <a:spcPts val="0"/>
              </a:spcBef>
              <a:spcAft>
                <a:spcPts val="0"/>
              </a:spcAft>
            </a:pPr>
            <a:r>
              <a:rPr lang="tr-TR" sz="1400" b="0" i="1">
                <a:solidFill>
                  <a:srgbClr val="767676"/>
                </a:solidFill>
                <a:latin typeface="Calibri"/>
              </a:rPr>
              <a:t>Kitap: …coğrafi sorgulama yapılarak nüfusla ilgili fırsat ve sorunların nüfus politikaları üzerindeki etkisinin sorgulanabilmesi…</a:t>
            </a:r>
          </a:p>
        </p:txBody>
      </p:sp>
      <p:sp>
        <p:nvSpPr>
          <p:cNvPr id="34" name="TextBox 3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35" name="Rounded Rectangle 3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138</a:t>
            </a:r>
          </a:p>
        </p:txBody>
      </p:sp>
      <p:sp>
        <p:nvSpPr>
          <p:cNvPr id="36" name="TextBox 3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 / 379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Ünitede sizden beklenenler</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4. ÜNİTE</a:t>
            </a:r>
          </a:p>
        </p:txBody>
      </p:sp>
      <p:sp>
        <p:nvSpPr>
          <p:cNvPr id="6" name="Rounded Rectangle 5"/>
          <p:cNvSpPr/>
          <p:nvPr/>
        </p:nvSpPr>
        <p:spPr>
          <a:xfrm>
            <a:off x="502920" y="1399032"/>
            <a:ext cx="2645587" cy="4480560"/>
          </a:xfrm>
          <a:prstGeom prst="roundRect">
            <a:avLst>
              <a:gd name="adj" fmla="val 6000"/>
            </a:avLst>
          </a:prstGeom>
          <a:solidFill>
            <a:srgbClr val="F0F0F0"/>
          </a:solidFill>
          <a:ln>
            <a:noFill/>
          </a:ln>
          <a:effectLst/>
        </p:spPr>
        <p:txBody>
          <a:bodyPr rtlCol="0" anchor="ctr"/>
          <a:lstStyle/>
          <a:p/>
        </p:txBody>
      </p:sp>
      <p:sp>
        <p:nvSpPr>
          <p:cNvPr id="7" name="Oval 6"/>
          <p:cNvSpPr/>
          <p:nvPr/>
        </p:nvSpPr>
        <p:spPr>
          <a:xfrm>
            <a:off x="1368513" y="1673352"/>
            <a:ext cx="914400" cy="9144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400" b="1" i="0">
                <a:solidFill>
                  <a:srgbClr val="262626"/>
                </a:solidFill>
                <a:latin typeface="Calibri"/>
              </a:rPr>
              <a:t>1</a:t>
            </a:r>
          </a:p>
        </p:txBody>
      </p:sp>
      <p:sp>
        <p:nvSpPr>
          <p:cNvPr id="8" name="TextBox 7"/>
          <p:cNvSpPr txBox="1"/>
          <p:nvPr/>
        </p:nvSpPr>
        <p:spPr>
          <a:xfrm>
            <a:off x="640080" y="2770632"/>
            <a:ext cx="2371267" cy="2240280"/>
          </a:xfrm>
          <a:prstGeom prst="rect">
            <a:avLst/>
          </a:prstGeom>
          <a:noFill/>
        </p:spPr>
        <p:txBody>
          <a:bodyPr wrap="square" anchor="ctr" lIns="73152" rIns="73152" tIns="36576" bIns="36576">
            <a:noAutofit/>
          </a:bodyPr>
          <a:lstStyle/>
          <a:p>
            <a:pPr algn="ctr">
              <a:spcBef>
                <a:spcPts val="0"/>
              </a:spcBef>
              <a:spcAft>
                <a:spcPts val="0"/>
              </a:spcAft>
            </a:pPr>
            <a:r>
              <a:rPr lang="tr-TR" sz="2100" b="0" i="0">
                <a:solidFill>
                  <a:srgbClr val="262626"/>
                </a:solidFill>
                <a:latin typeface="Calibri"/>
              </a:rPr>
              <a:t>Verilen etkinlikleri yaparak etkinliklerdeki öz ve grup değerlendirme formlarını doldurmanız</a:t>
            </a:r>
          </a:p>
        </p:txBody>
      </p:sp>
      <p:sp>
        <p:nvSpPr>
          <p:cNvPr id="9" name="Rounded Rectangle 8"/>
          <p:cNvSpPr/>
          <p:nvPr/>
        </p:nvSpPr>
        <p:spPr>
          <a:xfrm>
            <a:off x="640080" y="5148071"/>
            <a:ext cx="2371267" cy="502920"/>
          </a:xfrm>
          <a:prstGeom prst="roundRect">
            <a:avLst>
              <a:gd name="adj" fmla="val 50000"/>
            </a:avLst>
          </a:prstGeom>
          <a:solidFill>
            <a:srgbClr val="FFFFFF"/>
          </a:solidFill>
          <a:ln w="12700">
            <a:solidFill>
              <a:srgbClr val="2C6696"/>
            </a:solidFill>
          </a:ln>
          <a:effectLst/>
        </p:spPr>
        <p:txBody>
          <a:bodyPr rtlCol="0" anchor="ctr" wrap="square" lIns="36576" rIns="36576" tIns="73152" bIns="73152">
            <a:noAutofit/>
          </a:bodyPr>
          <a:lstStyle/>
          <a:p>
            <a:pPr algn="ctr">
              <a:spcBef>
                <a:spcPts val="0"/>
              </a:spcBef>
              <a:spcAft>
                <a:spcPts val="0"/>
              </a:spcAft>
            </a:pPr>
            <a:r>
              <a:rPr lang="tr-TR" sz="1350" b="1" i="0">
                <a:solidFill>
                  <a:srgbClr val="2C6696"/>
                </a:solidFill>
                <a:latin typeface="Calibri"/>
              </a:rPr>
              <a:t>20-27. haftalar</a:t>
            </a:r>
          </a:p>
        </p:txBody>
      </p:sp>
      <p:sp>
        <p:nvSpPr>
          <p:cNvPr id="10" name="Rounded Rectangle 9"/>
          <p:cNvSpPr/>
          <p:nvPr/>
        </p:nvSpPr>
        <p:spPr>
          <a:xfrm>
            <a:off x="3349675" y="1399032"/>
            <a:ext cx="2645587" cy="4480560"/>
          </a:xfrm>
          <a:prstGeom prst="roundRect">
            <a:avLst>
              <a:gd name="adj" fmla="val 6000"/>
            </a:avLst>
          </a:prstGeom>
          <a:solidFill>
            <a:srgbClr val="F0F0F0"/>
          </a:solidFill>
          <a:ln>
            <a:noFill/>
          </a:ln>
          <a:effectLst/>
        </p:spPr>
        <p:txBody>
          <a:bodyPr rtlCol="0" anchor="ctr"/>
          <a:lstStyle/>
          <a:p/>
        </p:txBody>
      </p:sp>
      <p:sp>
        <p:nvSpPr>
          <p:cNvPr id="11" name="Oval 10"/>
          <p:cNvSpPr/>
          <p:nvPr/>
        </p:nvSpPr>
        <p:spPr>
          <a:xfrm>
            <a:off x="4215268" y="1673352"/>
            <a:ext cx="914400" cy="9144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400" b="1" i="0">
                <a:solidFill>
                  <a:srgbClr val="262626"/>
                </a:solidFill>
                <a:latin typeface="Calibri"/>
              </a:rPr>
              <a:t>2</a:t>
            </a:r>
          </a:p>
        </p:txBody>
      </p:sp>
      <p:sp>
        <p:nvSpPr>
          <p:cNvPr id="12" name="TextBox 11"/>
          <p:cNvSpPr txBox="1"/>
          <p:nvPr/>
        </p:nvSpPr>
        <p:spPr>
          <a:xfrm>
            <a:off x="3486835" y="2770632"/>
            <a:ext cx="2371267" cy="2240280"/>
          </a:xfrm>
          <a:prstGeom prst="rect">
            <a:avLst/>
          </a:prstGeom>
          <a:noFill/>
        </p:spPr>
        <p:txBody>
          <a:bodyPr wrap="square" anchor="ctr" lIns="73152" rIns="73152" tIns="36576" bIns="36576">
            <a:noAutofit/>
          </a:bodyPr>
          <a:lstStyle/>
          <a:p>
            <a:pPr algn="ctr">
              <a:spcBef>
                <a:spcPts val="0"/>
              </a:spcBef>
              <a:spcAft>
                <a:spcPts val="0"/>
              </a:spcAft>
            </a:pPr>
            <a:r>
              <a:rPr lang="tr-TR" sz="2200" b="0" i="0">
                <a:solidFill>
                  <a:srgbClr val="262626"/>
                </a:solidFill>
                <a:latin typeface="Calibri"/>
              </a:rPr>
              <a:t>Açık uçlu soruları cevaplamanız</a:t>
            </a:r>
          </a:p>
        </p:txBody>
      </p:sp>
      <p:sp>
        <p:nvSpPr>
          <p:cNvPr id="13" name="Rounded Rectangle 12"/>
          <p:cNvSpPr/>
          <p:nvPr/>
        </p:nvSpPr>
        <p:spPr>
          <a:xfrm>
            <a:off x="3486835" y="5148071"/>
            <a:ext cx="2371267" cy="502920"/>
          </a:xfrm>
          <a:prstGeom prst="roundRect">
            <a:avLst>
              <a:gd name="adj" fmla="val 50000"/>
            </a:avLst>
          </a:prstGeom>
          <a:solidFill>
            <a:srgbClr val="FFFFFF"/>
          </a:solidFill>
          <a:ln w="12700">
            <a:solidFill>
              <a:srgbClr val="2C6696"/>
            </a:solidFill>
          </a:ln>
          <a:effectLst/>
        </p:spPr>
        <p:txBody>
          <a:bodyPr rtlCol="0" anchor="ctr" wrap="square" lIns="36576" rIns="36576" tIns="73152" bIns="73152">
            <a:noAutofit/>
          </a:bodyPr>
          <a:lstStyle/>
          <a:p>
            <a:pPr algn="ctr">
              <a:spcBef>
                <a:spcPts val="0"/>
              </a:spcBef>
              <a:spcAft>
                <a:spcPts val="0"/>
              </a:spcAft>
            </a:pPr>
            <a:r>
              <a:rPr lang="tr-TR" sz="1350" b="1" i="0">
                <a:solidFill>
                  <a:srgbClr val="2C6696"/>
                </a:solidFill>
                <a:latin typeface="Calibri"/>
              </a:rPr>
              <a:t>her hafta · uygulamalar</a:t>
            </a:r>
          </a:p>
        </p:txBody>
      </p:sp>
      <p:sp>
        <p:nvSpPr>
          <p:cNvPr id="14" name="Rounded Rectangle 13"/>
          <p:cNvSpPr/>
          <p:nvPr/>
        </p:nvSpPr>
        <p:spPr>
          <a:xfrm>
            <a:off x="6196430" y="1399032"/>
            <a:ext cx="2645587" cy="4480560"/>
          </a:xfrm>
          <a:prstGeom prst="roundRect">
            <a:avLst>
              <a:gd name="adj" fmla="val 6000"/>
            </a:avLst>
          </a:prstGeom>
          <a:solidFill>
            <a:srgbClr val="F0F0F0"/>
          </a:solidFill>
          <a:ln>
            <a:noFill/>
          </a:ln>
          <a:effectLst/>
        </p:spPr>
        <p:txBody>
          <a:bodyPr rtlCol="0" anchor="ctr"/>
          <a:lstStyle/>
          <a:p/>
        </p:txBody>
      </p:sp>
      <p:sp>
        <p:nvSpPr>
          <p:cNvPr id="15" name="Oval 14"/>
          <p:cNvSpPr/>
          <p:nvPr/>
        </p:nvSpPr>
        <p:spPr>
          <a:xfrm>
            <a:off x="7062023" y="1673352"/>
            <a:ext cx="914400" cy="9144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400" b="1" i="0">
                <a:solidFill>
                  <a:srgbClr val="262626"/>
                </a:solidFill>
                <a:latin typeface="Calibri"/>
              </a:rPr>
              <a:t>3</a:t>
            </a:r>
          </a:p>
        </p:txBody>
      </p:sp>
      <p:sp>
        <p:nvSpPr>
          <p:cNvPr id="16" name="TextBox 15"/>
          <p:cNvSpPr txBox="1"/>
          <p:nvPr/>
        </p:nvSpPr>
        <p:spPr>
          <a:xfrm>
            <a:off x="6333590" y="2770632"/>
            <a:ext cx="2371267" cy="2240280"/>
          </a:xfrm>
          <a:prstGeom prst="rect">
            <a:avLst/>
          </a:prstGeom>
          <a:noFill/>
        </p:spPr>
        <p:txBody>
          <a:bodyPr wrap="square" anchor="ctr" lIns="73152" rIns="73152" tIns="36576" bIns="36576">
            <a:noAutofit/>
          </a:bodyPr>
          <a:lstStyle/>
          <a:p>
            <a:pPr algn="ctr">
              <a:spcBef>
                <a:spcPts val="0"/>
              </a:spcBef>
              <a:spcAft>
                <a:spcPts val="0"/>
              </a:spcAft>
            </a:pPr>
            <a:r>
              <a:rPr lang="tr-TR" sz="2150" b="0" i="0">
                <a:solidFill>
                  <a:srgbClr val="262626"/>
                </a:solidFill>
                <a:latin typeface="Calibri"/>
              </a:rPr>
              <a:t>Üniteyle ilgili performans çalışmasını yaparak öz değerlendirme formunu doldurmanız</a:t>
            </a:r>
          </a:p>
        </p:txBody>
      </p:sp>
      <p:sp>
        <p:nvSpPr>
          <p:cNvPr id="17" name="Rounded Rectangle 16"/>
          <p:cNvSpPr/>
          <p:nvPr/>
        </p:nvSpPr>
        <p:spPr>
          <a:xfrm>
            <a:off x="6333590" y="5148071"/>
            <a:ext cx="2371267" cy="502920"/>
          </a:xfrm>
          <a:prstGeom prst="roundRect">
            <a:avLst>
              <a:gd name="adj" fmla="val 50000"/>
            </a:avLst>
          </a:prstGeom>
          <a:solidFill>
            <a:srgbClr val="FFFFFF"/>
          </a:solidFill>
          <a:ln w="12700">
            <a:solidFill>
              <a:srgbClr val="2C6696"/>
            </a:solidFill>
          </a:ln>
          <a:effectLst/>
        </p:spPr>
        <p:txBody>
          <a:bodyPr rtlCol="0" anchor="ctr" wrap="square" lIns="36576" rIns="36576" tIns="73152" bIns="73152">
            <a:noAutofit/>
          </a:bodyPr>
          <a:lstStyle/>
          <a:p>
            <a:pPr algn="ctr">
              <a:spcBef>
                <a:spcPts val="0"/>
              </a:spcBef>
              <a:spcAft>
                <a:spcPts val="0"/>
              </a:spcAft>
            </a:pPr>
            <a:r>
              <a:rPr lang="tr-TR" sz="1350" b="1" i="0">
                <a:solidFill>
                  <a:srgbClr val="2C6696"/>
                </a:solidFill>
                <a:latin typeface="Calibri"/>
              </a:rPr>
              <a:t>24-27. hafta · s. 165</a:t>
            </a:r>
          </a:p>
        </p:txBody>
      </p:sp>
      <p:sp>
        <p:nvSpPr>
          <p:cNvPr id="18" name="Rounded Rectangle 17"/>
          <p:cNvSpPr/>
          <p:nvPr/>
        </p:nvSpPr>
        <p:spPr>
          <a:xfrm>
            <a:off x="9043185" y="1399032"/>
            <a:ext cx="2645587" cy="4480560"/>
          </a:xfrm>
          <a:prstGeom prst="roundRect">
            <a:avLst>
              <a:gd name="adj" fmla="val 6000"/>
            </a:avLst>
          </a:prstGeom>
          <a:solidFill>
            <a:srgbClr val="F0F0F0"/>
          </a:solidFill>
          <a:ln>
            <a:noFill/>
          </a:ln>
          <a:effectLst/>
        </p:spPr>
        <p:txBody>
          <a:bodyPr rtlCol="0" anchor="ctr"/>
          <a:lstStyle/>
          <a:p/>
        </p:txBody>
      </p:sp>
      <p:sp>
        <p:nvSpPr>
          <p:cNvPr id="19" name="Oval 18"/>
          <p:cNvSpPr/>
          <p:nvPr/>
        </p:nvSpPr>
        <p:spPr>
          <a:xfrm>
            <a:off x="9908778" y="1673352"/>
            <a:ext cx="914400" cy="9144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400" b="1" i="0">
                <a:solidFill>
                  <a:srgbClr val="262626"/>
                </a:solidFill>
                <a:latin typeface="Calibri"/>
              </a:rPr>
              <a:t>4</a:t>
            </a:r>
          </a:p>
        </p:txBody>
      </p:sp>
      <p:sp>
        <p:nvSpPr>
          <p:cNvPr id="20" name="TextBox 19"/>
          <p:cNvSpPr txBox="1"/>
          <p:nvPr/>
        </p:nvSpPr>
        <p:spPr>
          <a:xfrm>
            <a:off x="9180345" y="2770632"/>
            <a:ext cx="2371267" cy="2240280"/>
          </a:xfrm>
          <a:prstGeom prst="rect">
            <a:avLst/>
          </a:prstGeom>
          <a:noFill/>
        </p:spPr>
        <p:txBody>
          <a:bodyPr wrap="square" anchor="ctr" lIns="73152" rIns="73152" tIns="36576" bIns="36576">
            <a:noAutofit/>
          </a:bodyPr>
          <a:lstStyle/>
          <a:p>
            <a:pPr algn="ctr">
              <a:spcBef>
                <a:spcPts val="0"/>
              </a:spcBef>
              <a:spcAft>
                <a:spcPts val="0"/>
              </a:spcAft>
            </a:pPr>
            <a:r>
              <a:rPr lang="tr-TR" sz="2200" b="0" i="0">
                <a:solidFill>
                  <a:srgbClr val="262626"/>
                </a:solidFill>
                <a:latin typeface="Calibri"/>
              </a:rPr>
              <a:t>Ünite sonundaki ölçme ve değerlendirme sorularını cevaplamanız</a:t>
            </a:r>
          </a:p>
        </p:txBody>
      </p:sp>
      <p:sp>
        <p:nvSpPr>
          <p:cNvPr id="21" name="Rounded Rectangle 20"/>
          <p:cNvSpPr/>
          <p:nvPr/>
        </p:nvSpPr>
        <p:spPr>
          <a:xfrm>
            <a:off x="9180345" y="5148071"/>
            <a:ext cx="2371267" cy="502920"/>
          </a:xfrm>
          <a:prstGeom prst="roundRect">
            <a:avLst>
              <a:gd name="adj" fmla="val 50000"/>
            </a:avLst>
          </a:prstGeom>
          <a:solidFill>
            <a:srgbClr val="FFFFFF"/>
          </a:solidFill>
          <a:ln w="12700">
            <a:solidFill>
              <a:srgbClr val="2C6696"/>
            </a:solidFill>
          </a:ln>
          <a:effectLst/>
        </p:spPr>
        <p:txBody>
          <a:bodyPr rtlCol="0" anchor="ctr" wrap="square" lIns="36576" rIns="36576" tIns="73152" bIns="73152">
            <a:noAutofit/>
          </a:bodyPr>
          <a:lstStyle/>
          <a:p>
            <a:pPr algn="ctr">
              <a:spcBef>
                <a:spcPts val="0"/>
              </a:spcBef>
              <a:spcAft>
                <a:spcPts val="0"/>
              </a:spcAft>
            </a:pPr>
            <a:r>
              <a:rPr lang="tr-TR" sz="1350" b="1" i="0">
                <a:solidFill>
                  <a:srgbClr val="2C6696"/>
                </a:solidFill>
                <a:latin typeface="Calibri"/>
              </a:rPr>
              <a:t>27. hafta · s. 166-169</a:t>
            </a:r>
          </a:p>
        </p:txBody>
      </p:sp>
      <p:sp>
        <p:nvSpPr>
          <p:cNvPr id="22" name="TextBox 21"/>
          <p:cNvSpPr txBox="1"/>
          <p:nvPr/>
        </p:nvSpPr>
        <p:spPr>
          <a:xfrm>
            <a:off x="502920" y="6016752"/>
            <a:ext cx="11185855" cy="365760"/>
          </a:xfrm>
          <a:prstGeom prst="rect">
            <a:avLst/>
          </a:prstGeom>
          <a:noFill/>
        </p:spPr>
        <p:txBody>
          <a:bodyPr wrap="square" anchor="t" lIns="73152" rIns="73152" tIns="36576" bIns="36576">
            <a:noAutofit/>
          </a:bodyPr>
          <a:lstStyle/>
          <a:p>
            <a:pPr algn="r">
              <a:spcBef>
                <a:spcPts val="0"/>
              </a:spcBef>
              <a:spcAft>
                <a:spcPts val="0"/>
              </a:spcAft>
            </a:pPr>
            <a:r>
              <a:rPr lang="tr-TR" sz="1400" b="0" i="0">
                <a:solidFill>
                  <a:srgbClr val="767676"/>
                </a:solidFill>
                <a:latin typeface="Calibri"/>
              </a:rPr>
              <a:t>…beklenmektedir. (Ders kitabı, ünite açılışı; 4. kart ünite sonundaki ölçme sayfalarıdır.)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138</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 / 379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Anahtar kavramlar</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4. ÜNİTE</a:t>
            </a:r>
          </a:p>
        </p:txBody>
      </p:sp>
      <p:sp>
        <p:nvSpPr>
          <p:cNvPr id="6" name="Rounded Rectangle 5"/>
          <p:cNvSpPr/>
          <p:nvPr/>
        </p:nvSpPr>
        <p:spPr>
          <a:xfrm>
            <a:off x="502920" y="1353312"/>
            <a:ext cx="2194560" cy="713232"/>
          </a:xfrm>
          <a:prstGeom prst="roundRect">
            <a:avLst>
              <a:gd name="adj" fmla="val 8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Nüfusun değişimi</a:t>
            </a:r>
          </a:p>
        </p:txBody>
      </p:sp>
      <p:sp>
        <p:nvSpPr>
          <p:cNvPr id="7" name="Rounded Rectangle 6"/>
          <p:cNvSpPr/>
          <p:nvPr/>
        </p:nvSpPr>
        <p:spPr>
          <a:xfrm>
            <a:off x="2880360" y="1426464"/>
            <a:ext cx="1904260" cy="56692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doğum oranı</a:t>
            </a:r>
          </a:p>
        </p:txBody>
      </p:sp>
      <p:sp>
        <p:nvSpPr>
          <p:cNvPr id="8" name="Rounded Rectangle 7"/>
          <p:cNvSpPr/>
          <p:nvPr/>
        </p:nvSpPr>
        <p:spPr>
          <a:xfrm>
            <a:off x="4930924" y="1426464"/>
            <a:ext cx="1679199" cy="56692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ölüm oranı</a:t>
            </a:r>
          </a:p>
        </p:txBody>
      </p:sp>
      <p:sp>
        <p:nvSpPr>
          <p:cNvPr id="9" name="Rounded Rectangle 8"/>
          <p:cNvSpPr/>
          <p:nvPr/>
        </p:nvSpPr>
        <p:spPr>
          <a:xfrm>
            <a:off x="6756427" y="1426464"/>
            <a:ext cx="2114644" cy="566928"/>
          </a:xfrm>
          <a:prstGeom prst="roundRect">
            <a:avLst>
              <a:gd name="adj" fmla="val 50000"/>
            </a:avLst>
          </a:prstGeom>
          <a:solidFill>
            <a:srgbClr val="FFFFFF"/>
          </a:solidFill>
          <a:ln w="25400">
            <a:solidFill>
              <a:srgbClr val="2C6696"/>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nüfus artış hızı</a:t>
            </a:r>
          </a:p>
        </p:txBody>
      </p:sp>
      <p:sp>
        <p:nvSpPr>
          <p:cNvPr id="10" name="Rounded Rectangle 9"/>
          <p:cNvSpPr/>
          <p:nvPr/>
        </p:nvSpPr>
        <p:spPr>
          <a:xfrm>
            <a:off x="502920" y="2432304"/>
            <a:ext cx="2194560" cy="713232"/>
          </a:xfrm>
          <a:prstGeom prst="roundRect">
            <a:avLst>
              <a:gd name="adj" fmla="val 8000"/>
            </a:avLst>
          </a:prstGeom>
          <a:solidFill>
            <a:srgbClr val="1E7B6E"/>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Dağılış ve hareketler</a:t>
            </a:r>
          </a:p>
        </p:txBody>
      </p:sp>
      <p:sp>
        <p:nvSpPr>
          <p:cNvPr id="11" name="Rounded Rectangle 10"/>
          <p:cNvSpPr/>
          <p:nvPr/>
        </p:nvSpPr>
        <p:spPr>
          <a:xfrm>
            <a:off x="2880360" y="2505456"/>
            <a:ext cx="2366995" cy="566928"/>
          </a:xfrm>
          <a:prstGeom prst="roundRect">
            <a:avLst>
              <a:gd name="adj" fmla="val 50000"/>
            </a:avLst>
          </a:prstGeom>
          <a:solidFill>
            <a:srgbClr val="FFFFFF"/>
          </a:solidFill>
          <a:ln w="25400">
            <a:solidFill>
              <a:srgbClr val="1E7B6E"/>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nüfus yoğunluğu</a:t>
            </a:r>
          </a:p>
        </p:txBody>
      </p:sp>
      <p:sp>
        <p:nvSpPr>
          <p:cNvPr id="12" name="Rounded Rectangle 11"/>
          <p:cNvSpPr/>
          <p:nvPr/>
        </p:nvSpPr>
        <p:spPr>
          <a:xfrm>
            <a:off x="5393659" y="2505456"/>
            <a:ext cx="803632" cy="566928"/>
          </a:xfrm>
          <a:prstGeom prst="roundRect">
            <a:avLst>
              <a:gd name="adj" fmla="val 50000"/>
            </a:avLst>
          </a:prstGeom>
          <a:solidFill>
            <a:srgbClr val="FFFFFF"/>
          </a:solidFill>
          <a:ln w="25400">
            <a:solidFill>
              <a:srgbClr val="1E7B6E"/>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göç</a:t>
            </a:r>
          </a:p>
        </p:txBody>
      </p:sp>
      <p:sp>
        <p:nvSpPr>
          <p:cNvPr id="13" name="Rounded Rectangle 12"/>
          <p:cNvSpPr/>
          <p:nvPr/>
        </p:nvSpPr>
        <p:spPr>
          <a:xfrm>
            <a:off x="502920" y="3511296"/>
            <a:ext cx="2194560" cy="1408176"/>
          </a:xfrm>
          <a:prstGeom prst="roundRect">
            <a:avLst>
              <a:gd name="adj" fmla="val 8000"/>
            </a:avLst>
          </a:prstGeom>
          <a:solidFill>
            <a:srgbClr val="B85C12"/>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Nüfusun yapısı</a:t>
            </a:r>
          </a:p>
        </p:txBody>
      </p:sp>
      <p:sp>
        <p:nvSpPr>
          <p:cNvPr id="14" name="Rounded Rectangle 13"/>
          <p:cNvSpPr/>
          <p:nvPr/>
        </p:nvSpPr>
        <p:spPr>
          <a:xfrm>
            <a:off x="2880360" y="3584448"/>
            <a:ext cx="2927835" cy="566928"/>
          </a:xfrm>
          <a:prstGeom prst="roundRect">
            <a:avLst>
              <a:gd name="adj" fmla="val 50000"/>
            </a:avLst>
          </a:prstGeom>
          <a:solidFill>
            <a:srgbClr val="FFFFFF"/>
          </a:solidFill>
          <a:ln w="25400">
            <a:solidFill>
              <a:srgbClr val="B85C12"/>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demografik dönüşüm</a:t>
            </a:r>
          </a:p>
        </p:txBody>
      </p:sp>
      <p:sp>
        <p:nvSpPr>
          <p:cNvPr id="15" name="Rounded Rectangle 14"/>
          <p:cNvSpPr/>
          <p:nvPr/>
        </p:nvSpPr>
        <p:spPr>
          <a:xfrm>
            <a:off x="5954499" y="3584448"/>
            <a:ext cx="2104095" cy="566928"/>
          </a:xfrm>
          <a:prstGeom prst="roundRect">
            <a:avLst>
              <a:gd name="adj" fmla="val 50000"/>
            </a:avLst>
          </a:prstGeom>
          <a:solidFill>
            <a:srgbClr val="FFFFFF"/>
          </a:solidFill>
          <a:ln w="25400">
            <a:solidFill>
              <a:srgbClr val="B85C12"/>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nüfus piramidi</a:t>
            </a:r>
          </a:p>
        </p:txBody>
      </p:sp>
      <p:sp>
        <p:nvSpPr>
          <p:cNvPr id="16" name="Rounded Rectangle 15"/>
          <p:cNvSpPr/>
          <p:nvPr/>
        </p:nvSpPr>
        <p:spPr>
          <a:xfrm>
            <a:off x="8204898" y="3584448"/>
            <a:ext cx="1682181" cy="566928"/>
          </a:xfrm>
          <a:prstGeom prst="roundRect">
            <a:avLst>
              <a:gd name="adj" fmla="val 50000"/>
            </a:avLst>
          </a:prstGeom>
          <a:solidFill>
            <a:srgbClr val="FFFFFF"/>
          </a:solidFill>
          <a:ln w="25400">
            <a:solidFill>
              <a:srgbClr val="B85C12"/>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genç nüfus</a:t>
            </a:r>
          </a:p>
        </p:txBody>
      </p:sp>
      <p:sp>
        <p:nvSpPr>
          <p:cNvPr id="17" name="Rounded Rectangle 16"/>
          <p:cNvSpPr/>
          <p:nvPr/>
        </p:nvSpPr>
        <p:spPr>
          <a:xfrm>
            <a:off x="10033383" y="3584448"/>
            <a:ext cx="1640627" cy="566928"/>
          </a:xfrm>
          <a:prstGeom prst="roundRect">
            <a:avLst>
              <a:gd name="adj" fmla="val 50000"/>
            </a:avLst>
          </a:prstGeom>
          <a:solidFill>
            <a:srgbClr val="FFFFFF"/>
          </a:solidFill>
          <a:ln w="25400">
            <a:solidFill>
              <a:srgbClr val="B85C12"/>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yaşlı nüfus</a:t>
            </a:r>
          </a:p>
        </p:txBody>
      </p:sp>
      <p:sp>
        <p:nvSpPr>
          <p:cNvPr id="18" name="Rounded Rectangle 17"/>
          <p:cNvSpPr/>
          <p:nvPr/>
        </p:nvSpPr>
        <p:spPr>
          <a:xfrm>
            <a:off x="2880360" y="4279392"/>
            <a:ext cx="1991725" cy="566928"/>
          </a:xfrm>
          <a:prstGeom prst="roundRect">
            <a:avLst>
              <a:gd name="adj" fmla="val 50000"/>
            </a:avLst>
          </a:prstGeom>
          <a:solidFill>
            <a:srgbClr val="FFFFFF"/>
          </a:solidFill>
          <a:ln w="25400">
            <a:solidFill>
              <a:srgbClr val="B85C12"/>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bağımlı nüfus</a:t>
            </a:r>
          </a:p>
        </p:txBody>
      </p:sp>
      <p:sp>
        <p:nvSpPr>
          <p:cNvPr id="19" name="Rounded Rectangle 18"/>
          <p:cNvSpPr/>
          <p:nvPr/>
        </p:nvSpPr>
        <p:spPr>
          <a:xfrm>
            <a:off x="5018389" y="4279392"/>
            <a:ext cx="1747814" cy="566928"/>
          </a:xfrm>
          <a:prstGeom prst="roundRect">
            <a:avLst>
              <a:gd name="adj" fmla="val 50000"/>
            </a:avLst>
          </a:prstGeom>
          <a:solidFill>
            <a:srgbClr val="FFFFFF"/>
          </a:solidFill>
          <a:ln w="25400">
            <a:solidFill>
              <a:srgbClr val="B85C12"/>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ortanca yaş</a:t>
            </a:r>
          </a:p>
        </p:txBody>
      </p:sp>
      <p:sp>
        <p:nvSpPr>
          <p:cNvPr id="20" name="Rounded Rectangle 19"/>
          <p:cNvSpPr/>
          <p:nvPr/>
        </p:nvSpPr>
        <p:spPr>
          <a:xfrm>
            <a:off x="502920" y="5285232"/>
            <a:ext cx="2194560" cy="713232"/>
          </a:xfrm>
          <a:prstGeom prst="roundRect">
            <a:avLst>
              <a:gd name="adj" fmla="val 8000"/>
            </a:avLst>
          </a:prstGeom>
          <a:solidFill>
            <a:srgbClr val="7A4EA0"/>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FFFFFF"/>
                </a:solidFill>
                <a:latin typeface="Calibri"/>
              </a:rPr>
              <a:t>Politikalar</a:t>
            </a:r>
          </a:p>
        </p:txBody>
      </p:sp>
      <p:sp>
        <p:nvSpPr>
          <p:cNvPr id="21" name="Rounded Rectangle 20"/>
          <p:cNvSpPr/>
          <p:nvPr/>
        </p:nvSpPr>
        <p:spPr>
          <a:xfrm>
            <a:off x="2880360" y="5358384"/>
            <a:ext cx="2180598" cy="566928"/>
          </a:xfrm>
          <a:prstGeom prst="roundRect">
            <a:avLst>
              <a:gd name="adj" fmla="val 50000"/>
            </a:avLst>
          </a:prstGeom>
          <a:solidFill>
            <a:srgbClr val="FFFFFF"/>
          </a:solidFill>
          <a:ln w="25400">
            <a:solidFill>
              <a:srgbClr val="7A4EA0"/>
            </a:solidFill>
          </a:ln>
          <a:effectLst/>
        </p:spPr>
        <p:txBody>
          <a:bodyPr rtlCol="0" anchor="ctr" wrap="square" lIns="73152" rIns="73152" tIns="18288" bIns="18288">
            <a:noAutofit/>
          </a:bodyPr>
          <a:lstStyle/>
          <a:p>
            <a:pPr algn="ctr">
              <a:spcBef>
                <a:spcPts val="0"/>
              </a:spcBef>
              <a:spcAft>
                <a:spcPts val="0"/>
              </a:spcAft>
            </a:pPr>
            <a:r>
              <a:rPr lang="tr-TR" sz="2200" b="0" i="0">
                <a:solidFill>
                  <a:srgbClr val="262626"/>
                </a:solidFill>
                <a:latin typeface="Calibri"/>
              </a:rPr>
              <a:t>nüfus politikası</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139</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 / 379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6696"/>
          </a:solidFill>
          <a:ln>
            <a:noFill/>
          </a:ln>
          <a:effectLst/>
        </p:spPr>
        <p:txBody>
          <a:bodyPr rtlCol="0" anchor="ctr"/>
          <a:lstStyle/>
          <a:p/>
        </p:txBody>
      </p:sp>
      <p:sp>
        <p:nvSpPr>
          <p:cNvPr id="3" name="Rectangle 2"/>
          <p:cNvSpPr/>
          <p:nvPr/>
        </p:nvSpPr>
        <p:spPr>
          <a:xfrm>
            <a:off x="0" y="6199632"/>
            <a:ext cx="12191695" cy="73152"/>
          </a:xfrm>
          <a:prstGeom prst="rect">
            <a:avLst/>
          </a:prstGeom>
          <a:solidFill>
            <a:srgbClr val="FCC021"/>
          </a:solidFill>
          <a:ln>
            <a:noFill/>
          </a:ln>
          <a:effectLst/>
        </p:spPr>
        <p:txBody>
          <a:bodyPr rtlCol="0" anchor="ctr"/>
          <a:lstStyle/>
          <a:p/>
        </p:txBody>
      </p:sp>
      <p:sp>
        <p:nvSpPr>
          <p:cNvPr id="4" name="TextBox 3"/>
          <p:cNvSpPr txBox="1"/>
          <p:nvPr/>
        </p:nvSpPr>
        <p:spPr>
          <a:xfrm>
            <a:off x="548640" y="320040"/>
            <a:ext cx="2377440"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FCC021"/>
                </a:solidFill>
                <a:latin typeface="Calibri"/>
              </a:rPr>
              <a:t>20. HAFTA</a:t>
            </a:r>
          </a:p>
        </p:txBody>
      </p:sp>
      <p:sp>
        <p:nvSpPr>
          <p:cNvPr id="5" name="TextBox 4"/>
          <p:cNvSpPr txBox="1"/>
          <p:nvPr/>
        </p:nvSpPr>
        <p:spPr>
          <a:xfrm>
            <a:off x="411480" y="731520"/>
            <a:ext cx="2377440" cy="2514600"/>
          </a:xfrm>
          <a:prstGeom prst="rect">
            <a:avLst/>
          </a:prstGeom>
          <a:noFill/>
        </p:spPr>
        <p:txBody>
          <a:bodyPr wrap="square" anchor="t" lIns="73152" rIns="73152" tIns="0" bIns="0">
            <a:noAutofit/>
          </a:bodyPr>
          <a:lstStyle/>
          <a:p>
            <a:pPr algn="l">
              <a:spcBef>
                <a:spcPts val="0"/>
              </a:spcBef>
              <a:spcAft>
                <a:spcPts val="0"/>
              </a:spcAft>
            </a:pPr>
            <a:r>
              <a:rPr lang="tr-TR" sz="16000" b="1" i="0">
                <a:solidFill>
                  <a:srgbClr val="FCC021"/>
                </a:solidFill>
                <a:latin typeface="Calibri"/>
              </a:rPr>
              <a:t>20</a:t>
            </a:r>
          </a:p>
        </p:txBody>
      </p:sp>
      <p:sp>
        <p:nvSpPr>
          <p:cNvPr id="6" name="TextBox 5"/>
          <p:cNvSpPr txBox="1"/>
          <p:nvPr/>
        </p:nvSpPr>
        <p:spPr>
          <a:xfrm>
            <a:off x="2834640" y="411480"/>
            <a:ext cx="8869680" cy="1051560"/>
          </a:xfrm>
          <a:prstGeom prst="rect">
            <a:avLst/>
          </a:prstGeom>
          <a:noFill/>
        </p:spPr>
        <p:txBody>
          <a:bodyPr wrap="square" anchor="ctr" lIns="73152" rIns="73152" tIns="36576" bIns="36576">
            <a:noAutofit/>
          </a:bodyPr>
          <a:lstStyle/>
          <a:p>
            <a:pPr algn="l">
              <a:spcBef>
                <a:spcPts val="0"/>
              </a:spcBef>
              <a:spcAft>
                <a:spcPts val="0"/>
              </a:spcAft>
            </a:pPr>
            <a:r>
              <a:rPr lang="tr-TR" sz="3150" b="1" i="0">
                <a:solidFill>
                  <a:srgbClr val="FFFFFF"/>
                </a:solidFill>
                <a:latin typeface="Calibri"/>
              </a:rPr>
              <a:t>Nüfusun Tarihsel Değişimi I: Sıçramalar ve Grafik Okuma</a:t>
            </a:r>
          </a:p>
        </p:txBody>
      </p:sp>
      <p:sp>
        <p:nvSpPr>
          <p:cNvPr id="7" name="TextBox 6"/>
          <p:cNvSpPr txBox="1"/>
          <p:nvPr/>
        </p:nvSpPr>
        <p:spPr>
          <a:xfrm>
            <a:off x="2834640" y="1481328"/>
            <a:ext cx="8869680" cy="411480"/>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E3ECF5"/>
                </a:solidFill>
                <a:latin typeface="Calibri"/>
              </a:rPr>
              <a:t>15-19 Şubat 2027 · 2 ders saati · Kitap s. 140-143</a:t>
            </a:r>
          </a:p>
        </p:txBody>
      </p:sp>
      <p:sp>
        <p:nvSpPr>
          <p:cNvPr id="8" name="Rounded Rectangle 7"/>
          <p:cNvSpPr/>
          <p:nvPr/>
        </p:nvSpPr>
        <p:spPr>
          <a:xfrm>
            <a:off x="2834640" y="2011680"/>
            <a:ext cx="8869680" cy="4023360"/>
          </a:xfrm>
          <a:prstGeom prst="roundRect">
            <a:avLst>
              <a:gd name="adj" fmla="val 5000"/>
            </a:avLst>
          </a:prstGeom>
          <a:solidFill>
            <a:srgbClr val="FFFFFF">
              <a:alpha val="12000"/>
            </a:srgbClr>
          </a:solidFill>
          <a:ln>
            <a:noFill/>
          </a:ln>
          <a:effectLst/>
        </p:spPr>
        <p:txBody>
          <a:bodyPr rtlCol="0" anchor="ctr"/>
          <a:lstStyle/>
          <a:p/>
        </p:txBody>
      </p:sp>
      <p:sp>
        <p:nvSpPr>
          <p:cNvPr id="9" name="TextBox 8"/>
          <p:cNvSpPr txBox="1"/>
          <p:nvPr/>
        </p:nvSpPr>
        <p:spPr>
          <a:xfrm>
            <a:off x="3063240" y="2148840"/>
            <a:ext cx="8412480" cy="365760"/>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FCC021"/>
                </a:solidFill>
                <a:latin typeface="Calibri"/>
              </a:rPr>
              <a:t>ÖĞRENME ÇIKTISI · COĞ.9.4.1</a:t>
            </a:r>
          </a:p>
        </p:txBody>
      </p:sp>
      <p:sp>
        <p:nvSpPr>
          <p:cNvPr id="10" name="TextBox 9"/>
          <p:cNvSpPr txBox="1"/>
          <p:nvPr/>
        </p:nvSpPr>
        <p:spPr>
          <a:xfrm>
            <a:off x="3063240" y="2532888"/>
            <a:ext cx="8412480" cy="873252"/>
          </a:xfrm>
          <a:prstGeom prst="rect">
            <a:avLst/>
          </a:prstGeom>
          <a:noFill/>
        </p:spPr>
        <p:txBody>
          <a:bodyPr wrap="square" anchor="t" lIns="73152" rIns="73152" tIns="36576" bIns="36576">
            <a:noAutofit/>
          </a:bodyPr>
          <a:lstStyle/>
          <a:p>
            <a:pPr algn="l">
              <a:spcBef>
                <a:spcPts val="0"/>
              </a:spcBef>
              <a:spcAft>
                <a:spcPts val="0"/>
              </a:spcAft>
            </a:pPr>
            <a:r>
              <a:rPr lang="tr-TR" sz="2500" b="1" i="0">
                <a:solidFill>
                  <a:srgbClr val="FFFFFF"/>
                </a:solidFill>
                <a:latin typeface="Calibri"/>
              </a:rPr>
              <a:t>Nüfusun zaman içerisindeki değişimini tablo ve grafikler aracılığı ile yorumlayabilme</a:t>
            </a:r>
          </a:p>
        </p:txBody>
      </p:sp>
      <p:sp>
        <p:nvSpPr>
          <p:cNvPr id="11" name="TextBox 10"/>
          <p:cNvSpPr txBox="1"/>
          <p:nvPr/>
        </p:nvSpPr>
        <p:spPr>
          <a:xfrm>
            <a:off x="3063240" y="3515868"/>
            <a:ext cx="8412480" cy="347472"/>
          </a:xfrm>
          <a:prstGeom prst="rect">
            <a:avLst/>
          </a:prstGeom>
          <a:noFill/>
        </p:spPr>
        <p:txBody>
          <a:bodyPr wrap="square" anchor="t" lIns="73152" rIns="73152" tIns="36576" bIns="36576">
            <a:noAutofit/>
          </a:bodyPr>
          <a:lstStyle/>
          <a:p>
            <a:pPr algn="l">
              <a:spcBef>
                <a:spcPts val="0"/>
              </a:spcBef>
              <a:spcAft>
                <a:spcPts val="0"/>
              </a:spcAft>
            </a:pPr>
            <a:r>
              <a:rPr lang="tr-TR" sz="1500" b="1" i="0">
                <a:solidFill>
                  <a:srgbClr val="FCC021"/>
                </a:solidFill>
                <a:latin typeface="Calibri"/>
              </a:rPr>
              <a:t>Süreç bileşenleri</a:t>
            </a:r>
          </a:p>
        </p:txBody>
      </p:sp>
      <p:sp>
        <p:nvSpPr>
          <p:cNvPr id="12" name="TextBox 11"/>
          <p:cNvSpPr txBox="1"/>
          <p:nvPr/>
        </p:nvSpPr>
        <p:spPr>
          <a:xfrm>
            <a:off x="3063240" y="3881628"/>
            <a:ext cx="8412480" cy="2043684"/>
          </a:xfrm>
          <a:prstGeom prst="rect">
            <a:avLst/>
          </a:prstGeom>
          <a:noFill/>
        </p:spPr>
        <p:txBody>
          <a:bodyPr wrap="square" anchor="t" lIns="73152" rIns="73152" tIns="36576" bIns="36576">
            <a:noAutofit/>
          </a:bodyPr>
          <a:lstStyle/>
          <a:p>
            <a:pPr algn="l" marL="320722" indent="-320722">
              <a:spcBef>
                <a:spcPts val="0"/>
              </a:spcBef>
              <a:spcAft>
                <a:spcPts val="487"/>
              </a:spcAft>
            </a:pPr>
            <a:r>
              <a:rPr lang="tr-TR" sz="1950" b="1" i="0">
                <a:solidFill>
                  <a:srgbClr val="FCC021"/>
                </a:solidFill>
                <a:latin typeface="Calibri"/>
              </a:rPr>
              <a:t>a)  </a:t>
            </a:r>
            <a:r>
              <a:rPr lang="tr-TR" sz="1950" b="0" i="0">
                <a:solidFill>
                  <a:srgbClr val="FFFFFF"/>
                </a:solidFill>
                <a:latin typeface="Calibri"/>
              </a:rPr>
              <a:t>Nüfusun zaman içerisindeki değişimini gösteren tablo ve grafiklerdeki bileşenleri anlamlandırır.</a:t>
            </a:r>
          </a:p>
          <a:p>
            <a:pPr algn="l" marL="331683" indent="-331683">
              <a:spcBef>
                <a:spcPts val="0"/>
              </a:spcBef>
              <a:spcAft>
                <a:spcPts val="487"/>
              </a:spcAft>
            </a:pPr>
            <a:r>
              <a:rPr lang="tr-TR" sz="1950" b="1" i="0">
                <a:solidFill>
                  <a:srgbClr val="FCC021"/>
                </a:solidFill>
                <a:latin typeface="Calibri"/>
              </a:rPr>
              <a:t>b)  </a:t>
            </a:r>
            <a:r>
              <a:rPr lang="tr-TR" sz="1950" b="0" i="0">
                <a:solidFill>
                  <a:srgbClr val="FFFFFF"/>
                </a:solidFill>
                <a:latin typeface="Calibri"/>
              </a:rPr>
              <a:t>Nüfusun zaman içerisindeki değişimini gösteren tablo ve grafiklerdeki bileşenler arası ilişkileri çözümler.</a:t>
            </a:r>
          </a:p>
          <a:p>
            <a:pPr algn="l" marL="301551" indent="-301551">
              <a:spcBef>
                <a:spcPts val="0"/>
              </a:spcBef>
              <a:spcAft>
                <a:spcPts val="0"/>
              </a:spcAft>
            </a:pPr>
            <a:r>
              <a:rPr lang="tr-TR" sz="1950" b="1" i="0">
                <a:solidFill>
                  <a:srgbClr val="FCC021"/>
                </a:solidFill>
                <a:latin typeface="Calibri"/>
              </a:rPr>
              <a:t>c)  </a:t>
            </a:r>
            <a:r>
              <a:rPr lang="tr-TR" sz="1950" b="0" i="0">
                <a:solidFill>
                  <a:srgbClr val="FFFFFF"/>
                </a:solidFill>
                <a:latin typeface="Calibri"/>
              </a:rPr>
              <a:t>Nüfusun zaman içerisindeki değişimine dair incelediği tablo ve grafiklerden sonuçlar çıkarır.</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F0F0F0"/>
                </a:solidFill>
                <a:latin typeface="Calibri"/>
              </a:rPr>
              <a:t>9. Sınıf Coğrafya · 4. Ünite: Beşerî Sistemler ve Süreçler</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F0F0F0"/>
                </a:solidFill>
                <a:latin typeface="Calibri"/>
              </a:rPr>
              <a:t>5 / 379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Bugün neler yapacağız?</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20. HAFTA</a:t>
            </a:r>
          </a:p>
        </p:txBody>
      </p:sp>
      <p:cxnSp>
        <p:nvCxnSpPr>
          <p:cNvPr id="6" name="Connector 5"/>
          <p:cNvCxnSpPr/>
          <p:nvPr/>
        </p:nvCxnSpPr>
        <p:spPr>
          <a:xfrm>
            <a:off x="1541038" y="2212848"/>
            <a:ext cx="9109616" cy="0"/>
          </a:xfrm>
          <a:prstGeom prst="line">
            <a:avLst/>
          </a:prstGeom>
          <a:ln w="50800">
            <a:solidFill>
              <a:srgbClr val="D9D9D9"/>
            </a:solidFill>
          </a:ln>
        </p:spPr>
      </p:cxnSp>
      <p:sp>
        <p:nvSpPr>
          <p:cNvPr id="7" name="Oval 6"/>
          <p:cNvSpPr/>
          <p:nvPr/>
        </p:nvSpPr>
        <p:spPr>
          <a:xfrm>
            <a:off x="1156990" y="1828800"/>
            <a:ext cx="768096" cy="768096"/>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1</a:t>
            </a:r>
          </a:p>
        </p:txBody>
      </p:sp>
      <p:sp>
        <p:nvSpPr>
          <p:cNvPr id="8" name="Rounded Rectangle 7"/>
          <p:cNvSpPr/>
          <p:nvPr/>
        </p:nvSpPr>
        <p:spPr>
          <a:xfrm>
            <a:off x="502920"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Nereden başlıyoruz?</a:t>
            </a:r>
          </a:p>
        </p:txBody>
      </p:sp>
      <p:sp>
        <p:nvSpPr>
          <p:cNvPr id="9" name="TextBox 8"/>
          <p:cNvSpPr txBox="1"/>
          <p:nvPr/>
        </p:nvSpPr>
        <p:spPr>
          <a:xfrm>
            <a:off x="502920"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İstanbul'un nüfusu, kelime testi, 3-2-1</a:t>
            </a:r>
          </a:p>
        </p:txBody>
      </p:sp>
      <p:sp>
        <p:nvSpPr>
          <p:cNvPr id="10" name="Oval 9"/>
          <p:cNvSpPr/>
          <p:nvPr/>
        </p:nvSpPr>
        <p:spPr>
          <a:xfrm>
            <a:off x="3434394"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2</a:t>
            </a:r>
          </a:p>
        </p:txBody>
      </p:sp>
      <p:sp>
        <p:nvSpPr>
          <p:cNvPr id="11" name="Rounded Rectangle 10"/>
          <p:cNvSpPr/>
          <p:nvPr/>
        </p:nvSpPr>
        <p:spPr>
          <a:xfrm>
            <a:off x="2780324"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Üç sıçrama</a:t>
            </a:r>
          </a:p>
        </p:txBody>
      </p:sp>
      <p:sp>
        <p:nvSpPr>
          <p:cNvPr id="12" name="TextBox 11"/>
          <p:cNvSpPr txBox="1"/>
          <p:nvPr/>
        </p:nvSpPr>
        <p:spPr>
          <a:xfrm>
            <a:off x="2780324"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Çatalhöyük'ten Sanayi Devrimi'ne</a:t>
            </a:r>
          </a:p>
        </p:txBody>
      </p:sp>
      <p:sp>
        <p:nvSpPr>
          <p:cNvPr id="13" name="Oval 12"/>
          <p:cNvSpPr/>
          <p:nvPr/>
        </p:nvSpPr>
        <p:spPr>
          <a:xfrm>
            <a:off x="5711798" y="1828800"/>
            <a:ext cx="768096" cy="768096"/>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3</a:t>
            </a:r>
          </a:p>
        </p:txBody>
      </p:sp>
      <p:sp>
        <p:nvSpPr>
          <p:cNvPr id="14" name="Rounded Rectangle 13"/>
          <p:cNvSpPr/>
          <p:nvPr/>
        </p:nvSpPr>
        <p:spPr>
          <a:xfrm>
            <a:off x="5057728"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Grafik okuma</a:t>
            </a:r>
          </a:p>
        </p:txBody>
      </p:sp>
      <p:sp>
        <p:nvSpPr>
          <p:cNvPr id="15" name="TextBox 14"/>
          <p:cNvSpPr txBox="1"/>
          <p:nvPr/>
        </p:nvSpPr>
        <p:spPr>
          <a:xfrm>
            <a:off x="5057728"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Yedi adım ve Grafik 4.1</a:t>
            </a:r>
          </a:p>
        </p:txBody>
      </p:sp>
      <p:sp>
        <p:nvSpPr>
          <p:cNvPr id="16" name="Oval 15"/>
          <p:cNvSpPr/>
          <p:nvPr/>
        </p:nvSpPr>
        <p:spPr>
          <a:xfrm>
            <a:off x="7989202"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4</a:t>
            </a:r>
          </a:p>
        </p:txBody>
      </p:sp>
      <p:sp>
        <p:nvSpPr>
          <p:cNvPr id="17" name="Rounded Rectangle 16"/>
          <p:cNvSpPr/>
          <p:nvPr/>
        </p:nvSpPr>
        <p:spPr>
          <a:xfrm>
            <a:off x="7335132"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Etkinlik</a:t>
            </a:r>
          </a:p>
        </p:txBody>
      </p:sp>
      <p:sp>
        <p:nvSpPr>
          <p:cNvPr id="18" name="TextBox 17"/>
          <p:cNvSpPr txBox="1"/>
          <p:nvPr/>
        </p:nvSpPr>
        <p:spPr>
          <a:xfrm>
            <a:off x="7335132"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Dünya nüfusunun milyar basamakları</a:t>
            </a:r>
          </a:p>
        </p:txBody>
      </p:sp>
      <p:sp>
        <p:nvSpPr>
          <p:cNvPr id="19" name="Oval 18"/>
          <p:cNvSpPr/>
          <p:nvPr/>
        </p:nvSpPr>
        <p:spPr>
          <a:xfrm>
            <a:off x="10266606" y="1828800"/>
            <a:ext cx="768096" cy="768096"/>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5</a:t>
            </a:r>
          </a:p>
        </p:txBody>
      </p:sp>
      <p:sp>
        <p:nvSpPr>
          <p:cNvPr id="20" name="Rounded Rectangle 19"/>
          <p:cNvSpPr/>
          <p:nvPr/>
        </p:nvSpPr>
        <p:spPr>
          <a:xfrm>
            <a:off x="9612536" y="2788920"/>
            <a:ext cx="2076236"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Gelecek</a:t>
            </a:r>
          </a:p>
        </p:txBody>
      </p:sp>
      <p:sp>
        <p:nvSpPr>
          <p:cNvPr id="21" name="TextBox 20"/>
          <p:cNvSpPr txBox="1"/>
          <p:nvPr/>
        </p:nvSpPr>
        <p:spPr>
          <a:xfrm>
            <a:off x="9612536" y="4041648"/>
            <a:ext cx="2076236"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2100'de dünya nüfusu ne olacak?</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 / 379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Yeni ünite, yeni gruplar, öğrenme günlüğü</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20. HAFTA</a:t>
            </a:r>
          </a:p>
        </p:txBody>
      </p:sp>
      <p:sp>
        <p:nvSpPr>
          <p:cNvPr id="6" name="Rounded Rectangle 5"/>
          <p:cNvSpPr/>
          <p:nvPr/>
        </p:nvSpPr>
        <p:spPr>
          <a:xfrm>
            <a:off x="502920" y="1261872"/>
            <a:ext cx="5455767" cy="498348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5455767" cy="530352"/>
          </a:xfrm>
          <a:prstGeom prst="roundRect">
            <a:avLst>
              <a:gd name="adj" fmla="val 25000"/>
            </a:avLst>
          </a:prstGeom>
          <a:solidFill>
            <a:srgbClr val="2C6696"/>
          </a:solidFill>
          <a:ln>
            <a:noFill/>
          </a:ln>
          <a:effectLst/>
        </p:spPr>
        <p:txBody>
          <a:bodyPr rtlCol="0" anchor="ctr"/>
          <a:lstStyle/>
          <a:p/>
        </p:txBody>
      </p:sp>
      <p:sp>
        <p:nvSpPr>
          <p:cNvPr id="8" name="Rectangle 7"/>
          <p:cNvSpPr/>
          <p:nvPr/>
        </p:nvSpPr>
        <p:spPr>
          <a:xfrm>
            <a:off x="502920" y="1527048"/>
            <a:ext cx="5455767" cy="265176"/>
          </a:xfrm>
          <a:prstGeom prst="rect">
            <a:avLst/>
          </a:prstGeom>
          <a:solidFill>
            <a:srgbClr val="2C6696"/>
          </a:solidFill>
          <a:ln>
            <a:noFill/>
          </a:ln>
          <a:effectLst/>
        </p:spPr>
        <p:txBody>
          <a:bodyPr rtlCol="0" anchor="ctr"/>
          <a:lstStyle/>
          <a:p/>
        </p:txBody>
      </p:sp>
      <p:sp>
        <p:nvSpPr>
          <p:cNvPr id="9" name="TextBox 8"/>
          <p:cNvSpPr txBox="1"/>
          <p:nvPr/>
        </p:nvSpPr>
        <p:spPr>
          <a:xfrm>
            <a:off x="594360" y="126187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400" b="1" i="0">
                <a:solidFill>
                  <a:srgbClr val="FFFFFF"/>
                </a:solidFill>
                <a:latin typeface="Calibri"/>
              </a:rPr>
              <a:t>Yeni gruplarımız</a:t>
            </a:r>
          </a:p>
        </p:txBody>
      </p:sp>
      <p:sp>
        <p:nvSpPr>
          <p:cNvPr id="10" name="TextBox 9"/>
          <p:cNvSpPr txBox="1"/>
          <p:nvPr/>
        </p:nvSpPr>
        <p:spPr>
          <a:xfrm>
            <a:off x="612648" y="1865376"/>
            <a:ext cx="5236311" cy="4306824"/>
          </a:xfrm>
          <a:prstGeom prst="rect">
            <a:avLst/>
          </a:prstGeom>
          <a:noFill/>
        </p:spPr>
        <p:txBody>
          <a:bodyPr wrap="square" anchor="ctr" lIns="73152" rIns="73152" tIns="36576" bIns="36576">
            <a:noAutofit/>
          </a:bodyPr>
          <a:lstStyle/>
          <a:p>
            <a:pPr algn="l" marL="323206" indent="-323206">
              <a:spcBef>
                <a:spcPts val="0"/>
              </a:spcBef>
              <a:spcAft>
                <a:spcPts val="600"/>
              </a:spcAft>
            </a:pPr>
            <a:r>
              <a:rPr lang="tr-TR" sz="2600" b="1" i="0">
                <a:solidFill>
                  <a:srgbClr val="2C6696"/>
                </a:solidFill>
                <a:latin typeface="Calibri"/>
              </a:rPr>
              <a:t>•  </a:t>
            </a:r>
            <a:r>
              <a:rPr lang="tr-TR" sz="2600" b="0" i="0">
                <a:solidFill>
                  <a:srgbClr val="262626"/>
                </a:solidFill>
                <a:latin typeface="Calibri"/>
              </a:rPr>
              <a:t>8 grup: 6 grup 4 kişi, 2 grup 5 kişi</a:t>
            </a:r>
          </a:p>
          <a:p>
            <a:pPr algn="l" marL="323206" indent="-323206">
              <a:spcBef>
                <a:spcPts val="0"/>
              </a:spcBef>
              <a:spcAft>
                <a:spcPts val="600"/>
              </a:spcAft>
            </a:pPr>
            <a:r>
              <a:rPr lang="tr-TR" sz="2600" b="1" i="0">
                <a:solidFill>
                  <a:srgbClr val="2C6696"/>
                </a:solidFill>
                <a:latin typeface="Calibri"/>
              </a:rPr>
              <a:t>•  </a:t>
            </a:r>
            <a:r>
              <a:rPr lang="tr-TR" sz="2600" b="0" i="0">
                <a:solidFill>
                  <a:srgbClr val="262626"/>
                </a:solidFill>
                <a:latin typeface="Calibri"/>
              </a:rPr>
              <a:t>Grup listesi tahtada</a:t>
            </a:r>
          </a:p>
          <a:p>
            <a:pPr algn="l" marL="323206" indent="-323206">
              <a:spcBef>
                <a:spcPts val="0"/>
              </a:spcBef>
              <a:spcAft>
                <a:spcPts val="600"/>
              </a:spcAft>
            </a:pPr>
            <a:r>
              <a:rPr lang="tr-TR" sz="2600" b="1" i="0">
                <a:solidFill>
                  <a:srgbClr val="2C6696"/>
                </a:solidFill>
                <a:latin typeface="Calibri"/>
              </a:rPr>
              <a:t>•  </a:t>
            </a:r>
            <a:r>
              <a:rPr lang="tr-TR" sz="2600" b="0" i="0">
                <a:solidFill>
                  <a:srgbClr val="262626"/>
                </a:solidFill>
                <a:latin typeface="Calibri"/>
              </a:rPr>
              <a:t>Roller: sözcü · yazıcı · zaman ve malzeme · harita/veri okuyucu (5 kişilikte editör)</a:t>
            </a:r>
          </a:p>
          <a:p>
            <a:pPr algn="l" marL="323206" indent="-323206">
              <a:spcBef>
                <a:spcPts val="0"/>
              </a:spcBef>
              <a:spcAft>
                <a:spcPts val="0"/>
              </a:spcAft>
            </a:pPr>
            <a:r>
              <a:rPr lang="tr-TR" sz="2600" b="1" i="0">
                <a:solidFill>
                  <a:srgbClr val="2C6696"/>
                </a:solidFill>
                <a:latin typeface="Calibri"/>
              </a:rPr>
              <a:t>•  </a:t>
            </a:r>
            <a:r>
              <a:rPr lang="tr-TR" sz="2600" b="0" i="0">
                <a:solidFill>
                  <a:srgbClr val="262626"/>
                </a:solidFill>
                <a:latin typeface="Calibri"/>
              </a:rPr>
              <a:t>Roller her hafta döner</a:t>
            </a:r>
          </a:p>
        </p:txBody>
      </p:sp>
      <p:sp>
        <p:nvSpPr>
          <p:cNvPr id="11" name="Rounded Rectangle 10"/>
          <p:cNvSpPr/>
          <p:nvPr/>
        </p:nvSpPr>
        <p:spPr>
          <a:xfrm>
            <a:off x="6233007" y="1261872"/>
            <a:ext cx="5455767" cy="498348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6233007" y="1261872"/>
            <a:ext cx="5455767"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6233007" y="1527048"/>
            <a:ext cx="5455767" cy="265176"/>
          </a:xfrm>
          <a:prstGeom prst="rect">
            <a:avLst/>
          </a:prstGeom>
          <a:solidFill>
            <a:srgbClr val="4F4F4F"/>
          </a:solidFill>
          <a:ln>
            <a:noFill/>
          </a:ln>
          <a:effectLst/>
        </p:spPr>
        <p:txBody>
          <a:bodyPr rtlCol="0" anchor="ctr"/>
          <a:lstStyle/>
          <a:p/>
        </p:txBody>
      </p:sp>
      <p:sp>
        <p:nvSpPr>
          <p:cNvPr id="14" name="TextBox 13"/>
          <p:cNvSpPr txBox="1"/>
          <p:nvPr/>
        </p:nvSpPr>
        <p:spPr>
          <a:xfrm>
            <a:off x="6324447" y="126187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400" b="1" i="0">
                <a:solidFill>
                  <a:srgbClr val="FFFFFF"/>
                </a:solidFill>
                <a:latin typeface="Calibri"/>
              </a:rPr>
              <a:t>Öğrenme günlüğü</a:t>
            </a:r>
          </a:p>
        </p:txBody>
      </p:sp>
      <p:sp>
        <p:nvSpPr>
          <p:cNvPr id="15" name="TextBox 14"/>
          <p:cNvSpPr txBox="1"/>
          <p:nvPr/>
        </p:nvSpPr>
        <p:spPr>
          <a:xfrm>
            <a:off x="6342735" y="1865376"/>
            <a:ext cx="5236311" cy="4306824"/>
          </a:xfrm>
          <a:prstGeom prst="rect">
            <a:avLst/>
          </a:prstGeom>
          <a:noFill/>
        </p:spPr>
        <p:txBody>
          <a:bodyPr wrap="square" anchor="ctr" lIns="73152" rIns="73152" tIns="36576" bIns="36576">
            <a:noAutofit/>
          </a:bodyPr>
          <a:lstStyle/>
          <a:p>
            <a:pPr algn="l" marL="323206" indent="-323206">
              <a:spcBef>
                <a:spcPts val="0"/>
              </a:spcBef>
              <a:spcAft>
                <a:spcPts val="600"/>
              </a:spcAft>
            </a:pPr>
            <a:r>
              <a:rPr lang="tr-TR" sz="2600" b="1" i="0">
                <a:solidFill>
                  <a:srgbClr val="2C6696"/>
                </a:solidFill>
                <a:latin typeface="Calibri"/>
              </a:rPr>
              <a:t>•  </a:t>
            </a:r>
            <a:r>
              <a:rPr lang="tr-TR" sz="2600" b="0" i="0">
                <a:solidFill>
                  <a:srgbClr val="262626"/>
                </a:solidFill>
                <a:latin typeface="Calibri"/>
              </a:rPr>
              <a:t>Defterinin son 6 sayfası</a:t>
            </a:r>
          </a:p>
          <a:p>
            <a:pPr algn="l" marL="323206" indent="-323206">
              <a:spcBef>
                <a:spcPts val="0"/>
              </a:spcBef>
              <a:spcAft>
                <a:spcPts val="600"/>
              </a:spcAft>
            </a:pPr>
            <a:r>
              <a:rPr lang="tr-TR" sz="2600" b="1" i="0">
                <a:solidFill>
                  <a:srgbClr val="2C6696"/>
                </a:solidFill>
                <a:latin typeface="Calibri"/>
              </a:rPr>
              <a:t>•  </a:t>
            </a:r>
            <a:r>
              <a:rPr lang="tr-TR" sz="2600" b="0" i="0">
                <a:solidFill>
                  <a:srgbClr val="262626"/>
                </a:solidFill>
                <a:latin typeface="Calibri"/>
              </a:rPr>
              <a:t>Her hafta sonunda 3-4 cümle:</a:t>
            </a:r>
          </a:p>
          <a:p>
            <a:pPr algn="l">
              <a:spcBef>
                <a:spcPts val="0"/>
              </a:spcBef>
              <a:spcAft>
                <a:spcPts val="600"/>
              </a:spcAft>
            </a:pPr>
            <a:r>
              <a:rPr lang="tr-TR" sz="2600" b="0" i="1">
                <a:solidFill>
                  <a:srgbClr val="4F4F4F"/>
                </a:solidFill>
                <a:latin typeface="Calibri"/>
              </a:rPr>
              <a:t>Ne öğrendim? Nerede zorlandım? Neyi merak ediyorum?</a:t>
            </a:r>
          </a:p>
          <a:p>
            <a:pPr algn="l" marL="323206" indent="-323206">
              <a:spcBef>
                <a:spcPts val="0"/>
              </a:spcBef>
              <a:spcAft>
                <a:spcPts val="600"/>
              </a:spcAft>
            </a:pPr>
            <a:r>
              <a:rPr lang="tr-TR" sz="2600" b="1" i="0">
                <a:solidFill>
                  <a:srgbClr val="2C6696"/>
                </a:solidFill>
                <a:latin typeface="Calibri"/>
              </a:rPr>
              <a:t>•  </a:t>
            </a:r>
            <a:r>
              <a:rPr lang="tr-TR" sz="2600" b="0" i="0">
                <a:solidFill>
                  <a:srgbClr val="262626"/>
                </a:solidFill>
                <a:latin typeface="Calibri"/>
              </a:rPr>
              <a:t>İlk kayıt bugün: 3-2-1 Başla</a:t>
            </a:r>
          </a:p>
          <a:p>
            <a:pPr algn="l" marL="323206" indent="-323206">
              <a:spcBef>
                <a:spcPts val="0"/>
              </a:spcBef>
              <a:spcAft>
                <a:spcPts val="0"/>
              </a:spcAft>
            </a:pPr>
            <a:r>
              <a:rPr lang="tr-TR" sz="2600" b="1" i="0">
                <a:solidFill>
                  <a:srgbClr val="2C6696"/>
                </a:solidFill>
                <a:latin typeface="Calibri"/>
              </a:rPr>
              <a:t>•  </a:t>
            </a:r>
            <a:r>
              <a:rPr lang="tr-TR" sz="2600" b="0" i="0">
                <a:solidFill>
                  <a:srgbClr val="262626"/>
                </a:solidFill>
                <a:latin typeface="Calibri"/>
              </a:rPr>
              <a:t>27. haftada toplanır</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 / 379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Nereden başlıyoruz? Yaşadığımız ilin nüfusu</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ÖN DEĞERLENDİRME</a:t>
            </a:r>
          </a:p>
        </p:txBody>
      </p:sp>
      <p:sp>
        <p:nvSpPr>
          <p:cNvPr id="6" name="TextBox 5"/>
          <p:cNvSpPr txBox="1"/>
          <p:nvPr/>
        </p:nvSpPr>
        <p:spPr>
          <a:xfrm>
            <a:off x="502920" y="1170432"/>
            <a:ext cx="11185855" cy="502920"/>
          </a:xfrm>
          <a:prstGeom prst="rect">
            <a:avLst/>
          </a:prstGeom>
          <a:noFill/>
        </p:spPr>
        <p:txBody>
          <a:bodyPr wrap="square" anchor="ctr" lIns="73152" rIns="73152" tIns="36576" bIns="36576">
            <a:noAutofit/>
          </a:bodyPr>
          <a:lstStyle/>
          <a:p>
            <a:pPr algn="ctr">
              <a:spcBef>
                <a:spcPts val="0"/>
              </a:spcBef>
              <a:spcAft>
                <a:spcPts val="0"/>
              </a:spcAft>
            </a:pPr>
            <a:r>
              <a:rPr lang="tr-TR" sz="2000" b="0" i="1">
                <a:solidFill>
                  <a:srgbClr val="767676"/>
                </a:solidFill>
                <a:latin typeface="Calibri"/>
              </a:rPr>
              <a:t>İstanbul'un toplam nüfusu · kaynak: TÜİK · değerleri öğretmenimiz tahtaya yazar</a:t>
            </a:r>
          </a:p>
        </p:txBody>
      </p:sp>
      <p:sp>
        <p:nvSpPr>
          <p:cNvPr id="7" name="Rounded Rectangle 6"/>
          <p:cNvSpPr/>
          <p:nvPr/>
        </p:nvSpPr>
        <p:spPr>
          <a:xfrm>
            <a:off x="1051560" y="1810512"/>
            <a:ext cx="3931920" cy="1828800"/>
          </a:xfrm>
          <a:prstGeom prst="roundRect">
            <a:avLst>
              <a:gd name="adj" fmla="val 8000"/>
            </a:avLst>
          </a:prstGeom>
          <a:solidFill>
            <a:srgbClr val="E3ECF5"/>
          </a:solidFill>
          <a:ln w="25400">
            <a:solidFill>
              <a:srgbClr val="2C6696"/>
            </a:solidFill>
          </a:ln>
          <a:effectLst/>
        </p:spPr>
        <p:txBody>
          <a:bodyPr rtlCol="0" anchor="ctr" wrap="square" lIns="128016" rIns="128016" tIns="73152" bIns="73152">
            <a:noAutofit/>
          </a:bodyPr>
          <a:lstStyle/>
          <a:p>
            <a:pPr algn="ctr">
              <a:spcBef>
                <a:spcPts val="0"/>
              </a:spcBef>
              <a:spcAft>
                <a:spcPts val="1000"/>
              </a:spcAft>
            </a:pPr>
            <a:r>
              <a:rPr lang="tr-TR" sz="3200" b="1" i="0">
                <a:solidFill>
                  <a:srgbClr val="2C6696"/>
                </a:solidFill>
                <a:latin typeface="Calibri"/>
              </a:rPr>
              <a:t>…… yılı</a:t>
            </a:r>
          </a:p>
          <a:p>
            <a:pPr algn="ctr">
              <a:spcBef>
                <a:spcPts val="0"/>
              </a:spcBef>
              <a:spcAft>
                <a:spcPts val="0"/>
              </a:spcAft>
            </a:pPr>
            <a:r>
              <a:rPr lang="tr-TR" sz="3200" b="0" i="0">
                <a:solidFill>
                  <a:srgbClr val="262626"/>
                </a:solidFill>
                <a:latin typeface="Calibri"/>
              </a:rPr>
              <a:t>……………… kişi</a:t>
            </a:r>
          </a:p>
        </p:txBody>
      </p:sp>
      <p:sp>
        <p:nvSpPr>
          <p:cNvPr id="8" name="Rounded Rectangle 7"/>
          <p:cNvSpPr/>
          <p:nvPr/>
        </p:nvSpPr>
        <p:spPr>
          <a:xfrm>
            <a:off x="7208215" y="1810512"/>
            <a:ext cx="3931920" cy="1828800"/>
          </a:xfrm>
          <a:prstGeom prst="roundRect">
            <a:avLst>
              <a:gd name="adj" fmla="val 8000"/>
            </a:avLst>
          </a:prstGeom>
          <a:solidFill>
            <a:srgbClr val="E3ECF5"/>
          </a:solidFill>
          <a:ln w="25400">
            <a:solidFill>
              <a:srgbClr val="2C6696"/>
            </a:solidFill>
          </a:ln>
          <a:effectLst/>
        </p:spPr>
        <p:txBody>
          <a:bodyPr rtlCol="0" anchor="ctr" wrap="square" lIns="128016" rIns="128016" tIns="73152" bIns="73152">
            <a:noAutofit/>
          </a:bodyPr>
          <a:lstStyle/>
          <a:p>
            <a:pPr algn="ctr">
              <a:spcBef>
                <a:spcPts val="0"/>
              </a:spcBef>
              <a:spcAft>
                <a:spcPts val="1000"/>
              </a:spcAft>
            </a:pPr>
            <a:r>
              <a:rPr lang="tr-TR" sz="3200" b="1" i="0">
                <a:solidFill>
                  <a:srgbClr val="2C6696"/>
                </a:solidFill>
                <a:latin typeface="Calibri"/>
              </a:rPr>
              <a:t>…… yılı</a:t>
            </a:r>
          </a:p>
          <a:p>
            <a:pPr algn="ctr">
              <a:spcBef>
                <a:spcPts val="0"/>
              </a:spcBef>
              <a:spcAft>
                <a:spcPts val="0"/>
              </a:spcAft>
            </a:pPr>
            <a:r>
              <a:rPr lang="tr-TR" sz="3200" b="0" i="0">
                <a:solidFill>
                  <a:srgbClr val="262626"/>
                </a:solidFill>
                <a:latin typeface="Calibri"/>
              </a:rPr>
              <a:t>……………… kişi</a:t>
            </a:r>
          </a:p>
        </p:txBody>
      </p:sp>
      <p:cxnSp>
        <p:nvCxnSpPr>
          <p:cNvPr id="9" name="Connector 8"/>
          <p:cNvCxnSpPr/>
          <p:nvPr/>
        </p:nvCxnSpPr>
        <p:spPr>
          <a:xfrm>
            <a:off x="5120640" y="2724912"/>
            <a:ext cx="1950415" cy="0"/>
          </a:xfrm>
          <a:prstGeom prst="line">
            <a:avLst/>
          </a:prstGeom>
          <a:ln w="50800">
            <a:solidFill>
              <a:srgbClr val="4F4F4F"/>
            </a:solidFill>
            <a:tailEnd type="triangle" w="med" len="med"/>
          </a:ln>
        </p:spPr>
      </p:cxnSp>
      <p:sp>
        <p:nvSpPr>
          <p:cNvPr id="10" name="Oval 9"/>
          <p:cNvSpPr/>
          <p:nvPr/>
        </p:nvSpPr>
        <p:spPr>
          <a:xfrm>
            <a:off x="5711799" y="1837944"/>
            <a:ext cx="768096" cy="768096"/>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200" b="1" i="0">
                <a:solidFill>
                  <a:srgbClr val="262626"/>
                </a:solidFill>
                <a:latin typeface="Calibri"/>
              </a:rPr>
              <a:t>?</a:t>
            </a:r>
          </a:p>
        </p:txBody>
      </p:sp>
      <p:sp>
        <p:nvSpPr>
          <p:cNvPr id="11" name="Oval 10"/>
          <p:cNvSpPr/>
          <p:nvPr/>
        </p:nvSpPr>
        <p:spPr>
          <a:xfrm>
            <a:off x="502920" y="4096512"/>
            <a:ext cx="548640" cy="54864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1</a:t>
            </a:r>
          </a:p>
        </p:txBody>
      </p:sp>
      <p:sp>
        <p:nvSpPr>
          <p:cNvPr id="12" name="Rounded Rectangle 11"/>
          <p:cNvSpPr/>
          <p:nvPr/>
        </p:nvSpPr>
        <p:spPr>
          <a:xfrm>
            <a:off x="1234440" y="3913632"/>
            <a:ext cx="10454335" cy="91440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Nüfus artmış mı, azalmış mı? Ne kadar?</a:t>
            </a:r>
          </a:p>
        </p:txBody>
      </p:sp>
      <p:sp>
        <p:nvSpPr>
          <p:cNvPr id="13" name="Oval 12"/>
          <p:cNvSpPr/>
          <p:nvPr/>
        </p:nvSpPr>
        <p:spPr>
          <a:xfrm>
            <a:off x="502920" y="5148072"/>
            <a:ext cx="548640" cy="54864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200" b="1" i="0">
                <a:solidFill>
                  <a:srgbClr val="FFFFFF"/>
                </a:solidFill>
                <a:latin typeface="Calibri"/>
              </a:rPr>
              <a:t>2</a:t>
            </a:r>
          </a:p>
        </p:txBody>
      </p:sp>
      <p:sp>
        <p:nvSpPr>
          <p:cNvPr id="14" name="Rounded Rectangle 13"/>
          <p:cNvSpPr/>
          <p:nvPr/>
        </p:nvSpPr>
        <p:spPr>
          <a:xfrm>
            <a:off x="1234440" y="4965192"/>
            <a:ext cx="10454335" cy="91440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Sizce nedeni ne olabilir? Tahmin et, sıra arkadaşınla karşılaştır.</a:t>
            </a:r>
          </a:p>
        </p:txBody>
      </p:sp>
      <p:sp>
        <p:nvSpPr>
          <p:cNvPr id="15" name="TextBox 1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16" name="TextBox 1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 / 379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Yaşadığımız ilin nüfusu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11185855" cy="91440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400" b="1" i="0">
                <a:solidFill>
                  <a:srgbClr val="262626"/>
                </a:solidFill>
                <a:latin typeface="Calibri"/>
              </a:rPr>
              <a:t>Değişimi bul: fark = sonraki yıl − önceki yıl  →  fark artı ise artış, eksi ise azalış</a:t>
            </a:r>
          </a:p>
        </p:txBody>
      </p:sp>
      <p:sp>
        <p:nvSpPr>
          <p:cNvPr id="7" name="Rounded Rectangle 6"/>
          <p:cNvSpPr/>
          <p:nvPr/>
        </p:nvSpPr>
        <p:spPr>
          <a:xfrm>
            <a:off x="502920" y="2313432"/>
            <a:ext cx="5478627" cy="3108960"/>
          </a:xfrm>
          <a:prstGeom prst="roundRect">
            <a:avLst>
              <a:gd name="adj" fmla="val 6000"/>
            </a:avLst>
          </a:prstGeom>
          <a:solidFill>
            <a:srgbClr val="E3F1E4"/>
          </a:solidFill>
          <a:ln>
            <a:noFill/>
          </a:ln>
          <a:effectLst/>
        </p:spPr>
        <p:txBody>
          <a:bodyPr rtlCol="0" anchor="ctr"/>
          <a:lstStyle/>
          <a:p/>
        </p:txBody>
      </p:sp>
      <p:sp>
        <p:nvSpPr>
          <p:cNvPr id="8" name="Rectangle 7"/>
          <p:cNvSpPr/>
          <p:nvPr/>
        </p:nvSpPr>
        <p:spPr>
          <a:xfrm>
            <a:off x="502920" y="2313432"/>
            <a:ext cx="109728" cy="3108960"/>
          </a:xfrm>
          <a:prstGeom prst="rect">
            <a:avLst/>
          </a:prstGeom>
          <a:solidFill>
            <a:srgbClr val="2E7D32"/>
          </a:solidFill>
          <a:ln>
            <a:noFill/>
          </a:ln>
          <a:effectLst/>
        </p:spPr>
        <p:txBody>
          <a:bodyPr rtlCol="0" anchor="ctr"/>
          <a:lstStyle/>
          <a:p/>
        </p:txBody>
      </p:sp>
      <p:sp>
        <p:nvSpPr>
          <p:cNvPr id="9" name="TextBox 8"/>
          <p:cNvSpPr txBox="1"/>
          <p:nvPr/>
        </p:nvSpPr>
        <p:spPr>
          <a:xfrm>
            <a:off x="731520" y="2368296"/>
            <a:ext cx="5158587" cy="2999232"/>
          </a:xfrm>
          <a:prstGeom prst="rect">
            <a:avLst/>
          </a:prstGeom>
          <a:noFill/>
        </p:spPr>
        <p:txBody>
          <a:bodyPr wrap="square" anchor="ctr" lIns="73152" rIns="73152" tIns="36576" bIns="36576">
            <a:noAutofit/>
          </a:bodyPr>
          <a:lstStyle/>
          <a:p>
            <a:pPr algn="l">
              <a:spcBef>
                <a:spcPts val="0"/>
              </a:spcBef>
              <a:spcAft>
                <a:spcPts val="400"/>
              </a:spcAft>
            </a:pPr>
            <a:r>
              <a:rPr lang="tr-TR" sz="2300" b="1" i="0">
                <a:solidFill>
                  <a:srgbClr val="2E7D32"/>
                </a:solidFill>
                <a:latin typeface="Calibri"/>
              </a:rPr>
              <a:t>Nüfus arttıysa olası nedenler</a:t>
            </a:r>
          </a:p>
          <a:p>
            <a:pPr algn="l" marL="285913" indent="-285913">
              <a:spcBef>
                <a:spcPts val="0"/>
              </a:spcBef>
              <a:spcAft>
                <a:spcPts val="500"/>
              </a:spcAft>
            </a:pPr>
            <a:r>
              <a:rPr lang="tr-TR" sz="2300" b="1" i="0">
                <a:solidFill>
                  <a:srgbClr val="2C6696"/>
                </a:solidFill>
                <a:latin typeface="Calibri"/>
              </a:rPr>
              <a:t>•  </a:t>
            </a:r>
            <a:r>
              <a:rPr lang="tr-TR" sz="2300" b="0" i="0">
                <a:solidFill>
                  <a:srgbClr val="262626"/>
                </a:solidFill>
                <a:latin typeface="Calibri"/>
              </a:rPr>
              <a:t>Doğumlar ölümlerden fazla (doğal nüfus artışı)</a:t>
            </a:r>
          </a:p>
          <a:p>
            <a:pPr algn="l" marL="285913" indent="-285913">
              <a:spcBef>
                <a:spcPts val="0"/>
              </a:spcBef>
              <a:spcAft>
                <a:spcPts val="0"/>
              </a:spcAft>
            </a:pPr>
            <a:r>
              <a:rPr lang="tr-TR" sz="2300" b="1" i="0">
                <a:solidFill>
                  <a:srgbClr val="2C6696"/>
                </a:solidFill>
                <a:latin typeface="Calibri"/>
              </a:rPr>
              <a:t>•  </a:t>
            </a:r>
            <a:r>
              <a:rPr lang="tr-TR" sz="2300" b="0" i="0">
                <a:solidFill>
                  <a:srgbClr val="262626"/>
                </a:solidFill>
                <a:latin typeface="Calibri"/>
              </a:rPr>
              <a:t>İş, eğitim, sağlık olanakları için göç gelmesi</a:t>
            </a:r>
          </a:p>
        </p:txBody>
      </p:sp>
      <p:sp>
        <p:nvSpPr>
          <p:cNvPr id="10" name="Rounded Rectangle 9"/>
          <p:cNvSpPr/>
          <p:nvPr/>
        </p:nvSpPr>
        <p:spPr>
          <a:xfrm>
            <a:off x="6210147" y="2313432"/>
            <a:ext cx="5478627" cy="3108960"/>
          </a:xfrm>
          <a:prstGeom prst="roundRect">
            <a:avLst>
              <a:gd name="adj" fmla="val 6000"/>
            </a:avLst>
          </a:prstGeom>
          <a:solidFill>
            <a:srgbClr val="F9E1E1"/>
          </a:solidFill>
          <a:ln>
            <a:noFill/>
          </a:ln>
          <a:effectLst/>
        </p:spPr>
        <p:txBody>
          <a:bodyPr rtlCol="0" anchor="ctr"/>
          <a:lstStyle/>
          <a:p/>
        </p:txBody>
      </p:sp>
      <p:sp>
        <p:nvSpPr>
          <p:cNvPr id="11" name="Rectangle 10"/>
          <p:cNvSpPr/>
          <p:nvPr/>
        </p:nvSpPr>
        <p:spPr>
          <a:xfrm>
            <a:off x="6210147" y="2313432"/>
            <a:ext cx="109728" cy="3108960"/>
          </a:xfrm>
          <a:prstGeom prst="rect">
            <a:avLst/>
          </a:prstGeom>
          <a:solidFill>
            <a:srgbClr val="D3373A"/>
          </a:solidFill>
          <a:ln>
            <a:noFill/>
          </a:ln>
          <a:effectLst/>
        </p:spPr>
        <p:txBody>
          <a:bodyPr rtlCol="0" anchor="ctr"/>
          <a:lstStyle/>
          <a:p/>
        </p:txBody>
      </p:sp>
      <p:sp>
        <p:nvSpPr>
          <p:cNvPr id="12" name="TextBox 11"/>
          <p:cNvSpPr txBox="1"/>
          <p:nvPr/>
        </p:nvSpPr>
        <p:spPr>
          <a:xfrm>
            <a:off x="6438747" y="2368296"/>
            <a:ext cx="5158587" cy="2999232"/>
          </a:xfrm>
          <a:prstGeom prst="rect">
            <a:avLst/>
          </a:prstGeom>
          <a:noFill/>
        </p:spPr>
        <p:txBody>
          <a:bodyPr wrap="square" anchor="ctr" lIns="73152" rIns="73152" tIns="36576" bIns="36576">
            <a:noAutofit/>
          </a:bodyPr>
          <a:lstStyle/>
          <a:p>
            <a:pPr algn="l">
              <a:spcBef>
                <a:spcPts val="0"/>
              </a:spcBef>
              <a:spcAft>
                <a:spcPts val="400"/>
              </a:spcAft>
            </a:pPr>
            <a:r>
              <a:rPr lang="tr-TR" sz="2300" b="1" i="0">
                <a:solidFill>
                  <a:srgbClr val="D3373A"/>
                </a:solidFill>
                <a:latin typeface="Calibri"/>
              </a:rPr>
              <a:t>Nüfus azaldıysa olası nedenler</a:t>
            </a:r>
          </a:p>
          <a:p>
            <a:pPr algn="l" marL="285913" indent="-285913">
              <a:spcBef>
                <a:spcPts val="0"/>
              </a:spcBef>
              <a:spcAft>
                <a:spcPts val="500"/>
              </a:spcAft>
            </a:pPr>
            <a:r>
              <a:rPr lang="tr-TR" sz="2300" b="1" i="0">
                <a:solidFill>
                  <a:srgbClr val="2C6696"/>
                </a:solidFill>
                <a:latin typeface="Calibri"/>
              </a:rPr>
              <a:t>•  </a:t>
            </a:r>
            <a:r>
              <a:rPr lang="tr-TR" sz="2300" b="0" i="0">
                <a:solidFill>
                  <a:srgbClr val="262626"/>
                </a:solidFill>
                <a:latin typeface="Calibri"/>
              </a:rPr>
              <a:t>Doğumların azalması</a:t>
            </a:r>
          </a:p>
          <a:p>
            <a:pPr algn="l" marL="285913" indent="-285913">
              <a:spcBef>
                <a:spcPts val="0"/>
              </a:spcBef>
              <a:spcAft>
                <a:spcPts val="0"/>
              </a:spcAft>
            </a:pPr>
            <a:r>
              <a:rPr lang="tr-TR" sz="2300" b="1" i="0">
                <a:solidFill>
                  <a:srgbClr val="2C6696"/>
                </a:solidFill>
                <a:latin typeface="Calibri"/>
              </a:rPr>
              <a:t>•  </a:t>
            </a:r>
            <a:r>
              <a:rPr lang="tr-TR" sz="2300" b="0" i="0">
                <a:solidFill>
                  <a:srgbClr val="262626"/>
                </a:solidFill>
                <a:latin typeface="Calibri"/>
              </a:rPr>
              <a:t>Başka illere ya da ülkelere göç</a:t>
            </a:r>
          </a:p>
        </p:txBody>
      </p:sp>
      <p:sp>
        <p:nvSpPr>
          <p:cNvPr id="13" name="Rounded Rectangle 12"/>
          <p:cNvSpPr/>
          <p:nvPr/>
        </p:nvSpPr>
        <p:spPr>
          <a:xfrm>
            <a:off x="502920" y="5559552"/>
            <a:ext cx="11185855" cy="685800"/>
          </a:xfrm>
          <a:prstGeom prst="roundRect">
            <a:avLst>
              <a:gd name="adj" fmla="val 8000"/>
            </a:avLst>
          </a:prstGeom>
          <a:solidFill>
            <a:srgbClr val="E3ECF5"/>
          </a:solidFill>
          <a:ln>
            <a:noFill/>
          </a:ln>
          <a:effectLst/>
        </p:spPr>
        <p:txBody>
          <a:bodyPr rtlCol="0" anchor="ctr" wrap="square" lIns="128016" rIns="128016" tIns="73152" bIns="73152">
            <a:noAutofit/>
          </a:bodyPr>
          <a:lstStyle/>
          <a:p>
            <a:pPr algn="ctr">
              <a:spcBef>
                <a:spcPts val="0"/>
              </a:spcBef>
              <a:spcAft>
                <a:spcPts val="0"/>
              </a:spcAft>
            </a:pPr>
            <a:r>
              <a:rPr lang="tr-TR" sz="2100" b="0" i="0">
                <a:solidFill>
                  <a:srgbClr val="262626"/>
                </a:solidFill>
                <a:latin typeface="Calibri"/>
              </a:rPr>
              <a:t>Tahminlerimizi ünitede sınayacağız: doğum ve ölüm · göç · nüfus politikaları</a:t>
            </a:r>
          </a:p>
        </p:txBody>
      </p:sp>
      <p:sp>
        <p:nvSpPr>
          <p:cNvPr id="14" name="TextBox 1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15" name="Rounded Rectangle 1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155</a:t>
            </a:r>
          </a:p>
        </p:txBody>
      </p:sp>
      <p:sp>
        <p:nvSpPr>
          <p:cNvPr id="16" name="TextBox 1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 / 379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Ön değerlendirme yaprağı: A ve B</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ÖN DEĞERLENDİRME</a:t>
            </a:r>
          </a:p>
        </p:txBody>
      </p:sp>
      <p:sp>
        <p:nvSpPr>
          <p:cNvPr id="6" name="Rounded Rectangle 5"/>
          <p:cNvSpPr/>
          <p:nvPr/>
        </p:nvSpPr>
        <p:spPr>
          <a:xfrm>
            <a:off x="502920" y="1216152"/>
            <a:ext cx="5455767" cy="406908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5455767" cy="530352"/>
          </a:xfrm>
          <a:prstGeom prst="roundRect">
            <a:avLst>
              <a:gd name="adj" fmla="val 25000"/>
            </a:avLst>
          </a:prstGeom>
          <a:solidFill>
            <a:srgbClr val="2C6696"/>
          </a:solidFill>
          <a:ln>
            <a:noFill/>
          </a:ln>
          <a:effectLst/>
        </p:spPr>
        <p:txBody>
          <a:bodyPr rtlCol="0" anchor="ctr"/>
          <a:lstStyle/>
          <a:p/>
        </p:txBody>
      </p:sp>
      <p:sp>
        <p:nvSpPr>
          <p:cNvPr id="8" name="Rectangle 7"/>
          <p:cNvSpPr/>
          <p:nvPr/>
        </p:nvSpPr>
        <p:spPr>
          <a:xfrm>
            <a:off x="502920" y="1481328"/>
            <a:ext cx="5455767" cy="265176"/>
          </a:xfrm>
          <a:prstGeom prst="rect">
            <a:avLst/>
          </a:prstGeom>
          <a:solidFill>
            <a:srgbClr val="2C6696"/>
          </a:solidFill>
          <a:ln>
            <a:noFill/>
          </a:ln>
          <a:effectLst/>
        </p:spPr>
        <p:txBody>
          <a:bodyPr rtlCol="0" anchor="ctr"/>
          <a:lstStyle/>
          <a:p/>
        </p:txBody>
      </p:sp>
      <p:sp>
        <p:nvSpPr>
          <p:cNvPr id="9" name="TextBox 8"/>
          <p:cNvSpPr txBox="1"/>
          <p:nvPr/>
        </p:nvSpPr>
        <p:spPr>
          <a:xfrm>
            <a:off x="594360" y="121615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A · Kelime ilişkilendirme</a:t>
            </a:r>
          </a:p>
        </p:txBody>
      </p:sp>
      <p:sp>
        <p:nvSpPr>
          <p:cNvPr id="10" name="Rounded Rectangle 9"/>
          <p:cNvSpPr/>
          <p:nvPr/>
        </p:nvSpPr>
        <p:spPr>
          <a:xfrm>
            <a:off x="2042083" y="1947672"/>
            <a:ext cx="2377440" cy="731520"/>
          </a:xfrm>
          <a:prstGeom prst="roundRect">
            <a:avLst>
              <a:gd name="adj" fmla="val 50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2350" b="1" i="0">
                <a:solidFill>
                  <a:srgbClr val="FFFFFF"/>
                </a:solidFill>
                <a:latin typeface="Calibri"/>
              </a:rPr>
              <a:t>NÜFUS</a:t>
            </a:r>
          </a:p>
        </p:txBody>
      </p:sp>
      <p:sp>
        <p:nvSpPr>
          <p:cNvPr id="11" name="TextBox 10"/>
          <p:cNvSpPr txBox="1"/>
          <p:nvPr/>
        </p:nvSpPr>
        <p:spPr>
          <a:xfrm>
            <a:off x="731520" y="2816352"/>
            <a:ext cx="4998567" cy="2377440"/>
          </a:xfrm>
          <a:prstGeom prst="rect">
            <a:avLst/>
          </a:prstGeom>
          <a:noFill/>
        </p:spPr>
        <p:txBody>
          <a:bodyPr wrap="square" anchor="t" lIns="73152" rIns="73152" tIns="36576" bIns="36576">
            <a:noAutofit/>
          </a:bodyPr>
          <a:lstStyle/>
          <a:p>
            <a:pPr algn="l" marL="384924" indent="-384924">
              <a:spcBef>
                <a:spcPts val="0"/>
              </a:spcBef>
              <a:spcAft>
                <a:spcPts val="1400"/>
              </a:spcAft>
            </a:pPr>
            <a:r>
              <a:rPr lang="tr-TR" sz="2400" b="1" i="0">
                <a:solidFill>
                  <a:srgbClr val="2C6696"/>
                </a:solidFill>
                <a:latin typeface="Calibri"/>
              </a:rPr>
              <a:t>1.  </a:t>
            </a:r>
            <a:r>
              <a:rPr lang="tr-TR" sz="2400" b="0" i="0">
                <a:solidFill>
                  <a:srgbClr val="262626"/>
                </a:solidFill>
                <a:latin typeface="Calibri"/>
              </a:rPr>
              <a:t>1 dakikada aklına gelen kelimeleri alt alta yaz.</a:t>
            </a:r>
          </a:p>
          <a:p>
            <a:pPr algn="l" marL="384924" indent="-384924">
              <a:spcBef>
                <a:spcPts val="0"/>
              </a:spcBef>
              <a:spcAft>
                <a:spcPts val="0"/>
              </a:spcAft>
            </a:pPr>
            <a:r>
              <a:rPr lang="tr-TR" sz="2400" b="1" i="0">
                <a:solidFill>
                  <a:srgbClr val="2C6696"/>
                </a:solidFill>
                <a:latin typeface="Calibri"/>
              </a:rPr>
              <a:t>2.  </a:t>
            </a:r>
            <a:r>
              <a:rPr lang="tr-TR" sz="2400" b="0" i="0">
                <a:solidFill>
                  <a:srgbClr val="262626"/>
                </a:solidFill>
                <a:latin typeface="Calibri"/>
              </a:rPr>
              <a:t>Sonra “nüfus” ile bir cümle kur.</a:t>
            </a:r>
          </a:p>
        </p:txBody>
      </p:sp>
      <p:sp>
        <p:nvSpPr>
          <p:cNvPr id="12" name="Rounded Rectangle 11"/>
          <p:cNvSpPr/>
          <p:nvPr/>
        </p:nvSpPr>
        <p:spPr>
          <a:xfrm>
            <a:off x="6233007" y="1216152"/>
            <a:ext cx="5455767" cy="4069080"/>
          </a:xfrm>
          <a:prstGeom prst="roundRect">
            <a:avLst>
              <a:gd name="adj" fmla="val 5000"/>
            </a:avLst>
          </a:prstGeom>
          <a:solidFill>
            <a:srgbClr val="F0F0F0"/>
          </a:solidFill>
          <a:ln>
            <a:noFill/>
          </a:ln>
          <a:effectLst/>
        </p:spPr>
        <p:txBody>
          <a:bodyPr rtlCol="0" anchor="ctr"/>
          <a:lstStyle/>
          <a:p/>
        </p:txBody>
      </p:sp>
      <p:sp>
        <p:nvSpPr>
          <p:cNvPr id="13" name="Rounded Rectangle 12"/>
          <p:cNvSpPr/>
          <p:nvPr/>
        </p:nvSpPr>
        <p:spPr>
          <a:xfrm>
            <a:off x="6233007" y="1216152"/>
            <a:ext cx="5455767" cy="530352"/>
          </a:xfrm>
          <a:prstGeom prst="roundRect">
            <a:avLst>
              <a:gd name="adj" fmla="val 25000"/>
            </a:avLst>
          </a:prstGeom>
          <a:solidFill>
            <a:srgbClr val="4F4F4F"/>
          </a:solidFill>
          <a:ln>
            <a:noFill/>
          </a:ln>
          <a:effectLst/>
        </p:spPr>
        <p:txBody>
          <a:bodyPr rtlCol="0" anchor="ctr"/>
          <a:lstStyle/>
          <a:p/>
        </p:txBody>
      </p:sp>
      <p:sp>
        <p:nvSpPr>
          <p:cNvPr id="14" name="Rectangle 13"/>
          <p:cNvSpPr/>
          <p:nvPr/>
        </p:nvSpPr>
        <p:spPr>
          <a:xfrm>
            <a:off x="6233007" y="1481328"/>
            <a:ext cx="5455767" cy="265176"/>
          </a:xfrm>
          <a:prstGeom prst="rect">
            <a:avLst/>
          </a:prstGeom>
          <a:solidFill>
            <a:srgbClr val="4F4F4F"/>
          </a:solidFill>
          <a:ln>
            <a:noFill/>
          </a:ln>
          <a:effectLst/>
        </p:spPr>
        <p:txBody>
          <a:bodyPr rtlCol="0" anchor="ctr"/>
          <a:lstStyle/>
          <a:p/>
        </p:txBody>
      </p:sp>
      <p:sp>
        <p:nvSpPr>
          <p:cNvPr id="15" name="TextBox 14"/>
          <p:cNvSpPr txBox="1"/>
          <p:nvPr/>
        </p:nvSpPr>
        <p:spPr>
          <a:xfrm>
            <a:off x="6324447" y="121615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B · Şema: nüfus yoğunluğu</a:t>
            </a:r>
          </a:p>
        </p:txBody>
      </p:sp>
      <p:sp>
        <p:nvSpPr>
          <p:cNvPr id="16" name="Rounded Rectangle 15"/>
          <p:cNvSpPr/>
          <p:nvPr/>
        </p:nvSpPr>
        <p:spPr>
          <a:xfrm>
            <a:off x="7497850" y="1947672"/>
            <a:ext cx="2926080" cy="685800"/>
          </a:xfrm>
          <a:prstGeom prst="roundRect">
            <a:avLst>
              <a:gd name="adj" fmla="val 40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400" b="1" i="0">
                <a:solidFill>
                  <a:srgbClr val="FFFFFF"/>
                </a:solidFill>
                <a:latin typeface="Calibri"/>
              </a:rPr>
              <a:t>Nüfus yoğunluğu</a:t>
            </a:r>
          </a:p>
        </p:txBody>
      </p:sp>
      <p:cxnSp>
        <p:nvCxnSpPr>
          <p:cNvPr id="17" name="Connector 16"/>
          <p:cNvCxnSpPr/>
          <p:nvPr/>
        </p:nvCxnSpPr>
        <p:spPr>
          <a:xfrm flipH="1">
            <a:off x="7642668" y="2633472"/>
            <a:ext cx="1318222" cy="411479"/>
          </a:xfrm>
          <a:prstGeom prst="line">
            <a:avLst/>
          </a:prstGeom>
          <a:ln w="31750">
            <a:solidFill>
              <a:srgbClr val="2C6696"/>
            </a:solidFill>
            <a:tailEnd type="triangle" w="med" len="med"/>
          </a:ln>
        </p:spPr>
      </p:cxnSp>
      <p:sp>
        <p:nvSpPr>
          <p:cNvPr id="18" name="Rounded Rectangle 17"/>
          <p:cNvSpPr/>
          <p:nvPr/>
        </p:nvSpPr>
        <p:spPr>
          <a:xfrm>
            <a:off x="6415887" y="3090672"/>
            <a:ext cx="2453563" cy="2057400"/>
          </a:xfrm>
          <a:prstGeom prst="roundRect">
            <a:avLst>
              <a:gd name="adj" fmla="val 8000"/>
            </a:avLst>
          </a:prstGeom>
          <a:solidFill>
            <a:srgbClr val="FFFFFF"/>
          </a:solidFill>
          <a:ln w="19050">
            <a:solidFill>
              <a:srgbClr val="2C6696"/>
            </a:solidFill>
          </a:ln>
          <a:effectLst/>
        </p:spPr>
        <p:txBody>
          <a:bodyPr rtlCol="0" anchor="t" wrap="square" lIns="128016" rIns="128016" tIns="73152" bIns="73152">
            <a:noAutofit/>
          </a:bodyPr>
          <a:lstStyle/>
          <a:p>
            <a:pPr algn="ctr">
              <a:spcBef>
                <a:spcPts val="0"/>
              </a:spcBef>
              <a:spcAft>
                <a:spcPts val="950"/>
              </a:spcAft>
            </a:pPr>
            <a:r>
              <a:rPr lang="tr-TR" sz="1900" b="1" i="0">
                <a:solidFill>
                  <a:srgbClr val="2C6696"/>
                </a:solidFill>
                <a:latin typeface="Calibri"/>
              </a:rPr>
              <a:t>Fazla olduğu alanlar</a:t>
            </a:r>
          </a:p>
          <a:p>
            <a:pPr algn="ctr">
              <a:spcBef>
                <a:spcPts val="0"/>
              </a:spcBef>
              <a:spcAft>
                <a:spcPts val="950"/>
              </a:spcAft>
            </a:pPr>
            <a:r>
              <a:rPr lang="tr-TR" sz="1900" b="0" i="0">
                <a:solidFill>
                  <a:srgbClr val="262626"/>
                </a:solidFill>
                <a:latin typeface="Calibri"/>
              </a:rPr>
              <a:t>……………</a:t>
            </a:r>
          </a:p>
          <a:p>
            <a:pPr algn="ctr">
              <a:spcBef>
                <a:spcPts val="0"/>
              </a:spcBef>
              <a:spcAft>
                <a:spcPts val="950"/>
              </a:spcAft>
            </a:pPr>
            <a:r>
              <a:rPr lang="tr-TR" sz="1900" b="0" i="0">
                <a:solidFill>
                  <a:srgbClr val="262626"/>
                </a:solidFill>
                <a:latin typeface="Calibri"/>
              </a:rPr>
              <a:t>……………</a:t>
            </a:r>
          </a:p>
          <a:p>
            <a:pPr algn="ctr">
              <a:spcBef>
                <a:spcPts val="0"/>
              </a:spcBef>
              <a:spcAft>
                <a:spcPts val="0"/>
              </a:spcAft>
            </a:pPr>
            <a:r>
              <a:rPr lang="tr-TR" sz="1900" b="0" i="0">
                <a:solidFill>
                  <a:srgbClr val="262626"/>
                </a:solidFill>
                <a:latin typeface="Calibri"/>
              </a:rPr>
              <a:t>……………</a:t>
            </a:r>
          </a:p>
        </p:txBody>
      </p:sp>
      <p:cxnSp>
        <p:nvCxnSpPr>
          <p:cNvPr id="19" name="Connector 18"/>
          <p:cNvCxnSpPr/>
          <p:nvPr/>
        </p:nvCxnSpPr>
        <p:spPr>
          <a:xfrm>
            <a:off x="8960890" y="2633472"/>
            <a:ext cx="1318221" cy="411479"/>
          </a:xfrm>
          <a:prstGeom prst="line">
            <a:avLst/>
          </a:prstGeom>
          <a:ln w="31750">
            <a:solidFill>
              <a:srgbClr val="D3373A"/>
            </a:solidFill>
            <a:tailEnd type="triangle" w="med" len="med"/>
          </a:ln>
        </p:spPr>
      </p:cxnSp>
      <p:sp>
        <p:nvSpPr>
          <p:cNvPr id="20" name="Rounded Rectangle 19"/>
          <p:cNvSpPr/>
          <p:nvPr/>
        </p:nvSpPr>
        <p:spPr>
          <a:xfrm>
            <a:off x="9052330" y="3090672"/>
            <a:ext cx="2453563" cy="2057400"/>
          </a:xfrm>
          <a:prstGeom prst="roundRect">
            <a:avLst>
              <a:gd name="adj" fmla="val 8000"/>
            </a:avLst>
          </a:prstGeom>
          <a:solidFill>
            <a:srgbClr val="FFFFFF"/>
          </a:solidFill>
          <a:ln w="19050">
            <a:solidFill>
              <a:srgbClr val="D3373A"/>
            </a:solidFill>
          </a:ln>
          <a:effectLst/>
        </p:spPr>
        <p:txBody>
          <a:bodyPr rtlCol="0" anchor="t" wrap="square" lIns="128016" rIns="128016" tIns="73152" bIns="73152">
            <a:noAutofit/>
          </a:bodyPr>
          <a:lstStyle/>
          <a:p>
            <a:pPr algn="ctr">
              <a:spcBef>
                <a:spcPts val="0"/>
              </a:spcBef>
              <a:spcAft>
                <a:spcPts val="1000"/>
              </a:spcAft>
            </a:pPr>
            <a:r>
              <a:rPr lang="tr-TR" sz="2000" b="1" i="0">
                <a:solidFill>
                  <a:srgbClr val="D3373A"/>
                </a:solidFill>
                <a:latin typeface="Calibri"/>
              </a:rPr>
              <a:t>Az olduğu alanlar</a:t>
            </a:r>
          </a:p>
          <a:p>
            <a:pPr algn="ctr">
              <a:spcBef>
                <a:spcPts val="0"/>
              </a:spcBef>
              <a:spcAft>
                <a:spcPts val="1000"/>
              </a:spcAft>
            </a:pPr>
            <a:r>
              <a:rPr lang="tr-TR" sz="2000" b="0" i="0">
                <a:solidFill>
                  <a:srgbClr val="262626"/>
                </a:solidFill>
                <a:latin typeface="Calibri"/>
              </a:rPr>
              <a:t>……………</a:t>
            </a:r>
          </a:p>
          <a:p>
            <a:pPr algn="ctr">
              <a:spcBef>
                <a:spcPts val="0"/>
              </a:spcBef>
              <a:spcAft>
                <a:spcPts val="1000"/>
              </a:spcAft>
            </a:pPr>
            <a:r>
              <a:rPr lang="tr-TR" sz="2000" b="0" i="0">
                <a:solidFill>
                  <a:srgbClr val="262626"/>
                </a:solidFill>
                <a:latin typeface="Calibri"/>
              </a:rPr>
              <a:t>……………</a:t>
            </a:r>
          </a:p>
          <a:p>
            <a:pPr algn="ctr">
              <a:spcBef>
                <a:spcPts val="0"/>
              </a:spcBef>
              <a:spcAft>
                <a:spcPts val="0"/>
              </a:spcAft>
            </a:pPr>
            <a:r>
              <a:rPr lang="tr-TR" sz="2000" b="0" i="0">
                <a:solidFill>
                  <a:srgbClr val="262626"/>
                </a:solidFill>
                <a:latin typeface="Calibri"/>
              </a:rPr>
              <a:t>……………</a:t>
            </a:r>
          </a:p>
        </p:txBody>
      </p:sp>
      <p:sp>
        <p:nvSpPr>
          <p:cNvPr id="21" name="Rounded Rectangle 20"/>
          <p:cNvSpPr/>
          <p:nvPr/>
        </p:nvSpPr>
        <p:spPr>
          <a:xfrm>
            <a:off x="502920" y="5422392"/>
            <a:ext cx="11185855" cy="822960"/>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ctr">
              <a:spcBef>
                <a:spcPts val="0"/>
              </a:spcBef>
              <a:spcAft>
                <a:spcPts val="0"/>
              </a:spcAft>
            </a:pPr>
            <a:r>
              <a:rPr lang="tr-TR" sz="2300" b="1" i="0">
                <a:solidFill>
                  <a:srgbClr val="2C6696"/>
                </a:solidFill>
                <a:latin typeface="Calibri"/>
              </a:rPr>
              <a:t>4 dakika · bireysel · not amaçlı değil · bitince yaprağı sıra başına ver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 / 379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Ön değerlendirme — örnek cevaplar</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5478627" cy="5029200"/>
          </a:xfrm>
          <a:prstGeom prst="roundRect">
            <a:avLst>
              <a:gd name="adj" fmla="val 5000"/>
            </a:avLst>
          </a:prstGeom>
          <a:solidFill>
            <a:srgbClr val="E3F1E4"/>
          </a:solidFill>
          <a:ln>
            <a:noFill/>
          </a:ln>
          <a:effectLst/>
        </p:spPr>
        <p:txBody>
          <a:bodyPr rtlCol="0" anchor="ctr"/>
          <a:lstStyle/>
          <a:p/>
        </p:txBody>
      </p:sp>
      <p:sp>
        <p:nvSpPr>
          <p:cNvPr id="7" name="TextBox 6"/>
          <p:cNvSpPr txBox="1"/>
          <p:nvPr/>
        </p:nvSpPr>
        <p:spPr>
          <a:xfrm>
            <a:off x="685800" y="1280160"/>
            <a:ext cx="5112867" cy="411480"/>
          </a:xfrm>
          <a:prstGeom prst="rect">
            <a:avLst/>
          </a:prstGeom>
          <a:noFill/>
        </p:spPr>
        <p:txBody>
          <a:bodyPr wrap="square" anchor="t" lIns="73152" rIns="73152" tIns="36576" bIns="36576">
            <a:noAutofit/>
          </a:bodyPr>
          <a:lstStyle/>
          <a:p>
            <a:pPr algn="l">
              <a:spcBef>
                <a:spcPts val="0"/>
              </a:spcBef>
              <a:spcAft>
                <a:spcPts val="0"/>
              </a:spcAft>
            </a:pPr>
            <a:r>
              <a:rPr lang="tr-TR" sz="2100" b="1" i="0">
                <a:solidFill>
                  <a:srgbClr val="2E7D32"/>
                </a:solidFill>
                <a:latin typeface="Calibri"/>
              </a:rPr>
              <a:t>A · Örnek çağrışımlar</a:t>
            </a:r>
          </a:p>
        </p:txBody>
      </p:sp>
      <p:sp>
        <p:nvSpPr>
          <p:cNvPr id="8" name="Rounded Rectangle 7"/>
          <p:cNvSpPr/>
          <p:nvPr/>
        </p:nvSpPr>
        <p:spPr>
          <a:xfrm>
            <a:off x="685800" y="1810512"/>
            <a:ext cx="1145626" cy="502920"/>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doğum</a:t>
            </a:r>
          </a:p>
        </p:txBody>
      </p:sp>
      <p:sp>
        <p:nvSpPr>
          <p:cNvPr id="9" name="Rounded Rectangle 8"/>
          <p:cNvSpPr/>
          <p:nvPr/>
        </p:nvSpPr>
        <p:spPr>
          <a:xfrm>
            <a:off x="1941154" y="1810512"/>
            <a:ext cx="949349" cy="502920"/>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ölüm</a:t>
            </a:r>
          </a:p>
        </p:txBody>
      </p:sp>
      <p:sp>
        <p:nvSpPr>
          <p:cNvPr id="10" name="Rounded Rectangle 9"/>
          <p:cNvSpPr/>
          <p:nvPr/>
        </p:nvSpPr>
        <p:spPr>
          <a:xfrm>
            <a:off x="3000231" y="1810512"/>
            <a:ext cx="778553" cy="502920"/>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göç</a:t>
            </a:r>
          </a:p>
        </p:txBody>
      </p:sp>
      <p:sp>
        <p:nvSpPr>
          <p:cNvPr id="11" name="Rounded Rectangle 10"/>
          <p:cNvSpPr/>
          <p:nvPr/>
        </p:nvSpPr>
        <p:spPr>
          <a:xfrm>
            <a:off x="3888512" y="1810512"/>
            <a:ext cx="1712135" cy="502920"/>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nüfus sayımı</a:t>
            </a:r>
          </a:p>
        </p:txBody>
      </p:sp>
      <p:sp>
        <p:nvSpPr>
          <p:cNvPr id="12" name="Rounded Rectangle 11"/>
          <p:cNvSpPr/>
          <p:nvPr/>
        </p:nvSpPr>
        <p:spPr>
          <a:xfrm>
            <a:off x="685800" y="2423160"/>
            <a:ext cx="903070" cy="502920"/>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TÜİK</a:t>
            </a:r>
          </a:p>
        </p:txBody>
      </p:sp>
      <p:sp>
        <p:nvSpPr>
          <p:cNvPr id="13" name="Rounded Rectangle 12"/>
          <p:cNvSpPr/>
          <p:nvPr/>
        </p:nvSpPr>
        <p:spPr>
          <a:xfrm>
            <a:off x="1698598" y="2423160"/>
            <a:ext cx="1323622" cy="502920"/>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kalabalık</a:t>
            </a:r>
          </a:p>
        </p:txBody>
      </p:sp>
      <p:sp>
        <p:nvSpPr>
          <p:cNvPr id="14" name="Rounded Rectangle 13"/>
          <p:cNvSpPr/>
          <p:nvPr/>
        </p:nvSpPr>
        <p:spPr>
          <a:xfrm>
            <a:off x="3131948" y="2423160"/>
            <a:ext cx="926550" cy="502920"/>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şehir</a:t>
            </a:r>
          </a:p>
        </p:txBody>
      </p:sp>
      <p:sp>
        <p:nvSpPr>
          <p:cNvPr id="15" name="Rounded Rectangle 14"/>
          <p:cNvSpPr/>
          <p:nvPr/>
        </p:nvSpPr>
        <p:spPr>
          <a:xfrm>
            <a:off x="4168226" y="2423160"/>
            <a:ext cx="773793" cy="502920"/>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köy</a:t>
            </a:r>
          </a:p>
        </p:txBody>
      </p:sp>
      <p:sp>
        <p:nvSpPr>
          <p:cNvPr id="16" name="Rounded Rectangle 15"/>
          <p:cNvSpPr/>
          <p:nvPr/>
        </p:nvSpPr>
        <p:spPr>
          <a:xfrm>
            <a:off x="685800" y="3035808"/>
            <a:ext cx="1569618" cy="502920"/>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nüfus artışı</a:t>
            </a:r>
          </a:p>
        </p:txBody>
      </p:sp>
      <p:sp>
        <p:nvSpPr>
          <p:cNvPr id="17" name="Rounded Rectangle 16"/>
          <p:cNvSpPr/>
          <p:nvPr/>
        </p:nvSpPr>
        <p:spPr>
          <a:xfrm>
            <a:off x="2365146" y="3035808"/>
            <a:ext cx="2141967" cy="502920"/>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nüfus yoğunluğu</a:t>
            </a:r>
          </a:p>
        </p:txBody>
      </p:sp>
      <p:sp>
        <p:nvSpPr>
          <p:cNvPr id="18" name="Rounded Rectangle 17"/>
          <p:cNvSpPr/>
          <p:nvPr/>
        </p:nvSpPr>
        <p:spPr>
          <a:xfrm>
            <a:off x="685800" y="3648456"/>
            <a:ext cx="1544738" cy="502920"/>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genç nüfus</a:t>
            </a:r>
          </a:p>
        </p:txBody>
      </p:sp>
      <p:sp>
        <p:nvSpPr>
          <p:cNvPr id="19" name="Rounded Rectangle 18"/>
          <p:cNvSpPr/>
          <p:nvPr/>
        </p:nvSpPr>
        <p:spPr>
          <a:xfrm>
            <a:off x="2340266" y="3648456"/>
            <a:ext cx="1508499" cy="502920"/>
          </a:xfrm>
          <a:prstGeom prst="roundRect">
            <a:avLst>
              <a:gd name="adj" fmla="val 50000"/>
            </a:avLst>
          </a:prstGeom>
          <a:solidFill>
            <a:srgbClr val="FFFFFF"/>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0" i="0">
                <a:solidFill>
                  <a:srgbClr val="262626"/>
                </a:solidFill>
                <a:latin typeface="Calibri"/>
              </a:rPr>
              <a:t>yaşlı nüfus</a:t>
            </a:r>
          </a:p>
        </p:txBody>
      </p:sp>
      <p:sp>
        <p:nvSpPr>
          <p:cNvPr id="20" name="Rounded Rectangle 19"/>
          <p:cNvSpPr/>
          <p:nvPr/>
        </p:nvSpPr>
        <p:spPr>
          <a:xfrm>
            <a:off x="685800" y="4379976"/>
            <a:ext cx="5112867" cy="1773936"/>
          </a:xfrm>
          <a:prstGeom prst="roundRect">
            <a:avLst>
              <a:gd name="adj" fmla="val 8000"/>
            </a:avLst>
          </a:prstGeom>
          <a:solidFill>
            <a:srgbClr val="FFFFFF"/>
          </a:solidFill>
          <a:ln>
            <a:noFill/>
          </a:ln>
          <a:effectLst/>
        </p:spPr>
        <p:txBody>
          <a:bodyPr rtlCol="0" anchor="ctr" wrap="square" lIns="128016" rIns="128016" tIns="73152" bIns="73152">
            <a:noAutofit/>
          </a:bodyPr>
          <a:lstStyle/>
          <a:p>
            <a:pPr algn="l">
              <a:spcBef>
                <a:spcPts val="0"/>
              </a:spcBef>
              <a:spcAft>
                <a:spcPts val="600"/>
              </a:spcAft>
            </a:pPr>
            <a:r>
              <a:rPr lang="tr-TR" sz="2100" b="1" i="0">
                <a:solidFill>
                  <a:srgbClr val="2E7D32"/>
                </a:solidFill>
                <a:latin typeface="Calibri"/>
              </a:rPr>
              <a:t>Örnek cümle</a:t>
            </a:r>
          </a:p>
          <a:p>
            <a:pPr algn="l">
              <a:spcBef>
                <a:spcPts val="0"/>
              </a:spcBef>
              <a:spcAft>
                <a:spcPts val="0"/>
              </a:spcAft>
            </a:pPr>
            <a:r>
              <a:rPr lang="tr-TR" sz="2100" b="0" i="0">
                <a:solidFill>
                  <a:srgbClr val="262626"/>
                </a:solidFill>
                <a:latin typeface="Calibri"/>
              </a:rPr>
              <a:t>“Bir yerin nüfusu doğum, ölüm ve göçle zaman içinde değişir.”</a:t>
            </a:r>
          </a:p>
        </p:txBody>
      </p:sp>
      <p:sp>
        <p:nvSpPr>
          <p:cNvPr id="21" name="Rounded Rectangle 20"/>
          <p:cNvSpPr/>
          <p:nvPr/>
        </p:nvSpPr>
        <p:spPr>
          <a:xfrm>
            <a:off x="6210147" y="1216152"/>
            <a:ext cx="5478627" cy="2446020"/>
          </a:xfrm>
          <a:prstGeom prst="roundRect">
            <a:avLst>
              <a:gd name="adj" fmla="val 6000"/>
            </a:avLst>
          </a:prstGeom>
          <a:solidFill>
            <a:srgbClr val="E3F1E4"/>
          </a:solidFill>
          <a:ln>
            <a:noFill/>
          </a:ln>
          <a:effectLst/>
        </p:spPr>
        <p:txBody>
          <a:bodyPr rtlCol="0" anchor="ctr"/>
          <a:lstStyle/>
          <a:p/>
        </p:txBody>
      </p:sp>
      <p:sp>
        <p:nvSpPr>
          <p:cNvPr id="22" name="Rectangle 21"/>
          <p:cNvSpPr/>
          <p:nvPr/>
        </p:nvSpPr>
        <p:spPr>
          <a:xfrm>
            <a:off x="6210147" y="1216152"/>
            <a:ext cx="109728" cy="2446020"/>
          </a:xfrm>
          <a:prstGeom prst="rect">
            <a:avLst/>
          </a:prstGeom>
          <a:solidFill>
            <a:srgbClr val="2E7D32"/>
          </a:solidFill>
          <a:ln>
            <a:noFill/>
          </a:ln>
          <a:effectLst/>
        </p:spPr>
        <p:txBody>
          <a:bodyPr rtlCol="0" anchor="ctr"/>
          <a:lstStyle/>
          <a:p/>
        </p:txBody>
      </p:sp>
      <p:sp>
        <p:nvSpPr>
          <p:cNvPr id="23" name="TextBox 22"/>
          <p:cNvSpPr txBox="1"/>
          <p:nvPr/>
        </p:nvSpPr>
        <p:spPr>
          <a:xfrm>
            <a:off x="6438747" y="1271016"/>
            <a:ext cx="5158587" cy="2336292"/>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2E7D32"/>
                </a:solidFill>
                <a:latin typeface="Calibri"/>
              </a:rPr>
              <a:t>B · Nüfusun yoğun olduğu alanlar</a:t>
            </a:r>
          </a:p>
          <a:p>
            <a:pPr algn="l">
              <a:spcBef>
                <a:spcPts val="0"/>
              </a:spcBef>
              <a:spcAft>
                <a:spcPts val="500"/>
              </a:spcAft>
            </a:pPr>
            <a:r>
              <a:rPr lang="tr-TR" sz="1900" b="0" i="0">
                <a:solidFill>
                  <a:srgbClr val="262626"/>
                </a:solidFill>
                <a:latin typeface="Calibri"/>
              </a:rPr>
              <a:t>Yer şekillerinin sade ve iklimin ılıman olduğu, su kaynakları ve verimli toprakların bulunduğu alanlar nüfusun kalabalık olduğu yerlerdir.</a:t>
            </a:r>
          </a:p>
          <a:p>
            <a:pPr algn="l">
              <a:spcBef>
                <a:spcPts val="0"/>
              </a:spcBef>
              <a:spcAft>
                <a:spcPts val="0"/>
              </a:spcAft>
            </a:pPr>
            <a:r>
              <a:rPr lang="tr-TR" sz="1900" b="0" i="0">
                <a:solidFill>
                  <a:srgbClr val="262626"/>
                </a:solidFill>
                <a:latin typeface="Calibri"/>
              </a:rPr>
              <a:t>Ulaşım ve sanayinin geliştiği kentlerde de nüfus yoğunluğu fazladır.</a:t>
            </a:r>
          </a:p>
        </p:txBody>
      </p:sp>
      <p:sp>
        <p:nvSpPr>
          <p:cNvPr id="24" name="Rounded Rectangle 23"/>
          <p:cNvSpPr/>
          <p:nvPr/>
        </p:nvSpPr>
        <p:spPr>
          <a:xfrm>
            <a:off x="6210147" y="3799332"/>
            <a:ext cx="5478627" cy="2446020"/>
          </a:xfrm>
          <a:prstGeom prst="roundRect">
            <a:avLst>
              <a:gd name="adj" fmla="val 6000"/>
            </a:avLst>
          </a:prstGeom>
          <a:solidFill>
            <a:srgbClr val="F9E1E1"/>
          </a:solidFill>
          <a:ln>
            <a:noFill/>
          </a:ln>
          <a:effectLst/>
        </p:spPr>
        <p:txBody>
          <a:bodyPr rtlCol="0" anchor="ctr"/>
          <a:lstStyle/>
          <a:p/>
        </p:txBody>
      </p:sp>
      <p:sp>
        <p:nvSpPr>
          <p:cNvPr id="25" name="Rectangle 24"/>
          <p:cNvSpPr/>
          <p:nvPr/>
        </p:nvSpPr>
        <p:spPr>
          <a:xfrm>
            <a:off x="6210147" y="3799332"/>
            <a:ext cx="109728" cy="2446020"/>
          </a:xfrm>
          <a:prstGeom prst="rect">
            <a:avLst/>
          </a:prstGeom>
          <a:solidFill>
            <a:srgbClr val="D3373A"/>
          </a:solidFill>
          <a:ln>
            <a:noFill/>
          </a:ln>
          <a:effectLst/>
        </p:spPr>
        <p:txBody>
          <a:bodyPr rtlCol="0" anchor="ctr"/>
          <a:lstStyle/>
          <a:p/>
        </p:txBody>
      </p:sp>
      <p:sp>
        <p:nvSpPr>
          <p:cNvPr id="26" name="TextBox 25"/>
          <p:cNvSpPr txBox="1"/>
          <p:nvPr/>
        </p:nvSpPr>
        <p:spPr>
          <a:xfrm>
            <a:off x="6438747" y="3854196"/>
            <a:ext cx="5158587" cy="2336292"/>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D3373A"/>
                </a:solidFill>
                <a:latin typeface="Calibri"/>
              </a:rPr>
              <a:t>B · Nüfusun seyrek olduğu alanlar</a:t>
            </a:r>
          </a:p>
          <a:p>
            <a:pPr algn="l">
              <a:spcBef>
                <a:spcPts val="0"/>
              </a:spcBef>
              <a:spcAft>
                <a:spcPts val="500"/>
              </a:spcAft>
            </a:pPr>
            <a:r>
              <a:rPr lang="tr-TR" sz="1900" b="0" i="0">
                <a:solidFill>
                  <a:srgbClr val="262626"/>
                </a:solidFill>
                <a:latin typeface="Calibri"/>
              </a:rPr>
              <a:t>Kutup bölgelerinde iklim koşulları yaşamaya elverişli olmadığı için sürekli yerleşim mevcut değildir.</a:t>
            </a:r>
          </a:p>
          <a:p>
            <a:pPr algn="l">
              <a:spcBef>
                <a:spcPts val="0"/>
              </a:spcBef>
              <a:spcAft>
                <a:spcPts val="0"/>
              </a:spcAft>
            </a:pPr>
            <a:r>
              <a:rPr lang="tr-TR" sz="1900" b="0" i="0">
                <a:solidFill>
                  <a:srgbClr val="262626"/>
                </a:solidFill>
                <a:latin typeface="Calibri"/>
              </a:rPr>
              <a:t>Yüksek dağlık alanlar ve çöllerde nüfus son derece seyrektir.</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146</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 / 379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Başlarken: 3-2-1 Başla</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BAŞLARKEN</a:t>
            </a:r>
          </a:p>
        </p:txBody>
      </p:sp>
      <p:sp>
        <p:nvSpPr>
          <p:cNvPr id="6" name="TextBox 5"/>
          <p:cNvSpPr txBox="1"/>
          <p:nvPr/>
        </p:nvSpPr>
        <p:spPr>
          <a:xfrm>
            <a:off x="502920" y="1170432"/>
            <a:ext cx="11185855" cy="457200"/>
          </a:xfrm>
          <a:prstGeom prst="rect">
            <a:avLst/>
          </a:prstGeom>
          <a:noFill/>
        </p:spPr>
        <p:txBody>
          <a:bodyPr wrap="square" anchor="ctr" lIns="73152" rIns="73152" tIns="36576" bIns="36576">
            <a:noAutofit/>
          </a:bodyPr>
          <a:lstStyle/>
          <a:p>
            <a:pPr algn="ctr">
              <a:spcBef>
                <a:spcPts val="0"/>
              </a:spcBef>
              <a:spcAft>
                <a:spcPts val="0"/>
              </a:spcAft>
            </a:pPr>
            <a:r>
              <a:rPr lang="tr-TR" sz="2000" b="0" i="1">
                <a:solidFill>
                  <a:srgbClr val="767676"/>
                </a:solidFill>
                <a:latin typeface="Calibri"/>
              </a:rPr>
              <a:t>Öğrenme günlüğünün ilk kaydı · 3 dakika</a:t>
            </a:r>
          </a:p>
        </p:txBody>
      </p:sp>
      <p:sp>
        <p:nvSpPr>
          <p:cNvPr id="7" name="Rounded Rectangle 6"/>
          <p:cNvSpPr/>
          <p:nvPr/>
        </p:nvSpPr>
        <p:spPr>
          <a:xfrm>
            <a:off x="502920" y="1719072"/>
            <a:ext cx="1097280" cy="1846533"/>
          </a:xfrm>
          <a:prstGeom prst="roundRect">
            <a:avLst>
              <a:gd name="adj" fmla="val 12000"/>
            </a:avLst>
          </a:prstGeom>
          <a:solidFill>
            <a:srgbClr val="4E8A2E"/>
          </a:solidFill>
          <a:ln>
            <a:noFill/>
          </a:ln>
          <a:effectLst/>
        </p:spPr>
        <p:txBody>
          <a:bodyPr rtlCol="0" anchor="ctr" wrap="square" lIns="128016" rIns="128016" tIns="73152" bIns="73152">
            <a:noAutofit/>
          </a:bodyPr>
          <a:lstStyle/>
          <a:p>
            <a:pPr algn="ctr">
              <a:spcBef>
                <a:spcPts val="0"/>
              </a:spcBef>
              <a:spcAft>
                <a:spcPts val="0"/>
              </a:spcAft>
            </a:pPr>
            <a:r>
              <a:rPr lang="tr-TR" sz="4800" b="1" i="0">
                <a:solidFill>
                  <a:srgbClr val="FFFFFF"/>
                </a:solidFill>
                <a:latin typeface="Calibri"/>
              </a:rPr>
              <a:t>3</a:t>
            </a:r>
          </a:p>
        </p:txBody>
      </p:sp>
      <p:sp>
        <p:nvSpPr>
          <p:cNvPr id="8" name="Rounded Rectangle 7"/>
          <p:cNvSpPr/>
          <p:nvPr/>
        </p:nvSpPr>
        <p:spPr>
          <a:xfrm>
            <a:off x="1691640" y="1719072"/>
            <a:ext cx="9997135" cy="1846533"/>
          </a:xfrm>
          <a:prstGeom prst="roundRect">
            <a:avLst>
              <a:gd name="adj" fmla="val 8000"/>
            </a:avLst>
          </a:prstGeom>
          <a:solidFill>
            <a:srgbClr val="F0F0F0"/>
          </a:solidFill>
          <a:ln>
            <a:noFill/>
          </a:ln>
          <a:effectLst/>
        </p:spPr>
        <p:txBody>
          <a:bodyPr rtlCol="0" anchor="ctr"/>
          <a:lstStyle/>
          <a:p/>
        </p:txBody>
      </p:sp>
      <p:sp>
        <p:nvSpPr>
          <p:cNvPr id="9" name="TextBox 8"/>
          <p:cNvSpPr txBox="1"/>
          <p:nvPr/>
        </p:nvSpPr>
        <p:spPr>
          <a:xfrm>
            <a:off x="1828800" y="1764792"/>
            <a:ext cx="9722815" cy="457200"/>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262626"/>
                </a:solidFill>
                <a:latin typeface="Calibri"/>
              </a:rPr>
              <a:t>Nüfus konusunda bildiklerinizden üçünü yazınız.</a:t>
            </a:r>
          </a:p>
        </p:txBody>
      </p:sp>
      <p:cxnSp>
        <p:nvCxnSpPr>
          <p:cNvPr id="10" name="Connector 9"/>
          <p:cNvCxnSpPr/>
          <p:nvPr/>
        </p:nvCxnSpPr>
        <p:spPr>
          <a:xfrm>
            <a:off x="1965960" y="2546465"/>
            <a:ext cx="9448495" cy="0"/>
          </a:xfrm>
          <a:prstGeom prst="line">
            <a:avLst/>
          </a:prstGeom>
          <a:ln w="12700">
            <a:solidFill>
              <a:srgbClr val="D9D9D9"/>
            </a:solidFill>
            <a:prstDash val="dash"/>
          </a:ln>
        </p:spPr>
      </p:cxnSp>
      <p:cxnSp>
        <p:nvCxnSpPr>
          <p:cNvPr id="11" name="Connector 10"/>
          <p:cNvCxnSpPr/>
          <p:nvPr/>
        </p:nvCxnSpPr>
        <p:spPr>
          <a:xfrm>
            <a:off x="1965960" y="2979096"/>
            <a:ext cx="9448495" cy="0"/>
          </a:xfrm>
          <a:prstGeom prst="line">
            <a:avLst/>
          </a:prstGeom>
          <a:ln w="12700">
            <a:solidFill>
              <a:srgbClr val="D9D9D9"/>
            </a:solidFill>
            <a:prstDash val="dash"/>
          </a:ln>
        </p:spPr>
      </p:cxnSp>
      <p:cxnSp>
        <p:nvCxnSpPr>
          <p:cNvPr id="12" name="Connector 11"/>
          <p:cNvCxnSpPr/>
          <p:nvPr/>
        </p:nvCxnSpPr>
        <p:spPr>
          <a:xfrm>
            <a:off x="1965960" y="3411727"/>
            <a:ext cx="9448495" cy="0"/>
          </a:xfrm>
          <a:prstGeom prst="line">
            <a:avLst/>
          </a:prstGeom>
          <a:ln w="12700">
            <a:solidFill>
              <a:srgbClr val="D9D9D9"/>
            </a:solidFill>
            <a:prstDash val="dash"/>
          </a:ln>
        </p:spPr>
      </p:cxnSp>
      <p:sp>
        <p:nvSpPr>
          <p:cNvPr id="13" name="Rounded Rectangle 12"/>
          <p:cNvSpPr/>
          <p:nvPr/>
        </p:nvSpPr>
        <p:spPr>
          <a:xfrm>
            <a:off x="502920" y="3675333"/>
            <a:ext cx="1097280" cy="1450848"/>
          </a:xfrm>
          <a:prstGeom prst="roundRect">
            <a:avLst>
              <a:gd name="adj" fmla="val 12000"/>
            </a:avLst>
          </a:prstGeom>
          <a:solidFill>
            <a:srgbClr val="6EA845"/>
          </a:solidFill>
          <a:ln>
            <a:noFill/>
          </a:ln>
          <a:effectLst/>
        </p:spPr>
        <p:txBody>
          <a:bodyPr rtlCol="0" anchor="ctr" wrap="square" lIns="128016" rIns="128016" tIns="73152" bIns="73152">
            <a:noAutofit/>
          </a:bodyPr>
          <a:lstStyle/>
          <a:p>
            <a:pPr algn="ctr">
              <a:spcBef>
                <a:spcPts val="0"/>
              </a:spcBef>
              <a:spcAft>
                <a:spcPts val="0"/>
              </a:spcAft>
            </a:pPr>
            <a:r>
              <a:rPr lang="tr-TR" sz="4800" b="1" i="0">
                <a:solidFill>
                  <a:srgbClr val="FFFFFF"/>
                </a:solidFill>
                <a:latin typeface="Calibri"/>
              </a:rPr>
              <a:t>2</a:t>
            </a:r>
          </a:p>
        </p:txBody>
      </p:sp>
      <p:sp>
        <p:nvSpPr>
          <p:cNvPr id="14" name="Rounded Rectangle 13"/>
          <p:cNvSpPr/>
          <p:nvPr/>
        </p:nvSpPr>
        <p:spPr>
          <a:xfrm>
            <a:off x="1691640" y="3675333"/>
            <a:ext cx="9997135" cy="1450848"/>
          </a:xfrm>
          <a:prstGeom prst="roundRect">
            <a:avLst>
              <a:gd name="adj" fmla="val 8000"/>
            </a:avLst>
          </a:prstGeom>
          <a:solidFill>
            <a:srgbClr val="F0F0F0"/>
          </a:solidFill>
          <a:ln>
            <a:noFill/>
          </a:ln>
          <a:effectLst/>
        </p:spPr>
        <p:txBody>
          <a:bodyPr rtlCol="0" anchor="ctr"/>
          <a:lstStyle/>
          <a:p/>
        </p:txBody>
      </p:sp>
      <p:sp>
        <p:nvSpPr>
          <p:cNvPr id="15" name="TextBox 14"/>
          <p:cNvSpPr txBox="1"/>
          <p:nvPr/>
        </p:nvSpPr>
        <p:spPr>
          <a:xfrm>
            <a:off x="1828800" y="3721053"/>
            <a:ext cx="9722815" cy="457200"/>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262626"/>
                </a:solidFill>
                <a:latin typeface="Calibri"/>
              </a:rPr>
              <a:t>Nüfus hakkında öğrenmek istediklerinizden ikisini yazınız.</a:t>
            </a:r>
          </a:p>
        </p:txBody>
      </p:sp>
      <p:cxnSp>
        <p:nvCxnSpPr>
          <p:cNvPr id="16" name="Connector 15"/>
          <p:cNvCxnSpPr/>
          <p:nvPr/>
        </p:nvCxnSpPr>
        <p:spPr>
          <a:xfrm>
            <a:off x="1965960" y="4516581"/>
            <a:ext cx="9448495" cy="0"/>
          </a:xfrm>
          <a:prstGeom prst="line">
            <a:avLst/>
          </a:prstGeom>
          <a:ln w="12700">
            <a:solidFill>
              <a:srgbClr val="D9D9D9"/>
            </a:solidFill>
            <a:prstDash val="dash"/>
          </a:ln>
        </p:spPr>
      </p:cxnSp>
      <p:cxnSp>
        <p:nvCxnSpPr>
          <p:cNvPr id="17" name="Connector 16"/>
          <p:cNvCxnSpPr/>
          <p:nvPr/>
        </p:nvCxnSpPr>
        <p:spPr>
          <a:xfrm>
            <a:off x="1965960" y="4967685"/>
            <a:ext cx="9448495" cy="0"/>
          </a:xfrm>
          <a:prstGeom prst="line">
            <a:avLst/>
          </a:prstGeom>
          <a:ln w="12700">
            <a:solidFill>
              <a:srgbClr val="D9D9D9"/>
            </a:solidFill>
            <a:prstDash val="dash"/>
          </a:ln>
        </p:spPr>
      </p:cxnSp>
      <p:sp>
        <p:nvSpPr>
          <p:cNvPr id="18" name="Rounded Rectangle 17"/>
          <p:cNvSpPr/>
          <p:nvPr/>
        </p:nvSpPr>
        <p:spPr>
          <a:xfrm>
            <a:off x="502920" y="5235909"/>
            <a:ext cx="1097280" cy="1055162"/>
          </a:xfrm>
          <a:prstGeom prst="roundRect">
            <a:avLst>
              <a:gd name="adj" fmla="val 12000"/>
            </a:avLst>
          </a:prstGeom>
          <a:solidFill>
            <a:srgbClr val="8CBE62"/>
          </a:solidFill>
          <a:ln>
            <a:noFill/>
          </a:ln>
          <a:effectLst/>
        </p:spPr>
        <p:txBody>
          <a:bodyPr rtlCol="0" anchor="ctr" wrap="square" lIns="128016" rIns="128016" tIns="73152" bIns="73152">
            <a:noAutofit/>
          </a:bodyPr>
          <a:lstStyle/>
          <a:p>
            <a:pPr algn="ctr">
              <a:spcBef>
                <a:spcPts val="0"/>
              </a:spcBef>
              <a:spcAft>
                <a:spcPts val="0"/>
              </a:spcAft>
            </a:pPr>
            <a:r>
              <a:rPr lang="tr-TR" sz="4800" b="1" i="0">
                <a:solidFill>
                  <a:srgbClr val="FFFFFF"/>
                </a:solidFill>
                <a:latin typeface="Calibri"/>
              </a:rPr>
              <a:t>1</a:t>
            </a:r>
          </a:p>
        </p:txBody>
      </p:sp>
      <p:sp>
        <p:nvSpPr>
          <p:cNvPr id="19" name="Rounded Rectangle 18"/>
          <p:cNvSpPr/>
          <p:nvPr/>
        </p:nvSpPr>
        <p:spPr>
          <a:xfrm>
            <a:off x="1691640" y="5235909"/>
            <a:ext cx="9997135" cy="1055162"/>
          </a:xfrm>
          <a:prstGeom prst="roundRect">
            <a:avLst>
              <a:gd name="adj" fmla="val 8000"/>
            </a:avLst>
          </a:prstGeom>
          <a:solidFill>
            <a:srgbClr val="F0F0F0"/>
          </a:solidFill>
          <a:ln>
            <a:noFill/>
          </a:ln>
          <a:effectLst/>
        </p:spPr>
        <p:txBody>
          <a:bodyPr rtlCol="0" anchor="ctr"/>
          <a:lstStyle/>
          <a:p/>
        </p:txBody>
      </p:sp>
      <p:sp>
        <p:nvSpPr>
          <p:cNvPr id="20" name="TextBox 19"/>
          <p:cNvSpPr txBox="1"/>
          <p:nvPr/>
        </p:nvSpPr>
        <p:spPr>
          <a:xfrm>
            <a:off x="1828800" y="5281629"/>
            <a:ext cx="9722815" cy="457200"/>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262626"/>
                </a:solidFill>
                <a:latin typeface="Calibri"/>
              </a:rPr>
              <a:t>Nüfusla bağlantılı olduğunu düşündüğünüz bir konuyu yazınız.</a:t>
            </a:r>
          </a:p>
        </p:txBody>
      </p:sp>
      <p:cxnSp>
        <p:nvCxnSpPr>
          <p:cNvPr id="21" name="Connector 20"/>
          <p:cNvCxnSpPr/>
          <p:nvPr/>
        </p:nvCxnSpPr>
        <p:spPr>
          <a:xfrm>
            <a:off x="1965960" y="6118720"/>
            <a:ext cx="9448495" cy="0"/>
          </a:xfrm>
          <a:prstGeom prst="line">
            <a:avLst/>
          </a:prstGeom>
          <a:ln w="12700">
            <a:solidFill>
              <a:srgbClr val="D9D9D9"/>
            </a:solidFill>
            <a:prstDash val="dash"/>
          </a:ln>
        </p:spPr>
      </p:cxn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140</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 / 379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Başlarken: 3-2-1 Başla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TextBox 5"/>
          <p:cNvSpPr txBox="1"/>
          <p:nvPr/>
        </p:nvSpPr>
        <p:spPr>
          <a:xfrm>
            <a:off x="502920" y="1170432"/>
            <a:ext cx="11185855" cy="457200"/>
          </a:xfrm>
          <a:prstGeom prst="rect">
            <a:avLst/>
          </a:prstGeom>
          <a:noFill/>
        </p:spPr>
        <p:txBody>
          <a:bodyPr wrap="square" anchor="ctr" lIns="73152" rIns="73152" tIns="36576" bIns="36576">
            <a:noAutofit/>
          </a:bodyPr>
          <a:lstStyle/>
          <a:p>
            <a:pPr algn="ctr">
              <a:spcBef>
                <a:spcPts val="0"/>
              </a:spcBef>
              <a:spcAft>
                <a:spcPts val="0"/>
              </a:spcAft>
            </a:pPr>
            <a:r>
              <a:rPr lang="tr-TR" sz="2000" b="0" i="1">
                <a:solidFill>
                  <a:srgbClr val="767676"/>
                </a:solidFill>
                <a:latin typeface="Calibri"/>
              </a:rPr>
              <a:t>Öğrenme günlüğünün ilk kaydı · 3 dakika</a:t>
            </a:r>
          </a:p>
        </p:txBody>
      </p:sp>
      <p:sp>
        <p:nvSpPr>
          <p:cNvPr id="7" name="Rounded Rectangle 6"/>
          <p:cNvSpPr/>
          <p:nvPr/>
        </p:nvSpPr>
        <p:spPr>
          <a:xfrm>
            <a:off x="502920" y="1719072"/>
            <a:ext cx="1097280" cy="1846533"/>
          </a:xfrm>
          <a:prstGeom prst="roundRect">
            <a:avLst>
              <a:gd name="adj" fmla="val 12000"/>
            </a:avLst>
          </a:prstGeom>
          <a:solidFill>
            <a:srgbClr val="4E8A2E"/>
          </a:solidFill>
          <a:ln>
            <a:noFill/>
          </a:ln>
          <a:effectLst/>
        </p:spPr>
        <p:txBody>
          <a:bodyPr rtlCol="0" anchor="ctr" wrap="square" lIns="128016" rIns="128016" tIns="73152" bIns="73152">
            <a:noAutofit/>
          </a:bodyPr>
          <a:lstStyle/>
          <a:p>
            <a:pPr algn="ctr">
              <a:spcBef>
                <a:spcPts val="0"/>
              </a:spcBef>
              <a:spcAft>
                <a:spcPts val="0"/>
              </a:spcAft>
            </a:pPr>
            <a:r>
              <a:rPr lang="tr-TR" sz="4800" b="1" i="0">
                <a:solidFill>
                  <a:srgbClr val="FFFFFF"/>
                </a:solidFill>
                <a:latin typeface="Calibri"/>
              </a:rPr>
              <a:t>3</a:t>
            </a:r>
          </a:p>
        </p:txBody>
      </p:sp>
      <p:sp>
        <p:nvSpPr>
          <p:cNvPr id="8" name="Rounded Rectangle 7"/>
          <p:cNvSpPr/>
          <p:nvPr/>
        </p:nvSpPr>
        <p:spPr>
          <a:xfrm>
            <a:off x="1691640" y="1719072"/>
            <a:ext cx="9997135" cy="1846533"/>
          </a:xfrm>
          <a:prstGeom prst="roundRect">
            <a:avLst>
              <a:gd name="adj" fmla="val 8000"/>
            </a:avLst>
          </a:prstGeom>
          <a:solidFill>
            <a:srgbClr val="E3F1E4"/>
          </a:solidFill>
          <a:ln w="12700">
            <a:solidFill>
              <a:srgbClr val="2E7D32"/>
            </a:solidFill>
          </a:ln>
          <a:effectLst/>
        </p:spPr>
        <p:txBody>
          <a:bodyPr rtlCol="0" anchor="ctr"/>
          <a:lstStyle/>
          <a:p/>
        </p:txBody>
      </p:sp>
      <p:sp>
        <p:nvSpPr>
          <p:cNvPr id="9" name="TextBox 8"/>
          <p:cNvSpPr txBox="1"/>
          <p:nvPr/>
        </p:nvSpPr>
        <p:spPr>
          <a:xfrm>
            <a:off x="1828800" y="1764792"/>
            <a:ext cx="9722815" cy="457200"/>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262626"/>
                </a:solidFill>
                <a:latin typeface="Calibri"/>
              </a:rPr>
              <a:t>Nüfus konusunda bildiklerinizden üçünü yazınız.</a:t>
            </a:r>
          </a:p>
        </p:txBody>
      </p:sp>
      <p:sp>
        <p:nvSpPr>
          <p:cNvPr id="10" name="TextBox 9"/>
          <p:cNvSpPr txBox="1"/>
          <p:nvPr/>
        </p:nvSpPr>
        <p:spPr>
          <a:xfrm>
            <a:off x="1828800" y="2221992"/>
            <a:ext cx="9722815" cy="1297893"/>
          </a:xfrm>
          <a:prstGeom prst="rect">
            <a:avLst/>
          </a:prstGeom>
          <a:noFill/>
        </p:spPr>
        <p:txBody>
          <a:bodyPr wrap="square" anchor="ctr" lIns="73152" rIns="73152" tIns="36576" bIns="36576">
            <a:noAutofit/>
          </a:bodyPr>
          <a:lstStyle/>
          <a:p>
            <a:pPr algn="l" marL="261051" indent="-261051">
              <a:spcBef>
                <a:spcPts val="0"/>
              </a:spcBef>
              <a:spcAft>
                <a:spcPts val="200"/>
              </a:spcAft>
            </a:pPr>
            <a:r>
              <a:rPr lang="tr-TR" sz="2100" b="1" i="0">
                <a:solidFill>
                  <a:srgbClr val="2E7D32"/>
                </a:solidFill>
                <a:latin typeface="Calibri"/>
              </a:rPr>
              <a:t>•  </a:t>
            </a:r>
            <a:r>
              <a:rPr lang="tr-TR" sz="2100" b="0" i="0">
                <a:solidFill>
                  <a:srgbClr val="262626"/>
                </a:solidFill>
                <a:latin typeface="Calibri"/>
              </a:rPr>
              <a:t>Nüfus doğum, ölüm ve göçle değişir.</a:t>
            </a:r>
          </a:p>
          <a:p>
            <a:pPr algn="l" marL="261051" indent="-261051">
              <a:spcBef>
                <a:spcPts val="0"/>
              </a:spcBef>
              <a:spcAft>
                <a:spcPts val="200"/>
              </a:spcAft>
            </a:pPr>
            <a:r>
              <a:rPr lang="tr-TR" sz="2100" b="1" i="0">
                <a:solidFill>
                  <a:srgbClr val="2E7D32"/>
                </a:solidFill>
                <a:latin typeface="Calibri"/>
              </a:rPr>
              <a:t>•  </a:t>
            </a:r>
            <a:r>
              <a:rPr lang="tr-TR" sz="2100" b="0" i="0">
                <a:solidFill>
                  <a:srgbClr val="262626"/>
                </a:solidFill>
                <a:latin typeface="Calibri"/>
              </a:rPr>
              <a:t>Türkiye'de nüfus verilerini TÜİK toplar.</a:t>
            </a:r>
          </a:p>
          <a:p>
            <a:pPr algn="l" marL="261051" indent="-261051">
              <a:spcBef>
                <a:spcPts val="0"/>
              </a:spcBef>
              <a:spcAft>
                <a:spcPts val="0"/>
              </a:spcAft>
            </a:pPr>
            <a:r>
              <a:rPr lang="tr-TR" sz="2100" b="1" i="0">
                <a:solidFill>
                  <a:srgbClr val="2E7D32"/>
                </a:solidFill>
                <a:latin typeface="Calibri"/>
              </a:rPr>
              <a:t>•  </a:t>
            </a:r>
            <a:r>
              <a:rPr lang="tr-TR" sz="2100" b="0" i="0">
                <a:solidFill>
                  <a:srgbClr val="262626"/>
                </a:solidFill>
                <a:latin typeface="Calibri"/>
              </a:rPr>
              <a:t>Şehirlerde nüfus yoğundur.</a:t>
            </a:r>
          </a:p>
        </p:txBody>
      </p:sp>
      <p:sp>
        <p:nvSpPr>
          <p:cNvPr id="11" name="Rounded Rectangle 10"/>
          <p:cNvSpPr/>
          <p:nvPr/>
        </p:nvSpPr>
        <p:spPr>
          <a:xfrm>
            <a:off x="502920" y="3675333"/>
            <a:ext cx="1097280" cy="1450848"/>
          </a:xfrm>
          <a:prstGeom prst="roundRect">
            <a:avLst>
              <a:gd name="adj" fmla="val 12000"/>
            </a:avLst>
          </a:prstGeom>
          <a:solidFill>
            <a:srgbClr val="6EA845"/>
          </a:solidFill>
          <a:ln>
            <a:noFill/>
          </a:ln>
          <a:effectLst/>
        </p:spPr>
        <p:txBody>
          <a:bodyPr rtlCol="0" anchor="ctr" wrap="square" lIns="128016" rIns="128016" tIns="73152" bIns="73152">
            <a:noAutofit/>
          </a:bodyPr>
          <a:lstStyle/>
          <a:p>
            <a:pPr algn="ctr">
              <a:spcBef>
                <a:spcPts val="0"/>
              </a:spcBef>
              <a:spcAft>
                <a:spcPts val="0"/>
              </a:spcAft>
            </a:pPr>
            <a:r>
              <a:rPr lang="tr-TR" sz="4800" b="1" i="0">
                <a:solidFill>
                  <a:srgbClr val="FFFFFF"/>
                </a:solidFill>
                <a:latin typeface="Calibri"/>
              </a:rPr>
              <a:t>2</a:t>
            </a:r>
          </a:p>
        </p:txBody>
      </p:sp>
      <p:sp>
        <p:nvSpPr>
          <p:cNvPr id="12" name="Rounded Rectangle 11"/>
          <p:cNvSpPr/>
          <p:nvPr/>
        </p:nvSpPr>
        <p:spPr>
          <a:xfrm>
            <a:off x="1691640" y="3675333"/>
            <a:ext cx="9997135" cy="1450848"/>
          </a:xfrm>
          <a:prstGeom prst="roundRect">
            <a:avLst>
              <a:gd name="adj" fmla="val 8000"/>
            </a:avLst>
          </a:prstGeom>
          <a:solidFill>
            <a:srgbClr val="E3F1E4"/>
          </a:solidFill>
          <a:ln w="12700">
            <a:solidFill>
              <a:srgbClr val="2E7D32"/>
            </a:solidFill>
          </a:ln>
          <a:effectLst/>
        </p:spPr>
        <p:txBody>
          <a:bodyPr rtlCol="0" anchor="ctr"/>
          <a:lstStyle/>
          <a:p/>
        </p:txBody>
      </p:sp>
      <p:sp>
        <p:nvSpPr>
          <p:cNvPr id="13" name="TextBox 12"/>
          <p:cNvSpPr txBox="1"/>
          <p:nvPr/>
        </p:nvSpPr>
        <p:spPr>
          <a:xfrm>
            <a:off x="1828800" y="3721053"/>
            <a:ext cx="9722815" cy="457200"/>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262626"/>
                </a:solidFill>
                <a:latin typeface="Calibri"/>
              </a:rPr>
              <a:t>Nüfus hakkında öğrenmek istediklerinizden ikisini yazınız.</a:t>
            </a:r>
          </a:p>
        </p:txBody>
      </p:sp>
      <p:sp>
        <p:nvSpPr>
          <p:cNvPr id="14" name="TextBox 13"/>
          <p:cNvSpPr txBox="1"/>
          <p:nvPr/>
        </p:nvSpPr>
        <p:spPr>
          <a:xfrm>
            <a:off x="1828800" y="4178253"/>
            <a:ext cx="9722815" cy="902208"/>
          </a:xfrm>
          <a:prstGeom prst="rect">
            <a:avLst/>
          </a:prstGeom>
          <a:noFill/>
        </p:spPr>
        <p:txBody>
          <a:bodyPr wrap="square" anchor="ctr" lIns="73152" rIns="73152" tIns="36576" bIns="36576">
            <a:noAutofit/>
          </a:bodyPr>
          <a:lstStyle/>
          <a:p>
            <a:pPr algn="l" marL="261051" indent="-261051">
              <a:spcBef>
                <a:spcPts val="0"/>
              </a:spcBef>
              <a:spcAft>
                <a:spcPts val="200"/>
              </a:spcAft>
            </a:pPr>
            <a:r>
              <a:rPr lang="tr-TR" sz="2100" b="1" i="0">
                <a:solidFill>
                  <a:srgbClr val="2E7D32"/>
                </a:solidFill>
                <a:latin typeface="Calibri"/>
              </a:rPr>
              <a:t>•  </a:t>
            </a:r>
            <a:r>
              <a:rPr lang="tr-TR" sz="2100" b="0" i="0">
                <a:solidFill>
                  <a:srgbClr val="262626"/>
                </a:solidFill>
                <a:latin typeface="Calibri"/>
              </a:rPr>
              <a:t>Dünya nüfusu nasıl bu kadar arttı?</a:t>
            </a:r>
          </a:p>
          <a:p>
            <a:pPr algn="l" marL="261051" indent="-261051">
              <a:spcBef>
                <a:spcPts val="0"/>
              </a:spcBef>
              <a:spcAft>
                <a:spcPts val="0"/>
              </a:spcAft>
            </a:pPr>
            <a:r>
              <a:rPr lang="tr-TR" sz="2100" b="1" i="0">
                <a:solidFill>
                  <a:srgbClr val="2E7D32"/>
                </a:solidFill>
                <a:latin typeface="Calibri"/>
              </a:rPr>
              <a:t>•  </a:t>
            </a:r>
            <a:r>
              <a:rPr lang="tr-TR" sz="2100" b="0" i="0">
                <a:solidFill>
                  <a:srgbClr val="262626"/>
                </a:solidFill>
                <a:latin typeface="Calibri"/>
              </a:rPr>
              <a:t>Türkiye'nin nüfusu gelecekte nasıl değişecek?</a:t>
            </a:r>
          </a:p>
        </p:txBody>
      </p:sp>
      <p:sp>
        <p:nvSpPr>
          <p:cNvPr id="15" name="Rounded Rectangle 14"/>
          <p:cNvSpPr/>
          <p:nvPr/>
        </p:nvSpPr>
        <p:spPr>
          <a:xfrm>
            <a:off x="502920" y="5235909"/>
            <a:ext cx="1097280" cy="1055162"/>
          </a:xfrm>
          <a:prstGeom prst="roundRect">
            <a:avLst>
              <a:gd name="adj" fmla="val 12000"/>
            </a:avLst>
          </a:prstGeom>
          <a:solidFill>
            <a:srgbClr val="8CBE62"/>
          </a:solidFill>
          <a:ln>
            <a:noFill/>
          </a:ln>
          <a:effectLst/>
        </p:spPr>
        <p:txBody>
          <a:bodyPr rtlCol="0" anchor="ctr" wrap="square" lIns="128016" rIns="128016" tIns="73152" bIns="73152">
            <a:noAutofit/>
          </a:bodyPr>
          <a:lstStyle/>
          <a:p>
            <a:pPr algn="ctr">
              <a:spcBef>
                <a:spcPts val="0"/>
              </a:spcBef>
              <a:spcAft>
                <a:spcPts val="0"/>
              </a:spcAft>
            </a:pPr>
            <a:r>
              <a:rPr lang="tr-TR" sz="4800" b="1" i="0">
                <a:solidFill>
                  <a:srgbClr val="FFFFFF"/>
                </a:solidFill>
                <a:latin typeface="Calibri"/>
              </a:rPr>
              <a:t>1</a:t>
            </a:r>
          </a:p>
        </p:txBody>
      </p:sp>
      <p:sp>
        <p:nvSpPr>
          <p:cNvPr id="16" name="Rounded Rectangle 15"/>
          <p:cNvSpPr/>
          <p:nvPr/>
        </p:nvSpPr>
        <p:spPr>
          <a:xfrm>
            <a:off x="1691640" y="5235909"/>
            <a:ext cx="9997135" cy="1055162"/>
          </a:xfrm>
          <a:prstGeom prst="roundRect">
            <a:avLst>
              <a:gd name="adj" fmla="val 8000"/>
            </a:avLst>
          </a:prstGeom>
          <a:solidFill>
            <a:srgbClr val="E3F1E4"/>
          </a:solidFill>
          <a:ln w="12700">
            <a:solidFill>
              <a:srgbClr val="2E7D32"/>
            </a:solidFill>
          </a:ln>
          <a:effectLst/>
        </p:spPr>
        <p:txBody>
          <a:bodyPr rtlCol="0" anchor="ctr"/>
          <a:lstStyle/>
          <a:p/>
        </p:txBody>
      </p:sp>
      <p:sp>
        <p:nvSpPr>
          <p:cNvPr id="17" name="TextBox 16"/>
          <p:cNvSpPr txBox="1"/>
          <p:nvPr/>
        </p:nvSpPr>
        <p:spPr>
          <a:xfrm>
            <a:off x="1828800" y="5281629"/>
            <a:ext cx="9722815" cy="457200"/>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262626"/>
                </a:solidFill>
                <a:latin typeface="Calibri"/>
              </a:rPr>
              <a:t>Nüfusla bağlantılı olduğunu düşündüğünüz bir konuyu yazınız.</a:t>
            </a:r>
          </a:p>
        </p:txBody>
      </p:sp>
      <p:sp>
        <p:nvSpPr>
          <p:cNvPr id="18" name="TextBox 17"/>
          <p:cNvSpPr txBox="1"/>
          <p:nvPr/>
        </p:nvSpPr>
        <p:spPr>
          <a:xfrm>
            <a:off x="1828800" y="5738829"/>
            <a:ext cx="9722815" cy="506522"/>
          </a:xfrm>
          <a:prstGeom prst="rect">
            <a:avLst/>
          </a:prstGeom>
          <a:noFill/>
        </p:spPr>
        <p:txBody>
          <a:bodyPr wrap="square" anchor="ctr" lIns="73152" rIns="73152" tIns="36576" bIns="36576">
            <a:noAutofit/>
          </a:bodyPr>
          <a:lstStyle/>
          <a:p>
            <a:pPr algn="l" marL="261051" indent="-261051">
              <a:spcBef>
                <a:spcPts val="0"/>
              </a:spcBef>
              <a:spcAft>
                <a:spcPts val="0"/>
              </a:spcAft>
            </a:pPr>
            <a:r>
              <a:rPr lang="tr-TR" sz="2100" b="1" i="0">
                <a:solidFill>
                  <a:srgbClr val="2E7D32"/>
                </a:solidFill>
                <a:latin typeface="Calibri"/>
              </a:rPr>
              <a:t>•  </a:t>
            </a:r>
            <a:r>
              <a:rPr lang="tr-TR" sz="2100" b="0" i="0">
                <a:solidFill>
                  <a:srgbClr val="262626"/>
                </a:solidFill>
                <a:latin typeface="Calibri"/>
              </a:rPr>
              <a:t>Göç (ya da kentleşme)</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140</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 / 379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Güncel bir nüfus haberi: kimin işine yarar?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KÖPRÜ KURMA</a:t>
            </a:r>
          </a:p>
        </p:txBody>
      </p:sp>
      <p:sp>
        <p:nvSpPr>
          <p:cNvPr id="6" name="Rounded Rectangle 5"/>
          <p:cNvSpPr/>
          <p:nvPr/>
        </p:nvSpPr>
        <p:spPr>
          <a:xfrm>
            <a:off x="502920" y="1216152"/>
            <a:ext cx="11185855" cy="1051560"/>
          </a:xfrm>
          <a:prstGeom prst="roundRect">
            <a:avLst>
              <a:gd name="adj" fmla="val 8000"/>
            </a:avLst>
          </a:prstGeom>
          <a:solidFill>
            <a:srgbClr val="FFF3D1"/>
          </a:solidFill>
          <a:ln>
            <a:noFill/>
          </a:ln>
          <a:effectLst/>
        </p:spPr>
        <p:txBody>
          <a:bodyPr rtlCol="0" anchor="ctr" wrap="square" lIns="274320" rIns="274320" tIns="73152" bIns="73152">
            <a:noAutofit/>
          </a:bodyPr>
          <a:lstStyle/>
          <a:p>
            <a:pPr algn="l">
              <a:spcBef>
                <a:spcPts val="0"/>
              </a:spcBef>
              <a:spcAft>
                <a:spcPts val="400"/>
              </a:spcAft>
            </a:pPr>
            <a:r>
              <a:rPr lang="tr-TR" sz="2400" b="1" i="0">
                <a:solidFill>
                  <a:srgbClr val="D3373A"/>
                </a:solidFill>
                <a:latin typeface="Calibri"/>
              </a:rPr>
              <a:t>HABER</a:t>
            </a:r>
          </a:p>
          <a:p>
            <a:pPr algn="l">
              <a:spcBef>
                <a:spcPts val="0"/>
              </a:spcBef>
              <a:spcAft>
                <a:spcPts val="0"/>
              </a:spcAft>
            </a:pPr>
            <a:r>
              <a:rPr lang="tr-TR" sz="2400" b="0" i="1">
                <a:solidFill>
                  <a:srgbClr val="262626"/>
                </a:solidFill>
                <a:latin typeface="Calibri"/>
              </a:rPr>
              <a:t>Başlık: …………………………………………… (öğretmenimiz yansıtır)</a:t>
            </a:r>
          </a:p>
        </p:txBody>
      </p:sp>
      <p:sp>
        <p:nvSpPr>
          <p:cNvPr id="7" name="TextBox 6"/>
          <p:cNvSpPr txBox="1"/>
          <p:nvPr/>
        </p:nvSpPr>
        <p:spPr>
          <a:xfrm>
            <a:off x="502920" y="2404872"/>
            <a:ext cx="11185855" cy="548640"/>
          </a:xfrm>
          <a:prstGeom prst="rect">
            <a:avLst/>
          </a:prstGeom>
          <a:noFill/>
        </p:spPr>
        <p:txBody>
          <a:bodyPr wrap="square" anchor="ctr" lIns="73152" rIns="73152" tIns="36576" bIns="36576">
            <a:noAutofit/>
          </a:bodyPr>
          <a:lstStyle/>
          <a:p>
            <a:pPr algn="ctr">
              <a:spcBef>
                <a:spcPts val="0"/>
              </a:spcBef>
              <a:spcAft>
                <a:spcPts val="0"/>
              </a:spcAft>
            </a:pPr>
            <a:r>
              <a:rPr lang="tr-TR" sz="2800" b="1" i="0">
                <a:solidFill>
                  <a:srgbClr val="2C6696"/>
                </a:solidFill>
                <a:latin typeface="Calibri"/>
              </a:rPr>
              <a:t>Bu haber kimin işine yarar? Neden?</a:t>
            </a:r>
          </a:p>
        </p:txBody>
      </p:sp>
      <p:sp>
        <p:nvSpPr>
          <p:cNvPr id="8" name="Rounded Rectangle 7"/>
          <p:cNvSpPr/>
          <p:nvPr/>
        </p:nvSpPr>
        <p:spPr>
          <a:xfrm>
            <a:off x="502920" y="3090672"/>
            <a:ext cx="2645587" cy="3154680"/>
          </a:xfrm>
          <a:prstGeom prst="roundRect">
            <a:avLst>
              <a:gd name="adj" fmla="val 5000"/>
            </a:avLst>
          </a:prstGeom>
          <a:solidFill>
            <a:srgbClr val="F0F0F0"/>
          </a:solidFill>
          <a:ln>
            <a:noFill/>
          </a:ln>
          <a:effectLst/>
        </p:spPr>
        <p:txBody>
          <a:bodyPr rtlCol="0" anchor="ctr"/>
          <a:lstStyle/>
          <a:p/>
        </p:txBody>
      </p:sp>
      <p:sp>
        <p:nvSpPr>
          <p:cNvPr id="9" name="Rounded Rectangle 8"/>
          <p:cNvSpPr/>
          <p:nvPr/>
        </p:nvSpPr>
        <p:spPr>
          <a:xfrm>
            <a:off x="502920" y="3090672"/>
            <a:ext cx="2645587" cy="530352"/>
          </a:xfrm>
          <a:prstGeom prst="roundRect">
            <a:avLst>
              <a:gd name="adj" fmla="val 25000"/>
            </a:avLst>
          </a:prstGeom>
          <a:solidFill>
            <a:srgbClr val="2C6696"/>
          </a:solidFill>
          <a:ln>
            <a:noFill/>
          </a:ln>
          <a:effectLst/>
        </p:spPr>
        <p:txBody>
          <a:bodyPr rtlCol="0" anchor="ctr"/>
          <a:lstStyle/>
          <a:p/>
        </p:txBody>
      </p:sp>
      <p:sp>
        <p:nvSpPr>
          <p:cNvPr id="10" name="Rectangle 9"/>
          <p:cNvSpPr/>
          <p:nvPr/>
        </p:nvSpPr>
        <p:spPr>
          <a:xfrm>
            <a:off x="502920" y="3355848"/>
            <a:ext cx="2645587" cy="265176"/>
          </a:xfrm>
          <a:prstGeom prst="rect">
            <a:avLst/>
          </a:prstGeom>
          <a:solidFill>
            <a:srgbClr val="2C6696"/>
          </a:solidFill>
          <a:ln>
            <a:noFill/>
          </a:ln>
          <a:effectLst/>
        </p:spPr>
        <p:txBody>
          <a:bodyPr rtlCol="0" anchor="ctr"/>
          <a:lstStyle/>
          <a:p/>
        </p:txBody>
      </p:sp>
      <p:sp>
        <p:nvSpPr>
          <p:cNvPr id="11" name="TextBox 10"/>
          <p:cNvSpPr txBox="1"/>
          <p:nvPr/>
        </p:nvSpPr>
        <p:spPr>
          <a:xfrm>
            <a:off x="594360" y="3090672"/>
            <a:ext cx="2462707" cy="530352"/>
          </a:xfrm>
          <a:prstGeom prst="rect">
            <a:avLst/>
          </a:prstGeom>
          <a:noFill/>
        </p:spPr>
        <p:txBody>
          <a:bodyPr wrap="square" anchor="ctr" lIns="73152" rIns="73152" tIns="36576" bIns="36576">
            <a:noAutofit/>
          </a:bodyPr>
          <a:lstStyle/>
          <a:p>
            <a:pPr algn="l">
              <a:spcBef>
                <a:spcPts val="0"/>
              </a:spcBef>
              <a:spcAft>
                <a:spcPts val="0"/>
              </a:spcAft>
            </a:pPr>
            <a:r>
              <a:rPr lang="tr-TR" sz="2400" b="1" i="0">
                <a:solidFill>
                  <a:srgbClr val="FFFFFF"/>
                </a:solidFill>
                <a:latin typeface="Calibri"/>
              </a:rPr>
              <a:t>Belediye</a:t>
            </a:r>
          </a:p>
        </p:txBody>
      </p:sp>
      <p:sp>
        <p:nvSpPr>
          <p:cNvPr id="12" name="TextBox 11"/>
          <p:cNvSpPr txBox="1"/>
          <p:nvPr/>
        </p:nvSpPr>
        <p:spPr>
          <a:xfrm>
            <a:off x="612648" y="3694176"/>
            <a:ext cx="2426131" cy="2478024"/>
          </a:xfrm>
          <a:prstGeom prst="rect">
            <a:avLst/>
          </a:prstGeom>
          <a:noFill/>
        </p:spPr>
        <p:txBody>
          <a:bodyPr wrap="square" anchor="t" lIns="73152" rIns="73152" tIns="36576" bIns="36576">
            <a:noAutofit/>
          </a:bodyPr>
          <a:lstStyle/>
          <a:p>
            <a:pPr algn="ctr">
              <a:spcBef>
                <a:spcPts val="0"/>
              </a:spcBef>
              <a:spcAft>
                <a:spcPts val="0"/>
              </a:spcAft>
            </a:pPr>
            <a:r>
              <a:rPr lang="tr-TR" sz="4400" b="0" i="0">
                <a:solidFill>
                  <a:srgbClr val="262626"/>
                </a:solidFill>
                <a:latin typeface="Calibri"/>
              </a:rPr>
              <a:t>?</a:t>
            </a:r>
          </a:p>
        </p:txBody>
      </p:sp>
      <p:sp>
        <p:nvSpPr>
          <p:cNvPr id="13" name="Rounded Rectangle 12"/>
          <p:cNvSpPr/>
          <p:nvPr/>
        </p:nvSpPr>
        <p:spPr>
          <a:xfrm>
            <a:off x="3349675" y="3090672"/>
            <a:ext cx="2645587" cy="3154680"/>
          </a:xfrm>
          <a:prstGeom prst="roundRect">
            <a:avLst>
              <a:gd name="adj" fmla="val 5000"/>
            </a:avLst>
          </a:prstGeom>
          <a:solidFill>
            <a:srgbClr val="F0F0F0"/>
          </a:solidFill>
          <a:ln>
            <a:noFill/>
          </a:ln>
          <a:effectLst/>
        </p:spPr>
        <p:txBody>
          <a:bodyPr rtlCol="0" anchor="ctr"/>
          <a:lstStyle/>
          <a:p/>
        </p:txBody>
      </p:sp>
      <p:sp>
        <p:nvSpPr>
          <p:cNvPr id="14" name="Rounded Rectangle 13"/>
          <p:cNvSpPr/>
          <p:nvPr/>
        </p:nvSpPr>
        <p:spPr>
          <a:xfrm>
            <a:off x="3349675" y="3090672"/>
            <a:ext cx="2645587" cy="530352"/>
          </a:xfrm>
          <a:prstGeom prst="roundRect">
            <a:avLst>
              <a:gd name="adj" fmla="val 25000"/>
            </a:avLst>
          </a:prstGeom>
          <a:solidFill>
            <a:srgbClr val="4F4F4F"/>
          </a:solidFill>
          <a:ln>
            <a:noFill/>
          </a:ln>
          <a:effectLst/>
        </p:spPr>
        <p:txBody>
          <a:bodyPr rtlCol="0" anchor="ctr"/>
          <a:lstStyle/>
          <a:p/>
        </p:txBody>
      </p:sp>
      <p:sp>
        <p:nvSpPr>
          <p:cNvPr id="15" name="Rectangle 14"/>
          <p:cNvSpPr/>
          <p:nvPr/>
        </p:nvSpPr>
        <p:spPr>
          <a:xfrm>
            <a:off x="3349675" y="3355848"/>
            <a:ext cx="2645587" cy="265176"/>
          </a:xfrm>
          <a:prstGeom prst="rect">
            <a:avLst/>
          </a:prstGeom>
          <a:solidFill>
            <a:srgbClr val="4F4F4F"/>
          </a:solidFill>
          <a:ln>
            <a:noFill/>
          </a:ln>
          <a:effectLst/>
        </p:spPr>
        <p:txBody>
          <a:bodyPr rtlCol="0" anchor="ctr"/>
          <a:lstStyle/>
          <a:p/>
        </p:txBody>
      </p:sp>
      <p:sp>
        <p:nvSpPr>
          <p:cNvPr id="16" name="TextBox 15"/>
          <p:cNvSpPr txBox="1"/>
          <p:nvPr/>
        </p:nvSpPr>
        <p:spPr>
          <a:xfrm>
            <a:off x="3441115" y="3090672"/>
            <a:ext cx="2462707" cy="530352"/>
          </a:xfrm>
          <a:prstGeom prst="rect">
            <a:avLst/>
          </a:prstGeom>
          <a:noFill/>
        </p:spPr>
        <p:txBody>
          <a:bodyPr wrap="square" anchor="ctr" lIns="73152" rIns="73152" tIns="36576" bIns="36576">
            <a:noAutofit/>
          </a:bodyPr>
          <a:lstStyle/>
          <a:p>
            <a:pPr algn="l">
              <a:spcBef>
                <a:spcPts val="0"/>
              </a:spcBef>
              <a:spcAft>
                <a:spcPts val="0"/>
              </a:spcAft>
            </a:pPr>
            <a:r>
              <a:rPr lang="tr-TR" sz="2400" b="1" i="0">
                <a:solidFill>
                  <a:srgbClr val="FFFFFF"/>
                </a:solidFill>
                <a:latin typeface="Calibri"/>
              </a:rPr>
              <a:t>Okul</a:t>
            </a:r>
          </a:p>
        </p:txBody>
      </p:sp>
      <p:sp>
        <p:nvSpPr>
          <p:cNvPr id="17" name="TextBox 16"/>
          <p:cNvSpPr txBox="1"/>
          <p:nvPr/>
        </p:nvSpPr>
        <p:spPr>
          <a:xfrm>
            <a:off x="3459403" y="3694176"/>
            <a:ext cx="2426131" cy="2478024"/>
          </a:xfrm>
          <a:prstGeom prst="rect">
            <a:avLst/>
          </a:prstGeom>
          <a:noFill/>
        </p:spPr>
        <p:txBody>
          <a:bodyPr wrap="square" anchor="t" lIns="73152" rIns="73152" tIns="36576" bIns="36576">
            <a:noAutofit/>
          </a:bodyPr>
          <a:lstStyle/>
          <a:p>
            <a:pPr algn="ctr">
              <a:spcBef>
                <a:spcPts val="0"/>
              </a:spcBef>
              <a:spcAft>
                <a:spcPts val="0"/>
              </a:spcAft>
            </a:pPr>
            <a:r>
              <a:rPr lang="tr-TR" sz="4400" b="0" i="0">
                <a:solidFill>
                  <a:srgbClr val="262626"/>
                </a:solidFill>
                <a:latin typeface="Calibri"/>
              </a:rPr>
              <a:t>?</a:t>
            </a:r>
          </a:p>
        </p:txBody>
      </p:sp>
      <p:sp>
        <p:nvSpPr>
          <p:cNvPr id="18" name="Rounded Rectangle 17"/>
          <p:cNvSpPr/>
          <p:nvPr/>
        </p:nvSpPr>
        <p:spPr>
          <a:xfrm>
            <a:off x="6196430" y="3090672"/>
            <a:ext cx="2645587" cy="3154680"/>
          </a:xfrm>
          <a:prstGeom prst="roundRect">
            <a:avLst>
              <a:gd name="adj" fmla="val 5000"/>
            </a:avLst>
          </a:prstGeom>
          <a:solidFill>
            <a:srgbClr val="F0F0F0"/>
          </a:solidFill>
          <a:ln>
            <a:noFill/>
          </a:ln>
          <a:effectLst/>
        </p:spPr>
        <p:txBody>
          <a:bodyPr rtlCol="0" anchor="ctr"/>
          <a:lstStyle/>
          <a:p/>
        </p:txBody>
      </p:sp>
      <p:sp>
        <p:nvSpPr>
          <p:cNvPr id="19" name="Rounded Rectangle 18"/>
          <p:cNvSpPr/>
          <p:nvPr/>
        </p:nvSpPr>
        <p:spPr>
          <a:xfrm>
            <a:off x="6196430" y="3090672"/>
            <a:ext cx="2645587" cy="530352"/>
          </a:xfrm>
          <a:prstGeom prst="roundRect">
            <a:avLst>
              <a:gd name="adj" fmla="val 25000"/>
            </a:avLst>
          </a:prstGeom>
          <a:solidFill>
            <a:srgbClr val="2C6696"/>
          </a:solidFill>
          <a:ln>
            <a:noFill/>
          </a:ln>
          <a:effectLst/>
        </p:spPr>
        <p:txBody>
          <a:bodyPr rtlCol="0" anchor="ctr"/>
          <a:lstStyle/>
          <a:p/>
        </p:txBody>
      </p:sp>
      <p:sp>
        <p:nvSpPr>
          <p:cNvPr id="20" name="Rectangle 19"/>
          <p:cNvSpPr/>
          <p:nvPr/>
        </p:nvSpPr>
        <p:spPr>
          <a:xfrm>
            <a:off x="6196430" y="3355848"/>
            <a:ext cx="2645587" cy="265176"/>
          </a:xfrm>
          <a:prstGeom prst="rect">
            <a:avLst/>
          </a:prstGeom>
          <a:solidFill>
            <a:srgbClr val="2C6696"/>
          </a:solidFill>
          <a:ln>
            <a:noFill/>
          </a:ln>
          <a:effectLst/>
        </p:spPr>
        <p:txBody>
          <a:bodyPr rtlCol="0" anchor="ctr"/>
          <a:lstStyle/>
          <a:p/>
        </p:txBody>
      </p:sp>
      <p:sp>
        <p:nvSpPr>
          <p:cNvPr id="21" name="TextBox 20"/>
          <p:cNvSpPr txBox="1"/>
          <p:nvPr/>
        </p:nvSpPr>
        <p:spPr>
          <a:xfrm>
            <a:off x="6287870" y="3090672"/>
            <a:ext cx="2462707" cy="530352"/>
          </a:xfrm>
          <a:prstGeom prst="rect">
            <a:avLst/>
          </a:prstGeom>
          <a:noFill/>
        </p:spPr>
        <p:txBody>
          <a:bodyPr wrap="square" anchor="ctr" lIns="73152" rIns="73152" tIns="36576" bIns="36576">
            <a:noAutofit/>
          </a:bodyPr>
          <a:lstStyle/>
          <a:p>
            <a:pPr algn="l">
              <a:spcBef>
                <a:spcPts val="0"/>
              </a:spcBef>
              <a:spcAft>
                <a:spcPts val="0"/>
              </a:spcAft>
            </a:pPr>
            <a:r>
              <a:rPr lang="tr-TR" sz="2400" b="1" i="0">
                <a:solidFill>
                  <a:srgbClr val="FFFFFF"/>
                </a:solidFill>
                <a:latin typeface="Calibri"/>
              </a:rPr>
              <a:t>Hastane</a:t>
            </a:r>
          </a:p>
        </p:txBody>
      </p:sp>
      <p:sp>
        <p:nvSpPr>
          <p:cNvPr id="22" name="TextBox 21"/>
          <p:cNvSpPr txBox="1"/>
          <p:nvPr/>
        </p:nvSpPr>
        <p:spPr>
          <a:xfrm>
            <a:off x="6306158" y="3694176"/>
            <a:ext cx="2426131" cy="2478024"/>
          </a:xfrm>
          <a:prstGeom prst="rect">
            <a:avLst/>
          </a:prstGeom>
          <a:noFill/>
        </p:spPr>
        <p:txBody>
          <a:bodyPr wrap="square" anchor="t" lIns="73152" rIns="73152" tIns="36576" bIns="36576">
            <a:noAutofit/>
          </a:bodyPr>
          <a:lstStyle/>
          <a:p>
            <a:pPr algn="ctr">
              <a:spcBef>
                <a:spcPts val="0"/>
              </a:spcBef>
              <a:spcAft>
                <a:spcPts val="0"/>
              </a:spcAft>
            </a:pPr>
            <a:r>
              <a:rPr lang="tr-TR" sz="4400" b="0" i="0">
                <a:solidFill>
                  <a:srgbClr val="262626"/>
                </a:solidFill>
                <a:latin typeface="Calibri"/>
              </a:rPr>
              <a:t>?</a:t>
            </a:r>
          </a:p>
        </p:txBody>
      </p:sp>
      <p:sp>
        <p:nvSpPr>
          <p:cNvPr id="23" name="Rounded Rectangle 22"/>
          <p:cNvSpPr/>
          <p:nvPr/>
        </p:nvSpPr>
        <p:spPr>
          <a:xfrm>
            <a:off x="9043185" y="3090672"/>
            <a:ext cx="2645587" cy="3154680"/>
          </a:xfrm>
          <a:prstGeom prst="roundRect">
            <a:avLst>
              <a:gd name="adj" fmla="val 5000"/>
            </a:avLst>
          </a:prstGeom>
          <a:solidFill>
            <a:srgbClr val="F0F0F0"/>
          </a:solidFill>
          <a:ln>
            <a:noFill/>
          </a:ln>
          <a:effectLst/>
        </p:spPr>
        <p:txBody>
          <a:bodyPr rtlCol="0" anchor="ctr"/>
          <a:lstStyle/>
          <a:p/>
        </p:txBody>
      </p:sp>
      <p:sp>
        <p:nvSpPr>
          <p:cNvPr id="24" name="Rounded Rectangle 23"/>
          <p:cNvSpPr/>
          <p:nvPr/>
        </p:nvSpPr>
        <p:spPr>
          <a:xfrm>
            <a:off x="9043185" y="3090672"/>
            <a:ext cx="2645587" cy="530352"/>
          </a:xfrm>
          <a:prstGeom prst="roundRect">
            <a:avLst>
              <a:gd name="adj" fmla="val 25000"/>
            </a:avLst>
          </a:prstGeom>
          <a:solidFill>
            <a:srgbClr val="4F4F4F"/>
          </a:solidFill>
          <a:ln>
            <a:noFill/>
          </a:ln>
          <a:effectLst/>
        </p:spPr>
        <p:txBody>
          <a:bodyPr rtlCol="0" anchor="ctr"/>
          <a:lstStyle/>
          <a:p/>
        </p:txBody>
      </p:sp>
      <p:sp>
        <p:nvSpPr>
          <p:cNvPr id="25" name="Rectangle 24"/>
          <p:cNvSpPr/>
          <p:nvPr/>
        </p:nvSpPr>
        <p:spPr>
          <a:xfrm>
            <a:off x="9043185" y="3355848"/>
            <a:ext cx="2645587" cy="265176"/>
          </a:xfrm>
          <a:prstGeom prst="rect">
            <a:avLst/>
          </a:prstGeom>
          <a:solidFill>
            <a:srgbClr val="4F4F4F"/>
          </a:solidFill>
          <a:ln>
            <a:noFill/>
          </a:ln>
          <a:effectLst/>
        </p:spPr>
        <p:txBody>
          <a:bodyPr rtlCol="0" anchor="ctr"/>
          <a:lstStyle/>
          <a:p/>
        </p:txBody>
      </p:sp>
      <p:sp>
        <p:nvSpPr>
          <p:cNvPr id="26" name="TextBox 25"/>
          <p:cNvSpPr txBox="1"/>
          <p:nvPr/>
        </p:nvSpPr>
        <p:spPr>
          <a:xfrm>
            <a:off x="9134625" y="3090672"/>
            <a:ext cx="2462707" cy="530352"/>
          </a:xfrm>
          <a:prstGeom prst="rect">
            <a:avLst/>
          </a:prstGeom>
          <a:noFill/>
        </p:spPr>
        <p:txBody>
          <a:bodyPr wrap="square" anchor="ctr" lIns="73152" rIns="73152" tIns="36576" bIns="36576">
            <a:noAutofit/>
          </a:bodyPr>
          <a:lstStyle/>
          <a:p>
            <a:pPr algn="l">
              <a:spcBef>
                <a:spcPts val="0"/>
              </a:spcBef>
              <a:spcAft>
                <a:spcPts val="0"/>
              </a:spcAft>
            </a:pPr>
            <a:r>
              <a:rPr lang="tr-TR" sz="2400" b="1" i="0">
                <a:solidFill>
                  <a:srgbClr val="FFFFFF"/>
                </a:solidFill>
                <a:latin typeface="Calibri"/>
              </a:rPr>
              <a:t>Aile</a:t>
            </a:r>
          </a:p>
        </p:txBody>
      </p:sp>
      <p:sp>
        <p:nvSpPr>
          <p:cNvPr id="27" name="TextBox 26"/>
          <p:cNvSpPr txBox="1"/>
          <p:nvPr/>
        </p:nvSpPr>
        <p:spPr>
          <a:xfrm>
            <a:off x="9152913" y="3694176"/>
            <a:ext cx="2426131" cy="2478024"/>
          </a:xfrm>
          <a:prstGeom prst="rect">
            <a:avLst/>
          </a:prstGeom>
          <a:noFill/>
        </p:spPr>
        <p:txBody>
          <a:bodyPr wrap="square" anchor="t" lIns="73152" rIns="73152" tIns="36576" bIns="36576">
            <a:noAutofit/>
          </a:bodyPr>
          <a:lstStyle/>
          <a:p>
            <a:pPr algn="ctr">
              <a:spcBef>
                <a:spcPts val="0"/>
              </a:spcBef>
              <a:spcAft>
                <a:spcPts val="0"/>
              </a:spcAft>
            </a:pPr>
            <a:r>
              <a:rPr lang="tr-TR" sz="4400" b="0" i="0">
                <a:solidFill>
                  <a:srgbClr val="262626"/>
                </a:solidFill>
                <a:latin typeface="Calibri"/>
              </a:rPr>
              <a:t>?</a:t>
            </a:r>
          </a:p>
        </p:txBody>
      </p:sp>
      <p:sp>
        <p:nvSpPr>
          <p:cNvPr id="28" name="TextBox 2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 / 379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Nüfus dinamikleri neden önemlidir?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307592"/>
            <a:ext cx="11185855" cy="123444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307592"/>
            <a:ext cx="146304" cy="1234440"/>
          </a:xfrm>
          <a:prstGeom prst="rect">
            <a:avLst/>
          </a:prstGeom>
          <a:solidFill>
            <a:srgbClr val="2C6696"/>
          </a:solidFill>
          <a:ln>
            <a:noFill/>
          </a:ln>
          <a:effectLst/>
        </p:spPr>
        <p:txBody>
          <a:bodyPr rtlCol="0" anchor="ctr"/>
          <a:lstStyle/>
          <a:p/>
        </p:txBody>
      </p:sp>
      <p:sp>
        <p:nvSpPr>
          <p:cNvPr id="8" name="TextBox 7"/>
          <p:cNvSpPr txBox="1"/>
          <p:nvPr/>
        </p:nvSpPr>
        <p:spPr>
          <a:xfrm>
            <a:off x="868680" y="1417320"/>
            <a:ext cx="10637215" cy="411480"/>
          </a:xfrm>
          <a:prstGeom prst="rect">
            <a:avLst/>
          </a:prstGeom>
          <a:noFill/>
        </p:spPr>
        <p:txBody>
          <a:bodyPr wrap="square" anchor="t" lIns="73152" rIns="73152" tIns="36576" bIns="36576">
            <a:noAutofit/>
          </a:bodyPr>
          <a:lstStyle/>
          <a:p>
            <a:pPr algn="l">
              <a:spcBef>
                <a:spcPts val="0"/>
              </a:spcBef>
              <a:spcAft>
                <a:spcPts val="0"/>
              </a:spcAft>
            </a:pPr>
            <a:r>
              <a:rPr lang="tr-TR" sz="1800" b="1" i="0">
                <a:solidFill>
                  <a:srgbClr val="2C6696"/>
                </a:solidFill>
                <a:latin typeface="Calibri"/>
              </a:rPr>
              <a:t>NÜFUS DİNAMİĞİ</a:t>
            </a:r>
          </a:p>
        </p:txBody>
      </p:sp>
      <p:sp>
        <p:nvSpPr>
          <p:cNvPr id="9" name="TextBox 8"/>
          <p:cNvSpPr txBox="1"/>
          <p:nvPr/>
        </p:nvSpPr>
        <p:spPr>
          <a:xfrm>
            <a:off x="868680" y="1810512"/>
            <a:ext cx="10637215" cy="594360"/>
          </a:xfrm>
          <a:prstGeom prst="rect">
            <a:avLst/>
          </a:prstGeom>
          <a:noFill/>
        </p:spPr>
        <p:txBody>
          <a:bodyPr wrap="square" anchor="ctr" lIns="73152" rIns="73152" tIns="36576" bIns="36576">
            <a:noAutofit/>
          </a:bodyPr>
          <a:lstStyle/>
          <a:p>
            <a:pPr algn="l">
              <a:spcBef>
                <a:spcPts val="0"/>
              </a:spcBef>
              <a:spcAft>
                <a:spcPts val="0"/>
              </a:spcAft>
            </a:pPr>
            <a:r>
              <a:rPr lang="tr-TR" sz="1850" b="0" i="0">
                <a:solidFill>
                  <a:srgbClr val="262626"/>
                </a:solidFill>
                <a:latin typeface="Calibri"/>
              </a:rPr>
              <a:t>Nüfus özelliklerinin zaman içindeki değişimi, nüfusun mekândaki dağılışı ve nüfus hareketlerini ifade eder.</a:t>
            </a:r>
          </a:p>
        </p:txBody>
      </p:sp>
      <p:sp>
        <p:nvSpPr>
          <p:cNvPr id="10" name="Rounded Rectangle 9"/>
          <p:cNvSpPr/>
          <p:nvPr/>
        </p:nvSpPr>
        <p:spPr>
          <a:xfrm>
            <a:off x="502920" y="2679192"/>
            <a:ext cx="2645587" cy="1600200"/>
          </a:xfrm>
          <a:prstGeom prst="roundRect">
            <a:avLst>
              <a:gd name="adj" fmla="val 5000"/>
            </a:avLst>
          </a:prstGeom>
          <a:solidFill>
            <a:srgbClr val="F0F0F0"/>
          </a:solidFill>
          <a:ln>
            <a:noFill/>
          </a:ln>
          <a:effectLst/>
        </p:spPr>
        <p:txBody>
          <a:bodyPr rtlCol="0" anchor="ctr"/>
          <a:lstStyle/>
          <a:p/>
        </p:txBody>
      </p:sp>
      <p:sp>
        <p:nvSpPr>
          <p:cNvPr id="11" name="Rounded Rectangle 10"/>
          <p:cNvSpPr/>
          <p:nvPr/>
        </p:nvSpPr>
        <p:spPr>
          <a:xfrm>
            <a:off x="502920" y="2679192"/>
            <a:ext cx="2645587" cy="530352"/>
          </a:xfrm>
          <a:prstGeom prst="roundRect">
            <a:avLst>
              <a:gd name="adj" fmla="val 25000"/>
            </a:avLst>
          </a:prstGeom>
          <a:solidFill>
            <a:srgbClr val="2C6696"/>
          </a:solidFill>
          <a:ln>
            <a:noFill/>
          </a:ln>
          <a:effectLst/>
        </p:spPr>
        <p:txBody>
          <a:bodyPr rtlCol="0" anchor="ctr"/>
          <a:lstStyle/>
          <a:p/>
        </p:txBody>
      </p:sp>
      <p:sp>
        <p:nvSpPr>
          <p:cNvPr id="12" name="Rectangle 11"/>
          <p:cNvSpPr/>
          <p:nvPr/>
        </p:nvSpPr>
        <p:spPr>
          <a:xfrm>
            <a:off x="502920" y="2944368"/>
            <a:ext cx="2645587" cy="265176"/>
          </a:xfrm>
          <a:prstGeom prst="rect">
            <a:avLst/>
          </a:prstGeom>
          <a:solidFill>
            <a:srgbClr val="2C6696"/>
          </a:solidFill>
          <a:ln>
            <a:noFill/>
          </a:ln>
          <a:effectLst/>
        </p:spPr>
        <p:txBody>
          <a:bodyPr rtlCol="0" anchor="ctr"/>
          <a:lstStyle/>
          <a:p/>
        </p:txBody>
      </p:sp>
      <p:sp>
        <p:nvSpPr>
          <p:cNvPr id="13" name="TextBox 12"/>
          <p:cNvSpPr txBox="1"/>
          <p:nvPr/>
        </p:nvSpPr>
        <p:spPr>
          <a:xfrm>
            <a:off x="594360" y="2679192"/>
            <a:ext cx="2462707"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Belediye</a:t>
            </a:r>
          </a:p>
        </p:txBody>
      </p:sp>
      <p:sp>
        <p:nvSpPr>
          <p:cNvPr id="14" name="TextBox 13"/>
          <p:cNvSpPr txBox="1"/>
          <p:nvPr/>
        </p:nvSpPr>
        <p:spPr>
          <a:xfrm>
            <a:off x="612648" y="3282696"/>
            <a:ext cx="2426131" cy="92354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Konut, ulaşım, altyapı, su</a:t>
            </a:r>
          </a:p>
        </p:txBody>
      </p:sp>
      <p:sp>
        <p:nvSpPr>
          <p:cNvPr id="15" name="Rounded Rectangle 14"/>
          <p:cNvSpPr/>
          <p:nvPr/>
        </p:nvSpPr>
        <p:spPr>
          <a:xfrm>
            <a:off x="3349675" y="2679192"/>
            <a:ext cx="2645587" cy="1600200"/>
          </a:xfrm>
          <a:prstGeom prst="roundRect">
            <a:avLst>
              <a:gd name="adj" fmla="val 5000"/>
            </a:avLst>
          </a:prstGeom>
          <a:solidFill>
            <a:srgbClr val="F0F0F0"/>
          </a:solidFill>
          <a:ln>
            <a:noFill/>
          </a:ln>
          <a:effectLst/>
        </p:spPr>
        <p:txBody>
          <a:bodyPr rtlCol="0" anchor="ctr"/>
          <a:lstStyle/>
          <a:p/>
        </p:txBody>
      </p:sp>
      <p:sp>
        <p:nvSpPr>
          <p:cNvPr id="16" name="Rounded Rectangle 15"/>
          <p:cNvSpPr/>
          <p:nvPr/>
        </p:nvSpPr>
        <p:spPr>
          <a:xfrm>
            <a:off x="3349675" y="2679192"/>
            <a:ext cx="2645587" cy="530352"/>
          </a:xfrm>
          <a:prstGeom prst="roundRect">
            <a:avLst>
              <a:gd name="adj" fmla="val 25000"/>
            </a:avLst>
          </a:prstGeom>
          <a:solidFill>
            <a:srgbClr val="4F4F4F"/>
          </a:solidFill>
          <a:ln>
            <a:noFill/>
          </a:ln>
          <a:effectLst/>
        </p:spPr>
        <p:txBody>
          <a:bodyPr rtlCol="0" anchor="ctr"/>
          <a:lstStyle/>
          <a:p/>
        </p:txBody>
      </p:sp>
      <p:sp>
        <p:nvSpPr>
          <p:cNvPr id="17" name="Rectangle 16"/>
          <p:cNvSpPr/>
          <p:nvPr/>
        </p:nvSpPr>
        <p:spPr>
          <a:xfrm>
            <a:off x="3349675" y="2944368"/>
            <a:ext cx="2645587" cy="265176"/>
          </a:xfrm>
          <a:prstGeom prst="rect">
            <a:avLst/>
          </a:prstGeom>
          <a:solidFill>
            <a:srgbClr val="4F4F4F"/>
          </a:solidFill>
          <a:ln>
            <a:noFill/>
          </a:ln>
          <a:effectLst/>
        </p:spPr>
        <p:txBody>
          <a:bodyPr rtlCol="0" anchor="ctr"/>
          <a:lstStyle/>
          <a:p/>
        </p:txBody>
      </p:sp>
      <p:sp>
        <p:nvSpPr>
          <p:cNvPr id="18" name="TextBox 17"/>
          <p:cNvSpPr txBox="1"/>
          <p:nvPr/>
        </p:nvSpPr>
        <p:spPr>
          <a:xfrm>
            <a:off x="3441115" y="2679192"/>
            <a:ext cx="2462707"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Okul</a:t>
            </a:r>
          </a:p>
        </p:txBody>
      </p:sp>
      <p:sp>
        <p:nvSpPr>
          <p:cNvPr id="19" name="TextBox 18"/>
          <p:cNvSpPr txBox="1"/>
          <p:nvPr/>
        </p:nvSpPr>
        <p:spPr>
          <a:xfrm>
            <a:off x="3459403" y="3282696"/>
            <a:ext cx="2426131" cy="92354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Derslik ve öğretmen ihtiyacı</a:t>
            </a:r>
          </a:p>
        </p:txBody>
      </p:sp>
      <p:sp>
        <p:nvSpPr>
          <p:cNvPr id="20" name="Rounded Rectangle 19"/>
          <p:cNvSpPr/>
          <p:nvPr/>
        </p:nvSpPr>
        <p:spPr>
          <a:xfrm>
            <a:off x="6196430" y="2679192"/>
            <a:ext cx="2645587" cy="1600200"/>
          </a:xfrm>
          <a:prstGeom prst="roundRect">
            <a:avLst>
              <a:gd name="adj" fmla="val 5000"/>
            </a:avLst>
          </a:prstGeom>
          <a:solidFill>
            <a:srgbClr val="F0F0F0"/>
          </a:solidFill>
          <a:ln>
            <a:noFill/>
          </a:ln>
          <a:effectLst/>
        </p:spPr>
        <p:txBody>
          <a:bodyPr rtlCol="0" anchor="ctr"/>
          <a:lstStyle/>
          <a:p/>
        </p:txBody>
      </p:sp>
      <p:sp>
        <p:nvSpPr>
          <p:cNvPr id="21" name="Rounded Rectangle 20"/>
          <p:cNvSpPr/>
          <p:nvPr/>
        </p:nvSpPr>
        <p:spPr>
          <a:xfrm>
            <a:off x="6196430" y="2679192"/>
            <a:ext cx="2645587" cy="530352"/>
          </a:xfrm>
          <a:prstGeom prst="roundRect">
            <a:avLst>
              <a:gd name="adj" fmla="val 25000"/>
            </a:avLst>
          </a:prstGeom>
          <a:solidFill>
            <a:srgbClr val="2C6696"/>
          </a:solidFill>
          <a:ln>
            <a:noFill/>
          </a:ln>
          <a:effectLst/>
        </p:spPr>
        <p:txBody>
          <a:bodyPr rtlCol="0" anchor="ctr"/>
          <a:lstStyle/>
          <a:p/>
        </p:txBody>
      </p:sp>
      <p:sp>
        <p:nvSpPr>
          <p:cNvPr id="22" name="Rectangle 21"/>
          <p:cNvSpPr/>
          <p:nvPr/>
        </p:nvSpPr>
        <p:spPr>
          <a:xfrm>
            <a:off x="6196430" y="2944368"/>
            <a:ext cx="2645587" cy="265176"/>
          </a:xfrm>
          <a:prstGeom prst="rect">
            <a:avLst/>
          </a:prstGeom>
          <a:solidFill>
            <a:srgbClr val="2C6696"/>
          </a:solidFill>
          <a:ln>
            <a:noFill/>
          </a:ln>
          <a:effectLst/>
        </p:spPr>
        <p:txBody>
          <a:bodyPr rtlCol="0" anchor="ctr"/>
          <a:lstStyle/>
          <a:p/>
        </p:txBody>
      </p:sp>
      <p:sp>
        <p:nvSpPr>
          <p:cNvPr id="23" name="TextBox 22"/>
          <p:cNvSpPr txBox="1"/>
          <p:nvPr/>
        </p:nvSpPr>
        <p:spPr>
          <a:xfrm>
            <a:off x="6287870" y="2679192"/>
            <a:ext cx="2462707"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Hastane</a:t>
            </a:r>
          </a:p>
        </p:txBody>
      </p:sp>
      <p:sp>
        <p:nvSpPr>
          <p:cNvPr id="24" name="TextBox 23"/>
          <p:cNvSpPr txBox="1"/>
          <p:nvPr/>
        </p:nvSpPr>
        <p:spPr>
          <a:xfrm>
            <a:off x="6306158" y="3282696"/>
            <a:ext cx="2426131" cy="92354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Sağlık hizmetleri</a:t>
            </a:r>
          </a:p>
        </p:txBody>
      </p:sp>
      <p:sp>
        <p:nvSpPr>
          <p:cNvPr id="25" name="Rounded Rectangle 24"/>
          <p:cNvSpPr/>
          <p:nvPr/>
        </p:nvSpPr>
        <p:spPr>
          <a:xfrm>
            <a:off x="9043185" y="2679192"/>
            <a:ext cx="2645587" cy="1600200"/>
          </a:xfrm>
          <a:prstGeom prst="roundRect">
            <a:avLst>
              <a:gd name="adj" fmla="val 5000"/>
            </a:avLst>
          </a:prstGeom>
          <a:solidFill>
            <a:srgbClr val="F0F0F0"/>
          </a:solidFill>
          <a:ln>
            <a:noFill/>
          </a:ln>
          <a:effectLst/>
        </p:spPr>
        <p:txBody>
          <a:bodyPr rtlCol="0" anchor="ctr"/>
          <a:lstStyle/>
          <a:p/>
        </p:txBody>
      </p:sp>
      <p:sp>
        <p:nvSpPr>
          <p:cNvPr id="26" name="Rounded Rectangle 25"/>
          <p:cNvSpPr/>
          <p:nvPr/>
        </p:nvSpPr>
        <p:spPr>
          <a:xfrm>
            <a:off x="9043185" y="2679192"/>
            <a:ext cx="2645587" cy="530352"/>
          </a:xfrm>
          <a:prstGeom prst="roundRect">
            <a:avLst>
              <a:gd name="adj" fmla="val 25000"/>
            </a:avLst>
          </a:prstGeom>
          <a:solidFill>
            <a:srgbClr val="4F4F4F"/>
          </a:solidFill>
          <a:ln>
            <a:noFill/>
          </a:ln>
          <a:effectLst/>
        </p:spPr>
        <p:txBody>
          <a:bodyPr rtlCol="0" anchor="ctr"/>
          <a:lstStyle/>
          <a:p/>
        </p:txBody>
      </p:sp>
      <p:sp>
        <p:nvSpPr>
          <p:cNvPr id="27" name="Rectangle 26"/>
          <p:cNvSpPr/>
          <p:nvPr/>
        </p:nvSpPr>
        <p:spPr>
          <a:xfrm>
            <a:off x="9043185" y="2944368"/>
            <a:ext cx="2645587" cy="265176"/>
          </a:xfrm>
          <a:prstGeom prst="rect">
            <a:avLst/>
          </a:prstGeom>
          <a:solidFill>
            <a:srgbClr val="4F4F4F"/>
          </a:solidFill>
          <a:ln>
            <a:noFill/>
          </a:ln>
          <a:effectLst/>
        </p:spPr>
        <p:txBody>
          <a:bodyPr rtlCol="0" anchor="ctr"/>
          <a:lstStyle/>
          <a:p/>
        </p:txBody>
      </p:sp>
      <p:sp>
        <p:nvSpPr>
          <p:cNvPr id="28" name="TextBox 27"/>
          <p:cNvSpPr txBox="1"/>
          <p:nvPr/>
        </p:nvSpPr>
        <p:spPr>
          <a:xfrm>
            <a:off x="9134625" y="2679192"/>
            <a:ext cx="2462707"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Aile</a:t>
            </a:r>
          </a:p>
        </p:txBody>
      </p:sp>
      <p:sp>
        <p:nvSpPr>
          <p:cNvPr id="29" name="TextBox 28"/>
          <p:cNvSpPr txBox="1"/>
          <p:nvPr/>
        </p:nvSpPr>
        <p:spPr>
          <a:xfrm>
            <a:off x="9152913" y="3282696"/>
            <a:ext cx="2426131" cy="92354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Yaşadığı yerin hizmetleri ve refahı</a:t>
            </a:r>
          </a:p>
        </p:txBody>
      </p:sp>
      <p:sp>
        <p:nvSpPr>
          <p:cNvPr id="30" name="Rounded Rectangle 29"/>
          <p:cNvSpPr/>
          <p:nvPr/>
        </p:nvSpPr>
        <p:spPr>
          <a:xfrm>
            <a:off x="502920" y="4462272"/>
            <a:ext cx="11185855" cy="1783080"/>
          </a:xfrm>
          <a:prstGeom prst="roundRect">
            <a:avLst>
              <a:gd name="adj" fmla="val 8000"/>
            </a:avLst>
          </a:prstGeom>
          <a:solidFill>
            <a:srgbClr val="F0F0F0"/>
          </a:solidFill>
          <a:ln>
            <a:noFill/>
          </a:ln>
          <a:effectLst/>
        </p:spPr>
        <p:txBody>
          <a:bodyPr rtlCol="0" anchor="ctr"/>
          <a:lstStyle/>
          <a:p/>
        </p:txBody>
      </p:sp>
      <p:sp>
        <p:nvSpPr>
          <p:cNvPr id="31" name="Rectangle 30"/>
          <p:cNvSpPr/>
          <p:nvPr/>
        </p:nvSpPr>
        <p:spPr>
          <a:xfrm>
            <a:off x="502920" y="4462272"/>
            <a:ext cx="118872" cy="1783080"/>
          </a:xfrm>
          <a:prstGeom prst="rect">
            <a:avLst/>
          </a:prstGeom>
          <a:solidFill>
            <a:srgbClr val="2C6696"/>
          </a:solidFill>
          <a:ln>
            <a:noFill/>
          </a:ln>
          <a:effectLst/>
        </p:spPr>
        <p:txBody>
          <a:bodyPr rtlCol="0" anchor="ctr"/>
          <a:lstStyle/>
          <a:p/>
        </p:txBody>
      </p:sp>
      <p:sp>
        <p:nvSpPr>
          <p:cNvPr id="32" name="TextBox 31"/>
          <p:cNvSpPr txBox="1"/>
          <p:nvPr/>
        </p:nvSpPr>
        <p:spPr>
          <a:xfrm>
            <a:off x="777240" y="4462272"/>
            <a:ext cx="10774375" cy="178308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Nüfus dinamikleri, ülkelerin sosyal ve ekonomik yapıları üzerinde önemli rol oynar. Bu dinamikler; sağlık hizmetleri, eğitim sistemi, ekonomik büyüme, gıda güvenliği, kentleşme, doğal kaynak yönetimi ve çevresel sürdürülebilirlik üzerinde belirleyicidir.</a:t>
            </a:r>
          </a:p>
        </p:txBody>
      </p:sp>
      <p:sp>
        <p:nvSpPr>
          <p:cNvPr id="33" name="TextBox 3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34" name="Rounded Rectangle 3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140</a:t>
            </a:r>
          </a:p>
        </p:txBody>
      </p:sp>
      <p:sp>
        <p:nvSpPr>
          <p:cNvPr id="35" name="TextBox 3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 / 379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Konuya başlarken: Çatalhöyük'te nüfus nasıl arttı?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KONUYA BAŞLARKEN</a:t>
            </a:r>
          </a:p>
        </p:txBody>
      </p:sp>
      <p:pic>
        <p:nvPicPr>
          <p:cNvPr id="6" name="Picture 5" descr="h20_catalhoyuk_s141.jpg"/>
          <p:cNvPicPr>
            <a:picLocks noChangeAspect="1"/>
          </p:cNvPicPr>
          <p:nvPr/>
        </p:nvPicPr>
        <p:blipFill>
          <a:blip r:embed="rId3"/>
          <a:stretch>
            <a:fillRect/>
          </a:stretch>
        </p:blipFill>
        <p:spPr>
          <a:xfrm>
            <a:off x="502920" y="1243648"/>
            <a:ext cx="3429000" cy="2322447"/>
          </a:xfrm>
          <a:prstGeom prst="rect">
            <a:avLst/>
          </a:prstGeom>
          <a:ln w="9525">
            <a:solidFill>
              <a:srgbClr val="D9D9D9"/>
            </a:solidFill>
          </a:ln>
        </p:spPr>
      </p:pic>
      <p:sp>
        <p:nvSpPr>
          <p:cNvPr id="7" name="TextBox 6"/>
          <p:cNvSpPr txBox="1"/>
          <p:nvPr/>
        </p:nvSpPr>
        <p:spPr>
          <a:xfrm>
            <a:off x="502920" y="3602671"/>
            <a:ext cx="3429000" cy="292608"/>
          </a:xfrm>
          <a:prstGeom prst="rect">
            <a:avLst/>
          </a:prstGeom>
          <a:noFill/>
        </p:spPr>
        <p:txBody>
          <a:bodyPr wrap="square" anchor="t" lIns="73152" rIns="73152" tIns="36576" bIns="36576">
            <a:noAutofit/>
          </a:bodyPr>
          <a:lstStyle/>
          <a:p>
            <a:pPr algn="l">
              <a:spcBef>
                <a:spcPts val="0"/>
              </a:spcBef>
              <a:spcAft>
                <a:spcPts val="0"/>
              </a:spcAft>
            </a:pPr>
            <a:r>
              <a:rPr lang="tr-TR" sz="1300" b="0" i="1">
                <a:solidFill>
                  <a:srgbClr val="767676"/>
                </a:solidFill>
                <a:latin typeface="Calibri"/>
              </a:rPr>
              <a:t>Görsel: Çatalhöyük yerleşmesi (temsilî)</a:t>
            </a:r>
          </a:p>
        </p:txBody>
      </p:sp>
      <p:sp>
        <p:nvSpPr>
          <p:cNvPr id="8" name="Rounded Rectangle 7"/>
          <p:cNvSpPr/>
          <p:nvPr/>
        </p:nvSpPr>
        <p:spPr>
          <a:xfrm>
            <a:off x="4114800" y="1216152"/>
            <a:ext cx="1234440" cy="741997"/>
          </a:xfrm>
          <a:prstGeom prst="roundRect">
            <a:avLst>
              <a:gd name="adj" fmla="val 15000"/>
            </a:avLst>
          </a:prstGeom>
          <a:solidFill>
            <a:srgbClr val="2C6696"/>
          </a:solidFill>
          <a:ln>
            <a:noFill/>
          </a:ln>
          <a:effectLst/>
        </p:spPr>
        <p:txBody>
          <a:bodyPr rtlCol="0" anchor="ctr" wrap="square" lIns="36576" rIns="36576" tIns="73152" bIns="73152">
            <a:noAutofit/>
          </a:bodyPr>
          <a:lstStyle/>
          <a:p>
            <a:pPr algn="ctr">
              <a:spcBef>
                <a:spcPts val="0"/>
              </a:spcBef>
              <a:spcAft>
                <a:spcPts val="0"/>
              </a:spcAft>
            </a:pPr>
            <a:r>
              <a:rPr lang="tr-TR" sz="1700" b="1" i="0">
                <a:solidFill>
                  <a:srgbClr val="FFFFFF"/>
                </a:solidFill>
                <a:latin typeface="Calibri"/>
              </a:rPr>
              <a:t>Kuruluş</a:t>
            </a:r>
          </a:p>
        </p:txBody>
      </p:sp>
      <p:sp>
        <p:nvSpPr>
          <p:cNvPr id="9" name="Rounded Rectangle 8"/>
          <p:cNvSpPr/>
          <p:nvPr/>
        </p:nvSpPr>
        <p:spPr>
          <a:xfrm>
            <a:off x="5440680" y="1216152"/>
            <a:ext cx="6248095" cy="741997"/>
          </a:xfrm>
          <a:prstGeom prst="roundRect">
            <a:avLst>
              <a:gd name="adj" fmla="val 8000"/>
            </a:avLst>
          </a:prstGeom>
          <a:solidFill>
            <a:srgbClr val="F0F0F0"/>
          </a:solidFill>
          <a:ln>
            <a:noFill/>
          </a:ln>
          <a:effectLst/>
        </p:spPr>
        <p:txBody>
          <a:bodyPr rtlCol="0" anchor="ctr" wrap="square" lIns="109728" rIns="109728" tIns="73152" bIns="73152">
            <a:noAutofit/>
          </a:bodyPr>
          <a:lstStyle/>
          <a:p>
            <a:pPr algn="l">
              <a:spcBef>
                <a:spcPts val="0"/>
              </a:spcBef>
              <a:spcAft>
                <a:spcPts val="0"/>
              </a:spcAft>
            </a:pPr>
            <a:r>
              <a:rPr lang="tr-TR" sz="1700" b="0" i="0">
                <a:solidFill>
                  <a:srgbClr val="262626"/>
                </a:solidFill>
                <a:latin typeface="Calibri"/>
              </a:rPr>
              <a:t>… Çatalhöyük, Konya’nın Çumra ilçesinde Neolitik Dönem’de yaklaşık 9.400 yıl önce kurulmuştur.</a:t>
            </a:r>
          </a:p>
        </p:txBody>
      </p:sp>
      <p:sp>
        <p:nvSpPr>
          <p:cNvPr id="10" name="Rounded Rectangle 9"/>
          <p:cNvSpPr/>
          <p:nvPr/>
        </p:nvSpPr>
        <p:spPr>
          <a:xfrm>
            <a:off x="4114800" y="2031301"/>
            <a:ext cx="1234440" cy="1268793"/>
          </a:xfrm>
          <a:prstGeom prst="roundRect">
            <a:avLst>
              <a:gd name="adj" fmla="val 15000"/>
            </a:avLst>
          </a:prstGeom>
          <a:solidFill>
            <a:srgbClr val="2C6696"/>
          </a:solidFill>
          <a:ln>
            <a:noFill/>
          </a:ln>
          <a:effectLst/>
        </p:spPr>
        <p:txBody>
          <a:bodyPr rtlCol="0" anchor="ctr" wrap="square" lIns="36576" rIns="36576" tIns="73152" bIns="73152">
            <a:noAutofit/>
          </a:bodyPr>
          <a:lstStyle/>
          <a:p>
            <a:pPr algn="ctr">
              <a:spcBef>
                <a:spcPts val="0"/>
              </a:spcBef>
              <a:spcAft>
                <a:spcPts val="0"/>
              </a:spcAft>
            </a:pPr>
            <a:r>
              <a:rPr lang="tr-TR" sz="1700" b="1" i="0">
                <a:solidFill>
                  <a:srgbClr val="FFFFFF"/>
                </a:solidFill>
                <a:latin typeface="Calibri"/>
              </a:rPr>
              <a:t>Büyüme</a:t>
            </a:r>
          </a:p>
        </p:txBody>
      </p:sp>
      <p:sp>
        <p:nvSpPr>
          <p:cNvPr id="11" name="Rounded Rectangle 10"/>
          <p:cNvSpPr/>
          <p:nvPr/>
        </p:nvSpPr>
        <p:spPr>
          <a:xfrm>
            <a:off x="5440680" y="2031301"/>
            <a:ext cx="6248095" cy="1268793"/>
          </a:xfrm>
          <a:prstGeom prst="roundRect">
            <a:avLst>
              <a:gd name="adj" fmla="val 8000"/>
            </a:avLst>
          </a:prstGeom>
          <a:solidFill>
            <a:srgbClr val="F0F0F0"/>
          </a:solidFill>
          <a:ln>
            <a:noFill/>
          </a:ln>
          <a:effectLst/>
        </p:spPr>
        <p:txBody>
          <a:bodyPr rtlCol="0" anchor="ctr" wrap="square" lIns="109728" rIns="109728" tIns="73152" bIns="73152">
            <a:noAutofit/>
          </a:bodyPr>
          <a:lstStyle/>
          <a:p>
            <a:pPr algn="l">
              <a:spcBef>
                <a:spcPts val="0"/>
              </a:spcBef>
              <a:spcAft>
                <a:spcPts val="0"/>
              </a:spcAft>
            </a:pPr>
            <a:r>
              <a:rPr lang="tr-TR" sz="1700" b="0" i="0">
                <a:solidFill>
                  <a:srgbClr val="262626"/>
                </a:solidFill>
                <a:latin typeface="Calibri"/>
              </a:rPr>
              <a:t>Teknolojik ilerleme, gıda üretimi ve sosyoekonomik gelişmeler sayesinde hayat şartları iyileşmiş; ortalama ömür uzamıştır. Çatalhöyük’teki nüfus artışı üzerinde farklı bölgelerden gelen göçün etkisi olmuştur.</a:t>
            </a:r>
          </a:p>
        </p:txBody>
      </p:sp>
      <p:sp>
        <p:nvSpPr>
          <p:cNvPr id="12" name="Rounded Rectangle 11"/>
          <p:cNvSpPr/>
          <p:nvPr/>
        </p:nvSpPr>
        <p:spPr>
          <a:xfrm>
            <a:off x="4114800" y="3373246"/>
            <a:ext cx="1234440" cy="741997"/>
          </a:xfrm>
          <a:prstGeom prst="roundRect">
            <a:avLst>
              <a:gd name="adj" fmla="val 15000"/>
            </a:avLst>
          </a:prstGeom>
          <a:solidFill>
            <a:srgbClr val="2C6696"/>
          </a:solidFill>
          <a:ln>
            <a:noFill/>
          </a:ln>
          <a:effectLst/>
        </p:spPr>
        <p:txBody>
          <a:bodyPr rtlCol="0" anchor="ctr" wrap="square" lIns="36576" rIns="36576" tIns="73152" bIns="73152">
            <a:noAutofit/>
          </a:bodyPr>
          <a:lstStyle/>
          <a:p>
            <a:pPr algn="ctr">
              <a:spcBef>
                <a:spcPts val="0"/>
              </a:spcBef>
              <a:spcAft>
                <a:spcPts val="0"/>
              </a:spcAft>
            </a:pPr>
            <a:r>
              <a:rPr lang="tr-TR" sz="1700" b="1" i="0">
                <a:solidFill>
                  <a:srgbClr val="FFFFFF"/>
                </a:solidFill>
                <a:latin typeface="Calibri"/>
              </a:rPr>
              <a:t>En kalabalık</a:t>
            </a:r>
          </a:p>
        </p:txBody>
      </p:sp>
      <p:sp>
        <p:nvSpPr>
          <p:cNvPr id="13" name="Rounded Rectangle 12"/>
          <p:cNvSpPr/>
          <p:nvPr/>
        </p:nvSpPr>
        <p:spPr>
          <a:xfrm>
            <a:off x="5440680" y="3373246"/>
            <a:ext cx="6248095" cy="741997"/>
          </a:xfrm>
          <a:prstGeom prst="roundRect">
            <a:avLst>
              <a:gd name="adj" fmla="val 8000"/>
            </a:avLst>
          </a:prstGeom>
          <a:solidFill>
            <a:srgbClr val="F0F0F0"/>
          </a:solidFill>
          <a:ln>
            <a:noFill/>
          </a:ln>
          <a:effectLst/>
        </p:spPr>
        <p:txBody>
          <a:bodyPr rtlCol="0" anchor="ctr" wrap="square" lIns="109728" rIns="109728" tIns="73152" bIns="73152">
            <a:noAutofit/>
          </a:bodyPr>
          <a:lstStyle/>
          <a:p>
            <a:pPr algn="l">
              <a:spcBef>
                <a:spcPts val="0"/>
              </a:spcBef>
              <a:spcAft>
                <a:spcPts val="0"/>
              </a:spcAft>
            </a:pPr>
            <a:r>
              <a:rPr lang="tr-TR" sz="1700" b="0" i="0">
                <a:solidFill>
                  <a:srgbClr val="262626"/>
                </a:solidFill>
                <a:latin typeface="Calibri"/>
              </a:rPr>
              <a:t>Bulgulara göre kentin en kalabalık olduğu dönemde yaklaşık 8.000 kişinin burada yaşadığı tespit edilmiştir.</a:t>
            </a:r>
          </a:p>
        </p:txBody>
      </p:sp>
      <p:sp>
        <p:nvSpPr>
          <p:cNvPr id="14" name="Rounded Rectangle 13"/>
          <p:cNvSpPr/>
          <p:nvPr/>
        </p:nvSpPr>
        <p:spPr>
          <a:xfrm>
            <a:off x="4114800" y="4188395"/>
            <a:ext cx="1234440" cy="1005395"/>
          </a:xfrm>
          <a:prstGeom prst="roundRect">
            <a:avLst>
              <a:gd name="adj" fmla="val 15000"/>
            </a:avLst>
          </a:prstGeom>
          <a:solidFill>
            <a:srgbClr val="2C6696"/>
          </a:solidFill>
          <a:ln>
            <a:noFill/>
          </a:ln>
          <a:effectLst/>
        </p:spPr>
        <p:txBody>
          <a:bodyPr rtlCol="0" anchor="ctr" wrap="square" lIns="36576" rIns="36576" tIns="73152" bIns="73152">
            <a:noAutofit/>
          </a:bodyPr>
          <a:lstStyle/>
          <a:p>
            <a:pPr algn="ctr">
              <a:spcBef>
                <a:spcPts val="0"/>
              </a:spcBef>
              <a:spcAft>
                <a:spcPts val="0"/>
              </a:spcAft>
            </a:pPr>
            <a:r>
              <a:rPr lang="tr-TR" sz="1700" b="1" i="0">
                <a:solidFill>
                  <a:srgbClr val="FFFFFF"/>
                </a:solidFill>
                <a:latin typeface="Calibri"/>
              </a:rPr>
              <a:t>Azalma</a:t>
            </a:r>
          </a:p>
        </p:txBody>
      </p:sp>
      <p:sp>
        <p:nvSpPr>
          <p:cNvPr id="15" name="Rounded Rectangle 14"/>
          <p:cNvSpPr/>
          <p:nvPr/>
        </p:nvSpPr>
        <p:spPr>
          <a:xfrm>
            <a:off x="5440680" y="4188395"/>
            <a:ext cx="6248095" cy="1005395"/>
          </a:xfrm>
          <a:prstGeom prst="roundRect">
            <a:avLst>
              <a:gd name="adj" fmla="val 8000"/>
            </a:avLst>
          </a:prstGeom>
          <a:solidFill>
            <a:srgbClr val="F0F0F0"/>
          </a:solidFill>
          <a:ln>
            <a:noFill/>
          </a:ln>
          <a:effectLst/>
        </p:spPr>
        <p:txBody>
          <a:bodyPr rtlCol="0" anchor="ctr" wrap="square" lIns="109728" rIns="109728" tIns="73152" bIns="73152">
            <a:noAutofit/>
          </a:bodyPr>
          <a:lstStyle/>
          <a:p>
            <a:pPr algn="l">
              <a:spcBef>
                <a:spcPts val="0"/>
              </a:spcBef>
              <a:spcAft>
                <a:spcPts val="0"/>
              </a:spcAft>
            </a:pPr>
            <a:r>
              <a:rPr lang="tr-TR" sz="1700" b="0" i="0">
                <a:solidFill>
                  <a:srgbClr val="262626"/>
                </a:solidFill>
                <a:latin typeface="Calibri"/>
              </a:rPr>
              <a:t>Kaynakların yetersiz kalmasının yanı sıra kuraklığın insanların bu yerleşmede hayatını idame ettiremeyecek kadar artması göçe neden olmuştur.</a:t>
            </a:r>
          </a:p>
        </p:txBody>
      </p:sp>
      <p:sp>
        <p:nvSpPr>
          <p:cNvPr id="16" name="Rounded Rectangle 15"/>
          <p:cNvSpPr/>
          <p:nvPr/>
        </p:nvSpPr>
        <p:spPr>
          <a:xfrm>
            <a:off x="502920" y="5330952"/>
            <a:ext cx="11185855" cy="91440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300" b="1" i="0">
                <a:solidFill>
                  <a:srgbClr val="262626"/>
                </a:solidFill>
                <a:latin typeface="Calibri"/>
              </a:rPr>
              <a:t>Yukarıdaki metne göre dünyadaki nüfus artışının nedenleriyle ilgili hangi genellemelere ulaşılabilir?</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141</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 / 379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Konuya başlarken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2103120" cy="1154430"/>
          </a:xfrm>
          <a:prstGeom prst="roundRect">
            <a:avLst>
              <a:gd name="adj" fmla="val 15000"/>
            </a:avLst>
          </a:prstGeom>
          <a:solidFill>
            <a:srgbClr val="2E7D32"/>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Yaşam koşulları</a:t>
            </a:r>
          </a:p>
        </p:txBody>
      </p:sp>
      <p:sp>
        <p:nvSpPr>
          <p:cNvPr id="7" name="Rounded Rectangle 6"/>
          <p:cNvSpPr/>
          <p:nvPr/>
        </p:nvSpPr>
        <p:spPr>
          <a:xfrm>
            <a:off x="2743200" y="1216152"/>
            <a:ext cx="8945575" cy="1154430"/>
          </a:xfrm>
          <a:prstGeom prst="roundRect">
            <a:avLst>
              <a:gd name="adj" fmla="val 12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0"/>
              </a:spcAft>
            </a:pPr>
            <a:r>
              <a:rPr lang="tr-TR" sz="2300" b="0" i="0">
                <a:solidFill>
                  <a:srgbClr val="262626"/>
                </a:solidFill>
                <a:latin typeface="Calibri"/>
              </a:rPr>
              <a:t>Teknoloji, gıda üretimi ve sosyoekonomik gelişmeler hayat şartlarını iyileştirip ortalama ömrü uzatınca nüfus artar.</a:t>
            </a:r>
          </a:p>
        </p:txBody>
      </p:sp>
      <p:sp>
        <p:nvSpPr>
          <p:cNvPr id="8" name="Rounded Rectangle 7"/>
          <p:cNvSpPr/>
          <p:nvPr/>
        </p:nvSpPr>
        <p:spPr>
          <a:xfrm>
            <a:off x="502920" y="2507742"/>
            <a:ext cx="2103120" cy="1154430"/>
          </a:xfrm>
          <a:prstGeom prst="roundRect">
            <a:avLst>
              <a:gd name="adj" fmla="val 15000"/>
            </a:avLst>
          </a:prstGeom>
          <a:solidFill>
            <a:srgbClr val="2E7D32"/>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Tarım</a:t>
            </a:r>
          </a:p>
        </p:txBody>
      </p:sp>
      <p:sp>
        <p:nvSpPr>
          <p:cNvPr id="9" name="Rounded Rectangle 8"/>
          <p:cNvSpPr/>
          <p:nvPr/>
        </p:nvSpPr>
        <p:spPr>
          <a:xfrm>
            <a:off x="2743200" y="2507742"/>
            <a:ext cx="8945575" cy="1154430"/>
          </a:xfrm>
          <a:prstGeom prst="roundRect">
            <a:avLst>
              <a:gd name="adj" fmla="val 12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0"/>
              </a:spcAft>
            </a:pPr>
            <a:r>
              <a:rPr lang="tr-TR" sz="2300" b="0" i="0">
                <a:solidFill>
                  <a:srgbClr val="262626"/>
                </a:solidFill>
                <a:latin typeface="Calibri"/>
              </a:rPr>
              <a:t>Tarıma ve yerleşik hayata geçiş gıdayı artırır; nüfus artar.</a:t>
            </a:r>
          </a:p>
        </p:txBody>
      </p:sp>
      <p:sp>
        <p:nvSpPr>
          <p:cNvPr id="10" name="Rounded Rectangle 9"/>
          <p:cNvSpPr/>
          <p:nvPr/>
        </p:nvSpPr>
        <p:spPr>
          <a:xfrm>
            <a:off x="502920" y="3799332"/>
            <a:ext cx="2103120" cy="1154430"/>
          </a:xfrm>
          <a:prstGeom prst="roundRect">
            <a:avLst>
              <a:gd name="adj" fmla="val 15000"/>
            </a:avLst>
          </a:prstGeom>
          <a:solidFill>
            <a:srgbClr val="2E7D32"/>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Göç</a:t>
            </a:r>
          </a:p>
        </p:txBody>
      </p:sp>
      <p:sp>
        <p:nvSpPr>
          <p:cNvPr id="11" name="Rounded Rectangle 10"/>
          <p:cNvSpPr/>
          <p:nvPr/>
        </p:nvSpPr>
        <p:spPr>
          <a:xfrm>
            <a:off x="2743200" y="3799332"/>
            <a:ext cx="8945575" cy="1154430"/>
          </a:xfrm>
          <a:prstGeom prst="roundRect">
            <a:avLst>
              <a:gd name="adj" fmla="val 12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0"/>
              </a:spcAft>
            </a:pPr>
            <a:r>
              <a:rPr lang="tr-TR" sz="2300" b="0" i="0">
                <a:solidFill>
                  <a:srgbClr val="262626"/>
                </a:solidFill>
                <a:latin typeface="Calibri"/>
              </a:rPr>
              <a:t>Göç alan yerin nüfusu artar, göç veren yerin nüfusu azalır.</a:t>
            </a:r>
          </a:p>
        </p:txBody>
      </p:sp>
      <p:sp>
        <p:nvSpPr>
          <p:cNvPr id="12" name="Rounded Rectangle 11"/>
          <p:cNvSpPr/>
          <p:nvPr/>
        </p:nvSpPr>
        <p:spPr>
          <a:xfrm>
            <a:off x="502920" y="5090922"/>
            <a:ext cx="2103120" cy="1154430"/>
          </a:xfrm>
          <a:prstGeom prst="roundRect">
            <a:avLst>
              <a:gd name="adj" fmla="val 15000"/>
            </a:avLst>
          </a:prstGeom>
          <a:solidFill>
            <a:srgbClr val="2E7D32"/>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Kaynaklar</a:t>
            </a:r>
          </a:p>
        </p:txBody>
      </p:sp>
      <p:sp>
        <p:nvSpPr>
          <p:cNvPr id="13" name="Rounded Rectangle 12"/>
          <p:cNvSpPr/>
          <p:nvPr/>
        </p:nvSpPr>
        <p:spPr>
          <a:xfrm>
            <a:off x="2743200" y="5090922"/>
            <a:ext cx="8945575" cy="1154430"/>
          </a:xfrm>
          <a:prstGeom prst="roundRect">
            <a:avLst>
              <a:gd name="adj" fmla="val 12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0"/>
              </a:spcAft>
            </a:pPr>
            <a:r>
              <a:rPr lang="tr-TR" sz="2300" b="0" i="0">
                <a:solidFill>
                  <a:srgbClr val="262626"/>
                </a:solidFill>
                <a:latin typeface="Calibri"/>
              </a:rPr>
              <a:t>Kaynaklar yetersiz kalırsa ya da kuraklık gibi doğal koşullar ağırlaşırsa göç başlar, nüfus azalır.</a:t>
            </a:r>
          </a:p>
        </p:txBody>
      </p:sp>
      <p:sp>
        <p:nvSpPr>
          <p:cNvPr id="14" name="TextBox 1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15" name="Rounded Rectangle 1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141</a:t>
            </a:r>
          </a:p>
        </p:txBody>
      </p:sp>
      <p:sp>
        <p:nvSpPr>
          <p:cNvPr id="16" name="TextBox 1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 / 379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Nüfus artış hızı ve üç büyük sıçrama</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4.1.1</a:t>
            </a:r>
          </a:p>
        </p:txBody>
      </p:sp>
      <p:sp>
        <p:nvSpPr>
          <p:cNvPr id="6" name="Rounded Rectangle 5"/>
          <p:cNvSpPr/>
          <p:nvPr/>
        </p:nvSpPr>
        <p:spPr>
          <a:xfrm>
            <a:off x="502920" y="1216152"/>
            <a:ext cx="5120640" cy="137160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216152"/>
            <a:ext cx="146304" cy="1371600"/>
          </a:xfrm>
          <a:prstGeom prst="rect">
            <a:avLst/>
          </a:prstGeom>
          <a:solidFill>
            <a:srgbClr val="2C6696"/>
          </a:solidFill>
          <a:ln>
            <a:noFill/>
          </a:ln>
          <a:effectLst/>
        </p:spPr>
        <p:txBody>
          <a:bodyPr rtlCol="0" anchor="ctr"/>
          <a:lstStyle/>
          <a:p/>
        </p:txBody>
      </p:sp>
      <p:sp>
        <p:nvSpPr>
          <p:cNvPr id="8" name="TextBox 7"/>
          <p:cNvSpPr txBox="1"/>
          <p:nvPr/>
        </p:nvSpPr>
        <p:spPr>
          <a:xfrm>
            <a:off x="868680" y="1325880"/>
            <a:ext cx="4572000" cy="411480"/>
          </a:xfrm>
          <a:prstGeom prst="rect">
            <a:avLst/>
          </a:prstGeom>
          <a:noFill/>
        </p:spPr>
        <p:txBody>
          <a:bodyPr wrap="square" anchor="t" lIns="73152" rIns="73152" tIns="36576" bIns="36576">
            <a:noAutofit/>
          </a:bodyPr>
          <a:lstStyle/>
          <a:p>
            <a:pPr algn="l">
              <a:spcBef>
                <a:spcPts val="0"/>
              </a:spcBef>
              <a:spcAft>
                <a:spcPts val="0"/>
              </a:spcAft>
            </a:pPr>
            <a:r>
              <a:rPr lang="tr-TR" sz="1800" b="1" i="0">
                <a:solidFill>
                  <a:srgbClr val="2C6696"/>
                </a:solidFill>
                <a:latin typeface="Calibri"/>
              </a:rPr>
              <a:t>NÜFUS ARTIŞ HIZI</a:t>
            </a:r>
          </a:p>
        </p:txBody>
      </p:sp>
      <p:sp>
        <p:nvSpPr>
          <p:cNvPr id="9" name="TextBox 8"/>
          <p:cNvSpPr txBox="1"/>
          <p:nvPr/>
        </p:nvSpPr>
        <p:spPr>
          <a:xfrm>
            <a:off x="868680" y="1719072"/>
            <a:ext cx="4572000" cy="73152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Bir önceki döneme göre nüfustaki artış veya azalış oranıdır.</a:t>
            </a:r>
          </a:p>
        </p:txBody>
      </p:sp>
      <p:sp>
        <p:nvSpPr>
          <p:cNvPr id="10" name="Rounded Rectangle 9"/>
          <p:cNvSpPr/>
          <p:nvPr/>
        </p:nvSpPr>
        <p:spPr>
          <a:xfrm>
            <a:off x="5852160" y="1216152"/>
            <a:ext cx="5836615" cy="1371600"/>
          </a:xfrm>
          <a:prstGeom prst="roundRect">
            <a:avLst>
              <a:gd name="adj" fmla="val 8000"/>
            </a:avLst>
          </a:prstGeom>
          <a:solidFill>
            <a:srgbClr val="F0F0F0"/>
          </a:solidFill>
          <a:ln>
            <a:noFill/>
          </a:ln>
          <a:effectLst/>
        </p:spPr>
        <p:txBody>
          <a:bodyPr rtlCol="0" anchor="ctr"/>
          <a:lstStyle/>
          <a:p/>
        </p:txBody>
      </p:sp>
      <p:sp>
        <p:nvSpPr>
          <p:cNvPr id="11" name="Rectangle 10"/>
          <p:cNvSpPr/>
          <p:nvPr/>
        </p:nvSpPr>
        <p:spPr>
          <a:xfrm>
            <a:off x="5852160" y="1216152"/>
            <a:ext cx="118872" cy="1371600"/>
          </a:xfrm>
          <a:prstGeom prst="rect">
            <a:avLst/>
          </a:prstGeom>
          <a:solidFill>
            <a:srgbClr val="2C6696"/>
          </a:solidFill>
          <a:ln>
            <a:noFill/>
          </a:ln>
          <a:effectLst/>
        </p:spPr>
        <p:txBody>
          <a:bodyPr rtlCol="0" anchor="ctr"/>
          <a:lstStyle/>
          <a:p/>
        </p:txBody>
      </p:sp>
      <p:sp>
        <p:nvSpPr>
          <p:cNvPr id="12" name="TextBox 11"/>
          <p:cNvSpPr txBox="1"/>
          <p:nvPr/>
        </p:nvSpPr>
        <p:spPr>
          <a:xfrm>
            <a:off x="6126480" y="1216152"/>
            <a:ext cx="5425135" cy="1371600"/>
          </a:xfrm>
          <a:prstGeom prst="rect">
            <a:avLst/>
          </a:prstGeom>
          <a:noFill/>
        </p:spPr>
        <p:txBody>
          <a:bodyPr wrap="square" anchor="ctr" lIns="73152" rIns="73152" tIns="36576" bIns="36576">
            <a:noAutofit/>
          </a:bodyPr>
          <a:lstStyle/>
          <a:p>
            <a:pPr algn="l">
              <a:spcBef>
                <a:spcPts val="0"/>
              </a:spcBef>
              <a:spcAft>
                <a:spcPts val="0"/>
              </a:spcAft>
            </a:pPr>
            <a:r>
              <a:rPr lang="tr-TR" sz="2050" b="0" i="0">
                <a:solidFill>
                  <a:srgbClr val="262626"/>
                </a:solidFill>
                <a:latin typeface="Calibri"/>
              </a:rPr>
              <a:t>Nüfus artış hızı, başlangıçta düşükken son birkaç asırda katlanarak artmıştır. İnsanlık tarihinde nüfus artışında üç büyük sıçrama dönemi yaşanmıştır.</a:t>
            </a:r>
          </a:p>
        </p:txBody>
      </p:sp>
      <p:sp>
        <p:nvSpPr>
          <p:cNvPr id="13" name="Rounded Rectangle 12"/>
          <p:cNvSpPr/>
          <p:nvPr/>
        </p:nvSpPr>
        <p:spPr>
          <a:xfrm>
            <a:off x="502920" y="2770632"/>
            <a:ext cx="3606698" cy="3502152"/>
          </a:xfrm>
          <a:prstGeom prst="roundRect">
            <a:avLst>
              <a:gd name="adj" fmla="val 5000"/>
            </a:avLst>
          </a:prstGeom>
          <a:solidFill>
            <a:srgbClr val="F0F0F0"/>
          </a:solidFill>
          <a:ln>
            <a:noFill/>
          </a:ln>
          <a:effectLst/>
        </p:spPr>
        <p:txBody>
          <a:bodyPr rtlCol="0" anchor="ctr"/>
          <a:lstStyle/>
          <a:p/>
        </p:txBody>
      </p:sp>
      <p:sp>
        <p:nvSpPr>
          <p:cNvPr id="14" name="Rounded Rectangle 13"/>
          <p:cNvSpPr/>
          <p:nvPr/>
        </p:nvSpPr>
        <p:spPr>
          <a:xfrm>
            <a:off x="502920" y="2770632"/>
            <a:ext cx="3606698" cy="530352"/>
          </a:xfrm>
          <a:prstGeom prst="roundRect">
            <a:avLst>
              <a:gd name="adj" fmla="val 25000"/>
            </a:avLst>
          </a:prstGeom>
          <a:solidFill>
            <a:srgbClr val="5E9E3A"/>
          </a:solidFill>
          <a:ln>
            <a:noFill/>
          </a:ln>
          <a:effectLst/>
        </p:spPr>
        <p:txBody>
          <a:bodyPr rtlCol="0" anchor="ctr"/>
          <a:lstStyle/>
          <a:p/>
        </p:txBody>
      </p:sp>
      <p:sp>
        <p:nvSpPr>
          <p:cNvPr id="15" name="Rectangle 14"/>
          <p:cNvSpPr/>
          <p:nvPr/>
        </p:nvSpPr>
        <p:spPr>
          <a:xfrm>
            <a:off x="502920" y="3035808"/>
            <a:ext cx="3606698" cy="265176"/>
          </a:xfrm>
          <a:prstGeom prst="rect">
            <a:avLst/>
          </a:prstGeom>
          <a:solidFill>
            <a:srgbClr val="5E9E3A"/>
          </a:solidFill>
          <a:ln>
            <a:noFill/>
          </a:ln>
          <a:effectLst/>
        </p:spPr>
        <p:txBody>
          <a:bodyPr rtlCol="0" anchor="ctr"/>
          <a:lstStyle/>
          <a:p/>
        </p:txBody>
      </p:sp>
      <p:sp>
        <p:nvSpPr>
          <p:cNvPr id="16" name="TextBox 15"/>
          <p:cNvSpPr txBox="1"/>
          <p:nvPr/>
        </p:nvSpPr>
        <p:spPr>
          <a:xfrm>
            <a:off x="594360" y="2770632"/>
            <a:ext cx="3423818"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Birinci sıçrama</a:t>
            </a:r>
          </a:p>
        </p:txBody>
      </p:sp>
      <p:sp>
        <p:nvSpPr>
          <p:cNvPr id="17" name="TextBox 16"/>
          <p:cNvSpPr txBox="1"/>
          <p:nvPr/>
        </p:nvSpPr>
        <p:spPr>
          <a:xfrm>
            <a:off x="612648" y="3374136"/>
            <a:ext cx="3387242" cy="2825496"/>
          </a:xfrm>
          <a:prstGeom prst="rect">
            <a:avLst/>
          </a:prstGeom>
          <a:noFill/>
        </p:spPr>
        <p:txBody>
          <a:bodyPr wrap="square" anchor="ctr" lIns="73152" rIns="73152" tIns="36576" bIns="36576">
            <a:noAutofit/>
          </a:bodyPr>
          <a:lstStyle/>
          <a:p>
            <a:pPr algn="l" marL="273482" indent="-273482">
              <a:spcBef>
                <a:spcPts val="0"/>
              </a:spcBef>
              <a:spcAft>
                <a:spcPts val="600"/>
              </a:spcAft>
            </a:pPr>
            <a:r>
              <a:rPr lang="tr-TR" sz="2200" b="1" i="0">
                <a:solidFill>
                  <a:srgbClr val="5E9E3A"/>
                </a:solidFill>
                <a:latin typeface="Calibri"/>
              </a:rPr>
              <a:t>•  </a:t>
            </a:r>
            <a:r>
              <a:rPr lang="tr-TR" sz="2200" b="0" i="0">
                <a:solidFill>
                  <a:srgbClr val="262626"/>
                </a:solidFill>
                <a:latin typeface="Calibri"/>
              </a:rPr>
              <a:t>≈ 1 milyon yıl önce</a:t>
            </a:r>
          </a:p>
          <a:p>
            <a:pPr algn="l" marL="273482" indent="-273482">
              <a:spcBef>
                <a:spcPts val="0"/>
              </a:spcBef>
              <a:spcAft>
                <a:spcPts val="600"/>
              </a:spcAft>
            </a:pPr>
            <a:r>
              <a:rPr lang="tr-TR" sz="2200" b="1" i="0">
                <a:solidFill>
                  <a:srgbClr val="5E9E3A"/>
                </a:solidFill>
                <a:latin typeface="Calibri"/>
              </a:rPr>
              <a:t>•  </a:t>
            </a:r>
            <a:r>
              <a:rPr lang="tr-TR" sz="2200" b="0" i="0">
                <a:solidFill>
                  <a:srgbClr val="262626"/>
                </a:solidFill>
                <a:latin typeface="Calibri"/>
              </a:rPr>
              <a:t>Aletlerin icadı</a:t>
            </a:r>
          </a:p>
          <a:p>
            <a:pPr algn="l" marL="273482" indent="-273482">
              <a:spcBef>
                <a:spcPts val="0"/>
              </a:spcBef>
              <a:spcAft>
                <a:spcPts val="0"/>
              </a:spcAft>
            </a:pPr>
            <a:r>
              <a:rPr lang="tr-TR" sz="2200" b="1" i="0">
                <a:solidFill>
                  <a:srgbClr val="5E9E3A"/>
                </a:solidFill>
                <a:latin typeface="Calibri"/>
              </a:rPr>
              <a:t>•  </a:t>
            </a:r>
            <a:r>
              <a:rPr lang="tr-TR" sz="2200" b="0" i="0">
                <a:solidFill>
                  <a:srgbClr val="262626"/>
                </a:solidFill>
                <a:latin typeface="Calibri"/>
              </a:rPr>
              <a:t>Yetersiz beslenme azalmış ve vahşi hayvanlarla mücadelede önemli ilerlemeler olmuştur.</a:t>
            </a:r>
          </a:p>
        </p:txBody>
      </p:sp>
      <p:sp>
        <p:nvSpPr>
          <p:cNvPr id="18" name="Rounded Rectangle 17"/>
          <p:cNvSpPr/>
          <p:nvPr/>
        </p:nvSpPr>
        <p:spPr>
          <a:xfrm>
            <a:off x="4292498" y="2770632"/>
            <a:ext cx="3606698" cy="3502152"/>
          </a:xfrm>
          <a:prstGeom prst="roundRect">
            <a:avLst>
              <a:gd name="adj" fmla="val 5000"/>
            </a:avLst>
          </a:prstGeom>
          <a:solidFill>
            <a:srgbClr val="F0F0F0"/>
          </a:solidFill>
          <a:ln>
            <a:noFill/>
          </a:ln>
          <a:effectLst/>
        </p:spPr>
        <p:txBody>
          <a:bodyPr rtlCol="0" anchor="ctr"/>
          <a:lstStyle/>
          <a:p/>
        </p:txBody>
      </p:sp>
      <p:sp>
        <p:nvSpPr>
          <p:cNvPr id="19" name="Rounded Rectangle 18"/>
          <p:cNvSpPr/>
          <p:nvPr/>
        </p:nvSpPr>
        <p:spPr>
          <a:xfrm>
            <a:off x="4292498" y="2770632"/>
            <a:ext cx="3606698" cy="530352"/>
          </a:xfrm>
          <a:prstGeom prst="roundRect">
            <a:avLst>
              <a:gd name="adj" fmla="val 25000"/>
            </a:avLst>
          </a:prstGeom>
          <a:solidFill>
            <a:srgbClr val="D96F1E"/>
          </a:solidFill>
          <a:ln>
            <a:noFill/>
          </a:ln>
          <a:effectLst/>
        </p:spPr>
        <p:txBody>
          <a:bodyPr rtlCol="0" anchor="ctr"/>
          <a:lstStyle/>
          <a:p/>
        </p:txBody>
      </p:sp>
      <p:sp>
        <p:nvSpPr>
          <p:cNvPr id="20" name="Rectangle 19"/>
          <p:cNvSpPr/>
          <p:nvPr/>
        </p:nvSpPr>
        <p:spPr>
          <a:xfrm>
            <a:off x="4292498" y="3035808"/>
            <a:ext cx="3606698" cy="265176"/>
          </a:xfrm>
          <a:prstGeom prst="rect">
            <a:avLst/>
          </a:prstGeom>
          <a:solidFill>
            <a:srgbClr val="D96F1E"/>
          </a:solidFill>
          <a:ln>
            <a:noFill/>
          </a:ln>
          <a:effectLst/>
        </p:spPr>
        <p:txBody>
          <a:bodyPr rtlCol="0" anchor="ctr"/>
          <a:lstStyle/>
          <a:p/>
        </p:txBody>
      </p:sp>
      <p:sp>
        <p:nvSpPr>
          <p:cNvPr id="21" name="TextBox 20"/>
          <p:cNvSpPr txBox="1"/>
          <p:nvPr/>
        </p:nvSpPr>
        <p:spPr>
          <a:xfrm>
            <a:off x="4383938" y="2770632"/>
            <a:ext cx="3423818"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İkinci sıçrama</a:t>
            </a:r>
          </a:p>
        </p:txBody>
      </p:sp>
      <p:sp>
        <p:nvSpPr>
          <p:cNvPr id="22" name="TextBox 21"/>
          <p:cNvSpPr txBox="1"/>
          <p:nvPr/>
        </p:nvSpPr>
        <p:spPr>
          <a:xfrm>
            <a:off x="4402226" y="3374136"/>
            <a:ext cx="3387242" cy="2825496"/>
          </a:xfrm>
          <a:prstGeom prst="rect">
            <a:avLst/>
          </a:prstGeom>
          <a:noFill/>
        </p:spPr>
        <p:txBody>
          <a:bodyPr wrap="square" anchor="ctr" lIns="73152" rIns="73152" tIns="36576" bIns="36576">
            <a:noAutofit/>
          </a:bodyPr>
          <a:lstStyle/>
          <a:p>
            <a:pPr algn="l" marL="273482" indent="-273482">
              <a:spcBef>
                <a:spcPts val="0"/>
              </a:spcBef>
              <a:spcAft>
                <a:spcPts val="600"/>
              </a:spcAft>
            </a:pPr>
            <a:r>
              <a:rPr lang="tr-TR" sz="2200" b="1" i="0">
                <a:solidFill>
                  <a:srgbClr val="D96F1E"/>
                </a:solidFill>
                <a:latin typeface="Calibri"/>
              </a:rPr>
              <a:t>•  </a:t>
            </a:r>
            <a:r>
              <a:rPr lang="tr-TR" sz="2200" b="0" i="0">
                <a:solidFill>
                  <a:srgbClr val="262626"/>
                </a:solidFill>
                <a:latin typeface="Calibri"/>
              </a:rPr>
              <a:t>≈ 10 bin yıl önce · Neolitik Dönem</a:t>
            </a:r>
          </a:p>
          <a:p>
            <a:pPr algn="l" marL="273482" indent="-273482">
              <a:spcBef>
                <a:spcPts val="0"/>
              </a:spcBef>
              <a:spcAft>
                <a:spcPts val="600"/>
              </a:spcAft>
            </a:pPr>
            <a:r>
              <a:rPr lang="tr-TR" sz="2200" b="1" i="0">
                <a:solidFill>
                  <a:srgbClr val="D96F1E"/>
                </a:solidFill>
                <a:latin typeface="Calibri"/>
              </a:rPr>
              <a:t>•  </a:t>
            </a:r>
            <a:r>
              <a:rPr lang="tr-TR" sz="2200" b="0" i="0">
                <a:solidFill>
                  <a:srgbClr val="262626"/>
                </a:solidFill>
                <a:latin typeface="Calibri"/>
              </a:rPr>
              <a:t>Tarım Devrimi: yerleşik hayat, ürün fazlası, ilk şehirler</a:t>
            </a:r>
          </a:p>
          <a:p>
            <a:pPr algn="l" marL="273482" indent="-273482">
              <a:spcBef>
                <a:spcPts val="0"/>
              </a:spcBef>
              <a:spcAft>
                <a:spcPts val="0"/>
              </a:spcAft>
            </a:pPr>
            <a:r>
              <a:rPr lang="tr-TR" sz="2200" b="1" i="0">
                <a:solidFill>
                  <a:srgbClr val="D96F1E"/>
                </a:solidFill>
                <a:latin typeface="Calibri"/>
              </a:rPr>
              <a:t>•  </a:t>
            </a:r>
            <a:r>
              <a:rPr lang="tr-TR" sz="2200" b="0" i="0">
                <a:solidFill>
                  <a:srgbClr val="262626"/>
                </a:solidFill>
                <a:latin typeface="Calibri"/>
              </a:rPr>
              <a:t>Nüfus: 150-300 milyon civarında (tahmin)</a:t>
            </a:r>
          </a:p>
        </p:txBody>
      </p:sp>
      <p:sp>
        <p:nvSpPr>
          <p:cNvPr id="23" name="Rounded Rectangle 22"/>
          <p:cNvSpPr/>
          <p:nvPr/>
        </p:nvSpPr>
        <p:spPr>
          <a:xfrm>
            <a:off x="8082076" y="2770632"/>
            <a:ext cx="3606698" cy="3502152"/>
          </a:xfrm>
          <a:prstGeom prst="roundRect">
            <a:avLst>
              <a:gd name="adj" fmla="val 5000"/>
            </a:avLst>
          </a:prstGeom>
          <a:solidFill>
            <a:srgbClr val="F0F0F0"/>
          </a:solidFill>
          <a:ln>
            <a:noFill/>
          </a:ln>
          <a:effectLst/>
        </p:spPr>
        <p:txBody>
          <a:bodyPr rtlCol="0" anchor="ctr"/>
          <a:lstStyle/>
          <a:p/>
        </p:txBody>
      </p:sp>
      <p:sp>
        <p:nvSpPr>
          <p:cNvPr id="24" name="Rounded Rectangle 23"/>
          <p:cNvSpPr/>
          <p:nvPr/>
        </p:nvSpPr>
        <p:spPr>
          <a:xfrm>
            <a:off x="8082076" y="2770632"/>
            <a:ext cx="3606698" cy="530352"/>
          </a:xfrm>
          <a:prstGeom prst="roundRect">
            <a:avLst>
              <a:gd name="adj" fmla="val 25000"/>
            </a:avLst>
          </a:prstGeom>
          <a:solidFill>
            <a:srgbClr val="1F939C"/>
          </a:solidFill>
          <a:ln>
            <a:noFill/>
          </a:ln>
          <a:effectLst/>
        </p:spPr>
        <p:txBody>
          <a:bodyPr rtlCol="0" anchor="ctr"/>
          <a:lstStyle/>
          <a:p/>
        </p:txBody>
      </p:sp>
      <p:sp>
        <p:nvSpPr>
          <p:cNvPr id="25" name="Rectangle 24"/>
          <p:cNvSpPr/>
          <p:nvPr/>
        </p:nvSpPr>
        <p:spPr>
          <a:xfrm>
            <a:off x="8082076" y="3035808"/>
            <a:ext cx="3606698" cy="265176"/>
          </a:xfrm>
          <a:prstGeom prst="rect">
            <a:avLst/>
          </a:prstGeom>
          <a:solidFill>
            <a:srgbClr val="1F939C"/>
          </a:solidFill>
          <a:ln>
            <a:noFill/>
          </a:ln>
          <a:effectLst/>
        </p:spPr>
        <p:txBody>
          <a:bodyPr rtlCol="0" anchor="ctr"/>
          <a:lstStyle/>
          <a:p/>
        </p:txBody>
      </p:sp>
      <p:sp>
        <p:nvSpPr>
          <p:cNvPr id="26" name="TextBox 25"/>
          <p:cNvSpPr txBox="1"/>
          <p:nvPr/>
        </p:nvSpPr>
        <p:spPr>
          <a:xfrm>
            <a:off x="8173516" y="2770632"/>
            <a:ext cx="3423818"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Üçüncü sıçrama</a:t>
            </a:r>
          </a:p>
        </p:txBody>
      </p:sp>
      <p:sp>
        <p:nvSpPr>
          <p:cNvPr id="27" name="TextBox 26"/>
          <p:cNvSpPr txBox="1"/>
          <p:nvPr/>
        </p:nvSpPr>
        <p:spPr>
          <a:xfrm>
            <a:off x="8191804" y="3374136"/>
            <a:ext cx="3387242" cy="2825496"/>
          </a:xfrm>
          <a:prstGeom prst="rect">
            <a:avLst/>
          </a:prstGeom>
          <a:noFill/>
        </p:spPr>
        <p:txBody>
          <a:bodyPr wrap="square" anchor="ctr" lIns="73152" rIns="73152" tIns="36576" bIns="36576">
            <a:noAutofit/>
          </a:bodyPr>
          <a:lstStyle/>
          <a:p>
            <a:pPr algn="l" marL="261051" indent="-261051">
              <a:spcBef>
                <a:spcPts val="0"/>
              </a:spcBef>
              <a:spcAft>
                <a:spcPts val="572"/>
              </a:spcAft>
            </a:pPr>
            <a:r>
              <a:rPr lang="tr-TR" sz="2100" b="1" i="0">
                <a:solidFill>
                  <a:srgbClr val="1F939C"/>
                </a:solidFill>
                <a:latin typeface="Calibri"/>
              </a:rPr>
              <a:t>•  </a:t>
            </a:r>
            <a:r>
              <a:rPr lang="tr-TR" sz="2100" b="0" i="0">
                <a:solidFill>
                  <a:srgbClr val="262626"/>
                </a:solidFill>
                <a:latin typeface="Calibri"/>
              </a:rPr>
              <a:t>Bilimsel gelişmeler ve Sanayi Devrimi</a:t>
            </a:r>
          </a:p>
          <a:p>
            <a:pPr algn="l" marL="261051" indent="-261051">
              <a:spcBef>
                <a:spcPts val="0"/>
              </a:spcBef>
              <a:spcAft>
                <a:spcPts val="572"/>
              </a:spcAft>
            </a:pPr>
            <a:r>
              <a:rPr lang="tr-TR" sz="2100" b="1" i="0">
                <a:solidFill>
                  <a:srgbClr val="1F939C"/>
                </a:solidFill>
                <a:latin typeface="Calibri"/>
              </a:rPr>
              <a:t>•  </a:t>
            </a:r>
            <a:r>
              <a:rPr lang="tr-TR" sz="2100" b="0" i="0">
                <a:solidFill>
                  <a:srgbClr val="262626"/>
                </a:solidFill>
                <a:latin typeface="Calibri"/>
              </a:rPr>
              <a:t>Tıp, beslenme ve sağlıkta ilerleme; ölüm oranı düştü, doğum oranı aynı kaldı</a:t>
            </a:r>
          </a:p>
          <a:p>
            <a:pPr algn="l" marL="261051" indent="-261051">
              <a:spcBef>
                <a:spcPts val="0"/>
              </a:spcBef>
              <a:spcAft>
                <a:spcPts val="0"/>
              </a:spcAft>
            </a:pPr>
            <a:r>
              <a:rPr lang="tr-TR" sz="2100" b="1" i="0">
                <a:solidFill>
                  <a:srgbClr val="1F939C"/>
                </a:solidFill>
                <a:latin typeface="Calibri"/>
              </a:rPr>
              <a:t>•  </a:t>
            </a:r>
            <a:r>
              <a:rPr lang="tr-TR" sz="2100" b="0" i="0">
                <a:solidFill>
                  <a:srgbClr val="262626"/>
                </a:solidFill>
                <a:latin typeface="Calibri"/>
              </a:rPr>
              <a:t>1800'lerin başında 1 milyar, 1927'de 2 milyar</a:t>
            </a:r>
          </a:p>
        </p:txBody>
      </p:sp>
      <p:sp>
        <p:nvSpPr>
          <p:cNvPr id="28" name="TextBox 2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9" name="Rounded Rectangle 2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141-142</a:t>
            </a:r>
          </a:p>
        </p:txBody>
      </p:sp>
      <p:sp>
        <p:nvSpPr>
          <p:cNvPr id="30" name="TextBox 2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 / 379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Hangi sıçrama dönemi?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EŞLEŞTİR</a:t>
            </a:r>
          </a:p>
        </p:txBody>
      </p:sp>
      <p:sp>
        <p:nvSpPr>
          <p:cNvPr id="6" name="Oval 5"/>
          <p:cNvSpPr/>
          <p:nvPr/>
        </p:nvSpPr>
        <p:spPr>
          <a:xfrm>
            <a:off x="502920" y="1328492"/>
            <a:ext cx="438912" cy="43891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1</a:t>
            </a:r>
          </a:p>
        </p:txBody>
      </p:sp>
      <p:sp>
        <p:nvSpPr>
          <p:cNvPr id="7" name="Rounded Rectangle 6"/>
          <p:cNvSpPr/>
          <p:nvPr/>
        </p:nvSpPr>
        <p:spPr>
          <a:xfrm>
            <a:off x="1051560" y="1216152"/>
            <a:ext cx="8396935" cy="663593"/>
          </a:xfrm>
          <a:prstGeom prst="roundRect">
            <a:avLst>
              <a:gd name="adj" fmla="val 15000"/>
            </a:avLst>
          </a:prstGeom>
          <a:solidFill>
            <a:srgbClr val="F0F0F0"/>
          </a:solidFill>
          <a:ln>
            <a:noFill/>
          </a:ln>
          <a:effectLst/>
        </p:spPr>
        <p:txBody>
          <a:bodyPr rtlCol="0" anchor="ctr" wrap="square" tIns="73152" bIns="73152">
            <a:noAutofit/>
          </a:bodyPr>
          <a:lstStyle/>
          <a:p>
            <a:pPr algn="l">
              <a:spcBef>
                <a:spcPts val="0"/>
              </a:spcBef>
              <a:spcAft>
                <a:spcPts val="0"/>
              </a:spcAft>
            </a:pPr>
            <a:r>
              <a:rPr lang="tr-TR" sz="1450" b="0" i="0">
                <a:solidFill>
                  <a:srgbClr val="262626"/>
                </a:solidFill>
                <a:latin typeface="Calibri"/>
              </a:rPr>
              <a:t>Ölüm oranlarının düşmesi ve doğum oranlarının aynı kalması sonucunda dünya nüfusu 1800’lerin başında 1 milyara, 1927’de 2 milyara ulaşmıştır.</a:t>
            </a:r>
          </a:p>
        </p:txBody>
      </p:sp>
      <p:sp>
        <p:nvSpPr>
          <p:cNvPr id="8" name="Oval 7"/>
          <p:cNvSpPr/>
          <p:nvPr/>
        </p:nvSpPr>
        <p:spPr>
          <a:xfrm>
            <a:off x="502920" y="2056093"/>
            <a:ext cx="438912" cy="43891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2</a:t>
            </a:r>
          </a:p>
        </p:txBody>
      </p:sp>
      <p:sp>
        <p:nvSpPr>
          <p:cNvPr id="9" name="Rounded Rectangle 8"/>
          <p:cNvSpPr/>
          <p:nvPr/>
        </p:nvSpPr>
        <p:spPr>
          <a:xfrm>
            <a:off x="1051560" y="1943753"/>
            <a:ext cx="8396935" cy="663593"/>
          </a:xfrm>
          <a:prstGeom prst="roundRect">
            <a:avLst>
              <a:gd name="adj" fmla="val 15000"/>
            </a:avLst>
          </a:prstGeom>
          <a:solidFill>
            <a:srgbClr val="F0F0F0"/>
          </a:solidFill>
          <a:ln>
            <a:noFill/>
          </a:ln>
          <a:effectLst/>
        </p:spPr>
        <p:txBody>
          <a:bodyPr rtlCol="0" anchor="ctr" wrap="square" tIns="73152" bIns="73152">
            <a:noAutofit/>
          </a:bodyPr>
          <a:lstStyle/>
          <a:p>
            <a:pPr algn="l">
              <a:spcBef>
                <a:spcPts val="0"/>
              </a:spcBef>
              <a:spcAft>
                <a:spcPts val="0"/>
              </a:spcAft>
            </a:pPr>
            <a:r>
              <a:rPr lang="tr-TR" sz="1500" b="0" i="0">
                <a:solidFill>
                  <a:srgbClr val="262626"/>
                </a:solidFill>
                <a:latin typeface="Calibri"/>
              </a:rPr>
              <a:t>Dünya nüfusundaki üçüncü sıçrama, bilimsel gelişmeler ve Sanayi Devrimi’nin etkisiyle gerçekleşmiştir.</a:t>
            </a:r>
          </a:p>
        </p:txBody>
      </p:sp>
      <p:sp>
        <p:nvSpPr>
          <p:cNvPr id="10" name="Oval 9"/>
          <p:cNvSpPr/>
          <p:nvPr/>
        </p:nvSpPr>
        <p:spPr>
          <a:xfrm>
            <a:off x="502920" y="2783694"/>
            <a:ext cx="438912" cy="43891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3</a:t>
            </a:r>
          </a:p>
        </p:txBody>
      </p:sp>
      <p:sp>
        <p:nvSpPr>
          <p:cNvPr id="11" name="Rounded Rectangle 10"/>
          <p:cNvSpPr/>
          <p:nvPr/>
        </p:nvSpPr>
        <p:spPr>
          <a:xfrm>
            <a:off x="1051560" y="2671354"/>
            <a:ext cx="8396935" cy="663593"/>
          </a:xfrm>
          <a:prstGeom prst="roundRect">
            <a:avLst>
              <a:gd name="adj" fmla="val 15000"/>
            </a:avLst>
          </a:prstGeom>
          <a:solidFill>
            <a:srgbClr val="F0F0F0"/>
          </a:solidFill>
          <a:ln>
            <a:noFill/>
          </a:ln>
          <a:effectLst/>
        </p:spPr>
        <p:txBody>
          <a:bodyPr rtlCol="0" anchor="ctr" wrap="square" tIns="73152" bIns="73152">
            <a:noAutofit/>
          </a:bodyPr>
          <a:lstStyle/>
          <a:p>
            <a:pPr algn="l">
              <a:spcBef>
                <a:spcPts val="0"/>
              </a:spcBef>
              <a:spcAft>
                <a:spcPts val="0"/>
              </a:spcAft>
            </a:pPr>
            <a:r>
              <a:rPr lang="tr-TR" sz="1500" b="0" i="0">
                <a:solidFill>
                  <a:srgbClr val="262626"/>
                </a:solidFill>
                <a:latin typeface="Calibri"/>
              </a:rPr>
              <a:t>Bu dönemde yetersiz beslenme azalmış ve vahşi hayvanlarla mücadelede önemli ilerlemeler olmuştur.</a:t>
            </a:r>
          </a:p>
        </p:txBody>
      </p:sp>
      <p:sp>
        <p:nvSpPr>
          <p:cNvPr id="12" name="Oval 11"/>
          <p:cNvSpPr/>
          <p:nvPr/>
        </p:nvSpPr>
        <p:spPr>
          <a:xfrm>
            <a:off x="502920" y="3511295"/>
            <a:ext cx="438912" cy="43891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4</a:t>
            </a:r>
          </a:p>
        </p:txBody>
      </p:sp>
      <p:sp>
        <p:nvSpPr>
          <p:cNvPr id="13" name="Rounded Rectangle 12"/>
          <p:cNvSpPr/>
          <p:nvPr/>
        </p:nvSpPr>
        <p:spPr>
          <a:xfrm>
            <a:off x="1051560" y="3398955"/>
            <a:ext cx="8396935" cy="663593"/>
          </a:xfrm>
          <a:prstGeom prst="roundRect">
            <a:avLst>
              <a:gd name="adj" fmla="val 15000"/>
            </a:avLst>
          </a:prstGeom>
          <a:solidFill>
            <a:srgbClr val="F0F0F0"/>
          </a:solidFill>
          <a:ln>
            <a:noFill/>
          </a:ln>
          <a:effectLst/>
        </p:spPr>
        <p:txBody>
          <a:bodyPr rtlCol="0" anchor="ctr" wrap="square" tIns="73152" bIns="73152">
            <a:noAutofit/>
          </a:bodyPr>
          <a:lstStyle/>
          <a:p>
            <a:pPr algn="l">
              <a:spcBef>
                <a:spcPts val="0"/>
              </a:spcBef>
              <a:spcAft>
                <a:spcPts val="0"/>
              </a:spcAft>
            </a:pPr>
            <a:r>
              <a:rPr lang="tr-TR" sz="1450" b="0" i="0">
                <a:solidFill>
                  <a:srgbClr val="262626"/>
                </a:solidFill>
                <a:latin typeface="Calibri"/>
              </a:rPr>
              <a:t>Bu dönemde tıp alanında önemli ilerlemeler kaydedilmiş, beslenme ve sağlık koşulları önceki döneme göre iyileşme göstermiştir.</a:t>
            </a:r>
          </a:p>
        </p:txBody>
      </p:sp>
      <p:sp>
        <p:nvSpPr>
          <p:cNvPr id="14" name="Oval 13"/>
          <p:cNvSpPr/>
          <p:nvPr/>
        </p:nvSpPr>
        <p:spPr>
          <a:xfrm>
            <a:off x="502920" y="4238896"/>
            <a:ext cx="438912" cy="43891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5</a:t>
            </a:r>
          </a:p>
        </p:txBody>
      </p:sp>
      <p:sp>
        <p:nvSpPr>
          <p:cNvPr id="15" name="Rounded Rectangle 14"/>
          <p:cNvSpPr/>
          <p:nvPr/>
        </p:nvSpPr>
        <p:spPr>
          <a:xfrm>
            <a:off x="1051560" y="4126556"/>
            <a:ext cx="8396935" cy="663593"/>
          </a:xfrm>
          <a:prstGeom prst="roundRect">
            <a:avLst>
              <a:gd name="adj" fmla="val 15000"/>
            </a:avLst>
          </a:prstGeom>
          <a:solidFill>
            <a:srgbClr val="F0F0F0"/>
          </a:solidFill>
          <a:ln>
            <a:noFill/>
          </a:ln>
          <a:effectLst/>
        </p:spPr>
        <p:txBody>
          <a:bodyPr rtlCol="0" anchor="ctr" wrap="square" tIns="73152" bIns="73152">
            <a:noAutofit/>
          </a:bodyPr>
          <a:lstStyle/>
          <a:p>
            <a:pPr algn="l">
              <a:spcBef>
                <a:spcPts val="0"/>
              </a:spcBef>
              <a:spcAft>
                <a:spcPts val="0"/>
              </a:spcAft>
            </a:pPr>
            <a:r>
              <a:rPr lang="tr-TR" sz="1550" b="0" i="0">
                <a:solidFill>
                  <a:srgbClr val="262626"/>
                </a:solidFill>
                <a:latin typeface="Calibri"/>
              </a:rPr>
              <a:t>Yaklaşık 1 milyon yıl önce insanların çeşitli aletleri icat etmesiyle başlamıştır.</a:t>
            </a:r>
          </a:p>
        </p:txBody>
      </p:sp>
      <p:sp>
        <p:nvSpPr>
          <p:cNvPr id="16" name="Oval 15"/>
          <p:cNvSpPr/>
          <p:nvPr/>
        </p:nvSpPr>
        <p:spPr>
          <a:xfrm>
            <a:off x="502920" y="4966497"/>
            <a:ext cx="438912" cy="43891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6</a:t>
            </a:r>
          </a:p>
        </p:txBody>
      </p:sp>
      <p:sp>
        <p:nvSpPr>
          <p:cNvPr id="17" name="Rounded Rectangle 16"/>
          <p:cNvSpPr/>
          <p:nvPr/>
        </p:nvSpPr>
        <p:spPr>
          <a:xfrm>
            <a:off x="1051560" y="4854157"/>
            <a:ext cx="8396935" cy="663593"/>
          </a:xfrm>
          <a:prstGeom prst="roundRect">
            <a:avLst>
              <a:gd name="adj" fmla="val 15000"/>
            </a:avLst>
          </a:prstGeom>
          <a:solidFill>
            <a:srgbClr val="F0F0F0"/>
          </a:solidFill>
          <a:ln>
            <a:noFill/>
          </a:ln>
          <a:effectLst/>
        </p:spPr>
        <p:txBody>
          <a:bodyPr rtlCol="0" anchor="ctr" wrap="square" tIns="73152" bIns="73152">
            <a:noAutofit/>
          </a:bodyPr>
          <a:lstStyle/>
          <a:p>
            <a:pPr algn="l">
              <a:spcBef>
                <a:spcPts val="0"/>
              </a:spcBef>
              <a:spcAft>
                <a:spcPts val="0"/>
              </a:spcAft>
            </a:pPr>
            <a:r>
              <a:rPr lang="tr-TR" sz="1450" b="0" i="0">
                <a:solidFill>
                  <a:srgbClr val="262626"/>
                </a:solidFill>
                <a:latin typeface="Calibri"/>
              </a:rPr>
              <a:t>Neolitik Dönem adı verilen bu süreçte insanlar tarımsal faaliyetlere başlayarak yerleşik hayata geçmiştir.</a:t>
            </a:r>
          </a:p>
        </p:txBody>
      </p:sp>
      <p:sp>
        <p:nvSpPr>
          <p:cNvPr id="18" name="Oval 17"/>
          <p:cNvSpPr/>
          <p:nvPr/>
        </p:nvSpPr>
        <p:spPr>
          <a:xfrm>
            <a:off x="502920" y="5694098"/>
            <a:ext cx="438912" cy="438912"/>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7</a:t>
            </a:r>
          </a:p>
        </p:txBody>
      </p:sp>
      <p:sp>
        <p:nvSpPr>
          <p:cNvPr id="19" name="Rounded Rectangle 18"/>
          <p:cNvSpPr/>
          <p:nvPr/>
        </p:nvSpPr>
        <p:spPr>
          <a:xfrm>
            <a:off x="1051560" y="5581758"/>
            <a:ext cx="8396935" cy="663593"/>
          </a:xfrm>
          <a:prstGeom prst="roundRect">
            <a:avLst>
              <a:gd name="adj" fmla="val 15000"/>
            </a:avLst>
          </a:prstGeom>
          <a:solidFill>
            <a:srgbClr val="F0F0F0"/>
          </a:solidFill>
          <a:ln>
            <a:noFill/>
          </a:ln>
          <a:effectLst/>
        </p:spPr>
        <p:txBody>
          <a:bodyPr rtlCol="0" anchor="ctr" wrap="square" tIns="73152" bIns="73152">
            <a:noAutofit/>
          </a:bodyPr>
          <a:lstStyle/>
          <a:p>
            <a:pPr algn="l">
              <a:spcBef>
                <a:spcPts val="0"/>
              </a:spcBef>
              <a:spcAft>
                <a:spcPts val="0"/>
              </a:spcAft>
            </a:pPr>
            <a:r>
              <a:rPr lang="tr-TR" sz="1550" b="0" i="0">
                <a:solidFill>
                  <a:srgbClr val="262626"/>
                </a:solidFill>
                <a:latin typeface="Calibri"/>
              </a:rPr>
              <a:t>Tarım Devrimi sayesinde … dünyanın ilk şehirleri ortaya çıkmıştır.</a:t>
            </a:r>
          </a:p>
        </p:txBody>
      </p:sp>
      <p:sp>
        <p:nvSpPr>
          <p:cNvPr id="20" name="Rounded Rectangle 19"/>
          <p:cNvSpPr/>
          <p:nvPr/>
        </p:nvSpPr>
        <p:spPr>
          <a:xfrm>
            <a:off x="9631375" y="1216152"/>
            <a:ext cx="2057400" cy="1584960"/>
          </a:xfrm>
          <a:prstGeom prst="roundRect">
            <a:avLst>
              <a:gd name="adj" fmla="val 12000"/>
            </a:avLst>
          </a:prstGeom>
          <a:solidFill>
            <a:srgbClr val="5E9E3A"/>
          </a:solidFill>
          <a:ln>
            <a:noFill/>
          </a:ln>
          <a:effectLst/>
        </p:spPr>
        <p:txBody>
          <a:bodyPr rtlCol="0" anchor="ctr" wrap="square" lIns="128016" rIns="128016" tIns="73152" bIns="73152">
            <a:noAutofit/>
          </a:bodyPr>
          <a:lstStyle/>
          <a:p>
            <a:pPr algn="ctr">
              <a:spcBef>
                <a:spcPts val="0"/>
              </a:spcBef>
              <a:spcAft>
                <a:spcPts val="600"/>
              </a:spcAft>
            </a:pPr>
            <a:r>
              <a:rPr lang="tr-TR" sz="2100" b="1" i="0">
                <a:solidFill>
                  <a:srgbClr val="FFFFFF"/>
                </a:solidFill>
                <a:latin typeface="Calibri"/>
              </a:rPr>
              <a:t>Birinci sıçrama</a:t>
            </a:r>
          </a:p>
          <a:p>
            <a:pPr algn="ctr">
              <a:spcBef>
                <a:spcPts val="0"/>
              </a:spcBef>
              <a:spcAft>
                <a:spcPts val="0"/>
              </a:spcAft>
            </a:pPr>
            <a:r>
              <a:rPr lang="tr-TR" sz="3000" b="0" i="0">
                <a:solidFill>
                  <a:srgbClr val="FFFFFF"/>
                </a:solidFill>
                <a:latin typeface="Calibri"/>
              </a:rPr>
              <a:t>……………</a:t>
            </a:r>
          </a:p>
        </p:txBody>
      </p:sp>
      <p:sp>
        <p:nvSpPr>
          <p:cNvPr id="21" name="Rounded Rectangle 20"/>
          <p:cNvSpPr/>
          <p:nvPr/>
        </p:nvSpPr>
        <p:spPr>
          <a:xfrm>
            <a:off x="9631375" y="2938272"/>
            <a:ext cx="2057400" cy="1584960"/>
          </a:xfrm>
          <a:prstGeom prst="roundRect">
            <a:avLst>
              <a:gd name="adj" fmla="val 12000"/>
            </a:avLst>
          </a:prstGeom>
          <a:solidFill>
            <a:srgbClr val="D96F1E"/>
          </a:solidFill>
          <a:ln>
            <a:noFill/>
          </a:ln>
          <a:effectLst/>
        </p:spPr>
        <p:txBody>
          <a:bodyPr rtlCol="0" anchor="ctr" wrap="square" lIns="128016" rIns="128016" tIns="73152" bIns="73152">
            <a:noAutofit/>
          </a:bodyPr>
          <a:lstStyle/>
          <a:p>
            <a:pPr algn="ctr">
              <a:spcBef>
                <a:spcPts val="0"/>
              </a:spcBef>
              <a:spcAft>
                <a:spcPts val="600"/>
              </a:spcAft>
            </a:pPr>
            <a:r>
              <a:rPr lang="tr-TR" sz="2100" b="1" i="0">
                <a:solidFill>
                  <a:srgbClr val="FFFFFF"/>
                </a:solidFill>
                <a:latin typeface="Calibri"/>
              </a:rPr>
              <a:t>İkinci sıçrama</a:t>
            </a:r>
          </a:p>
          <a:p>
            <a:pPr algn="ctr">
              <a:spcBef>
                <a:spcPts val="0"/>
              </a:spcBef>
              <a:spcAft>
                <a:spcPts val="0"/>
              </a:spcAft>
            </a:pPr>
            <a:r>
              <a:rPr lang="tr-TR" sz="3000" b="0" i="0">
                <a:solidFill>
                  <a:srgbClr val="FFFFFF"/>
                </a:solidFill>
                <a:latin typeface="Calibri"/>
              </a:rPr>
              <a:t>……………</a:t>
            </a:r>
          </a:p>
        </p:txBody>
      </p:sp>
      <p:sp>
        <p:nvSpPr>
          <p:cNvPr id="22" name="Rounded Rectangle 21"/>
          <p:cNvSpPr/>
          <p:nvPr/>
        </p:nvSpPr>
        <p:spPr>
          <a:xfrm>
            <a:off x="9631375" y="4660392"/>
            <a:ext cx="2057400" cy="1584960"/>
          </a:xfrm>
          <a:prstGeom prst="roundRect">
            <a:avLst>
              <a:gd name="adj" fmla="val 12000"/>
            </a:avLst>
          </a:prstGeom>
          <a:solidFill>
            <a:srgbClr val="1F939C"/>
          </a:solidFill>
          <a:ln>
            <a:noFill/>
          </a:ln>
          <a:effectLst/>
        </p:spPr>
        <p:txBody>
          <a:bodyPr rtlCol="0" anchor="ctr" wrap="square" lIns="128016" rIns="128016" tIns="73152" bIns="73152">
            <a:noAutofit/>
          </a:bodyPr>
          <a:lstStyle/>
          <a:p>
            <a:pPr algn="ctr">
              <a:spcBef>
                <a:spcPts val="0"/>
              </a:spcBef>
              <a:spcAft>
                <a:spcPts val="600"/>
              </a:spcAft>
            </a:pPr>
            <a:r>
              <a:rPr lang="tr-TR" sz="2100" b="1" i="0">
                <a:solidFill>
                  <a:srgbClr val="FFFFFF"/>
                </a:solidFill>
                <a:latin typeface="Calibri"/>
              </a:rPr>
              <a:t>Üçüncü sıçrama</a:t>
            </a:r>
          </a:p>
          <a:p>
            <a:pPr algn="ctr">
              <a:spcBef>
                <a:spcPts val="0"/>
              </a:spcBef>
              <a:spcAft>
                <a:spcPts val="0"/>
              </a:spcAft>
            </a:pPr>
            <a:r>
              <a:rPr lang="tr-TR" sz="3000" b="0" i="0">
                <a:solidFill>
                  <a:srgbClr val="FFFFFF"/>
                </a:solidFill>
                <a:latin typeface="Calibri"/>
              </a:rPr>
              <a:t>……………</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141-142</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19 / 379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Hangi sıçrama dönemi?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Oval 5"/>
          <p:cNvSpPr/>
          <p:nvPr/>
        </p:nvSpPr>
        <p:spPr>
          <a:xfrm>
            <a:off x="502920" y="1328492"/>
            <a:ext cx="438912" cy="438912"/>
          </a:xfrm>
          <a:prstGeom prst="ellipse">
            <a:avLst/>
          </a:prstGeom>
          <a:solidFill>
            <a:srgbClr val="1F939C"/>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1</a:t>
            </a:r>
          </a:p>
        </p:txBody>
      </p:sp>
      <p:sp>
        <p:nvSpPr>
          <p:cNvPr id="7" name="Rounded Rectangle 6"/>
          <p:cNvSpPr/>
          <p:nvPr/>
        </p:nvSpPr>
        <p:spPr>
          <a:xfrm>
            <a:off x="1051560" y="1216152"/>
            <a:ext cx="8396935" cy="663593"/>
          </a:xfrm>
          <a:prstGeom prst="roundRect">
            <a:avLst>
              <a:gd name="adj" fmla="val 15000"/>
            </a:avLst>
          </a:prstGeom>
          <a:solidFill>
            <a:srgbClr val="F0F0F0"/>
          </a:solidFill>
          <a:ln w="25400">
            <a:solidFill>
              <a:srgbClr val="1F939C"/>
            </a:solidFill>
          </a:ln>
          <a:effectLst/>
        </p:spPr>
        <p:txBody>
          <a:bodyPr rtlCol="0" anchor="ctr" wrap="square" tIns="73152" bIns="73152">
            <a:noAutofit/>
          </a:bodyPr>
          <a:lstStyle/>
          <a:p>
            <a:pPr algn="l">
              <a:spcBef>
                <a:spcPts val="0"/>
              </a:spcBef>
              <a:spcAft>
                <a:spcPts val="0"/>
              </a:spcAft>
            </a:pPr>
            <a:r>
              <a:rPr lang="tr-TR" sz="1450" b="0" i="0">
                <a:solidFill>
                  <a:srgbClr val="262626"/>
                </a:solidFill>
                <a:latin typeface="Calibri"/>
              </a:rPr>
              <a:t>Ölüm oranlarının düşmesi ve doğum oranlarının aynı kalması sonucunda dünya nüfusu 1800’lerin başında 1 milyara, 1927’de 2 milyara ulaşmıştır.</a:t>
            </a:r>
          </a:p>
        </p:txBody>
      </p:sp>
      <p:sp>
        <p:nvSpPr>
          <p:cNvPr id="8" name="Oval 7"/>
          <p:cNvSpPr/>
          <p:nvPr/>
        </p:nvSpPr>
        <p:spPr>
          <a:xfrm>
            <a:off x="502920" y="2056093"/>
            <a:ext cx="438912" cy="438912"/>
          </a:xfrm>
          <a:prstGeom prst="ellipse">
            <a:avLst/>
          </a:prstGeom>
          <a:solidFill>
            <a:srgbClr val="1F939C"/>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2</a:t>
            </a:r>
          </a:p>
        </p:txBody>
      </p:sp>
      <p:sp>
        <p:nvSpPr>
          <p:cNvPr id="9" name="Rounded Rectangle 8"/>
          <p:cNvSpPr/>
          <p:nvPr/>
        </p:nvSpPr>
        <p:spPr>
          <a:xfrm>
            <a:off x="1051560" y="1943753"/>
            <a:ext cx="8396935" cy="663593"/>
          </a:xfrm>
          <a:prstGeom prst="roundRect">
            <a:avLst>
              <a:gd name="adj" fmla="val 15000"/>
            </a:avLst>
          </a:prstGeom>
          <a:solidFill>
            <a:srgbClr val="F0F0F0"/>
          </a:solidFill>
          <a:ln w="25400">
            <a:solidFill>
              <a:srgbClr val="1F939C"/>
            </a:solidFill>
          </a:ln>
          <a:effectLst/>
        </p:spPr>
        <p:txBody>
          <a:bodyPr rtlCol="0" anchor="ctr" wrap="square" tIns="73152" bIns="73152">
            <a:noAutofit/>
          </a:bodyPr>
          <a:lstStyle/>
          <a:p>
            <a:pPr algn="l">
              <a:spcBef>
                <a:spcPts val="0"/>
              </a:spcBef>
              <a:spcAft>
                <a:spcPts val="0"/>
              </a:spcAft>
            </a:pPr>
            <a:r>
              <a:rPr lang="tr-TR" sz="1500" b="0" i="0">
                <a:solidFill>
                  <a:srgbClr val="262626"/>
                </a:solidFill>
                <a:latin typeface="Calibri"/>
              </a:rPr>
              <a:t>Dünya nüfusundaki üçüncü sıçrama, bilimsel gelişmeler ve Sanayi Devrimi’nin etkisiyle gerçekleşmiştir.</a:t>
            </a:r>
          </a:p>
        </p:txBody>
      </p:sp>
      <p:sp>
        <p:nvSpPr>
          <p:cNvPr id="10" name="Oval 9"/>
          <p:cNvSpPr/>
          <p:nvPr/>
        </p:nvSpPr>
        <p:spPr>
          <a:xfrm>
            <a:off x="502920" y="2783694"/>
            <a:ext cx="438912" cy="438912"/>
          </a:xfrm>
          <a:prstGeom prst="ellipse">
            <a:avLst/>
          </a:prstGeom>
          <a:solidFill>
            <a:srgbClr val="5E9E3A"/>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3</a:t>
            </a:r>
          </a:p>
        </p:txBody>
      </p:sp>
      <p:sp>
        <p:nvSpPr>
          <p:cNvPr id="11" name="Rounded Rectangle 10"/>
          <p:cNvSpPr/>
          <p:nvPr/>
        </p:nvSpPr>
        <p:spPr>
          <a:xfrm>
            <a:off x="1051560" y="2671354"/>
            <a:ext cx="8396935" cy="663593"/>
          </a:xfrm>
          <a:prstGeom prst="roundRect">
            <a:avLst>
              <a:gd name="adj" fmla="val 15000"/>
            </a:avLst>
          </a:prstGeom>
          <a:solidFill>
            <a:srgbClr val="F0F0F0"/>
          </a:solidFill>
          <a:ln w="25400">
            <a:solidFill>
              <a:srgbClr val="5E9E3A"/>
            </a:solidFill>
          </a:ln>
          <a:effectLst/>
        </p:spPr>
        <p:txBody>
          <a:bodyPr rtlCol="0" anchor="ctr" wrap="square" tIns="73152" bIns="73152">
            <a:noAutofit/>
          </a:bodyPr>
          <a:lstStyle/>
          <a:p>
            <a:pPr algn="l">
              <a:spcBef>
                <a:spcPts val="0"/>
              </a:spcBef>
              <a:spcAft>
                <a:spcPts val="0"/>
              </a:spcAft>
            </a:pPr>
            <a:r>
              <a:rPr lang="tr-TR" sz="1500" b="0" i="0">
                <a:solidFill>
                  <a:srgbClr val="262626"/>
                </a:solidFill>
                <a:latin typeface="Calibri"/>
              </a:rPr>
              <a:t>Bu dönemde yetersiz beslenme azalmış ve vahşi hayvanlarla mücadelede önemli ilerlemeler olmuştur.</a:t>
            </a:r>
          </a:p>
        </p:txBody>
      </p:sp>
      <p:sp>
        <p:nvSpPr>
          <p:cNvPr id="12" name="Oval 11"/>
          <p:cNvSpPr/>
          <p:nvPr/>
        </p:nvSpPr>
        <p:spPr>
          <a:xfrm>
            <a:off x="502920" y="3511295"/>
            <a:ext cx="438912" cy="438912"/>
          </a:xfrm>
          <a:prstGeom prst="ellipse">
            <a:avLst/>
          </a:prstGeom>
          <a:solidFill>
            <a:srgbClr val="1F939C"/>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4</a:t>
            </a:r>
          </a:p>
        </p:txBody>
      </p:sp>
      <p:sp>
        <p:nvSpPr>
          <p:cNvPr id="13" name="Rounded Rectangle 12"/>
          <p:cNvSpPr/>
          <p:nvPr/>
        </p:nvSpPr>
        <p:spPr>
          <a:xfrm>
            <a:off x="1051560" y="3398955"/>
            <a:ext cx="8396935" cy="663593"/>
          </a:xfrm>
          <a:prstGeom prst="roundRect">
            <a:avLst>
              <a:gd name="adj" fmla="val 15000"/>
            </a:avLst>
          </a:prstGeom>
          <a:solidFill>
            <a:srgbClr val="F0F0F0"/>
          </a:solidFill>
          <a:ln w="25400">
            <a:solidFill>
              <a:srgbClr val="1F939C"/>
            </a:solidFill>
          </a:ln>
          <a:effectLst/>
        </p:spPr>
        <p:txBody>
          <a:bodyPr rtlCol="0" anchor="ctr" wrap="square" tIns="73152" bIns="73152">
            <a:noAutofit/>
          </a:bodyPr>
          <a:lstStyle/>
          <a:p>
            <a:pPr algn="l">
              <a:spcBef>
                <a:spcPts val="0"/>
              </a:spcBef>
              <a:spcAft>
                <a:spcPts val="0"/>
              </a:spcAft>
            </a:pPr>
            <a:r>
              <a:rPr lang="tr-TR" sz="1450" b="0" i="0">
                <a:solidFill>
                  <a:srgbClr val="262626"/>
                </a:solidFill>
                <a:latin typeface="Calibri"/>
              </a:rPr>
              <a:t>Bu dönemde tıp alanında önemli ilerlemeler kaydedilmiş, beslenme ve sağlık koşulları önceki döneme göre iyileşme göstermiştir.</a:t>
            </a:r>
          </a:p>
        </p:txBody>
      </p:sp>
      <p:sp>
        <p:nvSpPr>
          <p:cNvPr id="14" name="Oval 13"/>
          <p:cNvSpPr/>
          <p:nvPr/>
        </p:nvSpPr>
        <p:spPr>
          <a:xfrm>
            <a:off x="502920" y="4238896"/>
            <a:ext cx="438912" cy="438912"/>
          </a:xfrm>
          <a:prstGeom prst="ellipse">
            <a:avLst/>
          </a:prstGeom>
          <a:solidFill>
            <a:srgbClr val="5E9E3A"/>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5</a:t>
            </a:r>
          </a:p>
        </p:txBody>
      </p:sp>
      <p:sp>
        <p:nvSpPr>
          <p:cNvPr id="15" name="Rounded Rectangle 14"/>
          <p:cNvSpPr/>
          <p:nvPr/>
        </p:nvSpPr>
        <p:spPr>
          <a:xfrm>
            <a:off x="1051560" y="4126556"/>
            <a:ext cx="8396935" cy="663593"/>
          </a:xfrm>
          <a:prstGeom prst="roundRect">
            <a:avLst>
              <a:gd name="adj" fmla="val 15000"/>
            </a:avLst>
          </a:prstGeom>
          <a:solidFill>
            <a:srgbClr val="F0F0F0"/>
          </a:solidFill>
          <a:ln w="25400">
            <a:solidFill>
              <a:srgbClr val="5E9E3A"/>
            </a:solidFill>
          </a:ln>
          <a:effectLst/>
        </p:spPr>
        <p:txBody>
          <a:bodyPr rtlCol="0" anchor="ctr" wrap="square" tIns="73152" bIns="73152">
            <a:noAutofit/>
          </a:bodyPr>
          <a:lstStyle/>
          <a:p>
            <a:pPr algn="l">
              <a:spcBef>
                <a:spcPts val="0"/>
              </a:spcBef>
              <a:spcAft>
                <a:spcPts val="0"/>
              </a:spcAft>
            </a:pPr>
            <a:r>
              <a:rPr lang="tr-TR" sz="1550" b="0" i="0">
                <a:solidFill>
                  <a:srgbClr val="262626"/>
                </a:solidFill>
                <a:latin typeface="Calibri"/>
              </a:rPr>
              <a:t>Yaklaşık 1 milyon yıl önce insanların çeşitli aletleri icat etmesiyle başlamıştır.</a:t>
            </a:r>
          </a:p>
        </p:txBody>
      </p:sp>
      <p:sp>
        <p:nvSpPr>
          <p:cNvPr id="16" name="Oval 15"/>
          <p:cNvSpPr/>
          <p:nvPr/>
        </p:nvSpPr>
        <p:spPr>
          <a:xfrm>
            <a:off x="502920" y="4966497"/>
            <a:ext cx="438912" cy="438912"/>
          </a:xfrm>
          <a:prstGeom prst="ellipse">
            <a:avLst/>
          </a:prstGeom>
          <a:solidFill>
            <a:srgbClr val="D96F1E"/>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6</a:t>
            </a:r>
          </a:p>
        </p:txBody>
      </p:sp>
      <p:sp>
        <p:nvSpPr>
          <p:cNvPr id="17" name="Rounded Rectangle 16"/>
          <p:cNvSpPr/>
          <p:nvPr/>
        </p:nvSpPr>
        <p:spPr>
          <a:xfrm>
            <a:off x="1051560" y="4854157"/>
            <a:ext cx="8396935" cy="663593"/>
          </a:xfrm>
          <a:prstGeom prst="roundRect">
            <a:avLst>
              <a:gd name="adj" fmla="val 15000"/>
            </a:avLst>
          </a:prstGeom>
          <a:solidFill>
            <a:srgbClr val="F0F0F0"/>
          </a:solidFill>
          <a:ln w="25400">
            <a:solidFill>
              <a:srgbClr val="D96F1E"/>
            </a:solidFill>
          </a:ln>
          <a:effectLst/>
        </p:spPr>
        <p:txBody>
          <a:bodyPr rtlCol="0" anchor="ctr" wrap="square" tIns="73152" bIns="73152">
            <a:noAutofit/>
          </a:bodyPr>
          <a:lstStyle/>
          <a:p>
            <a:pPr algn="l">
              <a:spcBef>
                <a:spcPts val="0"/>
              </a:spcBef>
              <a:spcAft>
                <a:spcPts val="0"/>
              </a:spcAft>
            </a:pPr>
            <a:r>
              <a:rPr lang="tr-TR" sz="1450" b="0" i="0">
                <a:solidFill>
                  <a:srgbClr val="262626"/>
                </a:solidFill>
                <a:latin typeface="Calibri"/>
              </a:rPr>
              <a:t>Neolitik Dönem adı verilen bu süreçte insanlar tarımsal faaliyetlere başlayarak yerleşik hayata geçmiştir.</a:t>
            </a:r>
          </a:p>
        </p:txBody>
      </p:sp>
      <p:sp>
        <p:nvSpPr>
          <p:cNvPr id="18" name="Oval 17"/>
          <p:cNvSpPr/>
          <p:nvPr/>
        </p:nvSpPr>
        <p:spPr>
          <a:xfrm>
            <a:off x="502920" y="5694098"/>
            <a:ext cx="438912" cy="438912"/>
          </a:xfrm>
          <a:prstGeom prst="ellipse">
            <a:avLst/>
          </a:prstGeom>
          <a:solidFill>
            <a:srgbClr val="D96F1E"/>
          </a:solidFill>
          <a:ln>
            <a:no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7</a:t>
            </a:r>
          </a:p>
        </p:txBody>
      </p:sp>
      <p:sp>
        <p:nvSpPr>
          <p:cNvPr id="19" name="Rounded Rectangle 18"/>
          <p:cNvSpPr/>
          <p:nvPr/>
        </p:nvSpPr>
        <p:spPr>
          <a:xfrm>
            <a:off x="1051560" y="5581758"/>
            <a:ext cx="8396935" cy="663593"/>
          </a:xfrm>
          <a:prstGeom prst="roundRect">
            <a:avLst>
              <a:gd name="adj" fmla="val 15000"/>
            </a:avLst>
          </a:prstGeom>
          <a:solidFill>
            <a:srgbClr val="F0F0F0"/>
          </a:solidFill>
          <a:ln w="25400">
            <a:solidFill>
              <a:srgbClr val="D96F1E"/>
            </a:solidFill>
          </a:ln>
          <a:effectLst/>
        </p:spPr>
        <p:txBody>
          <a:bodyPr rtlCol="0" anchor="ctr" wrap="square" tIns="73152" bIns="73152">
            <a:noAutofit/>
          </a:bodyPr>
          <a:lstStyle/>
          <a:p>
            <a:pPr algn="l">
              <a:spcBef>
                <a:spcPts val="0"/>
              </a:spcBef>
              <a:spcAft>
                <a:spcPts val="0"/>
              </a:spcAft>
            </a:pPr>
            <a:r>
              <a:rPr lang="tr-TR" sz="1550" b="0" i="0">
                <a:solidFill>
                  <a:srgbClr val="262626"/>
                </a:solidFill>
                <a:latin typeface="Calibri"/>
              </a:rPr>
              <a:t>Tarım Devrimi sayesinde … dünyanın ilk şehirleri ortaya çıkmıştır.</a:t>
            </a:r>
          </a:p>
        </p:txBody>
      </p:sp>
      <p:sp>
        <p:nvSpPr>
          <p:cNvPr id="20" name="Rounded Rectangle 19"/>
          <p:cNvSpPr/>
          <p:nvPr/>
        </p:nvSpPr>
        <p:spPr>
          <a:xfrm>
            <a:off x="9631375" y="1216152"/>
            <a:ext cx="2057400" cy="1584960"/>
          </a:xfrm>
          <a:prstGeom prst="roundRect">
            <a:avLst>
              <a:gd name="adj" fmla="val 12000"/>
            </a:avLst>
          </a:prstGeom>
          <a:solidFill>
            <a:srgbClr val="5E9E3A"/>
          </a:solidFill>
          <a:ln>
            <a:noFill/>
          </a:ln>
          <a:effectLst/>
        </p:spPr>
        <p:txBody>
          <a:bodyPr rtlCol="0" anchor="ctr" wrap="square" lIns="128016" rIns="128016" tIns="73152" bIns="73152">
            <a:noAutofit/>
          </a:bodyPr>
          <a:lstStyle/>
          <a:p>
            <a:pPr algn="ctr">
              <a:spcBef>
                <a:spcPts val="0"/>
              </a:spcBef>
              <a:spcAft>
                <a:spcPts val="600"/>
              </a:spcAft>
            </a:pPr>
            <a:r>
              <a:rPr lang="tr-TR" sz="2100" b="1" i="0">
                <a:solidFill>
                  <a:srgbClr val="FFFFFF"/>
                </a:solidFill>
                <a:latin typeface="Calibri"/>
              </a:rPr>
              <a:t>Birinci sıçrama</a:t>
            </a:r>
          </a:p>
          <a:p>
            <a:pPr algn="ctr">
              <a:spcBef>
                <a:spcPts val="0"/>
              </a:spcBef>
              <a:spcAft>
                <a:spcPts val="0"/>
              </a:spcAft>
            </a:pPr>
            <a:r>
              <a:rPr lang="tr-TR" sz="3000" b="0" i="0">
                <a:solidFill>
                  <a:srgbClr val="FFFFFF"/>
                </a:solidFill>
                <a:latin typeface="Calibri"/>
              </a:rPr>
              <a:t>3, 5</a:t>
            </a:r>
          </a:p>
        </p:txBody>
      </p:sp>
      <p:sp>
        <p:nvSpPr>
          <p:cNvPr id="21" name="Rounded Rectangle 20"/>
          <p:cNvSpPr/>
          <p:nvPr/>
        </p:nvSpPr>
        <p:spPr>
          <a:xfrm>
            <a:off x="9631375" y="2938272"/>
            <a:ext cx="2057400" cy="1584960"/>
          </a:xfrm>
          <a:prstGeom prst="roundRect">
            <a:avLst>
              <a:gd name="adj" fmla="val 12000"/>
            </a:avLst>
          </a:prstGeom>
          <a:solidFill>
            <a:srgbClr val="D96F1E"/>
          </a:solidFill>
          <a:ln>
            <a:noFill/>
          </a:ln>
          <a:effectLst/>
        </p:spPr>
        <p:txBody>
          <a:bodyPr rtlCol="0" anchor="ctr" wrap="square" lIns="128016" rIns="128016" tIns="73152" bIns="73152">
            <a:noAutofit/>
          </a:bodyPr>
          <a:lstStyle/>
          <a:p>
            <a:pPr algn="ctr">
              <a:spcBef>
                <a:spcPts val="0"/>
              </a:spcBef>
              <a:spcAft>
                <a:spcPts val="600"/>
              </a:spcAft>
            </a:pPr>
            <a:r>
              <a:rPr lang="tr-TR" sz="2100" b="1" i="0">
                <a:solidFill>
                  <a:srgbClr val="FFFFFF"/>
                </a:solidFill>
                <a:latin typeface="Calibri"/>
              </a:rPr>
              <a:t>İkinci sıçrama</a:t>
            </a:r>
          </a:p>
          <a:p>
            <a:pPr algn="ctr">
              <a:spcBef>
                <a:spcPts val="0"/>
              </a:spcBef>
              <a:spcAft>
                <a:spcPts val="0"/>
              </a:spcAft>
            </a:pPr>
            <a:r>
              <a:rPr lang="tr-TR" sz="3000" b="0" i="0">
                <a:solidFill>
                  <a:srgbClr val="FFFFFF"/>
                </a:solidFill>
                <a:latin typeface="Calibri"/>
              </a:rPr>
              <a:t>6, 7</a:t>
            </a:r>
          </a:p>
        </p:txBody>
      </p:sp>
      <p:sp>
        <p:nvSpPr>
          <p:cNvPr id="22" name="Rounded Rectangle 21"/>
          <p:cNvSpPr/>
          <p:nvPr/>
        </p:nvSpPr>
        <p:spPr>
          <a:xfrm>
            <a:off x="9631375" y="4660392"/>
            <a:ext cx="2057400" cy="1584960"/>
          </a:xfrm>
          <a:prstGeom prst="roundRect">
            <a:avLst>
              <a:gd name="adj" fmla="val 12000"/>
            </a:avLst>
          </a:prstGeom>
          <a:solidFill>
            <a:srgbClr val="1F939C"/>
          </a:solidFill>
          <a:ln>
            <a:noFill/>
          </a:ln>
          <a:effectLst/>
        </p:spPr>
        <p:txBody>
          <a:bodyPr rtlCol="0" anchor="ctr" wrap="square" lIns="128016" rIns="128016" tIns="73152" bIns="73152">
            <a:noAutofit/>
          </a:bodyPr>
          <a:lstStyle/>
          <a:p>
            <a:pPr algn="ctr">
              <a:spcBef>
                <a:spcPts val="0"/>
              </a:spcBef>
              <a:spcAft>
                <a:spcPts val="600"/>
              </a:spcAft>
            </a:pPr>
            <a:r>
              <a:rPr lang="tr-TR" sz="2100" b="1" i="0">
                <a:solidFill>
                  <a:srgbClr val="FFFFFF"/>
                </a:solidFill>
                <a:latin typeface="Calibri"/>
              </a:rPr>
              <a:t>Üçüncü sıçrama</a:t>
            </a:r>
          </a:p>
          <a:p>
            <a:pPr algn="ctr">
              <a:spcBef>
                <a:spcPts val="0"/>
              </a:spcBef>
              <a:spcAft>
                <a:spcPts val="0"/>
              </a:spcAft>
            </a:pPr>
            <a:r>
              <a:rPr lang="tr-TR" sz="3000" b="0" i="0">
                <a:solidFill>
                  <a:srgbClr val="FFFFFF"/>
                </a:solidFill>
                <a:latin typeface="Calibri"/>
              </a:rPr>
              <a:t>1, 2, 4</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141-142</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20 / 379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Kitaba göre dünyanın ilk şehirleri hangi dönemde ortaya çıkmıştır?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Birinci sıçrama: aletlerin icadı</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İkinci sıçrama: Tarım Devrimi</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Üçüncü sıçrama: Sanayi Devrimi</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1950 sonrası hızlı nüfuslanma</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Üçüncü sıçrama: tıptaki ilerlemeler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141</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21 / 379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Kitaba göre dünyanın ilk şehirleri hangi dönemde ortaya çıkmıştır?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Birinci sıçrama: aletlerin icadı</a:t>
            </a:r>
          </a:p>
        </p:txBody>
      </p:sp>
      <p:sp>
        <p:nvSpPr>
          <p:cNvPr id="10" name="Rounded Rectangle 9"/>
          <p:cNvSpPr/>
          <p:nvPr/>
        </p:nvSpPr>
        <p:spPr>
          <a:xfrm>
            <a:off x="502920" y="315833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1" name="Oval 10"/>
          <p:cNvSpPr/>
          <p:nvPr/>
        </p:nvSpPr>
        <p:spPr>
          <a:xfrm>
            <a:off x="594360" y="311444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İkinci sıçrama: Tarım Devrimi</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Üçüncü sıçrama: Sanayi Devrimi</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1950 sonrası hızlı nüfuslanma</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Üçüncü sıçrama: tıptaki ilerlemeler</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1900" b="0" i="0">
                <a:solidFill>
                  <a:srgbClr val="262626"/>
                </a:solidFill>
                <a:latin typeface="Calibri"/>
              </a:rPr>
              <a:t>Tarım ve yerleşik hayatla ürün fazlası oluştu: Tarım Devrimi sayesinde nüfus artışının önemli engellerinden birinin (gıdaya erişim zorluğu ve gıda azlığı) etkisi azalırken dünyanın ilk şehirleri ortaya çıkmıştır.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141</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22 / 379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Grafik nasıl okunur? Yedi adım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GRAFİK OKUMA</a:t>
            </a:r>
          </a:p>
        </p:txBody>
      </p:sp>
      <p:sp>
        <p:nvSpPr>
          <p:cNvPr id="6" name="Rounded Rectangle 5"/>
          <p:cNvSpPr/>
          <p:nvPr/>
        </p:nvSpPr>
        <p:spPr>
          <a:xfrm>
            <a:off x="502920" y="1216152"/>
            <a:ext cx="11185855" cy="647917"/>
          </a:xfrm>
          <a:prstGeom prst="roundRect">
            <a:avLst>
              <a:gd name="adj" fmla="val 8000"/>
            </a:avLst>
          </a:prstGeom>
          <a:solidFill>
            <a:srgbClr val="F0F0F0"/>
          </a:solidFill>
          <a:ln>
            <a:noFill/>
          </a:ln>
          <a:effectLst/>
        </p:spPr>
        <p:txBody>
          <a:bodyPr rtlCol="0" anchor="ctr"/>
          <a:lstStyle/>
          <a:p/>
        </p:txBody>
      </p:sp>
      <p:sp>
        <p:nvSpPr>
          <p:cNvPr id="7" name="Rounded Rectangle 6"/>
          <p:cNvSpPr/>
          <p:nvPr/>
        </p:nvSpPr>
        <p:spPr>
          <a:xfrm>
            <a:off x="502920" y="1216152"/>
            <a:ext cx="1600200" cy="647917"/>
          </a:xfrm>
          <a:prstGeom prst="roundRect">
            <a:avLst>
              <a:gd name="adj" fmla="val 8000"/>
            </a:avLst>
          </a:prstGeom>
          <a:solidFill>
            <a:srgbClr val="2C6696"/>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1 · BAŞLIK</a:t>
            </a:r>
          </a:p>
        </p:txBody>
      </p:sp>
      <p:sp>
        <p:nvSpPr>
          <p:cNvPr id="8" name="TextBox 7"/>
          <p:cNvSpPr txBox="1"/>
          <p:nvPr/>
        </p:nvSpPr>
        <p:spPr>
          <a:xfrm>
            <a:off x="2240280" y="1216152"/>
            <a:ext cx="9357055" cy="64791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Grafik neyi anlatıyor? Kaynağı kim, hangi yıl?</a:t>
            </a:r>
          </a:p>
        </p:txBody>
      </p:sp>
      <p:sp>
        <p:nvSpPr>
          <p:cNvPr id="9" name="Rounded Rectangle 8"/>
          <p:cNvSpPr/>
          <p:nvPr/>
        </p:nvSpPr>
        <p:spPr>
          <a:xfrm>
            <a:off x="502920" y="1946365"/>
            <a:ext cx="11185855" cy="647917"/>
          </a:xfrm>
          <a:prstGeom prst="roundRect">
            <a:avLst>
              <a:gd name="adj" fmla="val 8000"/>
            </a:avLst>
          </a:prstGeom>
          <a:solidFill>
            <a:srgbClr val="F0F0F0"/>
          </a:solidFill>
          <a:ln>
            <a:noFill/>
          </a:ln>
          <a:effectLst/>
        </p:spPr>
        <p:txBody>
          <a:bodyPr rtlCol="0" anchor="ctr"/>
          <a:lstStyle/>
          <a:p/>
        </p:txBody>
      </p:sp>
      <p:sp>
        <p:nvSpPr>
          <p:cNvPr id="10" name="Rounded Rectangle 9"/>
          <p:cNvSpPr/>
          <p:nvPr/>
        </p:nvSpPr>
        <p:spPr>
          <a:xfrm>
            <a:off x="502920" y="1946365"/>
            <a:ext cx="1600200" cy="647917"/>
          </a:xfrm>
          <a:prstGeom prst="roundRect">
            <a:avLst>
              <a:gd name="adj" fmla="val 8000"/>
            </a:avLst>
          </a:prstGeom>
          <a:solidFill>
            <a:srgbClr val="2C6696"/>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2 · EKSENLER</a:t>
            </a:r>
          </a:p>
        </p:txBody>
      </p:sp>
      <p:sp>
        <p:nvSpPr>
          <p:cNvPr id="11" name="TextBox 10"/>
          <p:cNvSpPr txBox="1"/>
          <p:nvPr/>
        </p:nvSpPr>
        <p:spPr>
          <a:xfrm>
            <a:off x="2240280" y="1946365"/>
            <a:ext cx="9357055" cy="64791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Yatay ve dikey eksen neyi gösteriyor? Birimi ne?</a:t>
            </a:r>
          </a:p>
        </p:txBody>
      </p:sp>
      <p:sp>
        <p:nvSpPr>
          <p:cNvPr id="12" name="Rounded Rectangle 11"/>
          <p:cNvSpPr/>
          <p:nvPr/>
        </p:nvSpPr>
        <p:spPr>
          <a:xfrm>
            <a:off x="502920" y="2676578"/>
            <a:ext cx="11185855" cy="647917"/>
          </a:xfrm>
          <a:prstGeom prst="roundRect">
            <a:avLst>
              <a:gd name="adj" fmla="val 8000"/>
            </a:avLst>
          </a:prstGeom>
          <a:solidFill>
            <a:srgbClr val="F0F0F0"/>
          </a:solidFill>
          <a:ln>
            <a:noFill/>
          </a:ln>
          <a:effectLst/>
        </p:spPr>
        <p:txBody>
          <a:bodyPr rtlCol="0" anchor="ctr"/>
          <a:lstStyle/>
          <a:p/>
        </p:txBody>
      </p:sp>
      <p:sp>
        <p:nvSpPr>
          <p:cNvPr id="13" name="Rounded Rectangle 12"/>
          <p:cNvSpPr/>
          <p:nvPr/>
        </p:nvSpPr>
        <p:spPr>
          <a:xfrm>
            <a:off x="502920" y="2676578"/>
            <a:ext cx="1600200" cy="647917"/>
          </a:xfrm>
          <a:prstGeom prst="roundRect">
            <a:avLst>
              <a:gd name="adj" fmla="val 8000"/>
            </a:avLst>
          </a:prstGeom>
          <a:solidFill>
            <a:srgbClr val="2C6696"/>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3 · ZAMAN</a:t>
            </a:r>
          </a:p>
        </p:txBody>
      </p:sp>
      <p:sp>
        <p:nvSpPr>
          <p:cNvPr id="14" name="TextBox 13"/>
          <p:cNvSpPr txBox="1"/>
          <p:nvPr/>
        </p:nvSpPr>
        <p:spPr>
          <a:xfrm>
            <a:off x="2240280" y="2676578"/>
            <a:ext cx="9357055" cy="64791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Hangi yıllar? Aralıklar eşit mi?</a:t>
            </a:r>
          </a:p>
        </p:txBody>
      </p:sp>
      <p:sp>
        <p:nvSpPr>
          <p:cNvPr id="15" name="Rounded Rectangle 14"/>
          <p:cNvSpPr/>
          <p:nvPr/>
        </p:nvSpPr>
        <p:spPr>
          <a:xfrm>
            <a:off x="502920" y="3406791"/>
            <a:ext cx="11185855" cy="647917"/>
          </a:xfrm>
          <a:prstGeom prst="roundRect">
            <a:avLst>
              <a:gd name="adj" fmla="val 8000"/>
            </a:avLst>
          </a:prstGeom>
          <a:solidFill>
            <a:srgbClr val="F0F0F0"/>
          </a:solidFill>
          <a:ln>
            <a:noFill/>
          </a:ln>
          <a:effectLst/>
        </p:spPr>
        <p:txBody>
          <a:bodyPr rtlCol="0" anchor="ctr"/>
          <a:lstStyle/>
          <a:p/>
        </p:txBody>
      </p:sp>
      <p:sp>
        <p:nvSpPr>
          <p:cNvPr id="16" name="Rounded Rectangle 15"/>
          <p:cNvSpPr/>
          <p:nvPr/>
        </p:nvSpPr>
        <p:spPr>
          <a:xfrm>
            <a:off x="502920" y="3406791"/>
            <a:ext cx="1600200" cy="647917"/>
          </a:xfrm>
          <a:prstGeom prst="roundRect">
            <a:avLst>
              <a:gd name="adj" fmla="val 8000"/>
            </a:avLst>
          </a:prstGeom>
          <a:solidFill>
            <a:srgbClr val="2C6696"/>
          </a:solidFill>
          <a:ln>
            <a:noFill/>
          </a:ln>
          <a:effectLst/>
        </p:spPr>
        <p:txBody>
          <a:bodyPr rtlCol="0" anchor="ctr" wrap="square" lIns="54864" rIns="54864" tIns="73152" bIns="73152">
            <a:noAutofit/>
          </a:bodyPr>
          <a:lstStyle/>
          <a:p>
            <a:pPr algn="ctr">
              <a:spcBef>
                <a:spcPts val="0"/>
              </a:spcBef>
              <a:spcAft>
                <a:spcPts val="0"/>
              </a:spcAft>
            </a:pPr>
            <a:r>
              <a:rPr lang="tr-TR" sz="1600" b="1" i="0">
                <a:solidFill>
                  <a:srgbClr val="FFFFFF"/>
                </a:solidFill>
                <a:latin typeface="Calibri"/>
              </a:rPr>
              <a:t>4 · UÇ DEĞERLER</a:t>
            </a:r>
          </a:p>
        </p:txBody>
      </p:sp>
      <p:sp>
        <p:nvSpPr>
          <p:cNvPr id="17" name="TextBox 16"/>
          <p:cNvSpPr txBox="1"/>
          <p:nvPr/>
        </p:nvSpPr>
        <p:spPr>
          <a:xfrm>
            <a:off x="2240280" y="3406791"/>
            <a:ext cx="9357055" cy="64791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En yüksek ve en düşük değer nerede?</a:t>
            </a:r>
          </a:p>
        </p:txBody>
      </p:sp>
      <p:sp>
        <p:nvSpPr>
          <p:cNvPr id="18" name="Rounded Rectangle 17"/>
          <p:cNvSpPr/>
          <p:nvPr/>
        </p:nvSpPr>
        <p:spPr>
          <a:xfrm>
            <a:off x="502920" y="4137004"/>
            <a:ext cx="11185855" cy="647917"/>
          </a:xfrm>
          <a:prstGeom prst="roundRect">
            <a:avLst>
              <a:gd name="adj" fmla="val 8000"/>
            </a:avLst>
          </a:prstGeom>
          <a:solidFill>
            <a:srgbClr val="F0F0F0"/>
          </a:solidFill>
          <a:ln>
            <a:noFill/>
          </a:ln>
          <a:effectLst/>
        </p:spPr>
        <p:txBody>
          <a:bodyPr rtlCol="0" anchor="ctr"/>
          <a:lstStyle/>
          <a:p/>
        </p:txBody>
      </p:sp>
      <p:sp>
        <p:nvSpPr>
          <p:cNvPr id="19" name="Rounded Rectangle 18"/>
          <p:cNvSpPr/>
          <p:nvPr/>
        </p:nvSpPr>
        <p:spPr>
          <a:xfrm>
            <a:off x="502920" y="4137004"/>
            <a:ext cx="1600200" cy="647917"/>
          </a:xfrm>
          <a:prstGeom prst="roundRect">
            <a:avLst>
              <a:gd name="adj" fmla="val 8000"/>
            </a:avLst>
          </a:prstGeom>
          <a:solidFill>
            <a:srgbClr val="2C6696"/>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5 · EĞİLİM</a:t>
            </a:r>
          </a:p>
        </p:txBody>
      </p:sp>
      <p:sp>
        <p:nvSpPr>
          <p:cNvPr id="20" name="TextBox 19"/>
          <p:cNvSpPr txBox="1"/>
          <p:nvPr/>
        </p:nvSpPr>
        <p:spPr>
          <a:xfrm>
            <a:off x="2240280" y="4137004"/>
            <a:ext cx="9357055" cy="64791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Genel olarak artıyor mu, azalıyor mu? Nerede hızlanıyor?</a:t>
            </a:r>
          </a:p>
        </p:txBody>
      </p:sp>
      <p:sp>
        <p:nvSpPr>
          <p:cNvPr id="21" name="Rounded Rectangle 20"/>
          <p:cNvSpPr/>
          <p:nvPr/>
        </p:nvSpPr>
        <p:spPr>
          <a:xfrm>
            <a:off x="502920" y="4867217"/>
            <a:ext cx="11185855" cy="647917"/>
          </a:xfrm>
          <a:prstGeom prst="roundRect">
            <a:avLst>
              <a:gd name="adj" fmla="val 8000"/>
            </a:avLst>
          </a:prstGeom>
          <a:solidFill>
            <a:srgbClr val="F0F0F0"/>
          </a:solidFill>
          <a:ln>
            <a:noFill/>
          </a:ln>
          <a:effectLst/>
        </p:spPr>
        <p:txBody>
          <a:bodyPr rtlCol="0" anchor="ctr"/>
          <a:lstStyle/>
          <a:p/>
        </p:txBody>
      </p:sp>
      <p:sp>
        <p:nvSpPr>
          <p:cNvPr id="22" name="Rounded Rectangle 21"/>
          <p:cNvSpPr/>
          <p:nvPr/>
        </p:nvSpPr>
        <p:spPr>
          <a:xfrm>
            <a:off x="502920" y="4867217"/>
            <a:ext cx="1600200" cy="647917"/>
          </a:xfrm>
          <a:prstGeom prst="roundRect">
            <a:avLst>
              <a:gd name="adj" fmla="val 8000"/>
            </a:avLst>
          </a:prstGeom>
          <a:solidFill>
            <a:srgbClr val="2C6696"/>
          </a:solidFill>
          <a:ln>
            <a:noFill/>
          </a:ln>
          <a:effectLst/>
        </p:spPr>
        <p:txBody>
          <a:bodyPr rtlCol="0" anchor="ctr" wrap="square" lIns="54864" rIns="54864" tIns="73152" bIns="73152">
            <a:noAutofit/>
          </a:bodyPr>
          <a:lstStyle/>
          <a:p>
            <a:pPr algn="ctr">
              <a:spcBef>
                <a:spcPts val="0"/>
              </a:spcBef>
              <a:spcAft>
                <a:spcPts val="0"/>
              </a:spcAft>
            </a:pPr>
            <a:r>
              <a:rPr lang="tr-TR" sz="1700" b="1" i="0">
                <a:solidFill>
                  <a:srgbClr val="FFFFFF"/>
                </a:solidFill>
                <a:latin typeface="Calibri"/>
              </a:rPr>
              <a:t>6 · KARŞILAŞTIR</a:t>
            </a:r>
          </a:p>
        </p:txBody>
      </p:sp>
      <p:sp>
        <p:nvSpPr>
          <p:cNvPr id="23" name="TextBox 22"/>
          <p:cNvSpPr txBox="1"/>
          <p:nvPr/>
        </p:nvSpPr>
        <p:spPr>
          <a:xfrm>
            <a:off x="2240280" y="4867217"/>
            <a:ext cx="9357055" cy="64791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Dönemler ya da çizgiler arasında fark ne?</a:t>
            </a:r>
          </a:p>
        </p:txBody>
      </p:sp>
      <p:sp>
        <p:nvSpPr>
          <p:cNvPr id="24" name="Rounded Rectangle 23"/>
          <p:cNvSpPr/>
          <p:nvPr/>
        </p:nvSpPr>
        <p:spPr>
          <a:xfrm>
            <a:off x="502920" y="5597430"/>
            <a:ext cx="11185855" cy="647917"/>
          </a:xfrm>
          <a:prstGeom prst="roundRect">
            <a:avLst>
              <a:gd name="adj" fmla="val 8000"/>
            </a:avLst>
          </a:prstGeom>
          <a:solidFill>
            <a:srgbClr val="F0F0F0"/>
          </a:solidFill>
          <a:ln>
            <a:noFill/>
          </a:ln>
          <a:effectLst/>
        </p:spPr>
        <p:txBody>
          <a:bodyPr rtlCol="0" anchor="ctr"/>
          <a:lstStyle/>
          <a:p/>
        </p:txBody>
      </p:sp>
      <p:sp>
        <p:nvSpPr>
          <p:cNvPr id="25" name="Rounded Rectangle 24"/>
          <p:cNvSpPr/>
          <p:nvPr/>
        </p:nvSpPr>
        <p:spPr>
          <a:xfrm>
            <a:off x="502920" y="5597430"/>
            <a:ext cx="1600200" cy="647917"/>
          </a:xfrm>
          <a:prstGeom prst="roundRect">
            <a:avLst>
              <a:gd name="adj" fmla="val 8000"/>
            </a:avLst>
          </a:prstGeom>
          <a:solidFill>
            <a:srgbClr val="2C6696"/>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7 · SONUÇ</a:t>
            </a:r>
          </a:p>
        </p:txBody>
      </p:sp>
      <p:sp>
        <p:nvSpPr>
          <p:cNvPr id="26" name="TextBox 25"/>
          <p:cNvSpPr txBox="1"/>
          <p:nvPr/>
        </p:nvSpPr>
        <p:spPr>
          <a:xfrm>
            <a:off x="2240280" y="5597430"/>
            <a:ext cx="9357055" cy="64791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Bir cümleyle: grafik bize ne söylüyor?</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23 / 379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Grafik 4.1'i adımlarla okuyalım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GRAFİK 4.1</a:t>
            </a:r>
          </a:p>
        </p:txBody>
      </p:sp>
      <p:pic>
        <p:nvPicPr>
          <p:cNvPr id="6" name="Picture 5" descr="h20_grafik_4_1_s142.jpg"/>
          <p:cNvPicPr>
            <a:picLocks noChangeAspect="1"/>
          </p:cNvPicPr>
          <p:nvPr/>
        </p:nvPicPr>
        <p:blipFill>
          <a:blip r:embed="rId3"/>
          <a:stretch>
            <a:fillRect/>
          </a:stretch>
        </p:blipFill>
        <p:spPr>
          <a:xfrm>
            <a:off x="502920" y="1216152"/>
            <a:ext cx="8138160" cy="3471697"/>
          </a:xfrm>
          <a:prstGeom prst="rect">
            <a:avLst/>
          </a:prstGeom>
          <a:ln w="9525">
            <a:solidFill>
              <a:srgbClr val="D9D9D9"/>
            </a:solidFill>
          </a:ln>
        </p:spPr>
      </p:pic>
      <p:sp>
        <p:nvSpPr>
          <p:cNvPr id="7" name="TextBox 6"/>
          <p:cNvSpPr txBox="1"/>
          <p:nvPr/>
        </p:nvSpPr>
        <p:spPr>
          <a:xfrm>
            <a:off x="502920" y="5099329"/>
            <a:ext cx="8138160" cy="292608"/>
          </a:xfrm>
          <a:prstGeom prst="rect">
            <a:avLst/>
          </a:prstGeom>
          <a:noFill/>
        </p:spPr>
        <p:txBody>
          <a:bodyPr wrap="square" anchor="t" lIns="73152" rIns="73152" tIns="36576" bIns="36576">
            <a:noAutofit/>
          </a:bodyPr>
          <a:lstStyle/>
          <a:p>
            <a:pPr algn="l">
              <a:spcBef>
                <a:spcPts val="0"/>
              </a:spcBef>
              <a:spcAft>
                <a:spcPts val="0"/>
              </a:spcAft>
            </a:pPr>
            <a:r>
              <a:rPr lang="tr-TR" sz="1400" b="0" i="1">
                <a:solidFill>
                  <a:srgbClr val="767676"/>
                </a:solidFill>
                <a:latin typeface="Calibri"/>
              </a:rPr>
              <a:t>Grafik 4.1: Tarihsel süreçte dünya nüfusunun gelişim basamakları</a:t>
            </a:r>
          </a:p>
        </p:txBody>
      </p:sp>
      <p:sp>
        <p:nvSpPr>
          <p:cNvPr id="8" name="Rounded Rectangle 7"/>
          <p:cNvSpPr/>
          <p:nvPr/>
        </p:nvSpPr>
        <p:spPr>
          <a:xfrm>
            <a:off x="502920" y="5465089"/>
            <a:ext cx="8138160" cy="825983"/>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Adımlar: 1 başlık · 2 eksenler · 3 zaman aralığı · 5 eğilim</a:t>
            </a:r>
          </a:p>
        </p:txBody>
      </p:sp>
      <p:sp>
        <p:nvSpPr>
          <p:cNvPr id="9" name="Oval 8"/>
          <p:cNvSpPr/>
          <p:nvPr/>
        </p:nvSpPr>
        <p:spPr>
          <a:xfrm>
            <a:off x="8869680" y="1388872"/>
            <a:ext cx="347472" cy="347472"/>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10" name="TextBox 9"/>
          <p:cNvSpPr txBox="1"/>
          <p:nvPr/>
        </p:nvSpPr>
        <p:spPr>
          <a:xfrm>
            <a:off x="9281160" y="1216152"/>
            <a:ext cx="2407615" cy="692912"/>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Eksenler neyi gösteriyor?</a:t>
            </a:r>
          </a:p>
        </p:txBody>
      </p:sp>
      <p:sp>
        <p:nvSpPr>
          <p:cNvPr id="11" name="Rounded Rectangle 10"/>
          <p:cNvSpPr/>
          <p:nvPr/>
        </p:nvSpPr>
        <p:spPr>
          <a:xfrm>
            <a:off x="9281160" y="1982216"/>
            <a:ext cx="2407615" cy="689272"/>
          </a:xfrm>
          <a:prstGeom prst="roundRect">
            <a:avLst>
              <a:gd name="adj" fmla="val 8000"/>
            </a:avLst>
          </a:prstGeom>
          <a:solidFill>
            <a:srgbClr val="FFFFFF"/>
          </a:solidFill>
          <a:ln w="12700">
            <a:solidFill>
              <a:srgbClr val="D9D9D9"/>
            </a:solidFill>
          </a:ln>
          <a:effectLst/>
        </p:spPr>
        <p:txBody>
          <a:bodyPr rtlCol="0" anchor="ctr"/>
          <a:lstStyle/>
          <a:p/>
        </p:txBody>
      </p:sp>
      <p:cxnSp>
        <p:nvCxnSpPr>
          <p:cNvPr id="12" name="Connector 11"/>
          <p:cNvCxnSpPr/>
          <p:nvPr/>
        </p:nvCxnSpPr>
        <p:spPr>
          <a:xfrm>
            <a:off x="9464040" y="2326852"/>
            <a:ext cx="2041855" cy="0"/>
          </a:xfrm>
          <a:prstGeom prst="line">
            <a:avLst/>
          </a:prstGeom>
          <a:ln w="12700">
            <a:solidFill>
              <a:srgbClr val="D9D9D9"/>
            </a:solidFill>
            <a:prstDash val="dash"/>
          </a:ln>
        </p:spPr>
      </p:cxnSp>
      <p:sp>
        <p:nvSpPr>
          <p:cNvPr id="13" name="Oval 12"/>
          <p:cNvSpPr/>
          <p:nvPr/>
        </p:nvSpPr>
        <p:spPr>
          <a:xfrm>
            <a:off x="8869680" y="3056806"/>
            <a:ext cx="347472" cy="347472"/>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2</a:t>
            </a:r>
          </a:p>
        </p:txBody>
      </p:sp>
      <p:sp>
        <p:nvSpPr>
          <p:cNvPr id="14" name="TextBox 13"/>
          <p:cNvSpPr txBox="1"/>
          <p:nvPr/>
        </p:nvSpPr>
        <p:spPr>
          <a:xfrm>
            <a:off x="9281160" y="2744640"/>
            <a:ext cx="2407615" cy="971804"/>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Yatay eksende aralıklar eşit zamanı mı gösteriyor?</a:t>
            </a:r>
          </a:p>
        </p:txBody>
      </p:sp>
      <p:sp>
        <p:nvSpPr>
          <p:cNvPr id="15" name="Rounded Rectangle 14"/>
          <p:cNvSpPr/>
          <p:nvPr/>
        </p:nvSpPr>
        <p:spPr>
          <a:xfrm>
            <a:off x="9281160" y="3789596"/>
            <a:ext cx="2407615" cy="689272"/>
          </a:xfrm>
          <a:prstGeom prst="roundRect">
            <a:avLst>
              <a:gd name="adj" fmla="val 8000"/>
            </a:avLst>
          </a:prstGeom>
          <a:solidFill>
            <a:srgbClr val="FFFFFF"/>
          </a:solidFill>
          <a:ln w="12700">
            <a:solidFill>
              <a:srgbClr val="D9D9D9"/>
            </a:solidFill>
          </a:ln>
          <a:effectLst/>
        </p:spPr>
        <p:txBody>
          <a:bodyPr rtlCol="0" anchor="ctr"/>
          <a:lstStyle/>
          <a:p/>
        </p:txBody>
      </p:sp>
      <p:cxnSp>
        <p:nvCxnSpPr>
          <p:cNvPr id="16" name="Connector 15"/>
          <p:cNvCxnSpPr/>
          <p:nvPr/>
        </p:nvCxnSpPr>
        <p:spPr>
          <a:xfrm>
            <a:off x="9464040" y="4134232"/>
            <a:ext cx="2041855" cy="0"/>
          </a:xfrm>
          <a:prstGeom prst="line">
            <a:avLst/>
          </a:prstGeom>
          <a:ln w="12700">
            <a:solidFill>
              <a:srgbClr val="D9D9D9"/>
            </a:solidFill>
            <a:prstDash val="dash"/>
          </a:ln>
        </p:spPr>
      </p:cxnSp>
      <p:sp>
        <p:nvSpPr>
          <p:cNvPr id="17" name="Oval 16"/>
          <p:cNvSpPr/>
          <p:nvPr/>
        </p:nvSpPr>
        <p:spPr>
          <a:xfrm>
            <a:off x="8869680" y="4724740"/>
            <a:ext cx="347472" cy="347472"/>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3</a:t>
            </a:r>
          </a:p>
        </p:txBody>
      </p:sp>
      <p:sp>
        <p:nvSpPr>
          <p:cNvPr id="18" name="TextBox 17"/>
          <p:cNvSpPr txBox="1"/>
          <p:nvPr/>
        </p:nvSpPr>
        <p:spPr>
          <a:xfrm>
            <a:off x="9281160" y="4552020"/>
            <a:ext cx="2407615" cy="692912"/>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Nüfus nerelerde sıçrıyor? Neden?</a:t>
            </a:r>
          </a:p>
        </p:txBody>
      </p:sp>
      <p:sp>
        <p:nvSpPr>
          <p:cNvPr id="19" name="Rounded Rectangle 18"/>
          <p:cNvSpPr/>
          <p:nvPr/>
        </p:nvSpPr>
        <p:spPr>
          <a:xfrm>
            <a:off x="9281160" y="5318084"/>
            <a:ext cx="2407615" cy="927266"/>
          </a:xfrm>
          <a:prstGeom prst="roundRect">
            <a:avLst>
              <a:gd name="adj" fmla="val 8000"/>
            </a:avLst>
          </a:prstGeom>
          <a:solidFill>
            <a:srgbClr val="FFFFFF"/>
          </a:solidFill>
          <a:ln w="12700">
            <a:solidFill>
              <a:srgbClr val="D9D9D9"/>
            </a:solidFill>
          </a:ln>
          <a:effectLst/>
        </p:spPr>
        <p:txBody>
          <a:bodyPr rtlCol="0" anchor="ctr"/>
          <a:lstStyle/>
          <a:p/>
        </p:txBody>
      </p:sp>
      <p:cxnSp>
        <p:nvCxnSpPr>
          <p:cNvPr id="20" name="Connector 19"/>
          <p:cNvCxnSpPr/>
          <p:nvPr/>
        </p:nvCxnSpPr>
        <p:spPr>
          <a:xfrm>
            <a:off x="9464040" y="5627172"/>
            <a:ext cx="2041855" cy="0"/>
          </a:xfrm>
          <a:prstGeom prst="line">
            <a:avLst/>
          </a:prstGeom>
          <a:ln w="12700">
            <a:solidFill>
              <a:srgbClr val="D9D9D9"/>
            </a:solidFill>
            <a:prstDash val="dash"/>
          </a:ln>
        </p:spPr>
      </p:cxnSp>
      <p:cxnSp>
        <p:nvCxnSpPr>
          <p:cNvPr id="21" name="Connector 20"/>
          <p:cNvCxnSpPr/>
          <p:nvPr/>
        </p:nvCxnSpPr>
        <p:spPr>
          <a:xfrm>
            <a:off x="9464040" y="5936261"/>
            <a:ext cx="2041855" cy="0"/>
          </a:xfrm>
          <a:prstGeom prst="line">
            <a:avLst/>
          </a:prstGeom>
          <a:ln w="12700">
            <a:solidFill>
              <a:srgbClr val="D9D9D9"/>
            </a:solidFill>
            <a:prstDash val="dash"/>
          </a:ln>
        </p:spPr>
      </p:cxn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142</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24 / 379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Grafik 4.1'i adımlarla okuyalım — okuma örneği</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20_grafik_4_1_s142.jpg"/>
          <p:cNvPicPr>
            <a:picLocks noChangeAspect="1"/>
          </p:cNvPicPr>
          <p:nvPr/>
        </p:nvPicPr>
        <p:blipFill>
          <a:blip r:embed="rId3"/>
          <a:stretch>
            <a:fillRect/>
          </a:stretch>
        </p:blipFill>
        <p:spPr>
          <a:xfrm>
            <a:off x="502920" y="1216152"/>
            <a:ext cx="8138160" cy="3471697"/>
          </a:xfrm>
          <a:prstGeom prst="rect">
            <a:avLst/>
          </a:prstGeom>
          <a:ln w="9525">
            <a:solidFill>
              <a:srgbClr val="D9D9D9"/>
            </a:solidFill>
          </a:ln>
        </p:spPr>
      </p:pic>
      <p:sp>
        <p:nvSpPr>
          <p:cNvPr id="7" name="Rounded Rectangle 6"/>
          <p:cNvSpPr/>
          <p:nvPr/>
        </p:nvSpPr>
        <p:spPr>
          <a:xfrm>
            <a:off x="2174367" y="4724425"/>
            <a:ext cx="658368" cy="329184"/>
          </a:xfrm>
          <a:prstGeom prst="roundRect">
            <a:avLst>
              <a:gd name="adj" fmla="val 25000"/>
            </a:avLst>
          </a:prstGeom>
          <a:solidFill>
            <a:srgbClr val="FCC021"/>
          </a:solidFill>
          <a:ln>
            <a:noFill/>
          </a:ln>
          <a:effectLst/>
        </p:spPr>
        <p:txBody>
          <a:bodyPr rtlCol="0" anchor="ctr" wrap="square" lIns="36576" rIns="36576" tIns="0" bIns="0">
            <a:noAutofit/>
          </a:bodyPr>
          <a:lstStyle/>
          <a:p>
            <a:pPr algn="ctr">
              <a:spcBef>
                <a:spcPts val="0"/>
              </a:spcBef>
              <a:spcAft>
                <a:spcPts val="0"/>
              </a:spcAft>
            </a:pPr>
            <a:r>
              <a:rPr lang="tr-TR" sz="1600" b="1" i="0">
                <a:solidFill>
                  <a:srgbClr val="262626"/>
                </a:solidFill>
                <a:latin typeface="Calibri"/>
              </a:rPr>
              <a:t>÷10</a:t>
            </a:r>
          </a:p>
        </p:txBody>
      </p:sp>
      <p:sp>
        <p:nvSpPr>
          <p:cNvPr id="8" name="Rounded Rectangle 7"/>
          <p:cNvSpPr/>
          <p:nvPr/>
        </p:nvSpPr>
        <p:spPr>
          <a:xfrm>
            <a:off x="3421174" y="4724425"/>
            <a:ext cx="658368" cy="329184"/>
          </a:xfrm>
          <a:prstGeom prst="roundRect">
            <a:avLst>
              <a:gd name="adj" fmla="val 25000"/>
            </a:avLst>
          </a:prstGeom>
          <a:solidFill>
            <a:srgbClr val="FCC021"/>
          </a:solidFill>
          <a:ln>
            <a:noFill/>
          </a:ln>
          <a:effectLst/>
        </p:spPr>
        <p:txBody>
          <a:bodyPr rtlCol="0" anchor="ctr" wrap="square" lIns="36576" rIns="36576" tIns="0" bIns="0">
            <a:noAutofit/>
          </a:bodyPr>
          <a:lstStyle/>
          <a:p>
            <a:pPr algn="ctr">
              <a:spcBef>
                <a:spcPts val="0"/>
              </a:spcBef>
              <a:spcAft>
                <a:spcPts val="0"/>
              </a:spcAft>
            </a:pPr>
            <a:r>
              <a:rPr lang="tr-TR" sz="1600" b="1" i="0">
                <a:solidFill>
                  <a:srgbClr val="262626"/>
                </a:solidFill>
                <a:latin typeface="Calibri"/>
              </a:rPr>
              <a:t>÷10</a:t>
            </a:r>
          </a:p>
        </p:txBody>
      </p:sp>
      <p:sp>
        <p:nvSpPr>
          <p:cNvPr id="9" name="Rounded Rectangle 8"/>
          <p:cNvSpPr/>
          <p:nvPr/>
        </p:nvSpPr>
        <p:spPr>
          <a:xfrm>
            <a:off x="4677112" y="4724425"/>
            <a:ext cx="658368" cy="329184"/>
          </a:xfrm>
          <a:prstGeom prst="roundRect">
            <a:avLst>
              <a:gd name="adj" fmla="val 25000"/>
            </a:avLst>
          </a:prstGeom>
          <a:solidFill>
            <a:srgbClr val="FCC021"/>
          </a:solidFill>
          <a:ln>
            <a:noFill/>
          </a:ln>
          <a:effectLst/>
        </p:spPr>
        <p:txBody>
          <a:bodyPr rtlCol="0" anchor="ctr" wrap="square" lIns="36576" rIns="36576" tIns="0" bIns="0">
            <a:noAutofit/>
          </a:bodyPr>
          <a:lstStyle/>
          <a:p>
            <a:pPr algn="ctr">
              <a:spcBef>
                <a:spcPts val="0"/>
              </a:spcBef>
              <a:spcAft>
                <a:spcPts val="0"/>
              </a:spcAft>
            </a:pPr>
            <a:r>
              <a:rPr lang="tr-TR" sz="1600" b="1" i="0">
                <a:solidFill>
                  <a:srgbClr val="262626"/>
                </a:solidFill>
                <a:latin typeface="Calibri"/>
              </a:rPr>
              <a:t>÷10</a:t>
            </a:r>
          </a:p>
        </p:txBody>
      </p:sp>
      <p:sp>
        <p:nvSpPr>
          <p:cNvPr id="10" name="Rounded Rectangle 9"/>
          <p:cNvSpPr/>
          <p:nvPr/>
        </p:nvSpPr>
        <p:spPr>
          <a:xfrm>
            <a:off x="5942178" y="4724425"/>
            <a:ext cx="658368" cy="329184"/>
          </a:xfrm>
          <a:prstGeom prst="roundRect">
            <a:avLst>
              <a:gd name="adj" fmla="val 25000"/>
            </a:avLst>
          </a:prstGeom>
          <a:solidFill>
            <a:srgbClr val="FCC021"/>
          </a:solidFill>
          <a:ln>
            <a:noFill/>
          </a:ln>
          <a:effectLst/>
        </p:spPr>
        <p:txBody>
          <a:bodyPr rtlCol="0" anchor="ctr" wrap="square" lIns="36576" rIns="36576" tIns="0" bIns="0">
            <a:noAutofit/>
          </a:bodyPr>
          <a:lstStyle/>
          <a:p>
            <a:pPr algn="ctr">
              <a:spcBef>
                <a:spcPts val="0"/>
              </a:spcBef>
              <a:spcAft>
                <a:spcPts val="0"/>
              </a:spcAft>
            </a:pPr>
            <a:r>
              <a:rPr lang="tr-TR" sz="1600" b="1" i="0">
                <a:solidFill>
                  <a:srgbClr val="262626"/>
                </a:solidFill>
                <a:latin typeface="Calibri"/>
              </a:rPr>
              <a:t>÷10</a:t>
            </a:r>
          </a:p>
        </p:txBody>
      </p:sp>
      <p:sp>
        <p:nvSpPr>
          <p:cNvPr id="11" name="Oval 10"/>
          <p:cNvSpPr/>
          <p:nvPr/>
        </p:nvSpPr>
        <p:spPr>
          <a:xfrm>
            <a:off x="1911154" y="2951841"/>
            <a:ext cx="365760" cy="365760"/>
          </a:xfrm>
          <a:prstGeom prst="ellipse">
            <a:avLst/>
          </a:prstGeom>
          <a:noFill/>
          <a:ln w="44450">
            <a:solidFill>
              <a:srgbClr val="5E9E3A"/>
            </a:solidFill>
          </a:ln>
          <a:effectLst/>
        </p:spPr>
        <p:txBody>
          <a:bodyPr rtlCol="0" anchor="ctr"/>
          <a:lstStyle/>
          <a:p/>
        </p:txBody>
      </p:sp>
      <p:sp>
        <p:nvSpPr>
          <p:cNvPr id="12" name="Oval 11"/>
          <p:cNvSpPr/>
          <p:nvPr/>
        </p:nvSpPr>
        <p:spPr>
          <a:xfrm>
            <a:off x="2167186" y="2540361"/>
            <a:ext cx="347472" cy="347472"/>
          </a:xfrm>
          <a:prstGeom prst="ellipse">
            <a:avLst/>
          </a:prstGeom>
          <a:solidFill>
            <a:srgbClr val="5E9E3A"/>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13" name="Oval 12"/>
          <p:cNvSpPr/>
          <p:nvPr/>
        </p:nvSpPr>
        <p:spPr>
          <a:xfrm>
            <a:off x="4415203" y="2429781"/>
            <a:ext cx="365760" cy="365760"/>
          </a:xfrm>
          <a:prstGeom prst="ellipse">
            <a:avLst/>
          </a:prstGeom>
          <a:noFill/>
          <a:ln w="44450">
            <a:solidFill>
              <a:srgbClr val="D96F1E"/>
            </a:solidFill>
          </a:ln>
          <a:effectLst/>
        </p:spPr>
        <p:txBody>
          <a:bodyPr rtlCol="0" anchor="ctr"/>
          <a:lstStyle/>
          <a:p/>
        </p:txBody>
      </p:sp>
      <p:sp>
        <p:nvSpPr>
          <p:cNvPr id="14" name="Oval 13"/>
          <p:cNvSpPr/>
          <p:nvPr/>
        </p:nvSpPr>
        <p:spPr>
          <a:xfrm>
            <a:off x="4003723" y="2438925"/>
            <a:ext cx="347472" cy="347472"/>
          </a:xfrm>
          <a:prstGeom prst="ellipse">
            <a:avLst/>
          </a:prstGeom>
          <a:solidFill>
            <a:srgbClr val="D96F1E"/>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2</a:t>
            </a:r>
          </a:p>
        </p:txBody>
      </p:sp>
      <p:sp>
        <p:nvSpPr>
          <p:cNvPr id="15" name="Oval 14"/>
          <p:cNvSpPr/>
          <p:nvPr/>
        </p:nvSpPr>
        <p:spPr>
          <a:xfrm>
            <a:off x="6449743" y="1698898"/>
            <a:ext cx="365760" cy="365760"/>
          </a:xfrm>
          <a:prstGeom prst="ellipse">
            <a:avLst/>
          </a:prstGeom>
          <a:noFill/>
          <a:ln w="44450">
            <a:solidFill>
              <a:srgbClr val="1F939C"/>
            </a:solidFill>
          </a:ln>
          <a:effectLst/>
        </p:spPr>
        <p:txBody>
          <a:bodyPr rtlCol="0" anchor="ctr"/>
          <a:lstStyle/>
          <a:p/>
        </p:txBody>
      </p:sp>
      <p:sp>
        <p:nvSpPr>
          <p:cNvPr id="16" name="Oval 15"/>
          <p:cNvSpPr/>
          <p:nvPr/>
        </p:nvSpPr>
        <p:spPr>
          <a:xfrm>
            <a:off x="6458887" y="1287418"/>
            <a:ext cx="347472" cy="347472"/>
          </a:xfrm>
          <a:prstGeom prst="ellipse">
            <a:avLst/>
          </a:prstGeom>
          <a:solidFill>
            <a:srgbClr val="1F939C"/>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3</a:t>
            </a:r>
          </a:p>
        </p:txBody>
      </p:sp>
      <p:sp>
        <p:nvSpPr>
          <p:cNvPr id="17" name="TextBox 16"/>
          <p:cNvSpPr txBox="1"/>
          <p:nvPr/>
        </p:nvSpPr>
        <p:spPr>
          <a:xfrm>
            <a:off x="502920" y="5099329"/>
            <a:ext cx="8138160" cy="292608"/>
          </a:xfrm>
          <a:prstGeom prst="rect">
            <a:avLst/>
          </a:prstGeom>
          <a:noFill/>
        </p:spPr>
        <p:txBody>
          <a:bodyPr wrap="square" anchor="t" lIns="73152" rIns="73152" tIns="36576" bIns="36576">
            <a:noAutofit/>
          </a:bodyPr>
          <a:lstStyle/>
          <a:p>
            <a:pPr algn="l">
              <a:spcBef>
                <a:spcPts val="0"/>
              </a:spcBef>
              <a:spcAft>
                <a:spcPts val="0"/>
              </a:spcAft>
            </a:pPr>
            <a:r>
              <a:rPr lang="tr-TR" sz="1400" b="0" i="1">
                <a:solidFill>
                  <a:srgbClr val="767676"/>
                </a:solidFill>
                <a:latin typeface="Calibri"/>
              </a:rPr>
              <a:t>Grafik 4.1: Tarihsel süreçte dünya nüfusunun gelişim basamakları</a:t>
            </a:r>
          </a:p>
        </p:txBody>
      </p:sp>
      <p:sp>
        <p:nvSpPr>
          <p:cNvPr id="18" name="Rounded Rectangle 17"/>
          <p:cNvSpPr/>
          <p:nvPr/>
        </p:nvSpPr>
        <p:spPr>
          <a:xfrm>
            <a:off x="502920" y="5465089"/>
            <a:ext cx="8138160" cy="825983"/>
          </a:xfrm>
          <a:prstGeom prst="roundRect">
            <a:avLst>
              <a:gd name="adj" fmla="val 8000"/>
            </a:avLst>
          </a:prstGeom>
          <a:solidFill>
            <a:srgbClr val="E3F1E4"/>
          </a:solidFill>
          <a:ln w="12700">
            <a:solidFill>
              <a:srgbClr val="2E7D32"/>
            </a:solidFill>
          </a:ln>
          <a:effectLst/>
        </p:spPr>
        <p:txBody>
          <a:bodyPr rtlCol="0" anchor="ctr" wrap="square" lIns="182880" rIns="182880" tIns="73152" bIns="73152">
            <a:noAutofit/>
          </a:bodyPr>
          <a:lstStyle/>
          <a:p>
            <a:pPr algn="l">
              <a:spcBef>
                <a:spcPts val="0"/>
              </a:spcBef>
              <a:spcAft>
                <a:spcPts val="0"/>
              </a:spcAft>
            </a:pPr>
            <a:r>
              <a:rPr lang="tr-TR" sz="1700" b="0" i="0">
                <a:solidFill>
                  <a:srgbClr val="262626"/>
                </a:solidFill>
                <a:latin typeface="Calibri"/>
              </a:rPr>
              <a:t>Eşit görünen aralıklar eşit değildir: zaman 900 bin → 90 bin → 9 bin → 900 yıl; nüfus 10 bin → 10 milyon → 2 milyar. Sıçramalar yaşam ve üretim koşulları değişince olur.</a:t>
            </a:r>
          </a:p>
        </p:txBody>
      </p:sp>
      <p:sp>
        <p:nvSpPr>
          <p:cNvPr id="19" name="Oval 18"/>
          <p:cNvSpPr/>
          <p:nvPr/>
        </p:nvSpPr>
        <p:spPr>
          <a:xfrm>
            <a:off x="8869680" y="1388872"/>
            <a:ext cx="347472" cy="347472"/>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20" name="TextBox 19"/>
          <p:cNvSpPr txBox="1"/>
          <p:nvPr/>
        </p:nvSpPr>
        <p:spPr>
          <a:xfrm>
            <a:off x="9281160" y="1216152"/>
            <a:ext cx="2407615" cy="692912"/>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Eksenler neyi gösteriyor?</a:t>
            </a:r>
          </a:p>
        </p:txBody>
      </p:sp>
      <p:sp>
        <p:nvSpPr>
          <p:cNvPr id="21" name="Rounded Rectangle 20"/>
          <p:cNvSpPr/>
          <p:nvPr/>
        </p:nvSpPr>
        <p:spPr>
          <a:xfrm>
            <a:off x="9281160" y="1982216"/>
            <a:ext cx="2407615" cy="689272"/>
          </a:xfrm>
          <a:prstGeom prst="roundRect">
            <a:avLst>
              <a:gd name="adj" fmla="val 8000"/>
            </a:avLst>
          </a:prstGeom>
          <a:solidFill>
            <a:srgbClr val="E3F1E4"/>
          </a:solidFill>
          <a:ln w="12700">
            <a:solidFill>
              <a:srgbClr val="2E7D32"/>
            </a:solidFill>
          </a:ln>
          <a:effectLst/>
        </p:spPr>
        <p:txBody>
          <a:bodyPr rtlCol="0" anchor="ctr" wrap="square" lIns="137160" rIns="137160" tIns="73152" bIns="73152">
            <a:noAutofit/>
          </a:bodyPr>
          <a:lstStyle/>
          <a:p>
            <a:pPr algn="l">
              <a:spcBef>
                <a:spcPts val="0"/>
              </a:spcBef>
              <a:spcAft>
                <a:spcPts val="0"/>
              </a:spcAft>
            </a:pPr>
            <a:r>
              <a:rPr lang="tr-TR" sz="1500" b="0" i="0">
                <a:solidFill>
                  <a:srgbClr val="262626"/>
                </a:solidFill>
                <a:latin typeface="Calibri"/>
              </a:rPr>
              <a:t>Yatay: zaman aralığı. Dikey: nüfus miktarı.</a:t>
            </a:r>
          </a:p>
        </p:txBody>
      </p:sp>
      <p:sp>
        <p:nvSpPr>
          <p:cNvPr id="22" name="Oval 21"/>
          <p:cNvSpPr/>
          <p:nvPr/>
        </p:nvSpPr>
        <p:spPr>
          <a:xfrm>
            <a:off x="8869680" y="3056806"/>
            <a:ext cx="347472" cy="347472"/>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2</a:t>
            </a:r>
          </a:p>
        </p:txBody>
      </p:sp>
      <p:sp>
        <p:nvSpPr>
          <p:cNvPr id="23" name="TextBox 22"/>
          <p:cNvSpPr txBox="1"/>
          <p:nvPr/>
        </p:nvSpPr>
        <p:spPr>
          <a:xfrm>
            <a:off x="9281160" y="2744640"/>
            <a:ext cx="2407615" cy="971804"/>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Yatay eksende aralıklar eşit zamanı mı gösteriyor?</a:t>
            </a:r>
          </a:p>
        </p:txBody>
      </p:sp>
      <p:sp>
        <p:nvSpPr>
          <p:cNvPr id="24" name="Rounded Rectangle 23"/>
          <p:cNvSpPr/>
          <p:nvPr/>
        </p:nvSpPr>
        <p:spPr>
          <a:xfrm>
            <a:off x="9281160" y="3789596"/>
            <a:ext cx="2407615" cy="689272"/>
          </a:xfrm>
          <a:prstGeom prst="roundRect">
            <a:avLst>
              <a:gd name="adj" fmla="val 8000"/>
            </a:avLst>
          </a:prstGeom>
          <a:solidFill>
            <a:srgbClr val="E3F1E4"/>
          </a:solidFill>
          <a:ln w="12700">
            <a:solidFill>
              <a:srgbClr val="2E7D32"/>
            </a:solidFill>
          </a:ln>
          <a:effectLst/>
        </p:spPr>
        <p:txBody>
          <a:bodyPr rtlCol="0" anchor="ctr" wrap="square" lIns="137160" rIns="137160" tIns="73152" bIns="73152">
            <a:noAutofit/>
          </a:bodyPr>
          <a:lstStyle/>
          <a:p>
            <a:pPr algn="l">
              <a:spcBef>
                <a:spcPts val="0"/>
              </a:spcBef>
              <a:spcAft>
                <a:spcPts val="0"/>
              </a:spcAft>
            </a:pPr>
            <a:r>
              <a:rPr lang="tr-TR" sz="1500" b="0" i="0">
                <a:solidFill>
                  <a:srgbClr val="262626"/>
                </a:solidFill>
                <a:latin typeface="Calibri"/>
              </a:rPr>
              <a:t>Hayır: her aralıkta zaman onda birine iner (÷10).</a:t>
            </a:r>
          </a:p>
        </p:txBody>
      </p:sp>
      <p:sp>
        <p:nvSpPr>
          <p:cNvPr id="25" name="Oval 24"/>
          <p:cNvSpPr/>
          <p:nvPr/>
        </p:nvSpPr>
        <p:spPr>
          <a:xfrm>
            <a:off x="8869680" y="4724740"/>
            <a:ext cx="347472" cy="347472"/>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3</a:t>
            </a:r>
          </a:p>
        </p:txBody>
      </p:sp>
      <p:sp>
        <p:nvSpPr>
          <p:cNvPr id="26" name="TextBox 25"/>
          <p:cNvSpPr txBox="1"/>
          <p:nvPr/>
        </p:nvSpPr>
        <p:spPr>
          <a:xfrm>
            <a:off x="9281160" y="4552020"/>
            <a:ext cx="2407615" cy="692912"/>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262626"/>
                </a:solidFill>
                <a:latin typeface="Calibri"/>
              </a:rPr>
              <a:t>Nüfus nerelerde sıçrıyor? Neden?</a:t>
            </a:r>
          </a:p>
        </p:txBody>
      </p:sp>
      <p:sp>
        <p:nvSpPr>
          <p:cNvPr id="27" name="Rounded Rectangle 26"/>
          <p:cNvSpPr/>
          <p:nvPr/>
        </p:nvSpPr>
        <p:spPr>
          <a:xfrm>
            <a:off x="9281160" y="5318084"/>
            <a:ext cx="2407615" cy="927266"/>
          </a:xfrm>
          <a:prstGeom prst="roundRect">
            <a:avLst>
              <a:gd name="adj" fmla="val 8000"/>
            </a:avLst>
          </a:prstGeom>
          <a:solidFill>
            <a:srgbClr val="E3F1E4"/>
          </a:solidFill>
          <a:ln w="12700">
            <a:solidFill>
              <a:srgbClr val="2E7D32"/>
            </a:solidFill>
          </a:ln>
          <a:effectLst/>
        </p:spPr>
        <p:txBody>
          <a:bodyPr rtlCol="0" anchor="ctr" wrap="square" lIns="137160" rIns="137160" tIns="73152" bIns="73152">
            <a:noAutofit/>
          </a:bodyPr>
          <a:lstStyle/>
          <a:p>
            <a:pPr algn="l">
              <a:spcBef>
                <a:spcPts val="0"/>
              </a:spcBef>
              <a:spcAft>
                <a:spcPts val="0"/>
              </a:spcAft>
            </a:pPr>
            <a:r>
              <a:rPr lang="tr-TR" sz="1500" b="0" i="0">
                <a:solidFill>
                  <a:srgbClr val="262626"/>
                </a:solidFill>
                <a:latin typeface="Calibri"/>
              </a:rPr>
              <a:t>Üç dik yükselişte: </a:t>
            </a:r>
            <a:r>
              <a:rPr lang="tr-TR" sz="1500" b="1" i="0">
                <a:solidFill>
                  <a:srgbClr val="262626"/>
                </a:solidFill>
                <a:latin typeface="Calibri"/>
              </a:rPr>
              <a:t>1</a:t>
            </a:r>
            <a:r>
              <a:rPr lang="tr-TR" sz="1500" b="0" i="0">
                <a:solidFill>
                  <a:srgbClr val="262626"/>
                </a:solidFill>
                <a:latin typeface="Calibri"/>
              </a:rPr>
              <a:t> alet yapımı, </a:t>
            </a:r>
            <a:r>
              <a:rPr lang="tr-TR" sz="1500" b="1" i="0">
                <a:solidFill>
                  <a:srgbClr val="262626"/>
                </a:solidFill>
                <a:latin typeface="Calibri"/>
              </a:rPr>
              <a:t>2</a:t>
            </a:r>
            <a:r>
              <a:rPr lang="tr-TR" sz="1500" b="0" i="0">
                <a:solidFill>
                  <a:srgbClr val="262626"/>
                </a:solidFill>
                <a:latin typeface="Calibri"/>
              </a:rPr>
              <a:t> Tarım Devrimi, </a:t>
            </a:r>
            <a:r>
              <a:rPr lang="tr-TR" sz="1500" b="1" i="0">
                <a:solidFill>
                  <a:srgbClr val="262626"/>
                </a:solidFill>
                <a:latin typeface="Calibri"/>
              </a:rPr>
              <a:t>3</a:t>
            </a:r>
            <a:r>
              <a:rPr lang="tr-TR" sz="1500" b="0" i="0">
                <a:solidFill>
                  <a:srgbClr val="262626"/>
                </a:solidFill>
                <a:latin typeface="Calibri"/>
              </a:rPr>
              <a:t> Sanayi Devrimi.</a:t>
            </a:r>
          </a:p>
        </p:txBody>
      </p:sp>
      <p:sp>
        <p:nvSpPr>
          <p:cNvPr id="28" name="TextBox 2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9" name="Rounded Rectangle 2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142</a:t>
            </a:r>
          </a:p>
        </p:txBody>
      </p:sp>
      <p:sp>
        <p:nvSpPr>
          <p:cNvPr id="30" name="TextBox 2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25 / 379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2</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Grafik 4.1'in yatay eksenindeki aralıklar için hangisi doğrudur?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Her aralık 1.000 yıldır.</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Her aralık bir öncekinin onda biri kadar zamanı gösterir.</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Her aralık 100 yıldır.</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Eksen yalnız son 100 yılı gösterir.</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Yatay eksende nüfus miktarı gösterilir.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142</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26 / 379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2</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Grafik 4.1'in yatay eksenindeki aralıklar için hangisi doğrudur?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Her aralık 1.000 yıldır.</a:t>
            </a:r>
          </a:p>
        </p:txBody>
      </p:sp>
      <p:sp>
        <p:nvSpPr>
          <p:cNvPr id="10" name="Rounded Rectangle 9"/>
          <p:cNvSpPr/>
          <p:nvPr/>
        </p:nvSpPr>
        <p:spPr>
          <a:xfrm>
            <a:off x="502920" y="315833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1" name="Oval 10"/>
          <p:cNvSpPr/>
          <p:nvPr/>
        </p:nvSpPr>
        <p:spPr>
          <a:xfrm>
            <a:off x="594360" y="311444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Her aralık bir öncekinin onda biri kadar zamanı gösterir.</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Her aralık 100 yıldır.</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Eksen yalnız son 100 yılı gösterir.</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Yatay eksende nüfus miktarı gösterilir.</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1 milyon → 100.000 → 10.000 → 1.000 → 100 yıl önce: her adımda zaman onda birine iner. Böylece çok uzun bir zaman tek grafikte gösterilir.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142</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27 / 379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Gruplara geçiş: görevlerimiz</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8 GRUP</a:t>
            </a:r>
          </a:p>
        </p:txBody>
      </p:sp>
      <p:sp>
        <p:nvSpPr>
          <p:cNvPr id="6" name="Rounded Rectangle 5"/>
          <p:cNvSpPr/>
          <p:nvPr/>
        </p:nvSpPr>
        <p:spPr>
          <a:xfrm>
            <a:off x="502920" y="1261872"/>
            <a:ext cx="2076236" cy="310896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2076236" cy="530352"/>
          </a:xfrm>
          <a:prstGeom prst="roundRect">
            <a:avLst>
              <a:gd name="adj" fmla="val 25000"/>
            </a:avLst>
          </a:prstGeom>
          <a:solidFill>
            <a:srgbClr val="2C6696"/>
          </a:solidFill>
          <a:ln>
            <a:noFill/>
          </a:ln>
          <a:effectLst/>
        </p:spPr>
        <p:txBody>
          <a:bodyPr rtlCol="0" anchor="ctr"/>
          <a:lstStyle/>
          <a:p/>
        </p:txBody>
      </p:sp>
      <p:sp>
        <p:nvSpPr>
          <p:cNvPr id="8" name="Rectangle 7"/>
          <p:cNvSpPr/>
          <p:nvPr/>
        </p:nvSpPr>
        <p:spPr>
          <a:xfrm>
            <a:off x="502920" y="1527048"/>
            <a:ext cx="2076236" cy="265176"/>
          </a:xfrm>
          <a:prstGeom prst="rect">
            <a:avLst/>
          </a:prstGeom>
          <a:solidFill>
            <a:srgbClr val="2C6696"/>
          </a:solidFill>
          <a:ln>
            <a:noFill/>
          </a:ln>
          <a:effectLst/>
        </p:spPr>
        <p:txBody>
          <a:bodyPr rtlCol="0" anchor="ctr"/>
          <a:lstStyle/>
          <a:p/>
        </p:txBody>
      </p:sp>
      <p:sp>
        <p:nvSpPr>
          <p:cNvPr id="9" name="TextBox 8"/>
          <p:cNvSpPr txBox="1"/>
          <p:nvPr/>
        </p:nvSpPr>
        <p:spPr>
          <a:xfrm>
            <a:off x="594360"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SÖZCÜ</a:t>
            </a:r>
          </a:p>
        </p:txBody>
      </p:sp>
      <p:sp>
        <p:nvSpPr>
          <p:cNvPr id="10" name="TextBox 9"/>
          <p:cNvSpPr txBox="1"/>
          <p:nvPr/>
        </p:nvSpPr>
        <p:spPr>
          <a:xfrm>
            <a:off x="612648"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Grubun cevabını sınıfla paylaşır.</a:t>
            </a:r>
          </a:p>
        </p:txBody>
      </p:sp>
      <p:sp>
        <p:nvSpPr>
          <p:cNvPr id="11" name="Rounded Rectangle 10"/>
          <p:cNvSpPr/>
          <p:nvPr/>
        </p:nvSpPr>
        <p:spPr>
          <a:xfrm>
            <a:off x="2780324" y="1261872"/>
            <a:ext cx="2076236" cy="310896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2780324" y="1261872"/>
            <a:ext cx="2076236"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2780324" y="1527048"/>
            <a:ext cx="2076236" cy="265176"/>
          </a:xfrm>
          <a:prstGeom prst="rect">
            <a:avLst/>
          </a:prstGeom>
          <a:solidFill>
            <a:srgbClr val="4F4F4F"/>
          </a:solidFill>
          <a:ln>
            <a:noFill/>
          </a:ln>
          <a:effectLst/>
        </p:spPr>
        <p:txBody>
          <a:bodyPr rtlCol="0" anchor="ctr"/>
          <a:lstStyle/>
          <a:p/>
        </p:txBody>
      </p:sp>
      <p:sp>
        <p:nvSpPr>
          <p:cNvPr id="14" name="TextBox 13"/>
          <p:cNvSpPr txBox="1"/>
          <p:nvPr/>
        </p:nvSpPr>
        <p:spPr>
          <a:xfrm>
            <a:off x="2871764"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YAZICI</a:t>
            </a:r>
          </a:p>
        </p:txBody>
      </p:sp>
      <p:sp>
        <p:nvSpPr>
          <p:cNvPr id="15" name="TextBox 14"/>
          <p:cNvSpPr txBox="1"/>
          <p:nvPr/>
        </p:nvSpPr>
        <p:spPr>
          <a:xfrm>
            <a:off x="2890052"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Ortak cevabı yazar, çizimi yapar.</a:t>
            </a:r>
          </a:p>
        </p:txBody>
      </p:sp>
      <p:sp>
        <p:nvSpPr>
          <p:cNvPr id="16" name="Rounded Rectangle 15"/>
          <p:cNvSpPr/>
          <p:nvPr/>
        </p:nvSpPr>
        <p:spPr>
          <a:xfrm>
            <a:off x="5057728" y="1261872"/>
            <a:ext cx="2076236" cy="310896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5057728" y="1261872"/>
            <a:ext cx="2076236" cy="530352"/>
          </a:xfrm>
          <a:prstGeom prst="roundRect">
            <a:avLst>
              <a:gd name="adj" fmla="val 25000"/>
            </a:avLst>
          </a:prstGeom>
          <a:solidFill>
            <a:srgbClr val="2C6696"/>
          </a:solidFill>
          <a:ln>
            <a:noFill/>
          </a:ln>
          <a:effectLst/>
        </p:spPr>
        <p:txBody>
          <a:bodyPr rtlCol="0" anchor="ctr"/>
          <a:lstStyle/>
          <a:p/>
        </p:txBody>
      </p:sp>
      <p:sp>
        <p:nvSpPr>
          <p:cNvPr id="18" name="Rectangle 17"/>
          <p:cNvSpPr/>
          <p:nvPr/>
        </p:nvSpPr>
        <p:spPr>
          <a:xfrm>
            <a:off x="5057728" y="1527048"/>
            <a:ext cx="2076236" cy="265176"/>
          </a:xfrm>
          <a:prstGeom prst="rect">
            <a:avLst/>
          </a:prstGeom>
          <a:solidFill>
            <a:srgbClr val="2C6696"/>
          </a:solidFill>
          <a:ln>
            <a:noFill/>
          </a:ln>
          <a:effectLst/>
        </p:spPr>
        <p:txBody>
          <a:bodyPr rtlCol="0" anchor="ctr"/>
          <a:lstStyle/>
          <a:p/>
        </p:txBody>
      </p:sp>
      <p:sp>
        <p:nvSpPr>
          <p:cNvPr id="19" name="TextBox 18"/>
          <p:cNvSpPr txBox="1"/>
          <p:nvPr/>
        </p:nvSpPr>
        <p:spPr>
          <a:xfrm>
            <a:off x="5149168"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ZAMAN VE MALZEME</a:t>
            </a:r>
          </a:p>
        </p:txBody>
      </p:sp>
      <p:sp>
        <p:nvSpPr>
          <p:cNvPr id="20" name="TextBox 19"/>
          <p:cNvSpPr txBox="1"/>
          <p:nvPr/>
        </p:nvSpPr>
        <p:spPr>
          <a:xfrm>
            <a:off x="5167456"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Süreyi izler, 2 dk kala uyarır; malzemeyi alır, teslim eder.</a:t>
            </a:r>
          </a:p>
        </p:txBody>
      </p:sp>
      <p:sp>
        <p:nvSpPr>
          <p:cNvPr id="21" name="Rounded Rectangle 20"/>
          <p:cNvSpPr/>
          <p:nvPr/>
        </p:nvSpPr>
        <p:spPr>
          <a:xfrm>
            <a:off x="7335132" y="1261872"/>
            <a:ext cx="2076236" cy="310896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7335132" y="1261872"/>
            <a:ext cx="2076236" cy="530352"/>
          </a:xfrm>
          <a:prstGeom prst="roundRect">
            <a:avLst>
              <a:gd name="adj" fmla="val 25000"/>
            </a:avLst>
          </a:prstGeom>
          <a:solidFill>
            <a:srgbClr val="4F4F4F"/>
          </a:solidFill>
          <a:ln>
            <a:noFill/>
          </a:ln>
          <a:effectLst/>
        </p:spPr>
        <p:txBody>
          <a:bodyPr rtlCol="0" anchor="ctr"/>
          <a:lstStyle/>
          <a:p/>
        </p:txBody>
      </p:sp>
      <p:sp>
        <p:nvSpPr>
          <p:cNvPr id="23" name="Rectangle 22"/>
          <p:cNvSpPr/>
          <p:nvPr/>
        </p:nvSpPr>
        <p:spPr>
          <a:xfrm>
            <a:off x="7335132" y="1527048"/>
            <a:ext cx="2076236" cy="265176"/>
          </a:xfrm>
          <a:prstGeom prst="rect">
            <a:avLst/>
          </a:prstGeom>
          <a:solidFill>
            <a:srgbClr val="4F4F4F"/>
          </a:solidFill>
          <a:ln>
            <a:noFill/>
          </a:ln>
          <a:effectLst/>
        </p:spPr>
        <p:txBody>
          <a:bodyPr rtlCol="0" anchor="ctr"/>
          <a:lstStyle/>
          <a:p/>
        </p:txBody>
      </p:sp>
      <p:sp>
        <p:nvSpPr>
          <p:cNvPr id="24" name="TextBox 23"/>
          <p:cNvSpPr txBox="1"/>
          <p:nvPr/>
        </p:nvSpPr>
        <p:spPr>
          <a:xfrm>
            <a:off x="7426572"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HARİTA / VERİ OKUYUCU</a:t>
            </a:r>
          </a:p>
        </p:txBody>
      </p:sp>
      <p:sp>
        <p:nvSpPr>
          <p:cNvPr id="25" name="TextBox 24"/>
          <p:cNvSpPr txBox="1"/>
          <p:nvPr/>
        </p:nvSpPr>
        <p:spPr>
          <a:xfrm>
            <a:off x="7444860"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Haritayı, tabloyu ve grafiği okur, gösterir.</a:t>
            </a:r>
          </a:p>
        </p:txBody>
      </p:sp>
      <p:sp>
        <p:nvSpPr>
          <p:cNvPr id="26" name="Rounded Rectangle 25"/>
          <p:cNvSpPr/>
          <p:nvPr/>
        </p:nvSpPr>
        <p:spPr>
          <a:xfrm>
            <a:off x="9612536" y="1261872"/>
            <a:ext cx="2076236" cy="3108960"/>
          </a:xfrm>
          <a:prstGeom prst="roundRect">
            <a:avLst>
              <a:gd name="adj" fmla="val 5000"/>
            </a:avLst>
          </a:prstGeom>
          <a:solidFill>
            <a:srgbClr val="F0F0F0"/>
          </a:solidFill>
          <a:ln>
            <a:noFill/>
          </a:ln>
          <a:effectLst/>
        </p:spPr>
        <p:txBody>
          <a:bodyPr rtlCol="0" anchor="ctr"/>
          <a:lstStyle/>
          <a:p/>
        </p:txBody>
      </p:sp>
      <p:sp>
        <p:nvSpPr>
          <p:cNvPr id="27" name="Rounded Rectangle 26"/>
          <p:cNvSpPr/>
          <p:nvPr/>
        </p:nvSpPr>
        <p:spPr>
          <a:xfrm>
            <a:off x="9612536" y="1261872"/>
            <a:ext cx="2076236" cy="530352"/>
          </a:xfrm>
          <a:prstGeom prst="roundRect">
            <a:avLst>
              <a:gd name="adj" fmla="val 25000"/>
            </a:avLst>
          </a:prstGeom>
          <a:solidFill>
            <a:srgbClr val="2C6696"/>
          </a:solidFill>
          <a:ln>
            <a:noFill/>
          </a:ln>
          <a:effectLst/>
        </p:spPr>
        <p:txBody>
          <a:bodyPr rtlCol="0" anchor="ctr"/>
          <a:lstStyle/>
          <a:p/>
        </p:txBody>
      </p:sp>
      <p:sp>
        <p:nvSpPr>
          <p:cNvPr id="28" name="Rectangle 27"/>
          <p:cNvSpPr/>
          <p:nvPr/>
        </p:nvSpPr>
        <p:spPr>
          <a:xfrm>
            <a:off x="9612536" y="1527048"/>
            <a:ext cx="2076236" cy="265176"/>
          </a:xfrm>
          <a:prstGeom prst="rect">
            <a:avLst/>
          </a:prstGeom>
          <a:solidFill>
            <a:srgbClr val="2C6696"/>
          </a:solidFill>
          <a:ln>
            <a:noFill/>
          </a:ln>
          <a:effectLst/>
        </p:spPr>
        <p:txBody>
          <a:bodyPr rtlCol="0" anchor="ctr"/>
          <a:lstStyle/>
          <a:p/>
        </p:txBody>
      </p:sp>
      <p:sp>
        <p:nvSpPr>
          <p:cNvPr id="29" name="TextBox 28"/>
          <p:cNvSpPr txBox="1"/>
          <p:nvPr/>
        </p:nvSpPr>
        <p:spPr>
          <a:xfrm>
            <a:off x="9703976"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EDİTÖR</a:t>
            </a:r>
          </a:p>
        </p:txBody>
      </p:sp>
      <p:sp>
        <p:nvSpPr>
          <p:cNvPr id="30" name="TextBox 29"/>
          <p:cNvSpPr txBox="1"/>
          <p:nvPr/>
        </p:nvSpPr>
        <p:spPr>
          <a:xfrm>
            <a:off x="9722264"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5 kişilik grupta yazımı ve doğruluğu denetler.</a:t>
            </a:r>
          </a:p>
        </p:txBody>
      </p:sp>
      <p:sp>
        <p:nvSpPr>
          <p:cNvPr id="31" name="Rounded Rectangle 30"/>
          <p:cNvSpPr/>
          <p:nvPr/>
        </p:nvSpPr>
        <p:spPr>
          <a:xfrm>
            <a:off x="502920" y="4599432"/>
            <a:ext cx="11185855" cy="164592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600"/>
              </a:spcAft>
            </a:pPr>
            <a:r>
              <a:rPr lang="tr-TR" sz="2400" b="1" i="0">
                <a:solidFill>
                  <a:srgbClr val="2C6696"/>
                </a:solidFill>
                <a:latin typeface="Calibri"/>
              </a:rPr>
              <a:t>İlk grup çalışmamız: s. 143 etkinlik seti ve grafik okuma kartı</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Grupta “30 cm sesi” · söz hakkı isim kartıyla · farklı görüşlere saygı</a:t>
            </a:r>
          </a:p>
        </p:txBody>
      </p:sp>
      <p:sp>
        <p:nvSpPr>
          <p:cNvPr id="32" name="TextBox 3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28 / 379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Etkinlik: Dünya Nüfusunun Tarihsel Gelişimi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ETKİNLİK · 16 dk</a:t>
            </a:r>
          </a:p>
        </p:txBody>
      </p:sp>
      <p:sp>
        <p:nvSpPr>
          <p:cNvPr id="6" name="Rounded Rectangle 5"/>
          <p:cNvSpPr/>
          <p:nvPr/>
        </p:nvSpPr>
        <p:spPr>
          <a:xfrm>
            <a:off x="502920" y="1216152"/>
            <a:ext cx="11185855" cy="868680"/>
          </a:xfrm>
          <a:prstGeom prst="roundRect">
            <a:avLst>
              <a:gd name="adj" fmla="val 8000"/>
            </a:avLst>
          </a:prstGeom>
          <a:solidFill>
            <a:srgbClr val="FFF3D1"/>
          </a:solidFill>
          <a:ln>
            <a:noFill/>
          </a:ln>
          <a:effectLst/>
        </p:spPr>
        <p:txBody>
          <a:bodyPr rtlCol="0" anchor="ctr"/>
          <a:lstStyle/>
          <a:p/>
        </p:txBody>
      </p:sp>
      <p:sp>
        <p:nvSpPr>
          <p:cNvPr id="7" name="TextBox 6"/>
          <p:cNvSpPr txBox="1"/>
          <p:nvPr/>
        </p:nvSpPr>
        <p:spPr>
          <a:xfrm>
            <a:off x="640080" y="1271016"/>
            <a:ext cx="1143000" cy="40690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Amaç</a:t>
            </a:r>
          </a:p>
        </p:txBody>
      </p:sp>
      <p:sp>
        <p:nvSpPr>
          <p:cNvPr id="8" name="TextBox 7"/>
          <p:cNvSpPr txBox="1"/>
          <p:nvPr/>
        </p:nvSpPr>
        <p:spPr>
          <a:xfrm>
            <a:off x="1783080" y="1271016"/>
            <a:ext cx="9722815" cy="406908"/>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Dünya nüfusunun tarihsel gelişimini grafikler üzerinden yorumlayabilme</a:t>
            </a:r>
          </a:p>
        </p:txBody>
      </p:sp>
      <p:sp>
        <p:nvSpPr>
          <p:cNvPr id="9" name="TextBox 8"/>
          <p:cNvSpPr txBox="1"/>
          <p:nvPr/>
        </p:nvSpPr>
        <p:spPr>
          <a:xfrm>
            <a:off x="640080" y="1650492"/>
            <a:ext cx="1143000" cy="379476"/>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Beceri</a:t>
            </a:r>
          </a:p>
        </p:txBody>
      </p:sp>
      <p:sp>
        <p:nvSpPr>
          <p:cNvPr id="10" name="TextBox 9"/>
          <p:cNvSpPr txBox="1"/>
          <p:nvPr/>
        </p:nvSpPr>
        <p:spPr>
          <a:xfrm>
            <a:off x="1783080" y="1650492"/>
            <a:ext cx="9722815" cy="379476"/>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Tablo, Grafik, Şekil ve/veya Diyagram Okuma ve Yorumlama</a:t>
            </a:r>
          </a:p>
        </p:txBody>
      </p:sp>
      <p:sp>
        <p:nvSpPr>
          <p:cNvPr id="11" name="TextBox 10"/>
          <p:cNvSpPr txBox="1"/>
          <p:nvPr/>
        </p:nvSpPr>
        <p:spPr>
          <a:xfrm>
            <a:off x="502920" y="2130552"/>
            <a:ext cx="11185855" cy="457200"/>
          </a:xfrm>
          <a:prstGeom prst="rect">
            <a:avLst/>
          </a:prstGeom>
          <a:noFill/>
        </p:spPr>
        <p:txBody>
          <a:bodyPr wrap="square" anchor="ctr" lIns="73152" rIns="73152" tIns="36576" bIns="36576">
            <a:noAutofit/>
          </a:bodyPr>
          <a:lstStyle/>
          <a:p>
            <a:pPr algn="l">
              <a:spcBef>
                <a:spcPts val="0"/>
              </a:spcBef>
              <a:spcAft>
                <a:spcPts val="0"/>
              </a:spcAft>
            </a:pPr>
            <a:r>
              <a:rPr lang="tr-TR" sz="1900" b="0" i="1">
                <a:solidFill>
                  <a:srgbClr val="262626"/>
                </a:solidFill>
                <a:latin typeface="Calibri"/>
              </a:rPr>
              <a:t>Yönerge 1: Aşağıda verilen soruları grafik, karekoddaki video ve belgeden yararlanarak cevaplayınız.</a:t>
            </a:r>
          </a:p>
        </p:txBody>
      </p:sp>
      <p:pic>
        <p:nvPicPr>
          <p:cNvPr id="12" name="Picture 11" descr="h20_milyar_grafigi_s143.jpg"/>
          <p:cNvPicPr>
            <a:picLocks noChangeAspect="1"/>
          </p:cNvPicPr>
          <p:nvPr/>
        </p:nvPicPr>
        <p:blipFill>
          <a:blip r:embed="rId3"/>
          <a:stretch>
            <a:fillRect/>
          </a:stretch>
        </p:blipFill>
        <p:spPr>
          <a:xfrm>
            <a:off x="502920" y="2679192"/>
            <a:ext cx="5541871" cy="3566159"/>
          </a:xfrm>
          <a:prstGeom prst="rect">
            <a:avLst/>
          </a:prstGeom>
          <a:ln w="9525">
            <a:solidFill>
              <a:srgbClr val="D9D9D9"/>
            </a:solidFill>
          </a:ln>
        </p:spPr>
      </p:pic>
      <p:sp>
        <p:nvSpPr>
          <p:cNvPr id="13" name="Rounded Rectangle 12"/>
          <p:cNvSpPr/>
          <p:nvPr/>
        </p:nvSpPr>
        <p:spPr>
          <a:xfrm>
            <a:off x="6319111" y="2679192"/>
            <a:ext cx="5369663" cy="3566160"/>
          </a:xfrm>
          <a:prstGeom prst="roundRect">
            <a:avLst>
              <a:gd name="adj" fmla="val 8000"/>
            </a:avLst>
          </a:prstGeom>
          <a:solidFill>
            <a:srgbClr val="F0F0F0"/>
          </a:solidFill>
          <a:ln>
            <a:noFill/>
          </a:ln>
          <a:effectLst/>
        </p:spPr>
        <p:txBody>
          <a:bodyPr rtlCol="0" anchor="t" wrap="square" lIns="228600" rIns="228600" tIns="73152" bIns="73152">
            <a:noAutofit/>
          </a:bodyPr>
          <a:lstStyle/>
          <a:p>
            <a:pPr algn="l">
              <a:spcBef>
                <a:spcPts val="0"/>
              </a:spcBef>
              <a:spcAft>
                <a:spcPts val="800"/>
              </a:spcAft>
            </a:pPr>
            <a:r>
              <a:rPr lang="tr-TR" sz="2100" b="1" i="0">
                <a:solidFill>
                  <a:srgbClr val="2C6696"/>
                </a:solidFill>
                <a:latin typeface="Calibri"/>
              </a:rPr>
              <a:t>Bugün: Yönerge 1</a:t>
            </a:r>
          </a:p>
          <a:p>
            <a:pPr algn="l" marL="261051" indent="-261051">
              <a:spcBef>
                <a:spcPts val="0"/>
              </a:spcBef>
              <a:spcAft>
                <a:spcPts val="800"/>
              </a:spcAft>
            </a:pPr>
            <a:r>
              <a:rPr lang="tr-TR" sz="2100" b="1" i="0">
                <a:solidFill>
                  <a:srgbClr val="2C6696"/>
                </a:solidFill>
                <a:latin typeface="Calibri"/>
              </a:rPr>
              <a:t>•  </a:t>
            </a:r>
            <a:r>
              <a:rPr lang="tr-TR" sz="2100" b="0" i="0">
                <a:solidFill>
                  <a:srgbClr val="262626"/>
                </a:solidFill>
                <a:latin typeface="Calibri"/>
              </a:rPr>
              <a:t>1-2. sorular: eksenler ve ilişki · 5 dk</a:t>
            </a:r>
          </a:p>
          <a:p>
            <a:pPr algn="l" marL="261051" indent="-261051">
              <a:spcBef>
                <a:spcPts val="0"/>
              </a:spcBef>
              <a:spcAft>
                <a:spcPts val="800"/>
              </a:spcAft>
            </a:pPr>
            <a:r>
              <a:rPr lang="tr-TR" sz="2100" b="1" i="0">
                <a:solidFill>
                  <a:srgbClr val="2C6696"/>
                </a:solidFill>
                <a:latin typeface="Calibri"/>
              </a:rPr>
              <a:t>•  </a:t>
            </a:r>
            <a:r>
              <a:rPr lang="tr-TR" sz="2100" b="0" i="0">
                <a:solidFill>
                  <a:srgbClr val="262626"/>
                </a:solidFill>
                <a:latin typeface="Calibri"/>
              </a:rPr>
              <a:t>Karekod: video ve belge, öğretmenimizin bilgisayarından · 3 dk</a:t>
            </a:r>
          </a:p>
          <a:p>
            <a:pPr algn="l" marL="261051" indent="-261051">
              <a:spcBef>
                <a:spcPts val="0"/>
              </a:spcBef>
              <a:spcAft>
                <a:spcPts val="800"/>
              </a:spcAft>
            </a:pPr>
            <a:r>
              <a:rPr lang="tr-TR" sz="2100" b="1" i="0">
                <a:solidFill>
                  <a:srgbClr val="2C6696"/>
                </a:solidFill>
                <a:latin typeface="Calibri"/>
              </a:rPr>
              <a:t>•  </a:t>
            </a:r>
            <a:r>
              <a:rPr lang="tr-TR" sz="2100" b="0" i="0">
                <a:solidFill>
                  <a:srgbClr val="262626"/>
                </a:solidFill>
                <a:latin typeface="Calibri"/>
              </a:rPr>
              <a:t>3. soru: üç genelleme · 8 dk</a:t>
            </a:r>
          </a:p>
          <a:p>
            <a:pPr algn="l">
              <a:spcBef>
                <a:spcPts val="0"/>
              </a:spcBef>
              <a:spcAft>
                <a:spcPts val="0"/>
              </a:spcAft>
            </a:pPr>
            <a:r>
              <a:rPr lang="tr-TR" sz="2100" b="0" i="1">
                <a:solidFill>
                  <a:srgbClr val="767676"/>
                </a:solidFill>
                <a:latin typeface="Calibri"/>
              </a:rPr>
              <a:t>Yönerge 2 (4-5. sorular): gelecek hafta</a:t>
            </a:r>
          </a:p>
        </p:txBody>
      </p:sp>
      <p:sp>
        <p:nvSpPr>
          <p:cNvPr id="14" name="TextBox 1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15" name="Rounded Rectangle 1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143</a:t>
            </a:r>
          </a:p>
        </p:txBody>
      </p:sp>
      <p:sp>
        <p:nvSpPr>
          <p:cNvPr id="16" name="TextBox 1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29 / 379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Sorular 1-2: eksenler ve ilişki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ETKİNLİK · 1-2</a:t>
            </a:r>
          </a:p>
        </p:txBody>
      </p:sp>
      <p:pic>
        <p:nvPicPr>
          <p:cNvPr id="6" name="Picture 5" descr="h20_milyar_grafigi_s143.jpg"/>
          <p:cNvPicPr>
            <a:picLocks noChangeAspect="1"/>
          </p:cNvPicPr>
          <p:nvPr/>
        </p:nvPicPr>
        <p:blipFill>
          <a:blip r:embed="rId3"/>
          <a:stretch>
            <a:fillRect/>
          </a:stretch>
        </p:blipFill>
        <p:spPr>
          <a:xfrm>
            <a:off x="502920" y="1216152"/>
            <a:ext cx="7744410" cy="4983480"/>
          </a:xfrm>
          <a:prstGeom prst="rect">
            <a:avLst/>
          </a:prstGeom>
          <a:ln w="9525">
            <a:solidFill>
              <a:srgbClr val="D9D9D9"/>
            </a:solidFill>
          </a:ln>
        </p:spPr>
      </p:pic>
      <p:sp>
        <p:nvSpPr>
          <p:cNvPr id="7" name="Oval 6"/>
          <p:cNvSpPr/>
          <p:nvPr/>
        </p:nvSpPr>
        <p:spPr>
          <a:xfrm>
            <a:off x="8521650" y="1574800"/>
            <a:ext cx="347472" cy="347472"/>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8" name="TextBox 7"/>
          <p:cNvSpPr txBox="1"/>
          <p:nvPr/>
        </p:nvSpPr>
        <p:spPr>
          <a:xfrm>
            <a:off x="8933130" y="1216152"/>
            <a:ext cx="2755644" cy="106476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Grafikteki yatay ve dikey eksenler ne ifade etmektedir?</a:t>
            </a:r>
          </a:p>
        </p:txBody>
      </p:sp>
      <p:sp>
        <p:nvSpPr>
          <p:cNvPr id="9" name="Rounded Rectangle 8"/>
          <p:cNvSpPr/>
          <p:nvPr/>
        </p:nvSpPr>
        <p:spPr>
          <a:xfrm>
            <a:off x="8933130" y="2354072"/>
            <a:ext cx="2755644" cy="1059050"/>
          </a:xfrm>
          <a:prstGeom prst="roundRect">
            <a:avLst>
              <a:gd name="adj" fmla="val 8000"/>
            </a:avLst>
          </a:prstGeom>
          <a:solidFill>
            <a:srgbClr val="FFFFFF"/>
          </a:solidFill>
          <a:ln w="12700">
            <a:solidFill>
              <a:srgbClr val="D9D9D9"/>
            </a:solidFill>
          </a:ln>
          <a:effectLst/>
        </p:spPr>
        <p:txBody>
          <a:bodyPr rtlCol="0" anchor="ctr"/>
          <a:lstStyle/>
          <a:p/>
        </p:txBody>
      </p:sp>
      <p:cxnSp>
        <p:nvCxnSpPr>
          <p:cNvPr id="10" name="Connector 9"/>
          <p:cNvCxnSpPr/>
          <p:nvPr/>
        </p:nvCxnSpPr>
        <p:spPr>
          <a:xfrm>
            <a:off x="9116010" y="2707088"/>
            <a:ext cx="2389885" cy="0"/>
          </a:xfrm>
          <a:prstGeom prst="line">
            <a:avLst/>
          </a:prstGeom>
          <a:ln w="12700">
            <a:solidFill>
              <a:srgbClr val="D9D9D9"/>
            </a:solidFill>
            <a:prstDash val="dash"/>
          </a:ln>
        </p:spPr>
      </p:cxnSp>
      <p:cxnSp>
        <p:nvCxnSpPr>
          <p:cNvPr id="11" name="Connector 10"/>
          <p:cNvCxnSpPr/>
          <p:nvPr/>
        </p:nvCxnSpPr>
        <p:spPr>
          <a:xfrm>
            <a:off x="9116010" y="3060105"/>
            <a:ext cx="2389885" cy="0"/>
          </a:xfrm>
          <a:prstGeom prst="line">
            <a:avLst/>
          </a:prstGeom>
          <a:ln w="12700">
            <a:solidFill>
              <a:srgbClr val="D9D9D9"/>
            </a:solidFill>
            <a:prstDash val="dash"/>
          </a:ln>
        </p:spPr>
      </p:cxnSp>
      <p:sp>
        <p:nvSpPr>
          <p:cNvPr id="12" name="Oval 11"/>
          <p:cNvSpPr/>
          <p:nvPr/>
        </p:nvSpPr>
        <p:spPr>
          <a:xfrm>
            <a:off x="8521650" y="3844922"/>
            <a:ext cx="347472" cy="347472"/>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2</a:t>
            </a:r>
          </a:p>
        </p:txBody>
      </p:sp>
      <p:sp>
        <p:nvSpPr>
          <p:cNvPr id="13" name="TextBox 12"/>
          <p:cNvSpPr txBox="1"/>
          <p:nvPr/>
        </p:nvSpPr>
        <p:spPr>
          <a:xfrm>
            <a:off x="8933130" y="3486274"/>
            <a:ext cx="2755644" cy="106476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Grafikteki eksenler arasında nasıl bir ilişki vardır?</a:t>
            </a:r>
          </a:p>
        </p:txBody>
      </p:sp>
      <p:sp>
        <p:nvSpPr>
          <p:cNvPr id="14" name="Rounded Rectangle 13"/>
          <p:cNvSpPr/>
          <p:nvPr/>
        </p:nvSpPr>
        <p:spPr>
          <a:xfrm>
            <a:off x="8933130" y="4624194"/>
            <a:ext cx="2755644" cy="1621157"/>
          </a:xfrm>
          <a:prstGeom prst="roundRect">
            <a:avLst>
              <a:gd name="adj" fmla="val 8000"/>
            </a:avLst>
          </a:prstGeom>
          <a:solidFill>
            <a:srgbClr val="FFFFFF"/>
          </a:solidFill>
          <a:ln w="12700">
            <a:solidFill>
              <a:srgbClr val="D9D9D9"/>
            </a:solidFill>
          </a:ln>
          <a:effectLst/>
        </p:spPr>
        <p:txBody>
          <a:bodyPr rtlCol="0" anchor="ctr"/>
          <a:lstStyle/>
          <a:p/>
        </p:txBody>
      </p:sp>
      <p:cxnSp>
        <p:nvCxnSpPr>
          <p:cNvPr id="15" name="Connector 14"/>
          <p:cNvCxnSpPr/>
          <p:nvPr/>
        </p:nvCxnSpPr>
        <p:spPr>
          <a:xfrm>
            <a:off x="9116010" y="4948425"/>
            <a:ext cx="2389885" cy="0"/>
          </a:xfrm>
          <a:prstGeom prst="line">
            <a:avLst/>
          </a:prstGeom>
          <a:ln w="12700">
            <a:solidFill>
              <a:srgbClr val="D9D9D9"/>
            </a:solidFill>
            <a:prstDash val="dash"/>
          </a:ln>
        </p:spPr>
      </p:cxnSp>
      <p:cxnSp>
        <p:nvCxnSpPr>
          <p:cNvPr id="16" name="Connector 15"/>
          <p:cNvCxnSpPr/>
          <p:nvPr/>
        </p:nvCxnSpPr>
        <p:spPr>
          <a:xfrm>
            <a:off x="9116010" y="5272656"/>
            <a:ext cx="2389885" cy="0"/>
          </a:xfrm>
          <a:prstGeom prst="line">
            <a:avLst/>
          </a:prstGeom>
          <a:ln w="12700">
            <a:solidFill>
              <a:srgbClr val="D9D9D9"/>
            </a:solidFill>
            <a:prstDash val="dash"/>
          </a:ln>
        </p:spPr>
      </p:cxnSp>
      <p:cxnSp>
        <p:nvCxnSpPr>
          <p:cNvPr id="17" name="Connector 16"/>
          <p:cNvCxnSpPr/>
          <p:nvPr/>
        </p:nvCxnSpPr>
        <p:spPr>
          <a:xfrm>
            <a:off x="9116010" y="5596888"/>
            <a:ext cx="2389885" cy="0"/>
          </a:xfrm>
          <a:prstGeom prst="line">
            <a:avLst/>
          </a:prstGeom>
          <a:ln w="12700">
            <a:solidFill>
              <a:srgbClr val="D9D9D9"/>
            </a:solidFill>
            <a:prstDash val="dash"/>
          </a:ln>
        </p:spPr>
      </p:cxnSp>
      <p:cxnSp>
        <p:nvCxnSpPr>
          <p:cNvPr id="18" name="Connector 17"/>
          <p:cNvCxnSpPr/>
          <p:nvPr/>
        </p:nvCxnSpPr>
        <p:spPr>
          <a:xfrm>
            <a:off x="9116010" y="5921119"/>
            <a:ext cx="2389885" cy="0"/>
          </a:xfrm>
          <a:prstGeom prst="line">
            <a:avLst/>
          </a:prstGeom>
          <a:ln w="12700">
            <a:solidFill>
              <a:srgbClr val="D9D9D9"/>
            </a:solidFill>
            <a:prstDash val="dash"/>
          </a:ln>
        </p:spPr>
      </p:cxn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143</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30 / 379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Sorular 1-2: eksenler ve ilişki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20_milyar_grafigi_s143.jpg"/>
          <p:cNvPicPr>
            <a:picLocks noChangeAspect="1"/>
          </p:cNvPicPr>
          <p:nvPr/>
        </p:nvPicPr>
        <p:blipFill>
          <a:blip r:embed="rId3"/>
          <a:stretch>
            <a:fillRect/>
          </a:stretch>
        </p:blipFill>
        <p:spPr>
          <a:xfrm>
            <a:off x="502920" y="1216152"/>
            <a:ext cx="7744410" cy="4983480"/>
          </a:xfrm>
          <a:prstGeom prst="rect">
            <a:avLst/>
          </a:prstGeom>
          <a:ln w="9525">
            <a:solidFill>
              <a:srgbClr val="D9D9D9"/>
            </a:solidFill>
          </a:ln>
        </p:spPr>
      </p:pic>
      <p:cxnSp>
        <p:nvCxnSpPr>
          <p:cNvPr id="7" name="Connector 6"/>
          <p:cNvCxnSpPr/>
          <p:nvPr/>
        </p:nvCxnSpPr>
        <p:spPr>
          <a:xfrm>
            <a:off x="805211" y="5580297"/>
            <a:ext cx="5812626" cy="0"/>
          </a:xfrm>
          <a:prstGeom prst="line">
            <a:avLst/>
          </a:prstGeom>
          <a:ln w="50800">
            <a:solidFill>
              <a:srgbClr val="D3373A"/>
            </a:solidFill>
            <a:tailEnd type="triangle" w="med" len="med"/>
          </a:ln>
        </p:spPr>
      </p:cxnSp>
      <p:cxnSp>
        <p:nvCxnSpPr>
          <p:cNvPr id="8" name="Connector 7"/>
          <p:cNvCxnSpPr/>
          <p:nvPr/>
        </p:nvCxnSpPr>
        <p:spPr>
          <a:xfrm flipV="1">
            <a:off x="7530468" y="2054413"/>
            <a:ext cx="0" cy="3474033"/>
          </a:xfrm>
          <a:prstGeom prst="line">
            <a:avLst/>
          </a:prstGeom>
          <a:ln w="50800">
            <a:solidFill>
              <a:srgbClr val="2E7D32"/>
            </a:solidFill>
            <a:tailEnd type="triangle" w="med" len="med"/>
          </a:ln>
        </p:spPr>
      </p:cxnSp>
      <p:sp>
        <p:nvSpPr>
          <p:cNvPr id="9" name="Rounded Rectangle 8"/>
          <p:cNvSpPr/>
          <p:nvPr/>
        </p:nvSpPr>
        <p:spPr>
          <a:xfrm>
            <a:off x="1926449" y="3213640"/>
            <a:ext cx="2651760" cy="585216"/>
          </a:xfrm>
          <a:prstGeom prst="roundRect">
            <a:avLst>
              <a:gd name="adj" fmla="val 25000"/>
            </a:avLst>
          </a:prstGeom>
          <a:solidFill>
            <a:srgbClr val="FFF3D1"/>
          </a:solidFill>
          <a:ln w="15875">
            <a:solidFill>
              <a:srgbClr val="FCC021"/>
            </a:solidFill>
          </a:ln>
          <a:effectLst/>
        </p:spPr>
        <p:txBody>
          <a:bodyPr rtlCol="0" anchor="ctr" wrap="square" lIns="36576" rIns="36576" tIns="0" bIns="0">
            <a:noAutofit/>
          </a:bodyPr>
          <a:lstStyle/>
          <a:p>
            <a:pPr algn="ctr">
              <a:spcBef>
                <a:spcPts val="0"/>
              </a:spcBef>
              <a:spcAft>
                <a:spcPts val="0"/>
              </a:spcAft>
            </a:pPr>
            <a:r>
              <a:rPr lang="tr-TR" sz="1600" b="1" i="0">
                <a:solidFill>
                  <a:srgbClr val="262626"/>
                </a:solidFill>
                <a:latin typeface="Calibri"/>
              </a:rPr>
              <a:t>1800'lerden sonra eğri dikleşir</a:t>
            </a:r>
          </a:p>
        </p:txBody>
      </p:sp>
      <p:cxnSp>
        <p:nvCxnSpPr>
          <p:cNvPr id="10" name="Connector 9"/>
          <p:cNvCxnSpPr/>
          <p:nvPr/>
        </p:nvCxnSpPr>
        <p:spPr>
          <a:xfrm>
            <a:off x="4578209" y="3506248"/>
            <a:ext cx="1387804" cy="1612013"/>
          </a:xfrm>
          <a:prstGeom prst="line">
            <a:avLst/>
          </a:prstGeom>
          <a:ln w="38100">
            <a:solidFill>
              <a:srgbClr val="FCC021"/>
            </a:solidFill>
            <a:tailEnd type="triangle" w="med" len="med"/>
          </a:ln>
        </p:spPr>
      </p:cxnSp>
      <p:sp>
        <p:nvSpPr>
          <p:cNvPr id="11" name="Oval 10"/>
          <p:cNvSpPr/>
          <p:nvPr/>
        </p:nvSpPr>
        <p:spPr>
          <a:xfrm>
            <a:off x="8521650" y="1574800"/>
            <a:ext cx="347472" cy="347472"/>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1</a:t>
            </a:r>
          </a:p>
        </p:txBody>
      </p:sp>
      <p:sp>
        <p:nvSpPr>
          <p:cNvPr id="12" name="TextBox 11"/>
          <p:cNvSpPr txBox="1"/>
          <p:nvPr/>
        </p:nvSpPr>
        <p:spPr>
          <a:xfrm>
            <a:off x="8933130" y="1216152"/>
            <a:ext cx="2755644" cy="106476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Grafikteki yatay ve dikey eksenler ne ifade etmektedir?</a:t>
            </a:r>
          </a:p>
        </p:txBody>
      </p:sp>
      <p:sp>
        <p:nvSpPr>
          <p:cNvPr id="13" name="Rounded Rectangle 12"/>
          <p:cNvSpPr/>
          <p:nvPr/>
        </p:nvSpPr>
        <p:spPr>
          <a:xfrm>
            <a:off x="8933130" y="2354072"/>
            <a:ext cx="2755644" cy="1059050"/>
          </a:xfrm>
          <a:prstGeom prst="roundRect">
            <a:avLst>
              <a:gd name="adj" fmla="val 8000"/>
            </a:avLst>
          </a:prstGeom>
          <a:solidFill>
            <a:srgbClr val="E3F1E4"/>
          </a:solidFill>
          <a:ln w="12700">
            <a:solidFill>
              <a:srgbClr val="2E7D32"/>
            </a:solidFill>
          </a:ln>
          <a:effectLst/>
        </p:spPr>
        <p:txBody>
          <a:bodyPr rtlCol="0" anchor="ctr" wrap="square" lIns="137160" rIns="137160" tIns="73152" bIns="73152">
            <a:noAutofit/>
          </a:bodyPr>
          <a:lstStyle/>
          <a:p>
            <a:pPr algn="l">
              <a:spcBef>
                <a:spcPts val="0"/>
              </a:spcBef>
              <a:spcAft>
                <a:spcPts val="0"/>
              </a:spcAft>
            </a:pPr>
            <a:r>
              <a:rPr lang="tr-TR" sz="1750" b="0" i="0">
                <a:solidFill>
                  <a:srgbClr val="262626"/>
                </a:solidFill>
                <a:latin typeface="Calibri"/>
              </a:rPr>
              <a:t>Yatay eksen: yıllar (zaman). Dikey eksen: nüfus miktarı (milyar).</a:t>
            </a:r>
          </a:p>
        </p:txBody>
      </p:sp>
      <p:sp>
        <p:nvSpPr>
          <p:cNvPr id="14" name="Oval 13"/>
          <p:cNvSpPr/>
          <p:nvPr/>
        </p:nvSpPr>
        <p:spPr>
          <a:xfrm>
            <a:off x="8521650" y="3844922"/>
            <a:ext cx="347472" cy="347472"/>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2</a:t>
            </a:r>
          </a:p>
        </p:txBody>
      </p:sp>
      <p:sp>
        <p:nvSpPr>
          <p:cNvPr id="15" name="TextBox 14"/>
          <p:cNvSpPr txBox="1"/>
          <p:nvPr/>
        </p:nvSpPr>
        <p:spPr>
          <a:xfrm>
            <a:off x="8933130" y="3486274"/>
            <a:ext cx="2755644" cy="106476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262626"/>
                </a:solidFill>
                <a:latin typeface="Calibri"/>
              </a:rPr>
              <a:t>Grafikteki eksenler arasında nasıl bir ilişki vardır?</a:t>
            </a:r>
          </a:p>
        </p:txBody>
      </p:sp>
      <p:sp>
        <p:nvSpPr>
          <p:cNvPr id="16" name="Rounded Rectangle 15"/>
          <p:cNvSpPr/>
          <p:nvPr/>
        </p:nvSpPr>
        <p:spPr>
          <a:xfrm>
            <a:off x="8933130" y="4624194"/>
            <a:ext cx="2755644" cy="1621157"/>
          </a:xfrm>
          <a:prstGeom prst="roundRect">
            <a:avLst>
              <a:gd name="adj" fmla="val 8000"/>
            </a:avLst>
          </a:prstGeom>
          <a:solidFill>
            <a:srgbClr val="E3F1E4"/>
          </a:solidFill>
          <a:ln w="12700">
            <a:solidFill>
              <a:srgbClr val="2E7D32"/>
            </a:solidFill>
          </a:ln>
          <a:effectLst/>
        </p:spPr>
        <p:txBody>
          <a:bodyPr rtlCol="0" anchor="ctr" wrap="square" lIns="137160" rIns="137160" tIns="73152" bIns="73152">
            <a:noAutofit/>
          </a:bodyPr>
          <a:lstStyle/>
          <a:p>
            <a:pPr algn="l">
              <a:spcBef>
                <a:spcPts val="0"/>
              </a:spcBef>
              <a:spcAft>
                <a:spcPts val="0"/>
              </a:spcAft>
            </a:pPr>
            <a:r>
              <a:rPr lang="tr-TR" sz="1700" b="0" i="0">
                <a:solidFill>
                  <a:srgbClr val="262626"/>
                </a:solidFill>
                <a:latin typeface="Calibri"/>
              </a:rPr>
              <a:t>Zaman ilerledikçe nüfus artar. Eğri uzun süre neredeyse yataydır; 1800'lerden sonra dikleşir, yani nüfus artışı hızlanır.</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143</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31 / 379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Soru 3: genellemeler ve birer milyarlık artış</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ETKİNLİK · 3</a:t>
            </a:r>
          </a:p>
        </p:txBody>
      </p:sp>
      <p:graphicFrame>
        <p:nvGraphicFramePr>
          <p:cNvPr id="6" name="Table 5"/>
          <p:cNvGraphicFramePr>
            <a:graphicFrameLocks noGrp="1"/>
          </p:cNvGraphicFramePr>
          <p:nvPr/>
        </p:nvGraphicFramePr>
        <p:xfrm>
          <a:off x="502920" y="1216152"/>
          <a:ext cx="4846320" cy="4123944"/>
        </p:xfrm>
        <a:graphic>
          <a:graphicData uri="http://schemas.openxmlformats.org/drawingml/2006/table">
            <a:tbl>
              <a:tblPr firstRow="1" bandRow="1">
                <a:tableStyleId>{5C22544A-7EE6-4342-B048-85BDC9FD1C3A}</a:tableStyleId>
              </a:tblPr>
              <a:tblGrid>
                <a:gridCol w="1841601"/>
                <a:gridCol w="1793138"/>
                <a:gridCol w="1211581"/>
              </a:tblGrid>
              <a:tr h="420624">
                <a:tc>
                  <a:txBody>
                    <a:bodyPr wrap="square"/>
                    <a:lstStyle/>
                    <a:p>
                      <a:pPr algn="ctr">
                        <a:spcBef>
                          <a:spcPts val="0"/>
                        </a:spcBef>
                        <a:spcAft>
                          <a:spcPts val="0"/>
                        </a:spcAft>
                      </a:pPr>
                      <a:r>
                        <a:rPr lang="tr-TR" sz="1800" b="1" i="0">
                          <a:solidFill>
                            <a:srgbClr val="FFFFFF"/>
                          </a:solidFill>
                          <a:latin typeface="Calibri"/>
                        </a:rPr>
                        <a:t>Basamak</a:t>
                      </a:r>
                    </a:p>
                  </a:txBody>
                  <a:tcPr marL="54864" marR="54864" marT="18288" marB="18288" anchor="ctr">
                    <a:solidFill>
                      <a:srgbClr val="2C6696"/>
                    </a:solidFill>
                  </a:tcPr>
                </a:tc>
                <a:tc>
                  <a:txBody>
                    <a:bodyPr wrap="square"/>
                    <a:lstStyle/>
                    <a:p>
                      <a:pPr algn="ctr">
                        <a:spcBef>
                          <a:spcPts val="0"/>
                        </a:spcBef>
                        <a:spcAft>
                          <a:spcPts val="0"/>
                        </a:spcAft>
                      </a:pPr>
                      <a:r>
                        <a:rPr lang="tr-TR" sz="1800" b="1" i="0">
                          <a:solidFill>
                            <a:srgbClr val="FFFFFF"/>
                          </a:solidFill>
                          <a:latin typeface="Calibri"/>
                        </a:rPr>
                        <a:t>Yıllar</a:t>
                      </a:r>
                    </a:p>
                  </a:txBody>
                  <a:tcPr marL="54864" marR="54864" marT="18288" marB="18288" anchor="ctr">
                    <a:solidFill>
                      <a:srgbClr val="2C6696"/>
                    </a:solidFill>
                  </a:tcPr>
                </a:tc>
                <a:tc>
                  <a:txBody>
                    <a:bodyPr wrap="square"/>
                    <a:lstStyle/>
                    <a:p>
                      <a:pPr algn="ctr">
                        <a:spcBef>
                          <a:spcPts val="0"/>
                        </a:spcBef>
                        <a:spcAft>
                          <a:spcPts val="0"/>
                        </a:spcAft>
                      </a:pPr>
                      <a:r>
                        <a:rPr lang="tr-TR" sz="1800" b="1" i="0">
                          <a:solidFill>
                            <a:srgbClr val="FFFFFF"/>
                          </a:solidFill>
                          <a:latin typeface="Calibri"/>
                        </a:rPr>
                        <a:t>Süre (yıl)</a:t>
                      </a:r>
                    </a:p>
                  </a:txBody>
                  <a:tcPr marL="54864" marR="54864" marT="18288" marB="18288" anchor="ctr">
                    <a:solidFill>
                      <a:srgbClr val="2C6696"/>
                    </a:solidFill>
                  </a:tcPr>
                </a:tc>
              </a:tr>
              <a:tr h="411480">
                <a:tc>
                  <a:txBody>
                    <a:bodyPr wrap="square"/>
                    <a:lstStyle/>
                    <a:p>
                      <a:pPr algn="ctr">
                        <a:spcBef>
                          <a:spcPts val="0"/>
                        </a:spcBef>
                        <a:spcAft>
                          <a:spcPts val="0"/>
                        </a:spcAft>
                      </a:pPr>
                      <a:r>
                        <a:rPr lang="tr-TR" sz="1900" b="0" i="0">
                          <a:solidFill>
                            <a:srgbClr val="262626"/>
                          </a:solidFill>
                          <a:latin typeface="Calibri"/>
                        </a:rPr>
                        <a:t>1 → 2 milyar</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1804 → 1927</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a:t>
                      </a:r>
                    </a:p>
                  </a:txBody>
                  <a:tcPr marL="54864" marR="54864" marT="18288" marB="18288" anchor="ctr">
                    <a:solidFill>
                      <a:srgbClr val="FFFFFF"/>
                    </a:solidFill>
                  </a:tcPr>
                </a:tc>
              </a:tr>
              <a:tr h="411480">
                <a:tc>
                  <a:txBody>
                    <a:bodyPr wrap="square"/>
                    <a:lstStyle/>
                    <a:p>
                      <a:pPr algn="ctr">
                        <a:spcBef>
                          <a:spcPts val="0"/>
                        </a:spcBef>
                        <a:spcAft>
                          <a:spcPts val="0"/>
                        </a:spcAft>
                      </a:pPr>
                      <a:r>
                        <a:rPr lang="tr-TR" sz="1900" b="0" i="0">
                          <a:solidFill>
                            <a:srgbClr val="262626"/>
                          </a:solidFill>
                          <a:latin typeface="Calibri"/>
                        </a:rPr>
                        <a:t>2 → 3 milyar</a:t>
                      </a:r>
                    </a:p>
                  </a:txBody>
                  <a:tcPr marL="54864" marR="54864" marT="18288" marB="18288" anchor="ctr">
                    <a:solidFill>
                      <a:srgbClr val="E3ECF5"/>
                    </a:solidFill>
                  </a:tcPr>
                </a:tc>
                <a:tc>
                  <a:txBody>
                    <a:bodyPr wrap="square"/>
                    <a:lstStyle/>
                    <a:p>
                      <a:pPr algn="ctr">
                        <a:spcBef>
                          <a:spcPts val="0"/>
                        </a:spcBef>
                        <a:spcAft>
                          <a:spcPts val="0"/>
                        </a:spcAft>
                      </a:pPr>
                      <a:r>
                        <a:rPr lang="tr-TR" sz="1900" b="0" i="0">
                          <a:solidFill>
                            <a:srgbClr val="262626"/>
                          </a:solidFill>
                          <a:latin typeface="Calibri"/>
                        </a:rPr>
                        <a:t>1927 → 1960</a:t>
                      </a:r>
                    </a:p>
                  </a:txBody>
                  <a:tcPr marL="54864" marR="54864" marT="18288" marB="18288" anchor="ctr">
                    <a:solidFill>
                      <a:srgbClr val="E3ECF5"/>
                    </a:solidFill>
                  </a:tcPr>
                </a:tc>
                <a:tc>
                  <a:txBody>
                    <a:bodyPr wrap="square"/>
                    <a:lstStyle/>
                    <a:p>
                      <a:pPr algn="ctr">
                        <a:spcBef>
                          <a:spcPts val="0"/>
                        </a:spcBef>
                        <a:spcAft>
                          <a:spcPts val="0"/>
                        </a:spcAft>
                      </a:pPr>
                      <a:r>
                        <a:rPr lang="tr-TR" sz="1900" b="0" i="0">
                          <a:solidFill>
                            <a:srgbClr val="262626"/>
                          </a:solidFill>
                          <a:latin typeface="Calibri"/>
                        </a:rPr>
                        <a:t>……</a:t>
                      </a:r>
                    </a:p>
                  </a:txBody>
                  <a:tcPr marL="54864" marR="54864" marT="18288" marB="18288" anchor="ctr">
                    <a:solidFill>
                      <a:srgbClr val="E3ECF5"/>
                    </a:solidFill>
                  </a:tcPr>
                </a:tc>
              </a:tr>
              <a:tr h="411480">
                <a:tc>
                  <a:txBody>
                    <a:bodyPr wrap="square"/>
                    <a:lstStyle/>
                    <a:p>
                      <a:pPr algn="ctr">
                        <a:spcBef>
                          <a:spcPts val="0"/>
                        </a:spcBef>
                        <a:spcAft>
                          <a:spcPts val="0"/>
                        </a:spcAft>
                      </a:pPr>
                      <a:r>
                        <a:rPr lang="tr-TR" sz="1900" b="0" i="0">
                          <a:solidFill>
                            <a:srgbClr val="262626"/>
                          </a:solidFill>
                          <a:latin typeface="Calibri"/>
                        </a:rPr>
                        <a:t>3 → 4 milyar</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1960 → 1974</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a:t>
                      </a:r>
                    </a:p>
                  </a:txBody>
                  <a:tcPr marL="54864" marR="54864" marT="18288" marB="18288" anchor="ctr">
                    <a:solidFill>
                      <a:srgbClr val="FFFFFF"/>
                    </a:solidFill>
                  </a:tcPr>
                </a:tc>
              </a:tr>
              <a:tr h="411480">
                <a:tc>
                  <a:txBody>
                    <a:bodyPr wrap="square"/>
                    <a:lstStyle/>
                    <a:p>
                      <a:pPr algn="ctr">
                        <a:spcBef>
                          <a:spcPts val="0"/>
                        </a:spcBef>
                        <a:spcAft>
                          <a:spcPts val="0"/>
                        </a:spcAft>
                      </a:pPr>
                      <a:r>
                        <a:rPr lang="tr-TR" sz="1900" b="0" i="0">
                          <a:solidFill>
                            <a:srgbClr val="262626"/>
                          </a:solidFill>
                          <a:latin typeface="Calibri"/>
                        </a:rPr>
                        <a:t>4 → 5 milyar</a:t>
                      </a:r>
                    </a:p>
                  </a:txBody>
                  <a:tcPr marL="54864" marR="54864" marT="18288" marB="18288" anchor="ctr">
                    <a:solidFill>
                      <a:srgbClr val="E3ECF5"/>
                    </a:solidFill>
                  </a:tcPr>
                </a:tc>
                <a:tc>
                  <a:txBody>
                    <a:bodyPr wrap="square"/>
                    <a:lstStyle/>
                    <a:p>
                      <a:pPr algn="ctr">
                        <a:spcBef>
                          <a:spcPts val="0"/>
                        </a:spcBef>
                        <a:spcAft>
                          <a:spcPts val="0"/>
                        </a:spcAft>
                      </a:pPr>
                      <a:r>
                        <a:rPr lang="tr-TR" sz="1900" b="0" i="0">
                          <a:solidFill>
                            <a:srgbClr val="262626"/>
                          </a:solidFill>
                          <a:latin typeface="Calibri"/>
                        </a:rPr>
                        <a:t>1974 → 1987</a:t>
                      </a:r>
                    </a:p>
                  </a:txBody>
                  <a:tcPr marL="54864" marR="54864" marT="18288" marB="18288" anchor="ctr">
                    <a:solidFill>
                      <a:srgbClr val="E3ECF5"/>
                    </a:solidFill>
                  </a:tcPr>
                </a:tc>
                <a:tc>
                  <a:txBody>
                    <a:bodyPr wrap="square"/>
                    <a:lstStyle/>
                    <a:p>
                      <a:pPr algn="ctr">
                        <a:spcBef>
                          <a:spcPts val="0"/>
                        </a:spcBef>
                        <a:spcAft>
                          <a:spcPts val="0"/>
                        </a:spcAft>
                      </a:pPr>
                      <a:r>
                        <a:rPr lang="tr-TR" sz="1900" b="0" i="0">
                          <a:solidFill>
                            <a:srgbClr val="262626"/>
                          </a:solidFill>
                          <a:latin typeface="Calibri"/>
                        </a:rPr>
                        <a:t>……</a:t>
                      </a:r>
                    </a:p>
                  </a:txBody>
                  <a:tcPr marL="54864" marR="54864" marT="18288" marB="18288" anchor="ctr">
                    <a:solidFill>
                      <a:srgbClr val="E3ECF5"/>
                    </a:solidFill>
                  </a:tcPr>
                </a:tc>
              </a:tr>
              <a:tr h="411480">
                <a:tc>
                  <a:txBody>
                    <a:bodyPr wrap="square"/>
                    <a:lstStyle/>
                    <a:p>
                      <a:pPr algn="ctr">
                        <a:spcBef>
                          <a:spcPts val="0"/>
                        </a:spcBef>
                        <a:spcAft>
                          <a:spcPts val="0"/>
                        </a:spcAft>
                      </a:pPr>
                      <a:r>
                        <a:rPr lang="tr-TR" sz="1900" b="0" i="0">
                          <a:solidFill>
                            <a:srgbClr val="262626"/>
                          </a:solidFill>
                          <a:latin typeface="Calibri"/>
                        </a:rPr>
                        <a:t>5 → 6 milyar</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1987 → 1998</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a:t>
                      </a:r>
                    </a:p>
                  </a:txBody>
                  <a:tcPr marL="54864" marR="54864" marT="18288" marB="18288" anchor="ctr">
                    <a:solidFill>
                      <a:srgbClr val="FFFFFF"/>
                    </a:solidFill>
                  </a:tcPr>
                </a:tc>
              </a:tr>
              <a:tr h="411480">
                <a:tc>
                  <a:txBody>
                    <a:bodyPr wrap="square"/>
                    <a:lstStyle/>
                    <a:p>
                      <a:pPr algn="ctr">
                        <a:spcBef>
                          <a:spcPts val="0"/>
                        </a:spcBef>
                        <a:spcAft>
                          <a:spcPts val="0"/>
                        </a:spcAft>
                      </a:pPr>
                      <a:r>
                        <a:rPr lang="tr-TR" sz="1900" b="0" i="0">
                          <a:solidFill>
                            <a:srgbClr val="262626"/>
                          </a:solidFill>
                          <a:latin typeface="Calibri"/>
                        </a:rPr>
                        <a:t>6 → 7 milyar</a:t>
                      </a:r>
                    </a:p>
                  </a:txBody>
                  <a:tcPr marL="54864" marR="54864" marT="18288" marB="18288" anchor="ctr">
                    <a:solidFill>
                      <a:srgbClr val="E3ECF5"/>
                    </a:solidFill>
                  </a:tcPr>
                </a:tc>
                <a:tc>
                  <a:txBody>
                    <a:bodyPr wrap="square"/>
                    <a:lstStyle/>
                    <a:p>
                      <a:pPr algn="ctr">
                        <a:spcBef>
                          <a:spcPts val="0"/>
                        </a:spcBef>
                        <a:spcAft>
                          <a:spcPts val="0"/>
                        </a:spcAft>
                      </a:pPr>
                      <a:r>
                        <a:rPr lang="tr-TR" sz="1900" b="0" i="0">
                          <a:solidFill>
                            <a:srgbClr val="262626"/>
                          </a:solidFill>
                          <a:latin typeface="Calibri"/>
                        </a:rPr>
                        <a:t>1998 → 2010</a:t>
                      </a:r>
                    </a:p>
                  </a:txBody>
                  <a:tcPr marL="54864" marR="54864" marT="18288" marB="18288" anchor="ctr">
                    <a:solidFill>
                      <a:srgbClr val="E3ECF5"/>
                    </a:solidFill>
                  </a:tcPr>
                </a:tc>
                <a:tc>
                  <a:txBody>
                    <a:bodyPr wrap="square"/>
                    <a:lstStyle/>
                    <a:p>
                      <a:pPr algn="ctr">
                        <a:spcBef>
                          <a:spcPts val="0"/>
                        </a:spcBef>
                        <a:spcAft>
                          <a:spcPts val="0"/>
                        </a:spcAft>
                      </a:pPr>
                      <a:r>
                        <a:rPr lang="tr-TR" sz="1900" b="0" i="0">
                          <a:solidFill>
                            <a:srgbClr val="262626"/>
                          </a:solidFill>
                          <a:latin typeface="Calibri"/>
                        </a:rPr>
                        <a:t>……</a:t>
                      </a:r>
                    </a:p>
                  </a:txBody>
                  <a:tcPr marL="54864" marR="54864" marT="18288" marB="18288" anchor="ctr">
                    <a:solidFill>
                      <a:srgbClr val="E3ECF5"/>
                    </a:solidFill>
                  </a:tcPr>
                </a:tc>
              </a:tr>
              <a:tr h="411480">
                <a:tc>
                  <a:txBody>
                    <a:bodyPr wrap="square"/>
                    <a:lstStyle/>
                    <a:p>
                      <a:pPr algn="ctr">
                        <a:spcBef>
                          <a:spcPts val="0"/>
                        </a:spcBef>
                        <a:spcAft>
                          <a:spcPts val="0"/>
                        </a:spcAft>
                      </a:pPr>
                      <a:r>
                        <a:rPr lang="tr-TR" sz="1900" b="0" i="0">
                          <a:solidFill>
                            <a:srgbClr val="262626"/>
                          </a:solidFill>
                          <a:latin typeface="Calibri"/>
                        </a:rPr>
                        <a:t>7 → 8 milyar</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2010 → 2022</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a:t>
                      </a:r>
                    </a:p>
                  </a:txBody>
                  <a:tcPr marL="54864" marR="54864" marT="18288" marB="18288" anchor="ctr">
                    <a:solidFill>
                      <a:srgbClr val="FFFFFF"/>
                    </a:solidFill>
                  </a:tcPr>
                </a:tc>
              </a:tr>
              <a:tr h="411480">
                <a:tc>
                  <a:txBody>
                    <a:bodyPr wrap="square"/>
                    <a:lstStyle/>
                    <a:p>
                      <a:pPr algn="ctr">
                        <a:spcBef>
                          <a:spcPts val="0"/>
                        </a:spcBef>
                        <a:spcAft>
                          <a:spcPts val="0"/>
                        </a:spcAft>
                      </a:pPr>
                      <a:r>
                        <a:rPr lang="tr-TR" sz="1900" b="0" i="0">
                          <a:solidFill>
                            <a:srgbClr val="262626"/>
                          </a:solidFill>
                          <a:latin typeface="Calibri"/>
                        </a:rPr>
                        <a:t>8 → 9* milyar</a:t>
                      </a:r>
                    </a:p>
                  </a:txBody>
                  <a:tcPr marL="54864" marR="54864" marT="18288" marB="18288" anchor="ctr">
                    <a:solidFill>
                      <a:srgbClr val="E3ECF5"/>
                    </a:solidFill>
                  </a:tcPr>
                </a:tc>
                <a:tc>
                  <a:txBody>
                    <a:bodyPr wrap="square"/>
                    <a:lstStyle/>
                    <a:p>
                      <a:pPr algn="ctr">
                        <a:spcBef>
                          <a:spcPts val="0"/>
                        </a:spcBef>
                        <a:spcAft>
                          <a:spcPts val="0"/>
                        </a:spcAft>
                      </a:pPr>
                      <a:r>
                        <a:rPr lang="tr-TR" sz="1900" b="0" i="0">
                          <a:solidFill>
                            <a:srgbClr val="262626"/>
                          </a:solidFill>
                          <a:latin typeface="Calibri"/>
                        </a:rPr>
                        <a:t>2022 → 2037*</a:t>
                      </a:r>
                    </a:p>
                  </a:txBody>
                  <a:tcPr marL="54864" marR="54864" marT="18288" marB="18288" anchor="ctr">
                    <a:solidFill>
                      <a:srgbClr val="E3ECF5"/>
                    </a:solidFill>
                  </a:tcPr>
                </a:tc>
                <a:tc>
                  <a:txBody>
                    <a:bodyPr wrap="square"/>
                    <a:lstStyle/>
                    <a:p>
                      <a:pPr algn="ctr">
                        <a:spcBef>
                          <a:spcPts val="0"/>
                        </a:spcBef>
                        <a:spcAft>
                          <a:spcPts val="0"/>
                        </a:spcAft>
                      </a:pPr>
                      <a:r>
                        <a:rPr lang="tr-TR" sz="1900" b="0" i="0">
                          <a:solidFill>
                            <a:srgbClr val="262626"/>
                          </a:solidFill>
                          <a:latin typeface="Calibri"/>
                        </a:rPr>
                        <a:t>……</a:t>
                      </a:r>
                    </a:p>
                  </a:txBody>
                  <a:tcPr marL="54864" marR="54864" marT="18288" marB="18288" anchor="ctr">
                    <a:solidFill>
                      <a:srgbClr val="E3ECF5"/>
                    </a:solidFill>
                  </a:tcPr>
                </a:tc>
              </a:tr>
              <a:tr h="411480">
                <a:tc>
                  <a:txBody>
                    <a:bodyPr wrap="square"/>
                    <a:lstStyle/>
                    <a:p>
                      <a:pPr algn="ctr">
                        <a:spcBef>
                          <a:spcPts val="0"/>
                        </a:spcBef>
                        <a:spcAft>
                          <a:spcPts val="0"/>
                        </a:spcAft>
                      </a:pPr>
                      <a:r>
                        <a:rPr lang="tr-TR" sz="1900" b="0" i="0">
                          <a:solidFill>
                            <a:srgbClr val="262626"/>
                          </a:solidFill>
                          <a:latin typeface="Calibri"/>
                        </a:rPr>
                        <a:t>9* → 10* milyar</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2037* → 2058*</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a:t>
                      </a:r>
                    </a:p>
                  </a:txBody>
                  <a:tcPr marL="54864" marR="54864" marT="18288" marB="18288" anchor="ctr">
                    <a:solidFill>
                      <a:srgbClr val="FFFFFF"/>
                    </a:solidFill>
                  </a:tcPr>
                </a:tc>
              </a:tr>
            </a:tbl>
          </a:graphicData>
        </a:graphic>
      </p:graphicFrame>
      <p:sp>
        <p:nvSpPr>
          <p:cNvPr id="7" name="TextBox 6"/>
          <p:cNvSpPr txBox="1"/>
          <p:nvPr/>
        </p:nvSpPr>
        <p:spPr>
          <a:xfrm>
            <a:off x="502920" y="5385816"/>
            <a:ext cx="4846320" cy="320040"/>
          </a:xfrm>
          <a:prstGeom prst="rect">
            <a:avLst/>
          </a:prstGeom>
          <a:noFill/>
        </p:spPr>
        <p:txBody>
          <a:bodyPr wrap="square" anchor="t" lIns="73152" rIns="73152" tIns="36576" bIns="36576">
            <a:noAutofit/>
          </a:bodyPr>
          <a:lstStyle/>
          <a:p>
            <a:pPr algn="l">
              <a:spcBef>
                <a:spcPts val="0"/>
              </a:spcBef>
              <a:spcAft>
                <a:spcPts val="0"/>
              </a:spcAft>
            </a:pPr>
            <a:r>
              <a:rPr lang="tr-TR" sz="1300" b="0" i="1">
                <a:solidFill>
                  <a:srgbClr val="767676"/>
                </a:solidFill>
                <a:latin typeface="Calibri"/>
              </a:rPr>
              <a:t>*Tahminî · BM Nüfus Dairesi (2022) · grafikten (kitap s. 143)</a:t>
            </a:r>
          </a:p>
        </p:txBody>
      </p:sp>
      <p:sp>
        <p:nvSpPr>
          <p:cNvPr id="8" name="Rounded Rectangle 7"/>
          <p:cNvSpPr/>
          <p:nvPr/>
        </p:nvSpPr>
        <p:spPr>
          <a:xfrm>
            <a:off x="5623560" y="1216152"/>
            <a:ext cx="6065215" cy="1097280"/>
          </a:xfrm>
          <a:prstGeom prst="roundRect">
            <a:avLst>
              <a:gd name="adj" fmla="val 8000"/>
            </a:avLst>
          </a:prstGeom>
          <a:solidFill>
            <a:srgbClr val="FFF3D1"/>
          </a:solidFill>
          <a:ln>
            <a:noFill/>
          </a:ln>
          <a:effectLst/>
        </p:spPr>
        <p:txBody>
          <a:bodyPr rtlCol="0" anchor="ctr" wrap="square" lIns="182880" rIns="182880" tIns="73152" bIns="73152">
            <a:noAutofit/>
          </a:bodyPr>
          <a:lstStyle/>
          <a:p>
            <a:pPr algn="l">
              <a:spcBef>
                <a:spcPts val="0"/>
              </a:spcBef>
              <a:spcAft>
                <a:spcPts val="0"/>
              </a:spcAft>
            </a:pPr>
            <a:r>
              <a:rPr lang="tr-TR" sz="1900" b="1" i="0">
                <a:solidFill>
                  <a:srgbClr val="262626"/>
                </a:solidFill>
                <a:latin typeface="Calibri"/>
              </a:rPr>
              <a:t>Dünya nüfuslanma süreci videosuna ve grafiğe göre aşağıdaki durumlar için hangi genellemelere ulaşılabilir?</a:t>
            </a:r>
          </a:p>
        </p:txBody>
      </p:sp>
      <p:sp>
        <p:nvSpPr>
          <p:cNvPr id="9" name="Oval 8"/>
          <p:cNvSpPr/>
          <p:nvPr/>
        </p:nvSpPr>
        <p:spPr>
          <a:xfrm>
            <a:off x="5623560" y="2496312"/>
            <a:ext cx="365760" cy="36576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a</a:t>
            </a:r>
          </a:p>
        </p:txBody>
      </p:sp>
      <p:sp>
        <p:nvSpPr>
          <p:cNvPr id="10" name="TextBox 9"/>
          <p:cNvSpPr txBox="1"/>
          <p:nvPr/>
        </p:nvSpPr>
        <p:spPr>
          <a:xfrm>
            <a:off x="6080760" y="2450592"/>
            <a:ext cx="5608015" cy="658368"/>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262626"/>
                </a:solidFill>
                <a:latin typeface="Calibri"/>
              </a:rPr>
              <a:t>Dünyadaki nüfus artış hızının genel seyri:</a:t>
            </a:r>
          </a:p>
        </p:txBody>
      </p:sp>
      <p:cxnSp>
        <p:nvCxnSpPr>
          <p:cNvPr id="11" name="Connector 10"/>
          <p:cNvCxnSpPr/>
          <p:nvPr/>
        </p:nvCxnSpPr>
        <p:spPr>
          <a:xfrm>
            <a:off x="6080760" y="3319272"/>
            <a:ext cx="5516575" cy="0"/>
          </a:xfrm>
          <a:prstGeom prst="line">
            <a:avLst/>
          </a:prstGeom>
          <a:ln w="12700">
            <a:solidFill>
              <a:srgbClr val="D9D9D9"/>
            </a:solidFill>
            <a:prstDash val="dash"/>
          </a:ln>
        </p:spPr>
      </p:cxnSp>
      <p:sp>
        <p:nvSpPr>
          <p:cNvPr id="12" name="Oval 11"/>
          <p:cNvSpPr/>
          <p:nvPr/>
        </p:nvSpPr>
        <p:spPr>
          <a:xfrm>
            <a:off x="5623560" y="3502152"/>
            <a:ext cx="365760" cy="36576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b</a:t>
            </a:r>
          </a:p>
        </p:txBody>
      </p:sp>
      <p:sp>
        <p:nvSpPr>
          <p:cNvPr id="13" name="TextBox 12"/>
          <p:cNvSpPr txBox="1"/>
          <p:nvPr/>
        </p:nvSpPr>
        <p:spPr>
          <a:xfrm>
            <a:off x="6080760" y="3456432"/>
            <a:ext cx="5608015" cy="658368"/>
          </a:xfrm>
          <a:prstGeom prst="rect">
            <a:avLst/>
          </a:prstGeom>
          <a:noFill/>
        </p:spPr>
        <p:txBody>
          <a:bodyPr wrap="square" anchor="t" lIns="73152" rIns="73152" tIns="36576" bIns="36576">
            <a:noAutofit/>
          </a:bodyPr>
          <a:lstStyle/>
          <a:p>
            <a:pPr algn="l">
              <a:spcBef>
                <a:spcPts val="0"/>
              </a:spcBef>
              <a:spcAft>
                <a:spcPts val="0"/>
              </a:spcAft>
            </a:pPr>
            <a:r>
              <a:rPr lang="tr-TR" sz="1850" b="1" i="0">
                <a:solidFill>
                  <a:srgbClr val="262626"/>
                </a:solidFill>
                <a:latin typeface="Calibri"/>
              </a:rPr>
              <a:t>Dünya nüfusunda gerçekleşen birer milyar artışın zaman aralığı:</a:t>
            </a:r>
          </a:p>
        </p:txBody>
      </p:sp>
      <p:cxnSp>
        <p:nvCxnSpPr>
          <p:cNvPr id="14" name="Connector 13"/>
          <p:cNvCxnSpPr/>
          <p:nvPr/>
        </p:nvCxnSpPr>
        <p:spPr>
          <a:xfrm>
            <a:off x="6080760" y="4325112"/>
            <a:ext cx="5516575" cy="0"/>
          </a:xfrm>
          <a:prstGeom prst="line">
            <a:avLst/>
          </a:prstGeom>
          <a:ln w="12700">
            <a:solidFill>
              <a:srgbClr val="D9D9D9"/>
            </a:solidFill>
            <a:prstDash val="dash"/>
          </a:ln>
        </p:spPr>
      </p:cxnSp>
      <p:sp>
        <p:nvSpPr>
          <p:cNvPr id="15" name="Oval 14"/>
          <p:cNvSpPr/>
          <p:nvPr/>
        </p:nvSpPr>
        <p:spPr>
          <a:xfrm>
            <a:off x="5623560" y="4507992"/>
            <a:ext cx="365760" cy="36576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500" b="1" i="0">
                <a:solidFill>
                  <a:srgbClr val="FFFFFF"/>
                </a:solidFill>
                <a:latin typeface="Calibri"/>
              </a:rPr>
              <a:t>c</a:t>
            </a:r>
          </a:p>
        </p:txBody>
      </p:sp>
      <p:sp>
        <p:nvSpPr>
          <p:cNvPr id="16" name="TextBox 15"/>
          <p:cNvSpPr txBox="1"/>
          <p:nvPr/>
        </p:nvSpPr>
        <p:spPr>
          <a:xfrm>
            <a:off x="6080760" y="4462272"/>
            <a:ext cx="5608015" cy="658368"/>
          </a:xfrm>
          <a:prstGeom prst="rect">
            <a:avLst/>
          </a:prstGeom>
          <a:noFill/>
        </p:spPr>
        <p:txBody>
          <a:bodyPr wrap="square" anchor="t" lIns="73152" rIns="73152" tIns="36576" bIns="36576">
            <a:noAutofit/>
          </a:bodyPr>
          <a:lstStyle/>
          <a:p>
            <a:pPr algn="l">
              <a:spcBef>
                <a:spcPts val="0"/>
              </a:spcBef>
              <a:spcAft>
                <a:spcPts val="0"/>
              </a:spcAft>
            </a:pPr>
            <a:r>
              <a:rPr lang="tr-TR" sz="1850" b="1" i="0">
                <a:solidFill>
                  <a:srgbClr val="262626"/>
                </a:solidFill>
                <a:latin typeface="Calibri"/>
              </a:rPr>
              <a:t>Dünyadaki nüfuslanma sürecinin kıtalara göre değişimi:</a:t>
            </a:r>
          </a:p>
        </p:txBody>
      </p:sp>
      <p:cxnSp>
        <p:nvCxnSpPr>
          <p:cNvPr id="17" name="Connector 16"/>
          <p:cNvCxnSpPr/>
          <p:nvPr/>
        </p:nvCxnSpPr>
        <p:spPr>
          <a:xfrm>
            <a:off x="6080760" y="5330952"/>
            <a:ext cx="5516575" cy="0"/>
          </a:xfrm>
          <a:prstGeom prst="line">
            <a:avLst/>
          </a:prstGeom>
          <a:ln w="12700">
            <a:solidFill>
              <a:srgbClr val="D9D9D9"/>
            </a:solidFill>
            <a:prstDash val="dash"/>
          </a:ln>
        </p:spPr>
      </p:cxnSp>
      <p:sp>
        <p:nvSpPr>
          <p:cNvPr id="18" name="Rounded Rectangle 17"/>
          <p:cNvSpPr/>
          <p:nvPr/>
        </p:nvSpPr>
        <p:spPr>
          <a:xfrm>
            <a:off x="5623560" y="5422392"/>
            <a:ext cx="6065215" cy="822960"/>
          </a:xfrm>
          <a:prstGeom prst="roundRect">
            <a:avLst>
              <a:gd name="adj" fmla="val 8000"/>
            </a:avLst>
          </a:prstGeom>
          <a:solidFill>
            <a:srgbClr val="E3ECF5"/>
          </a:solidFill>
          <a:ln>
            <a:noFill/>
          </a:ln>
          <a:effectLst/>
        </p:spPr>
        <p:txBody>
          <a:bodyPr rtlCol="0" anchor="ctr" wrap="square" lIns="128016" rIns="128016" tIns="73152" bIns="73152">
            <a:noAutofit/>
          </a:bodyPr>
          <a:lstStyle/>
          <a:p>
            <a:pPr algn="ctr">
              <a:spcBef>
                <a:spcPts val="0"/>
              </a:spcBef>
              <a:spcAft>
                <a:spcPts val="0"/>
              </a:spcAft>
            </a:pPr>
            <a:r>
              <a:rPr lang="tr-TR" sz="1700" b="0" i="0">
                <a:solidFill>
                  <a:srgbClr val="262626"/>
                </a:solidFill>
                <a:latin typeface="Calibri"/>
              </a:rPr>
              <a:t>Karekod: “Dünya Nüfuslanma Süreci” videosu · “Kıtalara Göre Nüfuslanma” belgesi — öğretmenimizin bilgisayarından</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143</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32 / 379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Soru 3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graphicFrame>
        <p:nvGraphicFramePr>
          <p:cNvPr id="6" name="Table 5"/>
          <p:cNvGraphicFramePr>
            <a:graphicFrameLocks noGrp="1"/>
          </p:cNvGraphicFramePr>
          <p:nvPr/>
        </p:nvGraphicFramePr>
        <p:xfrm>
          <a:off x="502920" y="1216152"/>
          <a:ext cx="4846320" cy="4123944"/>
        </p:xfrm>
        <a:graphic>
          <a:graphicData uri="http://schemas.openxmlformats.org/drawingml/2006/table">
            <a:tbl>
              <a:tblPr firstRow="1" bandRow="1">
                <a:tableStyleId>{5C22544A-7EE6-4342-B048-85BDC9FD1C3A}</a:tableStyleId>
              </a:tblPr>
              <a:tblGrid>
                <a:gridCol w="1841601"/>
                <a:gridCol w="1793138"/>
                <a:gridCol w="1211581"/>
              </a:tblGrid>
              <a:tr h="420624">
                <a:tc>
                  <a:txBody>
                    <a:bodyPr wrap="square"/>
                    <a:lstStyle/>
                    <a:p>
                      <a:pPr algn="ctr">
                        <a:spcBef>
                          <a:spcPts val="0"/>
                        </a:spcBef>
                        <a:spcAft>
                          <a:spcPts val="0"/>
                        </a:spcAft>
                      </a:pPr>
                      <a:r>
                        <a:rPr lang="tr-TR" sz="1800" b="1" i="0">
                          <a:solidFill>
                            <a:srgbClr val="FFFFFF"/>
                          </a:solidFill>
                          <a:latin typeface="Calibri"/>
                        </a:rPr>
                        <a:t>Basamak</a:t>
                      </a:r>
                    </a:p>
                  </a:txBody>
                  <a:tcPr marL="54864" marR="54864" marT="18288" marB="18288" anchor="ctr">
                    <a:solidFill>
                      <a:srgbClr val="2E7D32"/>
                    </a:solidFill>
                  </a:tcPr>
                </a:tc>
                <a:tc>
                  <a:txBody>
                    <a:bodyPr wrap="square"/>
                    <a:lstStyle/>
                    <a:p>
                      <a:pPr algn="ctr">
                        <a:spcBef>
                          <a:spcPts val="0"/>
                        </a:spcBef>
                        <a:spcAft>
                          <a:spcPts val="0"/>
                        </a:spcAft>
                      </a:pPr>
                      <a:r>
                        <a:rPr lang="tr-TR" sz="1800" b="1" i="0">
                          <a:solidFill>
                            <a:srgbClr val="FFFFFF"/>
                          </a:solidFill>
                          <a:latin typeface="Calibri"/>
                        </a:rPr>
                        <a:t>Yıllar</a:t>
                      </a:r>
                    </a:p>
                  </a:txBody>
                  <a:tcPr marL="54864" marR="54864" marT="18288" marB="18288" anchor="ctr">
                    <a:solidFill>
                      <a:srgbClr val="2E7D32"/>
                    </a:solidFill>
                  </a:tcPr>
                </a:tc>
                <a:tc>
                  <a:txBody>
                    <a:bodyPr wrap="square"/>
                    <a:lstStyle/>
                    <a:p>
                      <a:pPr algn="ctr">
                        <a:spcBef>
                          <a:spcPts val="0"/>
                        </a:spcBef>
                        <a:spcAft>
                          <a:spcPts val="0"/>
                        </a:spcAft>
                      </a:pPr>
                      <a:r>
                        <a:rPr lang="tr-TR" sz="1800" b="1" i="0">
                          <a:solidFill>
                            <a:srgbClr val="FFFFFF"/>
                          </a:solidFill>
                          <a:latin typeface="Calibri"/>
                        </a:rPr>
                        <a:t>Süre (yıl)</a:t>
                      </a:r>
                    </a:p>
                  </a:txBody>
                  <a:tcPr marL="54864" marR="54864" marT="18288" marB="18288" anchor="ctr">
                    <a:solidFill>
                      <a:srgbClr val="2E7D32"/>
                    </a:solidFill>
                  </a:tcPr>
                </a:tc>
              </a:tr>
              <a:tr h="411480">
                <a:tc>
                  <a:txBody>
                    <a:bodyPr wrap="square"/>
                    <a:lstStyle/>
                    <a:p>
                      <a:pPr algn="ctr">
                        <a:spcBef>
                          <a:spcPts val="0"/>
                        </a:spcBef>
                        <a:spcAft>
                          <a:spcPts val="0"/>
                        </a:spcAft>
                      </a:pPr>
                      <a:r>
                        <a:rPr lang="tr-TR" sz="1900" b="1" i="0">
                          <a:solidFill>
                            <a:srgbClr val="262626"/>
                          </a:solidFill>
                          <a:latin typeface="Calibri"/>
                        </a:rPr>
                        <a:t>1 → 2 milyar</a:t>
                      </a:r>
                    </a:p>
                  </a:txBody>
                  <a:tcPr marL="54864" marR="54864" marT="18288" marB="18288" anchor="ctr">
                    <a:solidFill>
                      <a:srgbClr val="FFF3D1"/>
                    </a:solidFill>
                  </a:tcPr>
                </a:tc>
                <a:tc>
                  <a:txBody>
                    <a:bodyPr wrap="square"/>
                    <a:lstStyle/>
                    <a:p>
                      <a:pPr algn="ctr">
                        <a:spcBef>
                          <a:spcPts val="0"/>
                        </a:spcBef>
                        <a:spcAft>
                          <a:spcPts val="0"/>
                        </a:spcAft>
                      </a:pPr>
                      <a:r>
                        <a:rPr lang="tr-TR" sz="1900" b="1" i="0">
                          <a:solidFill>
                            <a:srgbClr val="262626"/>
                          </a:solidFill>
                          <a:latin typeface="Calibri"/>
                        </a:rPr>
                        <a:t>1804 → 1927</a:t>
                      </a:r>
                    </a:p>
                  </a:txBody>
                  <a:tcPr marL="54864" marR="54864" marT="18288" marB="18288" anchor="ctr">
                    <a:solidFill>
                      <a:srgbClr val="FFF3D1"/>
                    </a:solidFill>
                  </a:tcPr>
                </a:tc>
                <a:tc>
                  <a:txBody>
                    <a:bodyPr wrap="square"/>
                    <a:lstStyle/>
                    <a:p>
                      <a:pPr algn="ctr">
                        <a:spcBef>
                          <a:spcPts val="0"/>
                        </a:spcBef>
                        <a:spcAft>
                          <a:spcPts val="0"/>
                        </a:spcAft>
                      </a:pPr>
                      <a:r>
                        <a:rPr lang="tr-TR" sz="1900" b="1" i="0">
                          <a:solidFill>
                            <a:srgbClr val="262626"/>
                          </a:solidFill>
                          <a:latin typeface="Calibri"/>
                        </a:rPr>
                        <a:t>123</a:t>
                      </a:r>
                    </a:p>
                  </a:txBody>
                  <a:tcPr marL="54864" marR="54864" marT="18288" marB="18288" anchor="ctr">
                    <a:solidFill>
                      <a:srgbClr val="FFF3D1"/>
                    </a:solidFill>
                  </a:tcPr>
                </a:tc>
              </a:tr>
              <a:tr h="411480">
                <a:tc>
                  <a:txBody>
                    <a:bodyPr wrap="square"/>
                    <a:lstStyle/>
                    <a:p>
                      <a:pPr algn="ctr">
                        <a:spcBef>
                          <a:spcPts val="0"/>
                        </a:spcBef>
                        <a:spcAft>
                          <a:spcPts val="0"/>
                        </a:spcAft>
                      </a:pPr>
                      <a:r>
                        <a:rPr lang="tr-TR" sz="1900" b="0" i="0">
                          <a:solidFill>
                            <a:srgbClr val="262626"/>
                          </a:solidFill>
                          <a:latin typeface="Calibri"/>
                        </a:rPr>
                        <a:t>2 → 3 milyar</a:t>
                      </a:r>
                    </a:p>
                  </a:txBody>
                  <a:tcPr marL="54864" marR="54864" marT="18288" marB="18288" anchor="ctr">
                    <a:solidFill>
                      <a:srgbClr val="E3F1E4"/>
                    </a:solidFill>
                  </a:tcPr>
                </a:tc>
                <a:tc>
                  <a:txBody>
                    <a:bodyPr wrap="square"/>
                    <a:lstStyle/>
                    <a:p>
                      <a:pPr algn="ctr">
                        <a:spcBef>
                          <a:spcPts val="0"/>
                        </a:spcBef>
                        <a:spcAft>
                          <a:spcPts val="0"/>
                        </a:spcAft>
                      </a:pPr>
                      <a:r>
                        <a:rPr lang="tr-TR" sz="1900" b="0" i="0">
                          <a:solidFill>
                            <a:srgbClr val="262626"/>
                          </a:solidFill>
                          <a:latin typeface="Calibri"/>
                        </a:rPr>
                        <a:t>1927 → 1960</a:t>
                      </a:r>
                    </a:p>
                  </a:txBody>
                  <a:tcPr marL="54864" marR="54864" marT="18288" marB="18288" anchor="ctr">
                    <a:solidFill>
                      <a:srgbClr val="E3F1E4"/>
                    </a:solidFill>
                  </a:tcPr>
                </a:tc>
                <a:tc>
                  <a:txBody>
                    <a:bodyPr wrap="square"/>
                    <a:lstStyle/>
                    <a:p>
                      <a:pPr algn="ctr">
                        <a:spcBef>
                          <a:spcPts val="0"/>
                        </a:spcBef>
                        <a:spcAft>
                          <a:spcPts val="0"/>
                        </a:spcAft>
                      </a:pPr>
                      <a:r>
                        <a:rPr lang="tr-TR" sz="1900" b="0" i="0">
                          <a:solidFill>
                            <a:srgbClr val="262626"/>
                          </a:solidFill>
                          <a:latin typeface="Calibri"/>
                        </a:rPr>
                        <a:t>33</a:t>
                      </a:r>
                    </a:p>
                  </a:txBody>
                  <a:tcPr marL="54864" marR="54864" marT="18288" marB="18288" anchor="ctr">
                    <a:solidFill>
                      <a:srgbClr val="E3F1E4"/>
                    </a:solidFill>
                  </a:tcPr>
                </a:tc>
              </a:tr>
              <a:tr h="411480">
                <a:tc>
                  <a:txBody>
                    <a:bodyPr wrap="square"/>
                    <a:lstStyle/>
                    <a:p>
                      <a:pPr algn="ctr">
                        <a:spcBef>
                          <a:spcPts val="0"/>
                        </a:spcBef>
                        <a:spcAft>
                          <a:spcPts val="0"/>
                        </a:spcAft>
                      </a:pPr>
                      <a:r>
                        <a:rPr lang="tr-TR" sz="1900" b="0" i="0">
                          <a:solidFill>
                            <a:srgbClr val="262626"/>
                          </a:solidFill>
                          <a:latin typeface="Calibri"/>
                        </a:rPr>
                        <a:t>3 → 4 milyar</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1960 → 1974</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14</a:t>
                      </a:r>
                    </a:p>
                  </a:txBody>
                  <a:tcPr marL="54864" marR="54864" marT="18288" marB="18288" anchor="ctr">
                    <a:solidFill>
                      <a:srgbClr val="FFFFFF"/>
                    </a:solidFill>
                  </a:tcPr>
                </a:tc>
              </a:tr>
              <a:tr h="411480">
                <a:tc>
                  <a:txBody>
                    <a:bodyPr wrap="square"/>
                    <a:lstStyle/>
                    <a:p>
                      <a:pPr algn="ctr">
                        <a:spcBef>
                          <a:spcPts val="0"/>
                        </a:spcBef>
                        <a:spcAft>
                          <a:spcPts val="0"/>
                        </a:spcAft>
                      </a:pPr>
                      <a:r>
                        <a:rPr lang="tr-TR" sz="1900" b="0" i="0">
                          <a:solidFill>
                            <a:srgbClr val="262626"/>
                          </a:solidFill>
                          <a:latin typeface="Calibri"/>
                        </a:rPr>
                        <a:t>4 → 5 milyar</a:t>
                      </a:r>
                    </a:p>
                  </a:txBody>
                  <a:tcPr marL="54864" marR="54864" marT="18288" marB="18288" anchor="ctr">
                    <a:solidFill>
                      <a:srgbClr val="E3F1E4"/>
                    </a:solidFill>
                  </a:tcPr>
                </a:tc>
                <a:tc>
                  <a:txBody>
                    <a:bodyPr wrap="square"/>
                    <a:lstStyle/>
                    <a:p>
                      <a:pPr algn="ctr">
                        <a:spcBef>
                          <a:spcPts val="0"/>
                        </a:spcBef>
                        <a:spcAft>
                          <a:spcPts val="0"/>
                        </a:spcAft>
                      </a:pPr>
                      <a:r>
                        <a:rPr lang="tr-TR" sz="1900" b="0" i="0">
                          <a:solidFill>
                            <a:srgbClr val="262626"/>
                          </a:solidFill>
                          <a:latin typeface="Calibri"/>
                        </a:rPr>
                        <a:t>1974 → 1987</a:t>
                      </a:r>
                    </a:p>
                  </a:txBody>
                  <a:tcPr marL="54864" marR="54864" marT="18288" marB="18288" anchor="ctr">
                    <a:solidFill>
                      <a:srgbClr val="E3F1E4"/>
                    </a:solidFill>
                  </a:tcPr>
                </a:tc>
                <a:tc>
                  <a:txBody>
                    <a:bodyPr wrap="square"/>
                    <a:lstStyle/>
                    <a:p>
                      <a:pPr algn="ctr">
                        <a:spcBef>
                          <a:spcPts val="0"/>
                        </a:spcBef>
                        <a:spcAft>
                          <a:spcPts val="0"/>
                        </a:spcAft>
                      </a:pPr>
                      <a:r>
                        <a:rPr lang="tr-TR" sz="1900" b="0" i="0">
                          <a:solidFill>
                            <a:srgbClr val="262626"/>
                          </a:solidFill>
                          <a:latin typeface="Calibri"/>
                        </a:rPr>
                        <a:t>13</a:t>
                      </a:r>
                    </a:p>
                  </a:txBody>
                  <a:tcPr marL="54864" marR="54864" marT="18288" marB="18288" anchor="ctr">
                    <a:solidFill>
                      <a:srgbClr val="E3F1E4"/>
                    </a:solidFill>
                  </a:tcPr>
                </a:tc>
              </a:tr>
              <a:tr h="411480">
                <a:tc>
                  <a:txBody>
                    <a:bodyPr wrap="square"/>
                    <a:lstStyle/>
                    <a:p>
                      <a:pPr algn="ctr">
                        <a:spcBef>
                          <a:spcPts val="0"/>
                        </a:spcBef>
                        <a:spcAft>
                          <a:spcPts val="0"/>
                        </a:spcAft>
                      </a:pPr>
                      <a:r>
                        <a:rPr lang="tr-TR" sz="1900" b="1" i="0">
                          <a:solidFill>
                            <a:srgbClr val="262626"/>
                          </a:solidFill>
                          <a:latin typeface="Calibri"/>
                        </a:rPr>
                        <a:t>5 → 6 milyar</a:t>
                      </a:r>
                    </a:p>
                  </a:txBody>
                  <a:tcPr marL="54864" marR="54864" marT="18288" marB="18288" anchor="ctr">
                    <a:solidFill>
                      <a:srgbClr val="FFF3D1"/>
                    </a:solidFill>
                  </a:tcPr>
                </a:tc>
                <a:tc>
                  <a:txBody>
                    <a:bodyPr wrap="square"/>
                    <a:lstStyle/>
                    <a:p>
                      <a:pPr algn="ctr">
                        <a:spcBef>
                          <a:spcPts val="0"/>
                        </a:spcBef>
                        <a:spcAft>
                          <a:spcPts val="0"/>
                        </a:spcAft>
                      </a:pPr>
                      <a:r>
                        <a:rPr lang="tr-TR" sz="1900" b="1" i="0">
                          <a:solidFill>
                            <a:srgbClr val="262626"/>
                          </a:solidFill>
                          <a:latin typeface="Calibri"/>
                        </a:rPr>
                        <a:t>1987 → 1998</a:t>
                      </a:r>
                    </a:p>
                  </a:txBody>
                  <a:tcPr marL="54864" marR="54864" marT="18288" marB="18288" anchor="ctr">
                    <a:solidFill>
                      <a:srgbClr val="FFF3D1"/>
                    </a:solidFill>
                  </a:tcPr>
                </a:tc>
                <a:tc>
                  <a:txBody>
                    <a:bodyPr wrap="square"/>
                    <a:lstStyle/>
                    <a:p>
                      <a:pPr algn="ctr">
                        <a:spcBef>
                          <a:spcPts val="0"/>
                        </a:spcBef>
                        <a:spcAft>
                          <a:spcPts val="0"/>
                        </a:spcAft>
                      </a:pPr>
                      <a:r>
                        <a:rPr lang="tr-TR" sz="1900" b="1" i="0">
                          <a:solidFill>
                            <a:srgbClr val="262626"/>
                          </a:solidFill>
                          <a:latin typeface="Calibri"/>
                        </a:rPr>
                        <a:t>11</a:t>
                      </a:r>
                    </a:p>
                  </a:txBody>
                  <a:tcPr marL="54864" marR="54864" marT="18288" marB="18288" anchor="ctr">
                    <a:solidFill>
                      <a:srgbClr val="FFF3D1"/>
                    </a:solidFill>
                  </a:tcPr>
                </a:tc>
              </a:tr>
              <a:tr h="411480">
                <a:tc>
                  <a:txBody>
                    <a:bodyPr wrap="square"/>
                    <a:lstStyle/>
                    <a:p>
                      <a:pPr algn="ctr">
                        <a:spcBef>
                          <a:spcPts val="0"/>
                        </a:spcBef>
                        <a:spcAft>
                          <a:spcPts val="0"/>
                        </a:spcAft>
                      </a:pPr>
                      <a:r>
                        <a:rPr lang="tr-TR" sz="1900" b="0" i="0">
                          <a:solidFill>
                            <a:srgbClr val="262626"/>
                          </a:solidFill>
                          <a:latin typeface="Calibri"/>
                        </a:rPr>
                        <a:t>6 → 7 milyar</a:t>
                      </a:r>
                    </a:p>
                  </a:txBody>
                  <a:tcPr marL="54864" marR="54864" marT="18288" marB="18288" anchor="ctr">
                    <a:solidFill>
                      <a:srgbClr val="E3F1E4"/>
                    </a:solidFill>
                  </a:tcPr>
                </a:tc>
                <a:tc>
                  <a:txBody>
                    <a:bodyPr wrap="square"/>
                    <a:lstStyle/>
                    <a:p>
                      <a:pPr algn="ctr">
                        <a:spcBef>
                          <a:spcPts val="0"/>
                        </a:spcBef>
                        <a:spcAft>
                          <a:spcPts val="0"/>
                        </a:spcAft>
                      </a:pPr>
                      <a:r>
                        <a:rPr lang="tr-TR" sz="1900" b="0" i="0">
                          <a:solidFill>
                            <a:srgbClr val="262626"/>
                          </a:solidFill>
                          <a:latin typeface="Calibri"/>
                        </a:rPr>
                        <a:t>1998 → 2010</a:t>
                      </a:r>
                    </a:p>
                  </a:txBody>
                  <a:tcPr marL="54864" marR="54864" marT="18288" marB="18288" anchor="ctr">
                    <a:solidFill>
                      <a:srgbClr val="E3F1E4"/>
                    </a:solidFill>
                  </a:tcPr>
                </a:tc>
                <a:tc>
                  <a:txBody>
                    <a:bodyPr wrap="square"/>
                    <a:lstStyle/>
                    <a:p>
                      <a:pPr algn="ctr">
                        <a:spcBef>
                          <a:spcPts val="0"/>
                        </a:spcBef>
                        <a:spcAft>
                          <a:spcPts val="0"/>
                        </a:spcAft>
                      </a:pPr>
                      <a:r>
                        <a:rPr lang="tr-TR" sz="1900" b="0" i="0">
                          <a:solidFill>
                            <a:srgbClr val="262626"/>
                          </a:solidFill>
                          <a:latin typeface="Calibri"/>
                        </a:rPr>
                        <a:t>12</a:t>
                      </a:r>
                    </a:p>
                  </a:txBody>
                  <a:tcPr marL="54864" marR="54864" marT="18288" marB="18288" anchor="ctr">
                    <a:solidFill>
                      <a:srgbClr val="E3F1E4"/>
                    </a:solidFill>
                  </a:tcPr>
                </a:tc>
              </a:tr>
              <a:tr h="411480">
                <a:tc>
                  <a:txBody>
                    <a:bodyPr wrap="square"/>
                    <a:lstStyle/>
                    <a:p>
                      <a:pPr algn="ctr">
                        <a:spcBef>
                          <a:spcPts val="0"/>
                        </a:spcBef>
                        <a:spcAft>
                          <a:spcPts val="0"/>
                        </a:spcAft>
                      </a:pPr>
                      <a:r>
                        <a:rPr lang="tr-TR" sz="1900" b="0" i="0">
                          <a:solidFill>
                            <a:srgbClr val="262626"/>
                          </a:solidFill>
                          <a:latin typeface="Calibri"/>
                        </a:rPr>
                        <a:t>7 → 8 milyar</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2010 → 2022</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12</a:t>
                      </a:r>
                    </a:p>
                  </a:txBody>
                  <a:tcPr marL="54864" marR="54864" marT="18288" marB="18288" anchor="ctr">
                    <a:solidFill>
                      <a:srgbClr val="FFFFFF"/>
                    </a:solidFill>
                  </a:tcPr>
                </a:tc>
              </a:tr>
              <a:tr h="411480">
                <a:tc>
                  <a:txBody>
                    <a:bodyPr wrap="square"/>
                    <a:lstStyle/>
                    <a:p>
                      <a:pPr algn="ctr">
                        <a:spcBef>
                          <a:spcPts val="0"/>
                        </a:spcBef>
                        <a:spcAft>
                          <a:spcPts val="0"/>
                        </a:spcAft>
                      </a:pPr>
                      <a:r>
                        <a:rPr lang="tr-TR" sz="1900" b="0" i="0">
                          <a:solidFill>
                            <a:srgbClr val="262626"/>
                          </a:solidFill>
                          <a:latin typeface="Calibri"/>
                        </a:rPr>
                        <a:t>8 → 9* milyar</a:t>
                      </a:r>
                    </a:p>
                  </a:txBody>
                  <a:tcPr marL="54864" marR="54864" marT="18288" marB="18288" anchor="ctr">
                    <a:solidFill>
                      <a:srgbClr val="E3F1E4"/>
                    </a:solidFill>
                  </a:tcPr>
                </a:tc>
                <a:tc>
                  <a:txBody>
                    <a:bodyPr wrap="square"/>
                    <a:lstStyle/>
                    <a:p>
                      <a:pPr algn="ctr">
                        <a:spcBef>
                          <a:spcPts val="0"/>
                        </a:spcBef>
                        <a:spcAft>
                          <a:spcPts val="0"/>
                        </a:spcAft>
                      </a:pPr>
                      <a:r>
                        <a:rPr lang="tr-TR" sz="1900" b="0" i="0">
                          <a:solidFill>
                            <a:srgbClr val="262626"/>
                          </a:solidFill>
                          <a:latin typeface="Calibri"/>
                        </a:rPr>
                        <a:t>2022 → 2037*</a:t>
                      </a:r>
                    </a:p>
                  </a:txBody>
                  <a:tcPr marL="54864" marR="54864" marT="18288" marB="18288" anchor="ctr">
                    <a:solidFill>
                      <a:srgbClr val="E3F1E4"/>
                    </a:solidFill>
                  </a:tcPr>
                </a:tc>
                <a:tc>
                  <a:txBody>
                    <a:bodyPr wrap="square"/>
                    <a:lstStyle/>
                    <a:p>
                      <a:pPr algn="ctr">
                        <a:spcBef>
                          <a:spcPts val="0"/>
                        </a:spcBef>
                        <a:spcAft>
                          <a:spcPts val="0"/>
                        </a:spcAft>
                      </a:pPr>
                      <a:r>
                        <a:rPr lang="tr-TR" sz="1900" b="0" i="0">
                          <a:solidFill>
                            <a:srgbClr val="262626"/>
                          </a:solidFill>
                          <a:latin typeface="Calibri"/>
                        </a:rPr>
                        <a:t>15</a:t>
                      </a:r>
                    </a:p>
                  </a:txBody>
                  <a:tcPr marL="54864" marR="54864" marT="18288" marB="18288" anchor="ctr">
                    <a:solidFill>
                      <a:srgbClr val="E3F1E4"/>
                    </a:solidFill>
                  </a:tcPr>
                </a:tc>
              </a:tr>
              <a:tr h="411480">
                <a:tc>
                  <a:txBody>
                    <a:bodyPr wrap="square"/>
                    <a:lstStyle/>
                    <a:p>
                      <a:pPr algn="ctr">
                        <a:spcBef>
                          <a:spcPts val="0"/>
                        </a:spcBef>
                        <a:spcAft>
                          <a:spcPts val="0"/>
                        </a:spcAft>
                      </a:pPr>
                      <a:r>
                        <a:rPr lang="tr-TR" sz="1900" b="0" i="0">
                          <a:solidFill>
                            <a:srgbClr val="262626"/>
                          </a:solidFill>
                          <a:latin typeface="Calibri"/>
                        </a:rPr>
                        <a:t>9* → 10* milyar</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2037* → 2058*</a:t>
                      </a:r>
                    </a:p>
                  </a:txBody>
                  <a:tcPr marL="54864" marR="54864" marT="18288" marB="18288" anchor="ctr">
                    <a:solidFill>
                      <a:srgbClr val="FFFFFF"/>
                    </a:solidFill>
                  </a:tcPr>
                </a:tc>
                <a:tc>
                  <a:txBody>
                    <a:bodyPr wrap="square"/>
                    <a:lstStyle/>
                    <a:p>
                      <a:pPr algn="ctr">
                        <a:spcBef>
                          <a:spcPts val="0"/>
                        </a:spcBef>
                        <a:spcAft>
                          <a:spcPts val="0"/>
                        </a:spcAft>
                      </a:pPr>
                      <a:r>
                        <a:rPr lang="tr-TR" sz="1900" b="0" i="0">
                          <a:solidFill>
                            <a:srgbClr val="262626"/>
                          </a:solidFill>
                          <a:latin typeface="Calibri"/>
                        </a:rPr>
                        <a:t>21</a:t>
                      </a:r>
                    </a:p>
                  </a:txBody>
                  <a:tcPr marL="54864" marR="54864" marT="18288" marB="18288" anchor="ctr">
                    <a:solidFill>
                      <a:srgbClr val="FFFFFF"/>
                    </a:solidFill>
                  </a:tcPr>
                </a:tc>
              </a:tr>
            </a:tbl>
          </a:graphicData>
        </a:graphic>
      </p:graphicFrame>
      <p:sp>
        <p:nvSpPr>
          <p:cNvPr id="7" name="TextBox 6"/>
          <p:cNvSpPr txBox="1"/>
          <p:nvPr/>
        </p:nvSpPr>
        <p:spPr>
          <a:xfrm>
            <a:off x="502920" y="5385816"/>
            <a:ext cx="4846320" cy="320040"/>
          </a:xfrm>
          <a:prstGeom prst="rect">
            <a:avLst/>
          </a:prstGeom>
          <a:noFill/>
        </p:spPr>
        <p:txBody>
          <a:bodyPr wrap="square" anchor="t" lIns="73152" rIns="73152" tIns="36576" bIns="36576">
            <a:noAutofit/>
          </a:bodyPr>
          <a:lstStyle/>
          <a:p>
            <a:pPr algn="l">
              <a:spcBef>
                <a:spcPts val="0"/>
              </a:spcBef>
              <a:spcAft>
                <a:spcPts val="0"/>
              </a:spcAft>
            </a:pPr>
            <a:r>
              <a:rPr lang="tr-TR" sz="1300" b="0" i="1">
                <a:solidFill>
                  <a:srgbClr val="767676"/>
                </a:solidFill>
                <a:latin typeface="Calibri"/>
              </a:rPr>
              <a:t>*Tahminî · BM Nüfus Dairesi (2022) · grafikten (kitap s. 143)</a:t>
            </a:r>
          </a:p>
        </p:txBody>
      </p:sp>
      <p:sp>
        <p:nvSpPr>
          <p:cNvPr id="8" name="Rounded Rectangle 7"/>
          <p:cNvSpPr/>
          <p:nvPr/>
        </p:nvSpPr>
        <p:spPr>
          <a:xfrm>
            <a:off x="5623560" y="1216152"/>
            <a:ext cx="6065215" cy="1584960"/>
          </a:xfrm>
          <a:prstGeom prst="roundRect">
            <a:avLst>
              <a:gd name="adj" fmla="val 6000"/>
            </a:avLst>
          </a:prstGeom>
          <a:solidFill>
            <a:srgbClr val="E3F1E4"/>
          </a:solidFill>
          <a:ln>
            <a:noFill/>
          </a:ln>
          <a:effectLst/>
        </p:spPr>
        <p:txBody>
          <a:bodyPr rtlCol="0" anchor="ctr"/>
          <a:lstStyle/>
          <a:p/>
        </p:txBody>
      </p:sp>
      <p:sp>
        <p:nvSpPr>
          <p:cNvPr id="9" name="Rectangle 8"/>
          <p:cNvSpPr/>
          <p:nvPr/>
        </p:nvSpPr>
        <p:spPr>
          <a:xfrm>
            <a:off x="5623560" y="1216152"/>
            <a:ext cx="109728" cy="1584960"/>
          </a:xfrm>
          <a:prstGeom prst="rect">
            <a:avLst/>
          </a:prstGeom>
          <a:solidFill>
            <a:srgbClr val="2E7D32"/>
          </a:solidFill>
          <a:ln>
            <a:noFill/>
          </a:ln>
          <a:effectLst/>
        </p:spPr>
        <p:txBody>
          <a:bodyPr rtlCol="0" anchor="ctr"/>
          <a:lstStyle/>
          <a:p/>
        </p:txBody>
      </p:sp>
      <p:sp>
        <p:nvSpPr>
          <p:cNvPr id="10" name="TextBox 9"/>
          <p:cNvSpPr txBox="1"/>
          <p:nvPr/>
        </p:nvSpPr>
        <p:spPr>
          <a:xfrm>
            <a:off x="5852160" y="1271016"/>
            <a:ext cx="5745175" cy="1475232"/>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2E7D32"/>
                </a:solidFill>
                <a:latin typeface="Calibri"/>
              </a:rPr>
              <a:t>a · Artış hızının genel seyri</a:t>
            </a:r>
          </a:p>
          <a:p>
            <a:pPr algn="l">
              <a:spcBef>
                <a:spcPts val="0"/>
              </a:spcBef>
              <a:spcAft>
                <a:spcPts val="0"/>
              </a:spcAft>
            </a:pPr>
            <a:r>
              <a:rPr lang="tr-TR" sz="1900" b="0" i="0">
                <a:solidFill>
                  <a:srgbClr val="262626"/>
                </a:solidFill>
                <a:latin typeface="Calibri"/>
              </a:rPr>
              <a:t>Uzun süre çok yavaş; 1800'lerden sonra hızlandı; en hızlı dönem 1950 sonrası. Tahminî basamaklar uzuyor: artış yavaşlayacak.</a:t>
            </a:r>
          </a:p>
        </p:txBody>
      </p:sp>
      <p:sp>
        <p:nvSpPr>
          <p:cNvPr id="11" name="Rounded Rectangle 10"/>
          <p:cNvSpPr/>
          <p:nvPr/>
        </p:nvSpPr>
        <p:spPr>
          <a:xfrm>
            <a:off x="5623560" y="2938272"/>
            <a:ext cx="6065215" cy="1584960"/>
          </a:xfrm>
          <a:prstGeom prst="roundRect">
            <a:avLst>
              <a:gd name="adj" fmla="val 6000"/>
            </a:avLst>
          </a:prstGeom>
          <a:solidFill>
            <a:srgbClr val="E3F1E4"/>
          </a:solidFill>
          <a:ln>
            <a:noFill/>
          </a:ln>
          <a:effectLst/>
        </p:spPr>
        <p:txBody>
          <a:bodyPr rtlCol="0" anchor="ctr"/>
          <a:lstStyle/>
          <a:p/>
        </p:txBody>
      </p:sp>
      <p:sp>
        <p:nvSpPr>
          <p:cNvPr id="12" name="Rectangle 11"/>
          <p:cNvSpPr/>
          <p:nvPr/>
        </p:nvSpPr>
        <p:spPr>
          <a:xfrm>
            <a:off x="5623560" y="2938272"/>
            <a:ext cx="109728" cy="1584960"/>
          </a:xfrm>
          <a:prstGeom prst="rect">
            <a:avLst/>
          </a:prstGeom>
          <a:solidFill>
            <a:srgbClr val="2E7D32"/>
          </a:solidFill>
          <a:ln>
            <a:noFill/>
          </a:ln>
          <a:effectLst/>
        </p:spPr>
        <p:txBody>
          <a:bodyPr rtlCol="0" anchor="ctr"/>
          <a:lstStyle/>
          <a:p/>
        </p:txBody>
      </p:sp>
      <p:sp>
        <p:nvSpPr>
          <p:cNvPr id="13" name="TextBox 12"/>
          <p:cNvSpPr txBox="1"/>
          <p:nvPr/>
        </p:nvSpPr>
        <p:spPr>
          <a:xfrm>
            <a:off x="5852160" y="2993136"/>
            <a:ext cx="5745175" cy="1475232"/>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2E7D32"/>
                </a:solidFill>
                <a:latin typeface="Calibri"/>
              </a:rPr>
              <a:t>b · Birer milyar artışın süresi</a:t>
            </a:r>
          </a:p>
          <a:p>
            <a:pPr algn="l">
              <a:spcBef>
                <a:spcPts val="0"/>
              </a:spcBef>
              <a:spcAft>
                <a:spcPts val="0"/>
              </a:spcAft>
            </a:pPr>
            <a:r>
              <a:rPr lang="tr-TR" sz="1900" b="0" i="0">
                <a:solidFill>
                  <a:srgbClr val="262626"/>
                </a:solidFill>
                <a:latin typeface="Calibri"/>
              </a:rPr>
              <a:t>123 yıldan (1804-1927) 11 yıla (1987-1998) indi; sonra 12 yıl; tahminlere göre 15 ve 21 yıl.</a:t>
            </a:r>
          </a:p>
        </p:txBody>
      </p:sp>
      <p:sp>
        <p:nvSpPr>
          <p:cNvPr id="14" name="Rounded Rectangle 13"/>
          <p:cNvSpPr/>
          <p:nvPr/>
        </p:nvSpPr>
        <p:spPr>
          <a:xfrm>
            <a:off x="5623560" y="4660392"/>
            <a:ext cx="6065215" cy="1584960"/>
          </a:xfrm>
          <a:prstGeom prst="roundRect">
            <a:avLst>
              <a:gd name="adj" fmla="val 6000"/>
            </a:avLst>
          </a:prstGeom>
          <a:solidFill>
            <a:srgbClr val="E3F1E4"/>
          </a:solidFill>
          <a:ln>
            <a:noFill/>
          </a:ln>
          <a:effectLst/>
        </p:spPr>
        <p:txBody>
          <a:bodyPr rtlCol="0" anchor="ctr"/>
          <a:lstStyle/>
          <a:p/>
        </p:txBody>
      </p:sp>
      <p:sp>
        <p:nvSpPr>
          <p:cNvPr id="15" name="Rectangle 14"/>
          <p:cNvSpPr/>
          <p:nvPr/>
        </p:nvSpPr>
        <p:spPr>
          <a:xfrm>
            <a:off x="5623560" y="4660392"/>
            <a:ext cx="109728" cy="1584960"/>
          </a:xfrm>
          <a:prstGeom prst="rect">
            <a:avLst/>
          </a:prstGeom>
          <a:solidFill>
            <a:srgbClr val="2E7D32"/>
          </a:solidFill>
          <a:ln>
            <a:noFill/>
          </a:ln>
          <a:effectLst/>
        </p:spPr>
        <p:txBody>
          <a:bodyPr rtlCol="0" anchor="ctr"/>
          <a:lstStyle/>
          <a:p/>
        </p:txBody>
      </p:sp>
      <p:sp>
        <p:nvSpPr>
          <p:cNvPr id="16" name="TextBox 15"/>
          <p:cNvSpPr txBox="1"/>
          <p:nvPr/>
        </p:nvSpPr>
        <p:spPr>
          <a:xfrm>
            <a:off x="5852160" y="4715256"/>
            <a:ext cx="5745175" cy="1475232"/>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2E7D32"/>
                </a:solidFill>
                <a:latin typeface="Calibri"/>
              </a:rPr>
              <a:t>c · Kıtalara göre değişim</a:t>
            </a:r>
          </a:p>
          <a:p>
            <a:pPr algn="l">
              <a:spcBef>
                <a:spcPts val="0"/>
              </a:spcBef>
              <a:spcAft>
                <a:spcPts val="0"/>
              </a:spcAft>
            </a:pPr>
            <a:r>
              <a:rPr lang="tr-TR" sz="1900" b="0" i="0">
                <a:solidFill>
                  <a:srgbClr val="262626"/>
                </a:solidFill>
                <a:latin typeface="Calibri"/>
              </a:rPr>
              <a:t>Bugün dünya nüfusunun en büyük bölümü Asya'da; 1950'den sonra en hızlı artış Afrika'da; Avrupa'da artış yavaş.</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143</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33 / 379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Grafiğe göre doğru olanları seç</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DOĞRU OLANLARI SEÇ</a:t>
            </a:r>
          </a:p>
        </p:txBody>
      </p:sp>
      <p:pic>
        <p:nvPicPr>
          <p:cNvPr id="6" name="Picture 5" descr="h20_milyar_grafigi_s143.jpg"/>
          <p:cNvPicPr>
            <a:picLocks noChangeAspect="1"/>
          </p:cNvPicPr>
          <p:nvPr/>
        </p:nvPicPr>
        <p:blipFill>
          <a:blip r:embed="rId3"/>
          <a:stretch>
            <a:fillRect/>
          </a:stretch>
        </p:blipFill>
        <p:spPr>
          <a:xfrm>
            <a:off x="502920" y="1216152"/>
            <a:ext cx="4937760" cy="3177417"/>
          </a:xfrm>
          <a:prstGeom prst="rect">
            <a:avLst/>
          </a:prstGeom>
          <a:ln w="9525">
            <a:solidFill>
              <a:srgbClr val="D9D9D9"/>
            </a:solidFill>
          </a:ln>
        </p:spPr>
      </p:pic>
      <p:sp>
        <p:nvSpPr>
          <p:cNvPr id="7" name="Rounded Rectangle 6"/>
          <p:cNvSpPr/>
          <p:nvPr/>
        </p:nvSpPr>
        <p:spPr>
          <a:xfrm>
            <a:off x="5669280" y="1216152"/>
            <a:ext cx="6019495" cy="932688"/>
          </a:xfrm>
          <a:prstGeom prst="roundRect">
            <a:avLst>
              <a:gd name="adj" fmla="val 20000"/>
            </a:avLst>
          </a:prstGeom>
          <a:solidFill>
            <a:srgbClr val="FFFFFF"/>
          </a:solidFill>
          <a:ln w="12700">
            <a:solidFill>
              <a:srgbClr val="D9D9D9"/>
            </a:solidFill>
          </a:ln>
          <a:effectLst/>
        </p:spPr>
        <p:txBody>
          <a:bodyPr rtlCol="0" anchor="ctr"/>
          <a:lstStyle/>
          <a:p/>
        </p:txBody>
      </p:sp>
      <p:sp>
        <p:nvSpPr>
          <p:cNvPr id="8" name="Oval 7"/>
          <p:cNvSpPr/>
          <p:nvPr/>
        </p:nvSpPr>
        <p:spPr>
          <a:xfrm>
            <a:off x="5760720" y="1453896"/>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1</a:t>
            </a:r>
          </a:p>
        </p:txBody>
      </p:sp>
      <p:sp>
        <p:nvSpPr>
          <p:cNvPr id="9" name="TextBox 8"/>
          <p:cNvSpPr txBox="1"/>
          <p:nvPr/>
        </p:nvSpPr>
        <p:spPr>
          <a:xfrm>
            <a:off x="6327648" y="1216152"/>
            <a:ext cx="5287975" cy="932688"/>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1998-2010 ve 2010-2022 yılları arasında artış miktarı aynı olmuştur.</a:t>
            </a:r>
          </a:p>
        </p:txBody>
      </p:sp>
      <p:sp>
        <p:nvSpPr>
          <p:cNvPr id="10" name="Rounded Rectangle 9"/>
          <p:cNvSpPr/>
          <p:nvPr/>
        </p:nvSpPr>
        <p:spPr>
          <a:xfrm>
            <a:off x="5669280" y="2240280"/>
            <a:ext cx="6019495" cy="932688"/>
          </a:xfrm>
          <a:prstGeom prst="roundRect">
            <a:avLst>
              <a:gd name="adj" fmla="val 20000"/>
            </a:avLst>
          </a:prstGeom>
          <a:solidFill>
            <a:srgbClr val="FFFFFF"/>
          </a:solidFill>
          <a:ln w="12700">
            <a:solidFill>
              <a:srgbClr val="D9D9D9"/>
            </a:solidFill>
          </a:ln>
          <a:effectLst/>
        </p:spPr>
        <p:txBody>
          <a:bodyPr rtlCol="0" anchor="ctr"/>
          <a:lstStyle/>
          <a:p/>
        </p:txBody>
      </p:sp>
      <p:sp>
        <p:nvSpPr>
          <p:cNvPr id="11" name="Oval 10"/>
          <p:cNvSpPr/>
          <p:nvPr/>
        </p:nvSpPr>
        <p:spPr>
          <a:xfrm>
            <a:off x="5760720" y="2478024"/>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2</a:t>
            </a:r>
          </a:p>
        </p:txBody>
      </p:sp>
      <p:sp>
        <p:nvSpPr>
          <p:cNvPr id="12" name="TextBox 11"/>
          <p:cNvSpPr txBox="1"/>
          <p:nvPr/>
        </p:nvSpPr>
        <p:spPr>
          <a:xfrm>
            <a:off x="6327648" y="2240280"/>
            <a:ext cx="5287975" cy="932688"/>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Dünya nüfusu 500 yıl önce hızlı artış göstermiştir.</a:t>
            </a:r>
          </a:p>
        </p:txBody>
      </p:sp>
      <p:sp>
        <p:nvSpPr>
          <p:cNvPr id="13" name="Rounded Rectangle 12"/>
          <p:cNvSpPr/>
          <p:nvPr/>
        </p:nvSpPr>
        <p:spPr>
          <a:xfrm>
            <a:off x="5669280" y="3264408"/>
            <a:ext cx="6019495" cy="932688"/>
          </a:xfrm>
          <a:prstGeom prst="roundRect">
            <a:avLst>
              <a:gd name="adj" fmla="val 20000"/>
            </a:avLst>
          </a:prstGeom>
          <a:solidFill>
            <a:srgbClr val="FFFFFF"/>
          </a:solidFill>
          <a:ln w="12700">
            <a:solidFill>
              <a:srgbClr val="D9D9D9"/>
            </a:solidFill>
          </a:ln>
          <a:effectLst/>
        </p:spPr>
        <p:txBody>
          <a:bodyPr rtlCol="0" anchor="ctr"/>
          <a:lstStyle/>
          <a:p/>
        </p:txBody>
      </p:sp>
      <p:sp>
        <p:nvSpPr>
          <p:cNvPr id="14" name="Oval 13"/>
          <p:cNvSpPr/>
          <p:nvPr/>
        </p:nvSpPr>
        <p:spPr>
          <a:xfrm>
            <a:off x="5760720" y="3502152"/>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3</a:t>
            </a:r>
          </a:p>
        </p:txBody>
      </p:sp>
      <p:sp>
        <p:nvSpPr>
          <p:cNvPr id="15" name="TextBox 14"/>
          <p:cNvSpPr txBox="1"/>
          <p:nvPr/>
        </p:nvSpPr>
        <p:spPr>
          <a:xfrm>
            <a:off x="6327648" y="3264408"/>
            <a:ext cx="5287975" cy="932688"/>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Grafikte yatay eksende yıllar, dikey eksende nüfus miktarları gösterilmiştir.</a:t>
            </a:r>
          </a:p>
        </p:txBody>
      </p:sp>
      <p:sp>
        <p:nvSpPr>
          <p:cNvPr id="16" name="Rounded Rectangle 15"/>
          <p:cNvSpPr/>
          <p:nvPr/>
        </p:nvSpPr>
        <p:spPr>
          <a:xfrm>
            <a:off x="5669280" y="4288536"/>
            <a:ext cx="6019495" cy="932688"/>
          </a:xfrm>
          <a:prstGeom prst="roundRect">
            <a:avLst>
              <a:gd name="adj" fmla="val 20000"/>
            </a:avLst>
          </a:prstGeom>
          <a:solidFill>
            <a:srgbClr val="FFFFFF"/>
          </a:solidFill>
          <a:ln w="12700">
            <a:solidFill>
              <a:srgbClr val="D9D9D9"/>
            </a:solidFill>
          </a:ln>
          <a:effectLst/>
        </p:spPr>
        <p:txBody>
          <a:bodyPr rtlCol="0" anchor="ctr"/>
          <a:lstStyle/>
          <a:p/>
        </p:txBody>
      </p:sp>
      <p:sp>
        <p:nvSpPr>
          <p:cNvPr id="17" name="Oval 16"/>
          <p:cNvSpPr/>
          <p:nvPr/>
        </p:nvSpPr>
        <p:spPr>
          <a:xfrm>
            <a:off x="5760720" y="4526280"/>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4</a:t>
            </a:r>
          </a:p>
        </p:txBody>
      </p:sp>
      <p:sp>
        <p:nvSpPr>
          <p:cNvPr id="18" name="TextBox 17"/>
          <p:cNvSpPr txBox="1"/>
          <p:nvPr/>
        </p:nvSpPr>
        <p:spPr>
          <a:xfrm>
            <a:off x="6327648" y="4288536"/>
            <a:ext cx="5287975" cy="932688"/>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Kıtalar içerisinde en fazla nüfuslanma Asya kıtasında olmuştur.</a:t>
            </a:r>
          </a:p>
        </p:txBody>
      </p:sp>
      <p:sp>
        <p:nvSpPr>
          <p:cNvPr id="19" name="Rounded Rectangle 18"/>
          <p:cNvSpPr/>
          <p:nvPr/>
        </p:nvSpPr>
        <p:spPr>
          <a:xfrm>
            <a:off x="5669280" y="5312664"/>
            <a:ext cx="6019495" cy="932688"/>
          </a:xfrm>
          <a:prstGeom prst="roundRect">
            <a:avLst>
              <a:gd name="adj" fmla="val 20000"/>
            </a:avLst>
          </a:prstGeom>
          <a:solidFill>
            <a:srgbClr val="FFFFFF"/>
          </a:solidFill>
          <a:ln w="12700">
            <a:solidFill>
              <a:srgbClr val="D9D9D9"/>
            </a:solidFill>
          </a:ln>
          <a:effectLst/>
        </p:spPr>
        <p:txBody>
          <a:bodyPr rtlCol="0" anchor="ctr"/>
          <a:lstStyle/>
          <a:p/>
        </p:txBody>
      </p:sp>
      <p:sp>
        <p:nvSpPr>
          <p:cNvPr id="20" name="Oval 19"/>
          <p:cNvSpPr/>
          <p:nvPr/>
        </p:nvSpPr>
        <p:spPr>
          <a:xfrm>
            <a:off x="5760720" y="5550408"/>
            <a:ext cx="457200" cy="45720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5</a:t>
            </a:r>
          </a:p>
        </p:txBody>
      </p:sp>
      <p:sp>
        <p:nvSpPr>
          <p:cNvPr id="21" name="TextBox 20"/>
          <p:cNvSpPr txBox="1"/>
          <p:nvPr/>
        </p:nvSpPr>
        <p:spPr>
          <a:xfrm>
            <a:off x="6327648" y="5312664"/>
            <a:ext cx="5287975" cy="932688"/>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1804 yılından sonra nüfusun ikiye katlanma süresi kısalmıştır.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143</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34 / 379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Grafiğe göre doğru olanları seç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20_milyar_grafigi_s143.jpg"/>
          <p:cNvPicPr>
            <a:picLocks noChangeAspect="1"/>
          </p:cNvPicPr>
          <p:nvPr/>
        </p:nvPicPr>
        <p:blipFill>
          <a:blip r:embed="rId3"/>
          <a:stretch>
            <a:fillRect/>
          </a:stretch>
        </p:blipFill>
        <p:spPr>
          <a:xfrm>
            <a:off x="502920" y="1216152"/>
            <a:ext cx="4937760" cy="3177417"/>
          </a:xfrm>
          <a:prstGeom prst="rect">
            <a:avLst/>
          </a:prstGeom>
          <a:ln w="9525">
            <a:solidFill>
              <a:srgbClr val="D9D9D9"/>
            </a:solidFill>
          </a:ln>
        </p:spPr>
      </p:pic>
      <p:sp>
        <p:nvSpPr>
          <p:cNvPr id="7" name="Rounded Rectangle 6"/>
          <p:cNvSpPr/>
          <p:nvPr/>
        </p:nvSpPr>
        <p:spPr>
          <a:xfrm>
            <a:off x="5669280" y="1216152"/>
            <a:ext cx="6019495" cy="932688"/>
          </a:xfrm>
          <a:prstGeom prst="roundRect">
            <a:avLst>
              <a:gd name="adj" fmla="val 20000"/>
            </a:avLst>
          </a:prstGeom>
          <a:solidFill>
            <a:srgbClr val="E3F1E4"/>
          </a:solidFill>
          <a:ln w="25400">
            <a:solidFill>
              <a:srgbClr val="2E7D32"/>
            </a:solidFill>
          </a:ln>
          <a:effectLst/>
        </p:spPr>
        <p:txBody>
          <a:bodyPr rtlCol="0" anchor="ctr"/>
          <a:lstStyle/>
          <a:p/>
        </p:txBody>
      </p:sp>
      <p:sp>
        <p:nvSpPr>
          <p:cNvPr id="8" name="Oval 7"/>
          <p:cNvSpPr/>
          <p:nvPr/>
        </p:nvSpPr>
        <p:spPr>
          <a:xfrm>
            <a:off x="5760720" y="1453896"/>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t>
            </a:r>
          </a:p>
        </p:txBody>
      </p:sp>
      <p:sp>
        <p:nvSpPr>
          <p:cNvPr id="9" name="TextBox 8"/>
          <p:cNvSpPr txBox="1"/>
          <p:nvPr/>
        </p:nvSpPr>
        <p:spPr>
          <a:xfrm>
            <a:off x="6327648" y="1216152"/>
            <a:ext cx="5287975" cy="932688"/>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262626"/>
                </a:solidFill>
                <a:latin typeface="Calibri"/>
              </a:rPr>
              <a:t>1998-2010 ve 2010-2022 yılları arasında artış miktarı aynı olmuştur.  → </a:t>
            </a:r>
            <a:r>
              <a:rPr lang="tr-TR" sz="1550" b="1" i="0">
                <a:solidFill>
                  <a:srgbClr val="262626"/>
                </a:solidFill>
                <a:latin typeface="Calibri"/>
              </a:rPr>
              <a:t>İkisinde de 1'er milyar, 12'şer yılda.</a:t>
            </a:r>
          </a:p>
        </p:txBody>
      </p:sp>
      <p:sp>
        <p:nvSpPr>
          <p:cNvPr id="10" name="Rounded Rectangle 9"/>
          <p:cNvSpPr/>
          <p:nvPr/>
        </p:nvSpPr>
        <p:spPr>
          <a:xfrm>
            <a:off x="5669280" y="2240280"/>
            <a:ext cx="6019495" cy="932688"/>
          </a:xfrm>
          <a:prstGeom prst="roundRect">
            <a:avLst>
              <a:gd name="adj" fmla="val 20000"/>
            </a:avLst>
          </a:prstGeom>
          <a:solidFill>
            <a:srgbClr val="F9E1E1"/>
          </a:solidFill>
          <a:ln w="25400">
            <a:solidFill>
              <a:srgbClr val="D3373A"/>
            </a:solidFill>
          </a:ln>
          <a:effectLst/>
        </p:spPr>
        <p:txBody>
          <a:bodyPr rtlCol="0" anchor="ctr"/>
          <a:lstStyle/>
          <a:p/>
        </p:txBody>
      </p:sp>
      <p:sp>
        <p:nvSpPr>
          <p:cNvPr id="11" name="Oval 10"/>
          <p:cNvSpPr/>
          <p:nvPr/>
        </p:nvSpPr>
        <p:spPr>
          <a:xfrm>
            <a:off x="5760720" y="2478024"/>
            <a:ext cx="457200" cy="45720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t>
            </a:r>
          </a:p>
        </p:txBody>
      </p:sp>
      <p:sp>
        <p:nvSpPr>
          <p:cNvPr id="12" name="TextBox 11"/>
          <p:cNvSpPr txBox="1"/>
          <p:nvPr/>
        </p:nvSpPr>
        <p:spPr>
          <a:xfrm>
            <a:off x="6327648" y="2240280"/>
            <a:ext cx="5287975" cy="932688"/>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262626"/>
                </a:solidFill>
                <a:latin typeface="Calibri"/>
              </a:rPr>
              <a:t>Dünya nüfusu 500 yıl önce hızlı artış göstermiştir.  → </a:t>
            </a:r>
            <a:r>
              <a:rPr lang="tr-TR" sz="1550" b="1" i="0">
                <a:solidFill>
                  <a:srgbClr val="262626"/>
                </a:solidFill>
                <a:latin typeface="Calibri"/>
              </a:rPr>
              <a:t>1500'lerde eğri neredeyse yatay; hızlı artış 1800'lerden sonra.</a:t>
            </a:r>
          </a:p>
        </p:txBody>
      </p:sp>
      <p:sp>
        <p:nvSpPr>
          <p:cNvPr id="13" name="Rounded Rectangle 12"/>
          <p:cNvSpPr/>
          <p:nvPr/>
        </p:nvSpPr>
        <p:spPr>
          <a:xfrm>
            <a:off x="5669280" y="3264408"/>
            <a:ext cx="6019495" cy="932688"/>
          </a:xfrm>
          <a:prstGeom prst="roundRect">
            <a:avLst>
              <a:gd name="adj" fmla="val 20000"/>
            </a:avLst>
          </a:prstGeom>
          <a:solidFill>
            <a:srgbClr val="E3F1E4"/>
          </a:solidFill>
          <a:ln w="25400">
            <a:solidFill>
              <a:srgbClr val="2E7D32"/>
            </a:solidFill>
          </a:ln>
          <a:effectLst/>
        </p:spPr>
        <p:txBody>
          <a:bodyPr rtlCol="0" anchor="ctr"/>
          <a:lstStyle/>
          <a:p/>
        </p:txBody>
      </p:sp>
      <p:sp>
        <p:nvSpPr>
          <p:cNvPr id="14" name="Oval 13"/>
          <p:cNvSpPr/>
          <p:nvPr/>
        </p:nvSpPr>
        <p:spPr>
          <a:xfrm>
            <a:off x="5760720" y="3502152"/>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t>
            </a:r>
          </a:p>
        </p:txBody>
      </p:sp>
      <p:sp>
        <p:nvSpPr>
          <p:cNvPr id="15" name="TextBox 14"/>
          <p:cNvSpPr txBox="1"/>
          <p:nvPr/>
        </p:nvSpPr>
        <p:spPr>
          <a:xfrm>
            <a:off x="6327648" y="3264408"/>
            <a:ext cx="5287975" cy="932688"/>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262626"/>
                </a:solidFill>
                <a:latin typeface="Calibri"/>
              </a:rPr>
              <a:t>Grafikte yatay eksende yıllar, dikey eksende nüfus miktarları gösterilmiştir.</a:t>
            </a:r>
          </a:p>
        </p:txBody>
      </p:sp>
      <p:sp>
        <p:nvSpPr>
          <p:cNvPr id="16" name="Rounded Rectangle 15"/>
          <p:cNvSpPr/>
          <p:nvPr/>
        </p:nvSpPr>
        <p:spPr>
          <a:xfrm>
            <a:off x="5669280" y="4288536"/>
            <a:ext cx="6019495" cy="932688"/>
          </a:xfrm>
          <a:prstGeom prst="roundRect">
            <a:avLst>
              <a:gd name="adj" fmla="val 20000"/>
            </a:avLst>
          </a:prstGeom>
          <a:solidFill>
            <a:srgbClr val="F9E1E1"/>
          </a:solidFill>
          <a:ln w="25400">
            <a:solidFill>
              <a:srgbClr val="D3373A"/>
            </a:solidFill>
          </a:ln>
          <a:effectLst/>
        </p:spPr>
        <p:txBody>
          <a:bodyPr rtlCol="0" anchor="ctr"/>
          <a:lstStyle/>
          <a:p/>
        </p:txBody>
      </p:sp>
      <p:sp>
        <p:nvSpPr>
          <p:cNvPr id="17" name="Oval 16"/>
          <p:cNvSpPr/>
          <p:nvPr/>
        </p:nvSpPr>
        <p:spPr>
          <a:xfrm>
            <a:off x="5760720" y="4526280"/>
            <a:ext cx="457200" cy="457200"/>
          </a:xfrm>
          <a:prstGeom prst="ellipse">
            <a:avLst/>
          </a:prstGeom>
          <a:solidFill>
            <a:srgbClr val="D3373A"/>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t>
            </a:r>
          </a:p>
        </p:txBody>
      </p:sp>
      <p:sp>
        <p:nvSpPr>
          <p:cNvPr id="18" name="TextBox 17"/>
          <p:cNvSpPr txBox="1"/>
          <p:nvPr/>
        </p:nvSpPr>
        <p:spPr>
          <a:xfrm>
            <a:off x="6327648" y="4288536"/>
            <a:ext cx="5287975" cy="932688"/>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262626"/>
                </a:solidFill>
                <a:latin typeface="Calibri"/>
              </a:rPr>
              <a:t>Kıtalar içerisinde en fazla nüfuslanma Asya kıtasında olmuştur.  → </a:t>
            </a:r>
            <a:r>
              <a:rPr lang="tr-TR" sz="1550" b="1" i="0">
                <a:solidFill>
                  <a:srgbClr val="262626"/>
                </a:solidFill>
                <a:latin typeface="Calibri"/>
              </a:rPr>
              <a:t>Grafik kıta verisi göstermez: bu sonuç grafikten çıkarılamaz.</a:t>
            </a:r>
          </a:p>
        </p:txBody>
      </p:sp>
      <p:sp>
        <p:nvSpPr>
          <p:cNvPr id="19" name="Rounded Rectangle 18"/>
          <p:cNvSpPr/>
          <p:nvPr/>
        </p:nvSpPr>
        <p:spPr>
          <a:xfrm>
            <a:off x="5669280" y="5312664"/>
            <a:ext cx="6019495" cy="932688"/>
          </a:xfrm>
          <a:prstGeom prst="roundRect">
            <a:avLst>
              <a:gd name="adj" fmla="val 20000"/>
            </a:avLst>
          </a:prstGeom>
          <a:solidFill>
            <a:srgbClr val="E3F1E4"/>
          </a:solidFill>
          <a:ln w="25400">
            <a:solidFill>
              <a:srgbClr val="2E7D32"/>
            </a:solidFill>
          </a:ln>
          <a:effectLst/>
        </p:spPr>
        <p:txBody>
          <a:bodyPr rtlCol="0" anchor="ctr"/>
          <a:lstStyle/>
          <a:p/>
        </p:txBody>
      </p:sp>
      <p:sp>
        <p:nvSpPr>
          <p:cNvPr id="20" name="Oval 19"/>
          <p:cNvSpPr/>
          <p:nvPr/>
        </p:nvSpPr>
        <p:spPr>
          <a:xfrm>
            <a:off x="5760720" y="5550408"/>
            <a:ext cx="457200" cy="45720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800" b="1" i="0">
                <a:solidFill>
                  <a:srgbClr val="FFFFFF"/>
                </a:solidFill>
                <a:latin typeface="Calibri"/>
              </a:rPr>
              <a:t>✓</a:t>
            </a:r>
          </a:p>
        </p:txBody>
      </p:sp>
      <p:sp>
        <p:nvSpPr>
          <p:cNvPr id="21" name="TextBox 20"/>
          <p:cNvSpPr txBox="1"/>
          <p:nvPr/>
        </p:nvSpPr>
        <p:spPr>
          <a:xfrm>
            <a:off x="6327648" y="5312664"/>
            <a:ext cx="5287975" cy="932688"/>
          </a:xfrm>
          <a:prstGeom prst="rect">
            <a:avLst/>
          </a:prstGeom>
          <a:noFill/>
        </p:spPr>
        <p:txBody>
          <a:bodyPr wrap="square" anchor="ctr" lIns="73152" rIns="73152" tIns="36576" bIns="36576">
            <a:noAutofit/>
          </a:bodyPr>
          <a:lstStyle/>
          <a:p>
            <a:pPr algn="l">
              <a:spcBef>
                <a:spcPts val="0"/>
              </a:spcBef>
              <a:spcAft>
                <a:spcPts val="0"/>
              </a:spcAft>
            </a:pPr>
            <a:r>
              <a:rPr lang="tr-TR" sz="1550" b="0" i="0">
                <a:solidFill>
                  <a:srgbClr val="262626"/>
                </a:solidFill>
                <a:latin typeface="Calibri"/>
              </a:rPr>
              <a:t>1804 yılından sonra nüfusun ikiye katlanma süresi kısalmıştır.  → </a:t>
            </a:r>
            <a:r>
              <a:rPr lang="tr-TR" sz="1550" b="1" i="0">
                <a:solidFill>
                  <a:srgbClr val="262626"/>
                </a:solidFill>
                <a:latin typeface="Calibri"/>
              </a:rPr>
              <a:t>1→2 milyar 123 yıl; 2→4 milyar 47 yıl; 4→8 milyar 48 yıl.</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143</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35 / 379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1950 sonrası hızlı nüfuslanma: boşlukları dolduralım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BOŞLUK DOLDUR</a:t>
            </a:r>
          </a:p>
        </p:txBody>
      </p:sp>
      <p:sp>
        <p:nvSpPr>
          <p:cNvPr id="6" name="Rounded Rectangle 5"/>
          <p:cNvSpPr/>
          <p:nvPr/>
        </p:nvSpPr>
        <p:spPr>
          <a:xfrm>
            <a:off x="502920" y="1216152"/>
            <a:ext cx="11185855" cy="3246120"/>
          </a:xfrm>
          <a:prstGeom prst="roundRect">
            <a:avLst>
              <a:gd name="adj" fmla="val 8000"/>
            </a:avLst>
          </a:prstGeom>
          <a:solidFill>
            <a:srgbClr val="F0F0F0"/>
          </a:solidFill>
          <a:ln>
            <a:noFill/>
          </a:ln>
          <a:effectLst/>
        </p:spPr>
        <p:txBody>
          <a:bodyPr rtlCol="0" anchor="ctr" wrap="square" lIns="320040" rIns="320040" tIns="73152" bIns="73152">
            <a:noAutofit/>
          </a:bodyPr>
          <a:lstStyle/>
          <a:p>
            <a:pPr algn="l">
              <a:spcBef>
                <a:spcPts val="0"/>
              </a:spcBef>
              <a:spcAft>
                <a:spcPts val="0"/>
              </a:spcAft>
            </a:pPr>
            <a:r>
              <a:rPr lang="tr-TR" sz="2500" b="0" i="0">
                <a:solidFill>
                  <a:srgbClr val="262626"/>
                </a:solidFill>
                <a:latin typeface="Calibri"/>
              </a:rPr>
              <a:t>Dünyadaki hızlı nüfuslanma (1) …… sonrasında başlamıştır. Bu tarihten sonra dünya nüfusuna her 1 milyar insanın dâhil olma süresi bazı dönemlerde (2) …… yıla kadar düşmüştür. Bu dönemde hızlı nüfuslanma daha çok (3) …… ülkelerde yaşanmıştır. Gelişmekte olan ülkeler, gelişmiş ülkelerin sağlık ve (4) …… olanaklarını kullanarak (5) …… oranlarını hızla düşürmüştür. Bu ülkelerde (6) …… oranlarının yüksek olması hızlı nüfuslanmayı da beraberinde getirmiştir.</a:t>
            </a:r>
          </a:p>
        </p:txBody>
      </p:sp>
      <p:sp>
        <p:nvSpPr>
          <p:cNvPr id="7" name="TextBox 6"/>
          <p:cNvSpPr txBox="1"/>
          <p:nvPr/>
        </p:nvSpPr>
        <p:spPr>
          <a:xfrm>
            <a:off x="502920" y="4645152"/>
            <a:ext cx="11185855" cy="411480"/>
          </a:xfrm>
          <a:prstGeom prst="rect">
            <a:avLst/>
          </a:prstGeom>
          <a:noFill/>
        </p:spPr>
        <p:txBody>
          <a:bodyPr wrap="square" anchor="t" lIns="73152" rIns="73152" tIns="36576" bIns="36576">
            <a:noAutofit/>
          </a:bodyPr>
          <a:lstStyle/>
          <a:p>
            <a:pPr algn="ctr">
              <a:spcBef>
                <a:spcPts val="0"/>
              </a:spcBef>
              <a:spcAft>
                <a:spcPts val="0"/>
              </a:spcAft>
            </a:pPr>
            <a:r>
              <a:rPr lang="tr-TR" sz="1800" b="1" i="0">
                <a:solidFill>
                  <a:srgbClr val="767676"/>
                </a:solidFill>
                <a:latin typeface="Calibri"/>
              </a:rPr>
              <a:t>Sözcük kutusu</a:t>
            </a:r>
          </a:p>
        </p:txBody>
      </p:sp>
      <p:sp>
        <p:nvSpPr>
          <p:cNvPr id="8" name="Rounded Rectangle 7"/>
          <p:cNvSpPr/>
          <p:nvPr/>
        </p:nvSpPr>
        <p:spPr>
          <a:xfrm>
            <a:off x="430547" y="5148072"/>
            <a:ext cx="1651578" cy="731520"/>
          </a:xfrm>
          <a:prstGeom prst="roundRect">
            <a:avLst>
              <a:gd name="adj" fmla="val 40000"/>
            </a:avLst>
          </a:prstGeom>
          <a:solidFill>
            <a:srgbClr val="FFFFFF"/>
          </a:solidFill>
          <a:ln w="25400">
            <a:solidFill>
              <a:srgbClr val="2C6696"/>
            </a:solidFill>
          </a:ln>
          <a:effectLst/>
        </p:spPr>
        <p:txBody>
          <a:bodyPr rtlCol="0" anchor="ctr" wrap="square" tIns="73152" bIns="73152">
            <a:noAutofit/>
          </a:bodyPr>
          <a:lstStyle/>
          <a:p>
            <a:pPr algn="ctr">
              <a:spcBef>
                <a:spcPts val="0"/>
              </a:spcBef>
              <a:spcAft>
                <a:spcPts val="0"/>
              </a:spcAft>
            </a:pPr>
            <a:r>
              <a:rPr lang="tr-TR" sz="2400" b="1" i="0">
                <a:solidFill>
                  <a:srgbClr val="262626"/>
                </a:solidFill>
                <a:latin typeface="Calibri"/>
              </a:rPr>
              <a:t>doğum</a:t>
            </a:r>
          </a:p>
        </p:txBody>
      </p:sp>
      <p:sp>
        <p:nvSpPr>
          <p:cNvPr id="9" name="Rounded Rectangle 8"/>
          <p:cNvSpPr/>
          <p:nvPr/>
        </p:nvSpPr>
        <p:spPr>
          <a:xfrm>
            <a:off x="2310725" y="5148072"/>
            <a:ext cx="1895865" cy="731520"/>
          </a:xfrm>
          <a:prstGeom prst="roundRect">
            <a:avLst>
              <a:gd name="adj" fmla="val 40000"/>
            </a:avLst>
          </a:prstGeom>
          <a:solidFill>
            <a:srgbClr val="FFFFFF"/>
          </a:solidFill>
          <a:ln w="25400">
            <a:solidFill>
              <a:srgbClr val="2C6696"/>
            </a:solidFill>
          </a:ln>
          <a:effectLst/>
        </p:spPr>
        <p:txBody>
          <a:bodyPr rtlCol="0" anchor="ctr" wrap="square" tIns="73152" bIns="73152">
            <a:noAutofit/>
          </a:bodyPr>
          <a:lstStyle/>
          <a:p>
            <a:pPr algn="ctr">
              <a:spcBef>
                <a:spcPts val="0"/>
              </a:spcBef>
              <a:spcAft>
                <a:spcPts val="0"/>
              </a:spcAft>
            </a:pPr>
            <a:r>
              <a:rPr lang="tr-TR" sz="2400" b="1" i="0">
                <a:solidFill>
                  <a:srgbClr val="262626"/>
                </a:solidFill>
                <a:latin typeface="Calibri"/>
              </a:rPr>
              <a:t>teknoloji</a:t>
            </a:r>
          </a:p>
        </p:txBody>
      </p:sp>
      <p:sp>
        <p:nvSpPr>
          <p:cNvPr id="10" name="Rounded Rectangle 9"/>
          <p:cNvSpPr/>
          <p:nvPr/>
        </p:nvSpPr>
        <p:spPr>
          <a:xfrm>
            <a:off x="4435190" y="5148072"/>
            <a:ext cx="1378201" cy="731520"/>
          </a:xfrm>
          <a:prstGeom prst="roundRect">
            <a:avLst>
              <a:gd name="adj" fmla="val 40000"/>
            </a:avLst>
          </a:prstGeom>
          <a:solidFill>
            <a:srgbClr val="FFFFFF"/>
          </a:solidFill>
          <a:ln w="25400">
            <a:solidFill>
              <a:srgbClr val="2C6696"/>
            </a:solidFill>
          </a:ln>
          <a:effectLst/>
        </p:spPr>
        <p:txBody>
          <a:bodyPr rtlCol="0" anchor="ctr" wrap="square" tIns="73152" bIns="73152">
            <a:noAutofit/>
          </a:bodyPr>
          <a:lstStyle/>
          <a:p>
            <a:pPr algn="ctr">
              <a:spcBef>
                <a:spcPts val="0"/>
              </a:spcBef>
              <a:spcAft>
                <a:spcPts val="0"/>
              </a:spcAft>
            </a:pPr>
            <a:r>
              <a:rPr lang="tr-TR" sz="2400" b="1" i="0">
                <a:solidFill>
                  <a:srgbClr val="262626"/>
                </a:solidFill>
                <a:latin typeface="Calibri"/>
              </a:rPr>
              <a:t>1950</a:t>
            </a:r>
          </a:p>
        </p:txBody>
      </p:sp>
      <p:sp>
        <p:nvSpPr>
          <p:cNvPr id="11" name="Rounded Rectangle 10"/>
          <p:cNvSpPr/>
          <p:nvPr/>
        </p:nvSpPr>
        <p:spPr>
          <a:xfrm>
            <a:off x="6041991" y="5148072"/>
            <a:ext cx="1411410" cy="731520"/>
          </a:xfrm>
          <a:prstGeom prst="roundRect">
            <a:avLst>
              <a:gd name="adj" fmla="val 40000"/>
            </a:avLst>
          </a:prstGeom>
          <a:solidFill>
            <a:srgbClr val="FFFFFF"/>
          </a:solidFill>
          <a:ln w="25400">
            <a:solidFill>
              <a:srgbClr val="2C6696"/>
            </a:solidFill>
          </a:ln>
          <a:effectLst/>
        </p:spPr>
        <p:txBody>
          <a:bodyPr rtlCol="0" anchor="ctr" wrap="square" tIns="73152" bIns="73152">
            <a:noAutofit/>
          </a:bodyPr>
          <a:lstStyle/>
          <a:p>
            <a:pPr algn="ctr">
              <a:spcBef>
                <a:spcPts val="0"/>
              </a:spcBef>
              <a:spcAft>
                <a:spcPts val="0"/>
              </a:spcAft>
            </a:pPr>
            <a:r>
              <a:rPr lang="tr-TR" sz="2400" b="1" i="0">
                <a:solidFill>
                  <a:srgbClr val="262626"/>
                </a:solidFill>
                <a:latin typeface="Calibri"/>
              </a:rPr>
              <a:t>ölüm</a:t>
            </a:r>
          </a:p>
        </p:txBody>
      </p:sp>
      <p:sp>
        <p:nvSpPr>
          <p:cNvPr id="12" name="Rounded Rectangle 11"/>
          <p:cNvSpPr/>
          <p:nvPr/>
        </p:nvSpPr>
        <p:spPr>
          <a:xfrm>
            <a:off x="7682001" y="5148072"/>
            <a:ext cx="2790606" cy="731520"/>
          </a:xfrm>
          <a:prstGeom prst="roundRect">
            <a:avLst>
              <a:gd name="adj" fmla="val 40000"/>
            </a:avLst>
          </a:prstGeom>
          <a:solidFill>
            <a:srgbClr val="FFFFFF"/>
          </a:solidFill>
          <a:ln w="25400">
            <a:solidFill>
              <a:srgbClr val="2C6696"/>
            </a:solidFill>
          </a:ln>
          <a:effectLst/>
        </p:spPr>
        <p:txBody>
          <a:bodyPr rtlCol="0" anchor="ctr" wrap="square" tIns="73152" bIns="73152">
            <a:noAutofit/>
          </a:bodyPr>
          <a:lstStyle/>
          <a:p>
            <a:pPr algn="ctr">
              <a:spcBef>
                <a:spcPts val="0"/>
              </a:spcBef>
              <a:spcAft>
                <a:spcPts val="0"/>
              </a:spcAft>
            </a:pPr>
            <a:r>
              <a:rPr lang="tr-TR" sz="2400" b="1" i="0">
                <a:solidFill>
                  <a:srgbClr val="262626"/>
                </a:solidFill>
                <a:latin typeface="Calibri"/>
              </a:rPr>
              <a:t>gelişmekte olan</a:t>
            </a:r>
          </a:p>
        </p:txBody>
      </p:sp>
      <p:sp>
        <p:nvSpPr>
          <p:cNvPr id="13" name="Rounded Rectangle 12"/>
          <p:cNvSpPr/>
          <p:nvPr/>
        </p:nvSpPr>
        <p:spPr>
          <a:xfrm>
            <a:off x="10701207" y="5148072"/>
            <a:ext cx="1059940" cy="731520"/>
          </a:xfrm>
          <a:prstGeom prst="roundRect">
            <a:avLst>
              <a:gd name="adj" fmla="val 40000"/>
            </a:avLst>
          </a:prstGeom>
          <a:solidFill>
            <a:srgbClr val="FFFFFF"/>
          </a:solidFill>
          <a:ln w="25400">
            <a:solidFill>
              <a:srgbClr val="2C6696"/>
            </a:solidFill>
          </a:ln>
          <a:effectLst/>
        </p:spPr>
        <p:txBody>
          <a:bodyPr rtlCol="0" anchor="ctr" wrap="square" tIns="73152" bIns="73152">
            <a:noAutofit/>
          </a:bodyPr>
          <a:lstStyle/>
          <a:p>
            <a:pPr algn="ctr">
              <a:spcBef>
                <a:spcPts val="0"/>
              </a:spcBef>
              <a:spcAft>
                <a:spcPts val="0"/>
              </a:spcAft>
            </a:pPr>
            <a:r>
              <a:rPr lang="tr-TR" sz="2400" b="1" i="0">
                <a:solidFill>
                  <a:srgbClr val="262626"/>
                </a:solidFill>
                <a:latin typeface="Calibri"/>
              </a:rPr>
              <a:t>11</a:t>
            </a:r>
          </a:p>
        </p:txBody>
      </p:sp>
      <p:sp>
        <p:nvSpPr>
          <p:cNvPr id="14" name="TextBox 1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15" name="Rounded Rectangle 1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142</a:t>
            </a:r>
          </a:p>
        </p:txBody>
      </p:sp>
      <p:sp>
        <p:nvSpPr>
          <p:cNvPr id="16" name="TextBox 1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36 / 379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FFFFFF"/>
                </a:solidFill>
                <a:latin typeface="Calibri"/>
              </a:rPr>
              <a:t>1950 sonrası hızlı nüfuslanma: boşlukları dolduralım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11185855" cy="3246120"/>
          </a:xfrm>
          <a:prstGeom prst="roundRect">
            <a:avLst>
              <a:gd name="adj" fmla="val 8000"/>
            </a:avLst>
          </a:prstGeom>
          <a:solidFill>
            <a:srgbClr val="E3F1E4"/>
          </a:solidFill>
          <a:ln w="12700">
            <a:solidFill>
              <a:srgbClr val="2E7D32"/>
            </a:solidFill>
          </a:ln>
          <a:effectLst/>
        </p:spPr>
        <p:txBody>
          <a:bodyPr rtlCol="0" anchor="ctr" wrap="square" lIns="320040" rIns="320040" tIns="73152" bIns="73152">
            <a:noAutofit/>
          </a:bodyPr>
          <a:lstStyle/>
          <a:p>
            <a:pPr algn="l">
              <a:spcBef>
                <a:spcPts val="0"/>
              </a:spcBef>
              <a:spcAft>
                <a:spcPts val="0"/>
              </a:spcAft>
            </a:pPr>
            <a:r>
              <a:rPr lang="tr-TR" sz="2500" b="0" i="0">
                <a:solidFill>
                  <a:srgbClr val="262626"/>
                </a:solidFill>
                <a:latin typeface="Calibri"/>
              </a:rPr>
              <a:t>Dünyadaki hızlı nüfuslanma </a:t>
            </a:r>
            <a:r>
              <a:rPr lang="tr-TR" sz="2500" b="1" i="0">
                <a:solidFill>
                  <a:srgbClr val="262626"/>
                </a:solidFill>
                <a:latin typeface="Calibri"/>
              </a:rPr>
              <a:t>1950</a:t>
            </a:r>
            <a:r>
              <a:rPr lang="tr-TR" sz="2500" b="0" i="0">
                <a:solidFill>
                  <a:srgbClr val="262626"/>
                </a:solidFill>
                <a:latin typeface="Calibri"/>
              </a:rPr>
              <a:t> sonrasında başlamıştır. Bu tarihten sonra dünya nüfusuna her 1 milyar insanın dâhil olma süresi bazı dönemlerde </a:t>
            </a:r>
            <a:r>
              <a:rPr lang="tr-TR" sz="2500" b="1" i="0">
                <a:solidFill>
                  <a:srgbClr val="262626"/>
                </a:solidFill>
                <a:latin typeface="Calibri"/>
              </a:rPr>
              <a:t>11</a:t>
            </a:r>
            <a:r>
              <a:rPr lang="tr-TR" sz="2500" b="0" i="0">
                <a:solidFill>
                  <a:srgbClr val="262626"/>
                </a:solidFill>
                <a:latin typeface="Calibri"/>
              </a:rPr>
              <a:t> yıla kadar düşmüştür. Bu dönemde hızlı nüfuslanma daha çok </a:t>
            </a:r>
            <a:r>
              <a:rPr lang="tr-TR" sz="2500" b="1" i="0">
                <a:solidFill>
                  <a:srgbClr val="262626"/>
                </a:solidFill>
                <a:latin typeface="Calibri"/>
              </a:rPr>
              <a:t>gelişmekte olan</a:t>
            </a:r>
            <a:r>
              <a:rPr lang="tr-TR" sz="2500" b="0" i="0">
                <a:solidFill>
                  <a:srgbClr val="262626"/>
                </a:solidFill>
                <a:latin typeface="Calibri"/>
              </a:rPr>
              <a:t> ülkelerde yaşanmıştır. Gelişmekte olan ülkeler, gelişmiş ülkelerin sağlık ve </a:t>
            </a:r>
            <a:r>
              <a:rPr lang="tr-TR" sz="2500" b="1" i="0">
                <a:solidFill>
                  <a:srgbClr val="262626"/>
                </a:solidFill>
                <a:latin typeface="Calibri"/>
              </a:rPr>
              <a:t>teknoloji</a:t>
            </a:r>
            <a:r>
              <a:rPr lang="tr-TR" sz="2500" b="0" i="0">
                <a:solidFill>
                  <a:srgbClr val="262626"/>
                </a:solidFill>
                <a:latin typeface="Calibri"/>
              </a:rPr>
              <a:t> olanaklarını kullanarak </a:t>
            </a:r>
            <a:r>
              <a:rPr lang="tr-TR" sz="2500" b="1" i="0">
                <a:solidFill>
                  <a:srgbClr val="262626"/>
                </a:solidFill>
                <a:latin typeface="Calibri"/>
              </a:rPr>
              <a:t>ölüm</a:t>
            </a:r>
            <a:r>
              <a:rPr lang="tr-TR" sz="2500" b="0" i="0">
                <a:solidFill>
                  <a:srgbClr val="262626"/>
                </a:solidFill>
                <a:latin typeface="Calibri"/>
              </a:rPr>
              <a:t> oranlarını hızla düşürmüştür. Bu ülkelerde </a:t>
            </a:r>
            <a:r>
              <a:rPr lang="tr-TR" sz="2500" b="1" i="0">
                <a:solidFill>
                  <a:srgbClr val="262626"/>
                </a:solidFill>
                <a:latin typeface="Calibri"/>
              </a:rPr>
              <a:t>doğum</a:t>
            </a:r>
            <a:r>
              <a:rPr lang="tr-TR" sz="2500" b="0" i="0">
                <a:solidFill>
                  <a:srgbClr val="262626"/>
                </a:solidFill>
                <a:latin typeface="Calibri"/>
              </a:rPr>
              <a:t> oranlarının yüksek olması hızlı nüfuslanmayı da beraberinde getirmiştir.</a:t>
            </a:r>
          </a:p>
        </p:txBody>
      </p:sp>
      <p:sp>
        <p:nvSpPr>
          <p:cNvPr id="7" name="Rounded Rectangle 6"/>
          <p:cNvSpPr/>
          <p:nvPr/>
        </p:nvSpPr>
        <p:spPr>
          <a:xfrm>
            <a:off x="502920" y="4782312"/>
            <a:ext cx="2487853" cy="1097280"/>
          </a:xfrm>
          <a:prstGeom prst="roundRect">
            <a:avLst>
              <a:gd name="adj" fmla="val 15000"/>
            </a:avLst>
          </a:prstGeom>
          <a:solidFill>
            <a:srgbClr val="2C6696"/>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Sağlık ve teknoloji olanakları</a:t>
            </a:r>
          </a:p>
        </p:txBody>
      </p:sp>
      <p:cxnSp>
        <p:nvCxnSpPr>
          <p:cNvPr id="8" name="Connector 7"/>
          <p:cNvCxnSpPr/>
          <p:nvPr/>
        </p:nvCxnSpPr>
        <p:spPr>
          <a:xfrm>
            <a:off x="3036493" y="5330952"/>
            <a:ext cx="320040" cy="0"/>
          </a:xfrm>
          <a:prstGeom prst="line">
            <a:avLst/>
          </a:prstGeom>
          <a:ln w="50800">
            <a:solidFill>
              <a:srgbClr val="FCC021"/>
            </a:solidFill>
            <a:tailEnd type="triangle" w="med" len="med"/>
          </a:ln>
        </p:spPr>
      </p:cxnSp>
      <p:sp>
        <p:nvSpPr>
          <p:cNvPr id="9" name="Rounded Rectangle 8"/>
          <p:cNvSpPr/>
          <p:nvPr/>
        </p:nvSpPr>
        <p:spPr>
          <a:xfrm>
            <a:off x="3402253" y="4782312"/>
            <a:ext cx="2487853" cy="1097280"/>
          </a:xfrm>
          <a:prstGeom prst="roundRect">
            <a:avLst>
              <a:gd name="adj" fmla="val 15000"/>
            </a:avLst>
          </a:prstGeom>
          <a:solidFill>
            <a:srgbClr val="D3373A"/>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Ölüm oranı hızla düştü</a:t>
            </a:r>
          </a:p>
        </p:txBody>
      </p:sp>
      <p:cxnSp>
        <p:nvCxnSpPr>
          <p:cNvPr id="10" name="Connector 9"/>
          <p:cNvCxnSpPr/>
          <p:nvPr/>
        </p:nvCxnSpPr>
        <p:spPr>
          <a:xfrm>
            <a:off x="5935826" y="5330952"/>
            <a:ext cx="320040" cy="0"/>
          </a:xfrm>
          <a:prstGeom prst="line">
            <a:avLst/>
          </a:prstGeom>
          <a:ln w="50800">
            <a:solidFill>
              <a:srgbClr val="FCC021"/>
            </a:solidFill>
            <a:tailEnd type="triangle" w="med" len="med"/>
          </a:ln>
        </p:spPr>
      </p:cxnSp>
      <p:sp>
        <p:nvSpPr>
          <p:cNvPr id="11" name="Rounded Rectangle 10"/>
          <p:cNvSpPr/>
          <p:nvPr/>
        </p:nvSpPr>
        <p:spPr>
          <a:xfrm>
            <a:off x="6301586" y="4782312"/>
            <a:ext cx="2487853" cy="1097280"/>
          </a:xfrm>
          <a:prstGeom prst="roundRect">
            <a:avLst>
              <a:gd name="adj" fmla="val 15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Doğum oranı yüksek kaldı</a:t>
            </a:r>
          </a:p>
        </p:txBody>
      </p:sp>
      <p:cxnSp>
        <p:nvCxnSpPr>
          <p:cNvPr id="12" name="Connector 11"/>
          <p:cNvCxnSpPr/>
          <p:nvPr/>
        </p:nvCxnSpPr>
        <p:spPr>
          <a:xfrm>
            <a:off x="8835159" y="5330952"/>
            <a:ext cx="320040" cy="0"/>
          </a:xfrm>
          <a:prstGeom prst="line">
            <a:avLst/>
          </a:prstGeom>
          <a:ln w="50800">
            <a:solidFill>
              <a:srgbClr val="FCC021"/>
            </a:solidFill>
            <a:tailEnd type="triangle" w="med" len="med"/>
          </a:ln>
        </p:spPr>
      </p:cxnSp>
      <p:sp>
        <p:nvSpPr>
          <p:cNvPr id="13" name="Rounded Rectangle 12"/>
          <p:cNvSpPr/>
          <p:nvPr/>
        </p:nvSpPr>
        <p:spPr>
          <a:xfrm>
            <a:off x="9200919" y="4782312"/>
            <a:ext cx="2487853" cy="1097280"/>
          </a:xfrm>
          <a:prstGeom prst="roundRect">
            <a:avLst>
              <a:gd name="adj" fmla="val 15000"/>
            </a:avLst>
          </a:prstGeom>
          <a:solidFill>
            <a:srgbClr val="2E7D32"/>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Hızlı nüfuslanma</a:t>
            </a:r>
          </a:p>
        </p:txBody>
      </p:sp>
      <p:sp>
        <p:nvSpPr>
          <p:cNvPr id="14" name="TextBox 13"/>
          <p:cNvSpPr txBox="1"/>
          <p:nvPr/>
        </p:nvSpPr>
        <p:spPr>
          <a:xfrm>
            <a:off x="502920" y="5971032"/>
            <a:ext cx="11185855" cy="411480"/>
          </a:xfrm>
          <a:prstGeom prst="rect">
            <a:avLst/>
          </a:prstGeom>
          <a:noFill/>
        </p:spPr>
        <p:txBody>
          <a:bodyPr wrap="square" anchor="t" lIns="73152" rIns="73152" tIns="36576" bIns="36576">
            <a:noAutofit/>
          </a:bodyPr>
          <a:lstStyle/>
          <a:p>
            <a:pPr algn="ctr">
              <a:spcBef>
                <a:spcPts val="0"/>
              </a:spcBef>
              <a:spcAft>
                <a:spcPts val="0"/>
              </a:spcAft>
            </a:pPr>
            <a:r>
              <a:rPr lang="tr-TR" sz="1800" b="0" i="1">
                <a:solidFill>
                  <a:srgbClr val="767676"/>
                </a:solidFill>
                <a:latin typeface="Calibri"/>
              </a:rPr>
              <a:t>“11 yıl” = grafikte 1987 → 1998 (5 → 6 milyar)</a:t>
            </a:r>
          </a:p>
        </p:txBody>
      </p:sp>
      <p:sp>
        <p:nvSpPr>
          <p:cNvPr id="15" name="TextBox 1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16" name="Rounded Rectangle 1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142</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37 / 379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3</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Milyar basamaklarında tahminî sürelerin (15 ve 21 yıl) uzaması hangi sonucu gösterir?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Dünya nüfusu azalmaya başlayacaktır.</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Dünya nüfusu artmaya devam edecek ama artış yavaşlayacaktır.</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Ölüm oranları hızla artacaktır.</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Nüfus artışı her zamankinden hızlı olacaktır.</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Dünya nüfusu 2058'de 20 milyar olacaktır.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143</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38 / 379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3</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Milyar basamaklarında tahminî sürelerin (15 ve 21 yıl) uzaması hangi sonucu gösterir?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Dünya nüfusu azalmaya başlayacaktır.</a:t>
            </a:r>
          </a:p>
        </p:txBody>
      </p:sp>
      <p:sp>
        <p:nvSpPr>
          <p:cNvPr id="10" name="Rounded Rectangle 9"/>
          <p:cNvSpPr/>
          <p:nvPr/>
        </p:nvSpPr>
        <p:spPr>
          <a:xfrm>
            <a:off x="502920" y="315833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1" name="Oval 10"/>
          <p:cNvSpPr/>
          <p:nvPr/>
        </p:nvSpPr>
        <p:spPr>
          <a:xfrm>
            <a:off x="594360" y="311444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Dünya nüfusu artmaya devam edecek ama artış yavaşlayacaktır.</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Ölüm oranları hızla artacaktır.</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Nüfus artışı her zamankinden hızlı olacaktır.</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Dünya nüfusu 2058'de 20 milyar olacaktır.</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Her basamak yine bir milyar artış demektir, ama bu artış için gereken süre uzuyor: nüfus artmaya devam eder, artış hızı yavaşlar (BM Nüfus Dairesi 2022 tahmini).</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143</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39 / 379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Dünya nüfusunun geleceği</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4.1.1</a:t>
            </a:r>
          </a:p>
        </p:txBody>
      </p:sp>
      <p:sp>
        <p:nvSpPr>
          <p:cNvPr id="6" name="Rounded Rectangle 5"/>
          <p:cNvSpPr/>
          <p:nvPr/>
        </p:nvSpPr>
        <p:spPr>
          <a:xfrm>
            <a:off x="502920" y="1216152"/>
            <a:ext cx="4023360" cy="2743200"/>
          </a:xfrm>
          <a:prstGeom prst="roundRect">
            <a:avLst>
              <a:gd name="adj" fmla="val 6000"/>
            </a:avLst>
          </a:prstGeom>
          <a:solidFill>
            <a:srgbClr val="2C6696"/>
          </a:solidFill>
          <a:ln>
            <a:noFill/>
          </a:ln>
          <a:effectLst/>
        </p:spPr>
        <p:txBody>
          <a:bodyPr rtlCol="0" anchor="ctr"/>
          <a:lstStyle/>
          <a:p/>
        </p:txBody>
      </p:sp>
      <p:sp>
        <p:nvSpPr>
          <p:cNvPr id="7" name="TextBox 6"/>
          <p:cNvSpPr txBox="1"/>
          <p:nvPr/>
        </p:nvSpPr>
        <p:spPr>
          <a:xfrm>
            <a:off x="502920" y="1307592"/>
            <a:ext cx="4023360" cy="640080"/>
          </a:xfrm>
          <a:prstGeom prst="rect">
            <a:avLst/>
          </a:prstGeom>
          <a:noFill/>
        </p:spPr>
        <p:txBody>
          <a:bodyPr wrap="square" anchor="ctr" lIns="73152" rIns="73152" tIns="36576" bIns="36576">
            <a:noAutofit/>
          </a:bodyPr>
          <a:lstStyle/>
          <a:p>
            <a:pPr algn="ctr">
              <a:spcBef>
                <a:spcPts val="0"/>
              </a:spcBef>
              <a:spcAft>
                <a:spcPts val="0"/>
              </a:spcAft>
            </a:pPr>
            <a:r>
              <a:rPr lang="tr-TR" sz="2800" b="1" i="0">
                <a:solidFill>
                  <a:srgbClr val="FCC021"/>
                </a:solidFill>
                <a:latin typeface="Calibri"/>
              </a:rPr>
              <a:t>2100 yılı</a:t>
            </a:r>
          </a:p>
        </p:txBody>
      </p:sp>
      <p:sp>
        <p:nvSpPr>
          <p:cNvPr id="8" name="TextBox 7"/>
          <p:cNvSpPr txBox="1"/>
          <p:nvPr/>
        </p:nvSpPr>
        <p:spPr>
          <a:xfrm>
            <a:off x="502920" y="1947672"/>
            <a:ext cx="4023360" cy="1188720"/>
          </a:xfrm>
          <a:prstGeom prst="rect">
            <a:avLst/>
          </a:prstGeom>
          <a:noFill/>
        </p:spPr>
        <p:txBody>
          <a:bodyPr wrap="square" anchor="ctr" lIns="73152" rIns="73152" tIns="36576" bIns="36576">
            <a:noAutofit/>
          </a:bodyPr>
          <a:lstStyle/>
          <a:p>
            <a:pPr algn="ctr">
              <a:spcBef>
                <a:spcPts val="0"/>
              </a:spcBef>
              <a:spcAft>
                <a:spcPts val="0"/>
              </a:spcAft>
            </a:pPr>
            <a:r>
              <a:rPr lang="tr-TR" sz="6000" b="1" i="0">
                <a:solidFill>
                  <a:srgbClr val="FFFFFF"/>
                </a:solidFill>
                <a:latin typeface="Calibri"/>
              </a:rPr>
              <a:t>9-13 milyar</a:t>
            </a:r>
          </a:p>
        </p:txBody>
      </p:sp>
      <p:sp>
        <p:nvSpPr>
          <p:cNvPr id="9" name="TextBox 8"/>
          <p:cNvSpPr txBox="1"/>
          <p:nvPr/>
        </p:nvSpPr>
        <p:spPr>
          <a:xfrm>
            <a:off x="640080" y="3182112"/>
            <a:ext cx="3749040" cy="685800"/>
          </a:xfrm>
          <a:prstGeom prst="rect">
            <a:avLst/>
          </a:prstGeom>
          <a:noFill/>
        </p:spPr>
        <p:txBody>
          <a:bodyPr wrap="square" anchor="ctr" lIns="73152" rIns="73152" tIns="36576" bIns="36576">
            <a:noAutofit/>
          </a:bodyPr>
          <a:lstStyle/>
          <a:p>
            <a:pPr algn="ctr">
              <a:spcBef>
                <a:spcPts val="0"/>
              </a:spcBef>
              <a:spcAft>
                <a:spcPts val="0"/>
              </a:spcAft>
            </a:pPr>
            <a:r>
              <a:rPr lang="tr-TR" sz="1700" b="0" i="0">
                <a:solidFill>
                  <a:srgbClr val="E3ECF5"/>
                </a:solidFill>
                <a:latin typeface="Calibri"/>
              </a:rPr>
              <a:t>UNFPA tahmini (Birleşmiş Milletler Dünya Nüfus Fonu)</a:t>
            </a:r>
          </a:p>
        </p:txBody>
      </p:sp>
      <p:sp>
        <p:nvSpPr>
          <p:cNvPr id="10" name="Rounded Rectangle 9"/>
          <p:cNvSpPr/>
          <p:nvPr/>
        </p:nvSpPr>
        <p:spPr>
          <a:xfrm>
            <a:off x="4754880" y="1216152"/>
            <a:ext cx="6933895" cy="2743200"/>
          </a:xfrm>
          <a:prstGeom prst="roundRect">
            <a:avLst>
              <a:gd name="adj" fmla="val 6000"/>
            </a:avLst>
          </a:prstGeom>
          <a:solidFill>
            <a:srgbClr val="F0F0F0"/>
          </a:solidFill>
          <a:ln>
            <a:noFill/>
          </a:ln>
          <a:effectLst/>
        </p:spPr>
        <p:txBody>
          <a:bodyPr rtlCol="0" anchor="ctr"/>
          <a:lstStyle/>
          <a:p/>
        </p:txBody>
      </p:sp>
      <p:sp>
        <p:nvSpPr>
          <p:cNvPr id="11" name="Rectangle 10"/>
          <p:cNvSpPr/>
          <p:nvPr/>
        </p:nvSpPr>
        <p:spPr>
          <a:xfrm>
            <a:off x="4754880" y="1216152"/>
            <a:ext cx="146304" cy="2743200"/>
          </a:xfrm>
          <a:prstGeom prst="rect">
            <a:avLst/>
          </a:prstGeom>
          <a:solidFill>
            <a:srgbClr val="4F4F4F"/>
          </a:solidFill>
          <a:ln>
            <a:noFill/>
          </a:ln>
          <a:effectLst/>
        </p:spPr>
        <p:txBody>
          <a:bodyPr rtlCol="0" anchor="ctr"/>
          <a:lstStyle/>
          <a:p/>
        </p:txBody>
      </p:sp>
      <p:sp>
        <p:nvSpPr>
          <p:cNvPr id="12" name="TextBox 11"/>
          <p:cNvSpPr txBox="1"/>
          <p:nvPr/>
        </p:nvSpPr>
        <p:spPr>
          <a:xfrm>
            <a:off x="5120640" y="1325880"/>
            <a:ext cx="6385255" cy="411480"/>
          </a:xfrm>
          <a:prstGeom prst="rect">
            <a:avLst/>
          </a:prstGeom>
          <a:noFill/>
        </p:spPr>
        <p:txBody>
          <a:bodyPr wrap="square" anchor="t" lIns="73152" rIns="73152" tIns="36576" bIns="36576">
            <a:noAutofit/>
          </a:bodyPr>
          <a:lstStyle/>
          <a:p>
            <a:pPr algn="l">
              <a:spcBef>
                <a:spcPts val="0"/>
              </a:spcBef>
              <a:spcAft>
                <a:spcPts val="0"/>
              </a:spcAft>
            </a:pPr>
            <a:r>
              <a:rPr lang="tr-TR" sz="1800" b="1" i="0">
                <a:solidFill>
                  <a:srgbClr val="4F4F4F"/>
                </a:solidFill>
                <a:latin typeface="Calibri"/>
              </a:rPr>
              <a:t>NÜFUS PROJEKSİYONU</a:t>
            </a:r>
          </a:p>
        </p:txBody>
      </p:sp>
      <p:sp>
        <p:nvSpPr>
          <p:cNvPr id="13" name="TextBox 12"/>
          <p:cNvSpPr txBox="1"/>
          <p:nvPr/>
        </p:nvSpPr>
        <p:spPr>
          <a:xfrm>
            <a:off x="5120640" y="1719072"/>
            <a:ext cx="6385255" cy="210312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Dünyanın veya bir ülkenin nüfus miktarı ve nüfusun yapısal özelliklerine göre yapılan tahminlere nüfus projeksiyonu adı verilir.</a:t>
            </a:r>
          </a:p>
        </p:txBody>
      </p:sp>
      <p:sp>
        <p:nvSpPr>
          <p:cNvPr id="14" name="Rounded Rectangle 13"/>
          <p:cNvSpPr/>
          <p:nvPr/>
        </p:nvSpPr>
        <p:spPr>
          <a:xfrm>
            <a:off x="502920" y="4142232"/>
            <a:ext cx="11185855" cy="2103120"/>
          </a:xfrm>
          <a:prstGeom prst="roundRect">
            <a:avLst>
              <a:gd name="adj" fmla="val 8000"/>
            </a:avLst>
          </a:prstGeom>
          <a:solidFill>
            <a:srgbClr val="F0F0F0"/>
          </a:solidFill>
          <a:ln>
            <a:noFill/>
          </a:ln>
          <a:effectLst/>
        </p:spPr>
        <p:txBody>
          <a:bodyPr rtlCol="0" anchor="ctr"/>
          <a:lstStyle/>
          <a:p/>
        </p:txBody>
      </p:sp>
      <p:sp>
        <p:nvSpPr>
          <p:cNvPr id="15" name="Rectangle 14"/>
          <p:cNvSpPr/>
          <p:nvPr/>
        </p:nvSpPr>
        <p:spPr>
          <a:xfrm>
            <a:off x="502920" y="4142232"/>
            <a:ext cx="118872" cy="2103120"/>
          </a:xfrm>
          <a:prstGeom prst="rect">
            <a:avLst/>
          </a:prstGeom>
          <a:solidFill>
            <a:srgbClr val="2C6696"/>
          </a:solidFill>
          <a:ln>
            <a:noFill/>
          </a:ln>
          <a:effectLst/>
        </p:spPr>
        <p:txBody>
          <a:bodyPr rtlCol="0" anchor="ctr"/>
          <a:lstStyle/>
          <a:p/>
        </p:txBody>
      </p:sp>
      <p:sp>
        <p:nvSpPr>
          <p:cNvPr id="16" name="TextBox 15"/>
          <p:cNvSpPr txBox="1"/>
          <p:nvPr/>
        </p:nvSpPr>
        <p:spPr>
          <a:xfrm>
            <a:off x="777240" y="4142232"/>
            <a:ext cx="10774375" cy="2103120"/>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Ortalama insan ömrünün uzaması nüfus artışını da beraberinde getirmiştir. Nüfus değişimleri birçok değişkenin etkisi altında olduğundan nüfusun geleceğine yönelik tahminlerde bulunmak güçtür. Mevcut eğilimler çerçevesinde Birleşmiş Milletler Dünya Nüfus Fonu (UNFPA), 2100 yılında dünya nüfusunun 9-13 milyar arasında olacağını tahmin etmektedir.</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142</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40 / 379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Uygulama: dünya nüfusunun geleceğini tartışalım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UYGULAMA · GRUP</a:t>
            </a:r>
          </a:p>
        </p:txBody>
      </p:sp>
      <p:sp>
        <p:nvSpPr>
          <p:cNvPr id="6" name="Rounded Rectangle 5"/>
          <p:cNvSpPr/>
          <p:nvPr/>
        </p:nvSpPr>
        <p:spPr>
          <a:xfrm>
            <a:off x="502920" y="1216152"/>
            <a:ext cx="11185855" cy="114300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50" b="1" i="0">
                <a:solidFill>
                  <a:srgbClr val="262626"/>
                </a:solidFill>
                <a:latin typeface="Calibri"/>
              </a:rPr>
              <a:t>Bugünkü siyasi, sosyal ve ekonomik gelişmelerle bilim, tıp ve gıda alanındaki ilerlemeleri dikkate alarak dünya nüfusunda yaşanabilecek değişimleri sınıfta tartışınız. Ulaştığınız sonuçları yazınız.</a:t>
            </a:r>
          </a:p>
        </p:txBody>
      </p:sp>
      <p:sp>
        <p:nvSpPr>
          <p:cNvPr id="7" name="Rounded Rectangle 6"/>
          <p:cNvSpPr/>
          <p:nvPr/>
        </p:nvSpPr>
        <p:spPr>
          <a:xfrm>
            <a:off x="502920" y="2496312"/>
            <a:ext cx="5501487" cy="2834640"/>
          </a:xfrm>
          <a:prstGeom prst="roundRect">
            <a:avLst>
              <a:gd name="adj" fmla="val 5000"/>
            </a:avLst>
          </a:prstGeom>
          <a:solidFill>
            <a:srgbClr val="FFFFFF"/>
          </a:solidFill>
          <a:ln>
            <a:noFill/>
          </a:ln>
          <a:effectLst/>
        </p:spPr>
        <p:txBody>
          <a:bodyPr rtlCol="0" anchor="ctr"/>
          <a:lstStyle/>
          <a:p/>
        </p:txBody>
      </p:sp>
      <p:sp>
        <p:nvSpPr>
          <p:cNvPr id="8" name="Rounded Rectangle 7"/>
          <p:cNvSpPr/>
          <p:nvPr/>
        </p:nvSpPr>
        <p:spPr>
          <a:xfrm>
            <a:off x="502920" y="2496312"/>
            <a:ext cx="5501487" cy="685800"/>
          </a:xfrm>
          <a:prstGeom prst="roundRect">
            <a:avLst>
              <a:gd name="adj" fmla="val 25000"/>
            </a:avLst>
          </a:prstGeom>
          <a:solidFill>
            <a:srgbClr val="2C6696"/>
          </a:solidFill>
          <a:ln>
            <a:noFill/>
          </a:ln>
          <a:effectLst/>
        </p:spPr>
        <p:txBody>
          <a:bodyPr rtlCol="0" anchor="ctr"/>
          <a:lstStyle/>
          <a:p/>
        </p:txBody>
      </p:sp>
      <p:sp>
        <p:nvSpPr>
          <p:cNvPr id="9" name="Rectangle 8"/>
          <p:cNvSpPr/>
          <p:nvPr/>
        </p:nvSpPr>
        <p:spPr>
          <a:xfrm>
            <a:off x="502920" y="2839212"/>
            <a:ext cx="5501487" cy="342900"/>
          </a:xfrm>
          <a:prstGeom prst="rect">
            <a:avLst/>
          </a:prstGeom>
          <a:solidFill>
            <a:srgbClr val="2C6696"/>
          </a:solidFill>
          <a:ln>
            <a:noFill/>
          </a:ln>
          <a:effectLst/>
        </p:spPr>
        <p:txBody>
          <a:bodyPr rtlCol="0" anchor="ctr"/>
          <a:lstStyle/>
          <a:p/>
        </p:txBody>
      </p:sp>
      <p:sp>
        <p:nvSpPr>
          <p:cNvPr id="10" name="TextBox 9"/>
          <p:cNvSpPr txBox="1"/>
          <p:nvPr/>
        </p:nvSpPr>
        <p:spPr>
          <a:xfrm>
            <a:off x="594360" y="2496312"/>
            <a:ext cx="5318607"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Nüfusu artırabilecek gelişmeler</a:t>
            </a:r>
          </a:p>
        </p:txBody>
      </p:sp>
      <p:sp>
        <p:nvSpPr>
          <p:cNvPr id="11" name="Rounded Rectangle 10"/>
          <p:cNvSpPr/>
          <p:nvPr/>
        </p:nvSpPr>
        <p:spPr>
          <a:xfrm>
            <a:off x="502920" y="2496312"/>
            <a:ext cx="5501487" cy="2834640"/>
          </a:xfrm>
          <a:prstGeom prst="roundRect">
            <a:avLst>
              <a:gd name="adj" fmla="val 5000"/>
            </a:avLst>
          </a:prstGeom>
          <a:noFill/>
          <a:ln w="12700">
            <a:solidFill>
              <a:srgbClr val="D9D9D9"/>
            </a:solidFill>
          </a:ln>
          <a:effectLst/>
        </p:spPr>
        <p:txBody>
          <a:bodyPr rtlCol="0" anchor="ctr"/>
          <a:lstStyle/>
          <a:p/>
        </p:txBody>
      </p:sp>
      <p:cxnSp>
        <p:nvCxnSpPr>
          <p:cNvPr id="12" name="Connector 11"/>
          <p:cNvCxnSpPr/>
          <p:nvPr/>
        </p:nvCxnSpPr>
        <p:spPr>
          <a:xfrm>
            <a:off x="685800" y="3719322"/>
            <a:ext cx="5135727" cy="0"/>
          </a:xfrm>
          <a:prstGeom prst="line">
            <a:avLst/>
          </a:prstGeom>
          <a:ln w="12700">
            <a:solidFill>
              <a:srgbClr val="D9D9D9"/>
            </a:solidFill>
            <a:prstDash val="dash"/>
          </a:ln>
        </p:spPr>
      </p:cxnSp>
      <p:cxnSp>
        <p:nvCxnSpPr>
          <p:cNvPr id="13" name="Connector 12"/>
          <p:cNvCxnSpPr/>
          <p:nvPr/>
        </p:nvCxnSpPr>
        <p:spPr>
          <a:xfrm>
            <a:off x="685800" y="4256532"/>
            <a:ext cx="5135727" cy="0"/>
          </a:xfrm>
          <a:prstGeom prst="line">
            <a:avLst/>
          </a:prstGeom>
          <a:ln w="12700">
            <a:solidFill>
              <a:srgbClr val="D9D9D9"/>
            </a:solidFill>
            <a:prstDash val="dash"/>
          </a:ln>
        </p:spPr>
      </p:cxnSp>
      <p:cxnSp>
        <p:nvCxnSpPr>
          <p:cNvPr id="14" name="Connector 13"/>
          <p:cNvCxnSpPr/>
          <p:nvPr/>
        </p:nvCxnSpPr>
        <p:spPr>
          <a:xfrm>
            <a:off x="685800" y="4793742"/>
            <a:ext cx="5135727" cy="0"/>
          </a:xfrm>
          <a:prstGeom prst="line">
            <a:avLst/>
          </a:prstGeom>
          <a:ln w="12700">
            <a:solidFill>
              <a:srgbClr val="D9D9D9"/>
            </a:solidFill>
            <a:prstDash val="dash"/>
          </a:ln>
        </p:spPr>
      </p:cxnSp>
      <p:sp>
        <p:nvSpPr>
          <p:cNvPr id="15" name="Rounded Rectangle 14"/>
          <p:cNvSpPr/>
          <p:nvPr/>
        </p:nvSpPr>
        <p:spPr>
          <a:xfrm>
            <a:off x="6187287" y="2496312"/>
            <a:ext cx="5501487" cy="2834640"/>
          </a:xfrm>
          <a:prstGeom prst="roundRect">
            <a:avLst>
              <a:gd name="adj" fmla="val 5000"/>
            </a:avLst>
          </a:prstGeom>
          <a:solidFill>
            <a:srgbClr val="FFFFFF"/>
          </a:solidFill>
          <a:ln>
            <a:noFill/>
          </a:ln>
          <a:effectLst/>
        </p:spPr>
        <p:txBody>
          <a:bodyPr rtlCol="0" anchor="ctr"/>
          <a:lstStyle/>
          <a:p/>
        </p:txBody>
      </p:sp>
      <p:sp>
        <p:nvSpPr>
          <p:cNvPr id="16" name="Rounded Rectangle 15"/>
          <p:cNvSpPr/>
          <p:nvPr/>
        </p:nvSpPr>
        <p:spPr>
          <a:xfrm>
            <a:off x="6187287" y="2496312"/>
            <a:ext cx="5501487" cy="685800"/>
          </a:xfrm>
          <a:prstGeom prst="roundRect">
            <a:avLst>
              <a:gd name="adj" fmla="val 25000"/>
            </a:avLst>
          </a:prstGeom>
          <a:solidFill>
            <a:srgbClr val="D3373A"/>
          </a:solidFill>
          <a:ln>
            <a:noFill/>
          </a:ln>
          <a:effectLst/>
        </p:spPr>
        <p:txBody>
          <a:bodyPr rtlCol="0" anchor="ctr"/>
          <a:lstStyle/>
          <a:p/>
        </p:txBody>
      </p:sp>
      <p:sp>
        <p:nvSpPr>
          <p:cNvPr id="17" name="Rectangle 16"/>
          <p:cNvSpPr/>
          <p:nvPr/>
        </p:nvSpPr>
        <p:spPr>
          <a:xfrm>
            <a:off x="6187287" y="2839212"/>
            <a:ext cx="5501487" cy="342900"/>
          </a:xfrm>
          <a:prstGeom prst="rect">
            <a:avLst/>
          </a:prstGeom>
          <a:solidFill>
            <a:srgbClr val="D3373A"/>
          </a:solidFill>
          <a:ln>
            <a:noFill/>
          </a:ln>
          <a:effectLst/>
        </p:spPr>
        <p:txBody>
          <a:bodyPr rtlCol="0" anchor="ctr"/>
          <a:lstStyle/>
          <a:p/>
        </p:txBody>
      </p:sp>
      <p:sp>
        <p:nvSpPr>
          <p:cNvPr id="18" name="TextBox 17"/>
          <p:cNvSpPr txBox="1"/>
          <p:nvPr/>
        </p:nvSpPr>
        <p:spPr>
          <a:xfrm>
            <a:off x="6278727" y="2496312"/>
            <a:ext cx="5318607"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Artışı yavaşlatabilecek ya da nüfusu azaltabilecek gelişmeler</a:t>
            </a:r>
          </a:p>
        </p:txBody>
      </p:sp>
      <p:sp>
        <p:nvSpPr>
          <p:cNvPr id="19" name="Rounded Rectangle 18"/>
          <p:cNvSpPr/>
          <p:nvPr/>
        </p:nvSpPr>
        <p:spPr>
          <a:xfrm>
            <a:off x="6187287" y="2496312"/>
            <a:ext cx="5501487" cy="2834640"/>
          </a:xfrm>
          <a:prstGeom prst="roundRect">
            <a:avLst>
              <a:gd name="adj" fmla="val 5000"/>
            </a:avLst>
          </a:prstGeom>
          <a:noFill/>
          <a:ln w="12700">
            <a:solidFill>
              <a:srgbClr val="D9D9D9"/>
            </a:solidFill>
          </a:ln>
          <a:effectLst/>
        </p:spPr>
        <p:txBody>
          <a:bodyPr rtlCol="0" anchor="ctr"/>
          <a:lstStyle/>
          <a:p/>
        </p:txBody>
      </p:sp>
      <p:cxnSp>
        <p:nvCxnSpPr>
          <p:cNvPr id="20" name="Connector 19"/>
          <p:cNvCxnSpPr/>
          <p:nvPr/>
        </p:nvCxnSpPr>
        <p:spPr>
          <a:xfrm>
            <a:off x="6370167" y="3719322"/>
            <a:ext cx="5135727" cy="0"/>
          </a:xfrm>
          <a:prstGeom prst="line">
            <a:avLst/>
          </a:prstGeom>
          <a:ln w="12700">
            <a:solidFill>
              <a:srgbClr val="D9D9D9"/>
            </a:solidFill>
            <a:prstDash val="dash"/>
          </a:ln>
        </p:spPr>
      </p:cxnSp>
      <p:cxnSp>
        <p:nvCxnSpPr>
          <p:cNvPr id="21" name="Connector 20"/>
          <p:cNvCxnSpPr/>
          <p:nvPr/>
        </p:nvCxnSpPr>
        <p:spPr>
          <a:xfrm>
            <a:off x="6370167" y="4256532"/>
            <a:ext cx="5135727" cy="0"/>
          </a:xfrm>
          <a:prstGeom prst="line">
            <a:avLst/>
          </a:prstGeom>
          <a:ln w="12700">
            <a:solidFill>
              <a:srgbClr val="D9D9D9"/>
            </a:solidFill>
            <a:prstDash val="dash"/>
          </a:ln>
        </p:spPr>
      </p:cxnSp>
      <p:cxnSp>
        <p:nvCxnSpPr>
          <p:cNvPr id="22" name="Connector 21"/>
          <p:cNvCxnSpPr/>
          <p:nvPr/>
        </p:nvCxnSpPr>
        <p:spPr>
          <a:xfrm>
            <a:off x="6370167" y="4793742"/>
            <a:ext cx="5135727" cy="0"/>
          </a:xfrm>
          <a:prstGeom prst="line">
            <a:avLst/>
          </a:prstGeom>
          <a:ln w="12700">
            <a:solidFill>
              <a:srgbClr val="D9D9D9"/>
            </a:solidFill>
            <a:prstDash val="dash"/>
          </a:ln>
        </p:spPr>
      </p:cxnSp>
      <p:sp>
        <p:nvSpPr>
          <p:cNvPr id="23" name="Rounded Rectangle 22"/>
          <p:cNvSpPr/>
          <p:nvPr/>
        </p:nvSpPr>
        <p:spPr>
          <a:xfrm>
            <a:off x="502920" y="5468112"/>
            <a:ext cx="11185855" cy="7772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200" b="1" i="0">
                <a:solidFill>
                  <a:srgbClr val="262626"/>
                </a:solidFill>
                <a:latin typeface="Calibri"/>
              </a:rPr>
              <a:t>Sonuç cümlemiz: …………………………………………………………</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142</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41 / 379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Uygulama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5478627" cy="3794760"/>
          </a:xfrm>
          <a:prstGeom prst="roundRect">
            <a:avLst>
              <a:gd name="adj" fmla="val 6000"/>
            </a:avLst>
          </a:prstGeom>
          <a:solidFill>
            <a:srgbClr val="E3F1E4"/>
          </a:solidFill>
          <a:ln>
            <a:noFill/>
          </a:ln>
          <a:effectLst/>
        </p:spPr>
        <p:txBody>
          <a:bodyPr rtlCol="0" anchor="ctr"/>
          <a:lstStyle/>
          <a:p/>
        </p:txBody>
      </p:sp>
      <p:sp>
        <p:nvSpPr>
          <p:cNvPr id="7" name="Rectangle 6"/>
          <p:cNvSpPr/>
          <p:nvPr/>
        </p:nvSpPr>
        <p:spPr>
          <a:xfrm>
            <a:off x="502920" y="1216152"/>
            <a:ext cx="109728" cy="3794760"/>
          </a:xfrm>
          <a:prstGeom prst="rect">
            <a:avLst/>
          </a:prstGeom>
          <a:solidFill>
            <a:srgbClr val="2E7D32"/>
          </a:solidFill>
          <a:ln>
            <a:noFill/>
          </a:ln>
          <a:effectLst/>
        </p:spPr>
        <p:txBody>
          <a:bodyPr rtlCol="0" anchor="ctr"/>
          <a:lstStyle/>
          <a:p/>
        </p:txBody>
      </p:sp>
      <p:sp>
        <p:nvSpPr>
          <p:cNvPr id="8" name="TextBox 7"/>
          <p:cNvSpPr txBox="1"/>
          <p:nvPr/>
        </p:nvSpPr>
        <p:spPr>
          <a:xfrm>
            <a:off x="731520" y="1271016"/>
            <a:ext cx="5158587" cy="3685032"/>
          </a:xfrm>
          <a:prstGeom prst="rect">
            <a:avLst/>
          </a:prstGeom>
          <a:noFill/>
        </p:spPr>
        <p:txBody>
          <a:bodyPr wrap="square" anchor="ctr" lIns="73152" rIns="73152" tIns="36576" bIns="36576">
            <a:noAutofit/>
          </a:bodyPr>
          <a:lstStyle/>
          <a:p>
            <a:pPr algn="l">
              <a:spcBef>
                <a:spcPts val="0"/>
              </a:spcBef>
              <a:spcAft>
                <a:spcPts val="400"/>
              </a:spcAft>
            </a:pPr>
            <a:r>
              <a:rPr lang="tr-TR" sz="2000" b="1" i="0">
                <a:solidFill>
                  <a:srgbClr val="2E7D32"/>
                </a:solidFill>
                <a:latin typeface="Calibri"/>
              </a:rPr>
              <a:t>Nüfusu artırabilir</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Tıp ve sağlıkta ilerleme: ömür uzar, ölüm oranı düşer (s. 142)</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Gıda üretimindeki gelişmeler: gıdaya erişim kolaylaşır (s. 141)</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Teknolojinin gelişmesiyle insan ömrü uzamıştır (s. 142)</a:t>
            </a:r>
          </a:p>
        </p:txBody>
      </p:sp>
      <p:sp>
        <p:nvSpPr>
          <p:cNvPr id="9" name="Rounded Rectangle 8"/>
          <p:cNvSpPr/>
          <p:nvPr/>
        </p:nvSpPr>
        <p:spPr>
          <a:xfrm>
            <a:off x="6210147" y="1216152"/>
            <a:ext cx="5478627" cy="3794760"/>
          </a:xfrm>
          <a:prstGeom prst="roundRect">
            <a:avLst>
              <a:gd name="adj" fmla="val 6000"/>
            </a:avLst>
          </a:prstGeom>
          <a:solidFill>
            <a:srgbClr val="F9E1E1"/>
          </a:solidFill>
          <a:ln>
            <a:noFill/>
          </a:ln>
          <a:effectLst/>
        </p:spPr>
        <p:txBody>
          <a:bodyPr rtlCol="0" anchor="ctr"/>
          <a:lstStyle/>
          <a:p/>
        </p:txBody>
      </p:sp>
      <p:sp>
        <p:nvSpPr>
          <p:cNvPr id="10" name="Rectangle 9"/>
          <p:cNvSpPr/>
          <p:nvPr/>
        </p:nvSpPr>
        <p:spPr>
          <a:xfrm>
            <a:off x="6210147" y="1216152"/>
            <a:ext cx="109728" cy="3794760"/>
          </a:xfrm>
          <a:prstGeom prst="rect">
            <a:avLst/>
          </a:prstGeom>
          <a:solidFill>
            <a:srgbClr val="D3373A"/>
          </a:solidFill>
          <a:ln>
            <a:noFill/>
          </a:ln>
          <a:effectLst/>
        </p:spPr>
        <p:txBody>
          <a:bodyPr rtlCol="0" anchor="ctr"/>
          <a:lstStyle/>
          <a:p/>
        </p:txBody>
      </p:sp>
      <p:sp>
        <p:nvSpPr>
          <p:cNvPr id="11" name="TextBox 10"/>
          <p:cNvSpPr txBox="1"/>
          <p:nvPr/>
        </p:nvSpPr>
        <p:spPr>
          <a:xfrm>
            <a:off x="6438747" y="1271016"/>
            <a:ext cx="5158587" cy="3685032"/>
          </a:xfrm>
          <a:prstGeom prst="rect">
            <a:avLst/>
          </a:prstGeom>
          <a:noFill/>
        </p:spPr>
        <p:txBody>
          <a:bodyPr wrap="square" anchor="ctr" lIns="73152" rIns="73152" tIns="36576" bIns="36576">
            <a:noAutofit/>
          </a:bodyPr>
          <a:lstStyle/>
          <a:p>
            <a:pPr algn="l">
              <a:spcBef>
                <a:spcPts val="0"/>
              </a:spcBef>
              <a:spcAft>
                <a:spcPts val="400"/>
              </a:spcAft>
            </a:pPr>
            <a:r>
              <a:rPr lang="tr-TR" sz="2000" b="1" i="0">
                <a:solidFill>
                  <a:srgbClr val="D3373A"/>
                </a:solidFill>
                <a:latin typeface="Calibri"/>
              </a:rPr>
              <a:t>Yavaşlatabilir ya da azaltabilir</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Eğitim, kentleşme ve kadınların iş hayatına katılımı artınca doğumlar azalır (s. 160)</a:t>
            </a:r>
          </a:p>
          <a:p>
            <a:pPr algn="l" marL="248620" indent="-248620">
              <a:spcBef>
                <a:spcPts val="0"/>
              </a:spcBef>
              <a:spcAft>
                <a:spcPts val="500"/>
              </a:spcAft>
            </a:pPr>
            <a:r>
              <a:rPr lang="tr-TR" sz="2000" b="1" i="0">
                <a:solidFill>
                  <a:srgbClr val="2C6696"/>
                </a:solidFill>
                <a:latin typeface="Calibri"/>
              </a:rPr>
              <a:t>•  </a:t>
            </a:r>
            <a:r>
              <a:rPr lang="tr-TR" sz="2000" b="0" i="0">
                <a:solidFill>
                  <a:srgbClr val="262626"/>
                </a:solidFill>
                <a:latin typeface="Calibri"/>
              </a:rPr>
              <a:t>İklim değişimi, sıcak çatışmalar, ekonomik krizler, salgın hastalıklar (s. 140)</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Kaynakların yetersiz kalması (Çatalhöyük, s. 141)</a:t>
            </a:r>
          </a:p>
        </p:txBody>
      </p:sp>
      <p:sp>
        <p:nvSpPr>
          <p:cNvPr id="12" name="Rounded Rectangle 11"/>
          <p:cNvSpPr/>
          <p:nvPr/>
        </p:nvSpPr>
        <p:spPr>
          <a:xfrm>
            <a:off x="502920" y="5148072"/>
            <a:ext cx="11185855" cy="1097280"/>
          </a:xfrm>
          <a:prstGeom prst="roundRect">
            <a:avLst>
              <a:gd name="adj" fmla="val 8000"/>
            </a:avLst>
          </a:prstGeom>
          <a:solidFill>
            <a:srgbClr val="E3F1E4"/>
          </a:solidFill>
          <a:ln w="12700">
            <a:solidFill>
              <a:srgbClr val="2E7D32"/>
            </a:solidFill>
          </a:ln>
          <a:effectLst/>
        </p:spPr>
        <p:txBody>
          <a:bodyPr rtlCol="0" anchor="ctr" wrap="square" lIns="228600" rIns="228600" tIns="73152" bIns="73152">
            <a:noAutofit/>
          </a:bodyPr>
          <a:lstStyle/>
          <a:p>
            <a:pPr algn="l">
              <a:spcBef>
                <a:spcPts val="0"/>
              </a:spcBef>
              <a:spcAft>
                <a:spcPts val="0"/>
              </a:spcAft>
            </a:pPr>
            <a:r>
              <a:rPr lang="tr-TR" sz="2200" b="1" i="0">
                <a:solidFill>
                  <a:srgbClr val="262626"/>
                </a:solidFill>
                <a:latin typeface="Calibri"/>
              </a:rPr>
              <a:t>Sonuç: Nüfusun geleceği birçok değişkene bağlıdır; bu yüzden tahmin tek sayı değil, bir aralıktır: 2100'de 9-13 milyar (UNFPA).</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14" name="Rounded Rectangle 1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140-142, 160</a:t>
            </a:r>
          </a:p>
        </p:txBody>
      </p:sp>
      <p:sp>
        <p:nvSpPr>
          <p:cNvPr id="15" name="TextBox 1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42 / 379</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4</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Nüfus miktarı ve nüfusun yapısal özelliklerine göre yapılan tahminlere ne ad verilir?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Nüfus sayımı</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Nüfus projeksiyonu</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Nüfus yoğunluğu</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Nüfus dinamiği</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Nüfus artış hızı</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142</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43 / 379</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4</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Nüfus miktarı ve nüfusun yapısal özelliklerine göre yapılan tahminlere ne ad verilir?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Nüfus sayımı</a:t>
            </a:r>
          </a:p>
        </p:txBody>
      </p:sp>
      <p:sp>
        <p:nvSpPr>
          <p:cNvPr id="10" name="Rounded Rectangle 9"/>
          <p:cNvSpPr/>
          <p:nvPr/>
        </p:nvSpPr>
        <p:spPr>
          <a:xfrm>
            <a:off x="502920" y="315833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1" name="Oval 10"/>
          <p:cNvSpPr/>
          <p:nvPr/>
        </p:nvSpPr>
        <p:spPr>
          <a:xfrm>
            <a:off x="594360" y="311444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Nüfus projeksiyonu</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Nüfus yoğunluğu</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Nüfus dinamiği</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Nüfus artış hızı</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Dünyanın veya bir ülkenin nüfus miktarı ve nüfusun yapısal özelliklerine göre yapılan tahminlere nüfus projeksiyonu adı verilir.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142</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44 / 379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Çıkış Kartı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20. HAFTA</a:t>
            </a:r>
          </a:p>
        </p:txBody>
      </p:sp>
      <p:sp>
        <p:nvSpPr>
          <p:cNvPr id="6" name="TextBox 5"/>
          <p:cNvSpPr txBox="1"/>
          <p:nvPr/>
        </p:nvSpPr>
        <p:spPr>
          <a:xfrm>
            <a:off x="502920" y="1170432"/>
            <a:ext cx="11185855" cy="502920"/>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767676"/>
                </a:solidFill>
                <a:latin typeface="Calibri"/>
              </a:rPr>
              <a:t>Çıkmadan önce kâğıdına yaz:</a:t>
            </a:r>
          </a:p>
        </p:txBody>
      </p:sp>
      <p:sp>
        <p:nvSpPr>
          <p:cNvPr id="7" name="Rounded Rectangle 6"/>
          <p:cNvSpPr/>
          <p:nvPr/>
        </p:nvSpPr>
        <p:spPr>
          <a:xfrm>
            <a:off x="502920" y="1764792"/>
            <a:ext cx="11185855" cy="1399032"/>
          </a:xfrm>
          <a:prstGeom prst="roundRect">
            <a:avLst>
              <a:gd name="adj" fmla="val 10000"/>
            </a:avLst>
          </a:prstGeom>
          <a:solidFill>
            <a:srgbClr val="F0F0F0"/>
          </a:solidFill>
          <a:ln>
            <a:noFill/>
          </a:ln>
          <a:effectLst/>
        </p:spPr>
        <p:txBody>
          <a:bodyPr rtlCol="0" anchor="ctr"/>
          <a:lstStyle/>
          <a:p/>
        </p:txBody>
      </p:sp>
      <p:sp>
        <p:nvSpPr>
          <p:cNvPr id="8" name="Oval 7"/>
          <p:cNvSpPr/>
          <p:nvPr/>
        </p:nvSpPr>
        <p:spPr>
          <a:xfrm>
            <a:off x="667512" y="2144268"/>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1</a:t>
            </a:r>
          </a:p>
        </p:txBody>
      </p:sp>
      <p:sp>
        <p:nvSpPr>
          <p:cNvPr id="9" name="TextBox 8"/>
          <p:cNvSpPr txBox="1"/>
          <p:nvPr/>
        </p:nvSpPr>
        <p:spPr>
          <a:xfrm>
            <a:off x="1508760" y="1764792"/>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Dünya nüfusu 1 milyardan 2 milyara kaç yılda, 7 milyardan 8 milyara kaç yılda çıkmıştır? Bu fark neyi gösterir?</a:t>
            </a:r>
          </a:p>
        </p:txBody>
      </p:sp>
      <p:sp>
        <p:nvSpPr>
          <p:cNvPr id="10" name="Rounded Rectangle 9"/>
          <p:cNvSpPr/>
          <p:nvPr/>
        </p:nvSpPr>
        <p:spPr>
          <a:xfrm>
            <a:off x="502920" y="3328416"/>
            <a:ext cx="11185855" cy="1399032"/>
          </a:xfrm>
          <a:prstGeom prst="roundRect">
            <a:avLst>
              <a:gd name="adj" fmla="val 10000"/>
            </a:avLst>
          </a:prstGeom>
          <a:solidFill>
            <a:srgbClr val="F0F0F0"/>
          </a:solidFill>
          <a:ln>
            <a:noFill/>
          </a:ln>
          <a:effectLst/>
        </p:spPr>
        <p:txBody>
          <a:bodyPr rtlCol="0" anchor="ctr"/>
          <a:lstStyle/>
          <a:p/>
        </p:txBody>
      </p:sp>
      <p:sp>
        <p:nvSpPr>
          <p:cNvPr id="11" name="Oval 10"/>
          <p:cNvSpPr/>
          <p:nvPr/>
        </p:nvSpPr>
        <p:spPr>
          <a:xfrm>
            <a:off x="667512" y="3707892"/>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2</a:t>
            </a:r>
          </a:p>
        </p:txBody>
      </p:sp>
      <p:sp>
        <p:nvSpPr>
          <p:cNvPr id="12" name="TextBox 11"/>
          <p:cNvSpPr txBox="1"/>
          <p:nvPr/>
        </p:nvSpPr>
        <p:spPr>
          <a:xfrm>
            <a:off x="1508760" y="3328416"/>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Üçüncü sıçrama döneminde ölüm oranı düşerken doğum oranı ne olmuştur; sonuç nedir?</a:t>
            </a:r>
          </a:p>
        </p:txBody>
      </p:sp>
      <p:sp>
        <p:nvSpPr>
          <p:cNvPr id="13" name="Rounded Rectangle 12"/>
          <p:cNvSpPr/>
          <p:nvPr/>
        </p:nvSpPr>
        <p:spPr>
          <a:xfrm>
            <a:off x="502920" y="4892040"/>
            <a:ext cx="11185855" cy="1399032"/>
          </a:xfrm>
          <a:prstGeom prst="roundRect">
            <a:avLst>
              <a:gd name="adj" fmla="val 10000"/>
            </a:avLst>
          </a:prstGeom>
          <a:solidFill>
            <a:srgbClr val="F0F0F0"/>
          </a:solidFill>
          <a:ln>
            <a:noFill/>
          </a:ln>
          <a:effectLst/>
        </p:spPr>
        <p:txBody>
          <a:bodyPr rtlCol="0" anchor="ctr"/>
          <a:lstStyle/>
          <a:p/>
        </p:txBody>
      </p:sp>
      <p:sp>
        <p:nvSpPr>
          <p:cNvPr id="14" name="Oval 13"/>
          <p:cNvSpPr/>
          <p:nvPr/>
        </p:nvSpPr>
        <p:spPr>
          <a:xfrm>
            <a:off x="667512" y="5271516"/>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3</a:t>
            </a:r>
          </a:p>
        </p:txBody>
      </p:sp>
      <p:sp>
        <p:nvSpPr>
          <p:cNvPr id="15" name="TextBox 14"/>
          <p:cNvSpPr txBox="1"/>
          <p:nvPr/>
        </p:nvSpPr>
        <p:spPr>
          <a:xfrm>
            <a:off x="1508760" y="4892040"/>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1950 sonrası hızlı nüfuslanma neden daha çok gelişmekte olan ülkelerde yaşanmıştır?</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142-143</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45 / 379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Gelecek derse hazırlık: Türk devletleri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450" b="1" i="0">
                <a:solidFill>
                  <a:srgbClr val="262626"/>
                </a:solidFill>
                <a:latin typeface="Calibri"/>
              </a:rPr>
              <a:t>GELECEK DERSE HAZIRLIK</a:t>
            </a:r>
          </a:p>
        </p:txBody>
      </p:sp>
      <p:sp>
        <p:nvSpPr>
          <p:cNvPr id="6" name="Rounded Rectangle 5"/>
          <p:cNvSpPr/>
          <p:nvPr/>
        </p:nvSpPr>
        <p:spPr>
          <a:xfrm>
            <a:off x="502920" y="1216152"/>
            <a:ext cx="5989320" cy="4251960"/>
          </a:xfrm>
          <a:prstGeom prst="roundRect">
            <a:avLst>
              <a:gd name="adj" fmla="val 8000"/>
            </a:avLst>
          </a:prstGeom>
          <a:solidFill>
            <a:srgbClr val="F0F0F0"/>
          </a:solidFill>
          <a:ln>
            <a:noFill/>
          </a:ln>
          <a:effectLst/>
        </p:spPr>
        <p:txBody>
          <a:bodyPr rtlCol="0" anchor="ctr" wrap="square" lIns="182880" rIns="182880" tIns="73152" bIns="73152">
            <a:noAutofit/>
          </a:bodyPr>
          <a:lstStyle/>
          <a:p>
            <a:pPr algn="l" marL="312751" indent="-312751">
              <a:spcBef>
                <a:spcPts val="0"/>
              </a:spcBef>
              <a:spcAft>
                <a:spcPts val="928"/>
              </a:spcAft>
            </a:pPr>
            <a:r>
              <a:rPr lang="tr-TR" sz="1950" b="1" i="0">
                <a:solidFill>
                  <a:srgbClr val="2C6696"/>
                </a:solidFill>
                <a:latin typeface="Calibri"/>
              </a:rPr>
              <a:t>1.  </a:t>
            </a:r>
            <a:r>
              <a:rPr lang="tr-TR" sz="1950" b="0" i="0">
                <a:solidFill>
                  <a:srgbClr val="262626"/>
                </a:solidFill>
                <a:latin typeface="Calibri"/>
              </a:rPr>
              <a:t>Sınıfta heterojen gruplar oluşturunuz.</a:t>
            </a:r>
          </a:p>
          <a:p>
            <a:pPr algn="l" marL="312751" indent="-312751">
              <a:spcBef>
                <a:spcPts val="0"/>
              </a:spcBef>
              <a:spcAft>
                <a:spcPts val="928"/>
              </a:spcAft>
            </a:pPr>
            <a:r>
              <a:rPr lang="tr-TR" sz="1950" b="1" i="0">
                <a:solidFill>
                  <a:srgbClr val="2C6696"/>
                </a:solidFill>
                <a:latin typeface="Calibri"/>
              </a:rPr>
              <a:t>2.  </a:t>
            </a:r>
            <a:r>
              <a:rPr lang="tr-TR" sz="1950" b="0" i="0">
                <a:solidFill>
                  <a:srgbClr val="262626"/>
                </a:solidFill>
                <a:latin typeface="Calibri"/>
              </a:rPr>
              <a:t>Aşağıda verilen Türk devletlerinden en az birini öğretmen rehberliğinde grup çalışması olarak belirleyiniz.</a:t>
            </a:r>
          </a:p>
          <a:p>
            <a:pPr algn="l" marL="312751" indent="-312751">
              <a:spcBef>
                <a:spcPts val="0"/>
              </a:spcBef>
              <a:spcAft>
                <a:spcPts val="928"/>
              </a:spcAft>
            </a:pPr>
            <a:r>
              <a:rPr lang="tr-TR" sz="1950" b="1" i="0">
                <a:solidFill>
                  <a:srgbClr val="2C6696"/>
                </a:solidFill>
                <a:latin typeface="Calibri"/>
              </a:rPr>
              <a:t>3.  </a:t>
            </a:r>
            <a:r>
              <a:rPr lang="tr-TR" sz="1950" b="0" i="0">
                <a:solidFill>
                  <a:srgbClr val="262626"/>
                </a:solidFill>
                <a:latin typeface="Calibri"/>
              </a:rPr>
              <a:t>Seçtiğiniz ülkenin güncel nüfus verilerini (toplam nüfus, nüfus yoğunluğu, yıllık nüfus artış hızı, ortalama yaşam süresi, kişi başına düşen millî gelir vb.) güvenilir kaynaklardan derleyiniz.</a:t>
            </a:r>
          </a:p>
          <a:p>
            <a:pPr algn="l" marL="312751" indent="-312751">
              <a:spcBef>
                <a:spcPts val="0"/>
              </a:spcBef>
              <a:spcAft>
                <a:spcPts val="0"/>
              </a:spcAft>
            </a:pPr>
            <a:r>
              <a:rPr lang="tr-TR" sz="1950" b="1" i="0">
                <a:solidFill>
                  <a:srgbClr val="2C6696"/>
                </a:solidFill>
                <a:latin typeface="Calibri"/>
              </a:rPr>
              <a:t>4.  </a:t>
            </a:r>
            <a:r>
              <a:rPr lang="tr-TR" sz="1950" b="0" i="0">
                <a:solidFill>
                  <a:srgbClr val="262626"/>
                </a:solidFill>
                <a:latin typeface="Calibri"/>
              </a:rPr>
              <a:t>Çalışmanız kapsamında yapacağınız poster tasarımı için karton, renkli kalemler, yapıştırıcı, makas vb. malzemeleri yanınızda bulundurunuz.</a:t>
            </a:r>
          </a:p>
        </p:txBody>
      </p:sp>
      <p:graphicFrame>
        <p:nvGraphicFramePr>
          <p:cNvPr id="7" name="Table 6"/>
          <p:cNvGraphicFramePr>
            <a:graphicFrameLocks noGrp="1"/>
          </p:cNvGraphicFramePr>
          <p:nvPr/>
        </p:nvGraphicFramePr>
        <p:xfrm>
          <a:off x="6720840" y="1216152"/>
          <a:ext cx="4967935" cy="4114800"/>
        </p:xfrm>
        <a:graphic>
          <a:graphicData uri="http://schemas.openxmlformats.org/drawingml/2006/table">
            <a:tbl>
              <a:tblPr firstRow="1" bandRow="1">
                <a:tableStyleId>{5C22544A-7EE6-4342-B048-85BDC9FD1C3A}</a:tableStyleId>
              </a:tblPr>
              <a:tblGrid>
                <a:gridCol w="1097280"/>
                <a:gridCol w="3870655"/>
              </a:tblGrid>
              <a:tr h="457200">
                <a:tc>
                  <a:txBody>
                    <a:bodyPr wrap="square"/>
                    <a:lstStyle/>
                    <a:p>
                      <a:pPr algn="ctr">
                        <a:spcBef>
                          <a:spcPts val="0"/>
                        </a:spcBef>
                        <a:spcAft>
                          <a:spcPts val="0"/>
                        </a:spcAft>
                      </a:pPr>
                      <a:r>
                        <a:rPr lang="tr-TR" sz="1800" b="1" i="0">
                          <a:solidFill>
                            <a:srgbClr val="FFFFFF"/>
                          </a:solidFill>
                          <a:latin typeface="Calibri"/>
                        </a:rPr>
                        <a:t>Grup</a:t>
                      </a:r>
                    </a:p>
                  </a:txBody>
                  <a:tcPr marL="54864" marR="54864" marT="18288" marB="18288" anchor="ctr">
                    <a:solidFill>
                      <a:srgbClr val="2C6696"/>
                    </a:solidFill>
                  </a:tcPr>
                </a:tc>
                <a:tc>
                  <a:txBody>
                    <a:bodyPr wrap="square"/>
                    <a:lstStyle/>
                    <a:p>
                      <a:pPr algn="ctr">
                        <a:spcBef>
                          <a:spcPts val="0"/>
                        </a:spcBef>
                        <a:spcAft>
                          <a:spcPts val="0"/>
                        </a:spcAft>
                      </a:pPr>
                      <a:r>
                        <a:rPr lang="tr-TR" sz="1800" b="1" i="0">
                          <a:solidFill>
                            <a:srgbClr val="FFFFFF"/>
                          </a:solidFill>
                          <a:latin typeface="Calibri"/>
                        </a:rPr>
                        <a:t>Türk devleti / görev</a:t>
                      </a:r>
                    </a:p>
                  </a:txBody>
                  <a:tcPr marL="54864" marR="54864" marT="18288" marB="18288" anchor="ctr">
                    <a:solidFill>
                      <a:srgbClr val="2C6696"/>
                    </a:solidFill>
                  </a:tcPr>
                </a:tc>
              </a:tr>
              <a:tr h="457200">
                <a:tc>
                  <a:txBody>
                    <a:bodyPr wrap="square"/>
                    <a:lstStyle/>
                    <a:p>
                      <a:pPr algn="ctr">
                        <a:spcBef>
                          <a:spcPts val="0"/>
                        </a:spcBef>
                        <a:spcAft>
                          <a:spcPts val="0"/>
                        </a:spcAft>
                      </a:pPr>
                      <a:r>
                        <a:rPr lang="tr-TR" sz="1800" b="0" i="0">
                          <a:solidFill>
                            <a:srgbClr val="262626"/>
                          </a:solidFill>
                          <a:latin typeface="Calibri"/>
                        </a:rPr>
                        <a:t>1. grup</a:t>
                      </a:r>
                    </a:p>
                  </a:txBody>
                  <a:tcPr marL="54864" marR="54864" marT="18288" marB="18288" anchor="ctr">
                    <a:solidFill>
                      <a:srgbClr val="FFFFFF"/>
                    </a:solidFill>
                  </a:tcPr>
                </a:tc>
                <a:tc>
                  <a:txBody>
                    <a:bodyPr wrap="square"/>
                    <a:lstStyle/>
                    <a:p>
                      <a:pPr algn="l">
                        <a:spcBef>
                          <a:spcPts val="0"/>
                        </a:spcBef>
                        <a:spcAft>
                          <a:spcPts val="0"/>
                        </a:spcAft>
                      </a:pPr>
                      <a:r>
                        <a:rPr lang="tr-TR" sz="1800" b="0" i="0">
                          <a:solidFill>
                            <a:srgbClr val="262626"/>
                          </a:solidFill>
                          <a:latin typeface="Calibri"/>
                        </a:rPr>
                        <a:t>Türkiye</a:t>
                      </a:r>
                    </a:p>
                  </a:txBody>
                  <a:tcPr marL="54864" marR="54864" marT="18288" marB="18288" anchor="ctr">
                    <a:solidFill>
                      <a:srgbClr val="FFFFFF"/>
                    </a:solidFill>
                  </a:tcPr>
                </a:tc>
              </a:tr>
              <a:tr h="457200">
                <a:tc>
                  <a:txBody>
                    <a:bodyPr wrap="square"/>
                    <a:lstStyle/>
                    <a:p>
                      <a:pPr algn="ctr">
                        <a:spcBef>
                          <a:spcPts val="0"/>
                        </a:spcBef>
                        <a:spcAft>
                          <a:spcPts val="0"/>
                        </a:spcAft>
                      </a:pPr>
                      <a:r>
                        <a:rPr lang="tr-TR" sz="1800" b="0" i="0">
                          <a:solidFill>
                            <a:srgbClr val="262626"/>
                          </a:solidFill>
                          <a:latin typeface="Calibri"/>
                        </a:rPr>
                        <a:t>2. grup</a:t>
                      </a:r>
                    </a:p>
                  </a:txBody>
                  <a:tcPr marL="54864" marR="54864" marT="18288" marB="18288" anchor="ctr">
                    <a:solidFill>
                      <a:srgbClr val="E3ECF5"/>
                    </a:solidFill>
                  </a:tcPr>
                </a:tc>
                <a:tc>
                  <a:txBody>
                    <a:bodyPr wrap="square"/>
                    <a:lstStyle/>
                    <a:p>
                      <a:pPr algn="l">
                        <a:spcBef>
                          <a:spcPts val="0"/>
                        </a:spcBef>
                        <a:spcAft>
                          <a:spcPts val="0"/>
                        </a:spcAft>
                      </a:pPr>
                      <a:r>
                        <a:rPr lang="tr-TR" sz="1800" b="0" i="0">
                          <a:solidFill>
                            <a:srgbClr val="262626"/>
                          </a:solidFill>
                          <a:latin typeface="Calibri"/>
                        </a:rPr>
                        <a:t>Kuzey Kıbrıs Türk Cumhuriyeti</a:t>
                      </a:r>
                    </a:p>
                  </a:txBody>
                  <a:tcPr marL="54864" marR="54864" marT="18288" marB="18288" anchor="ctr">
                    <a:solidFill>
                      <a:srgbClr val="E3ECF5"/>
                    </a:solidFill>
                  </a:tcPr>
                </a:tc>
              </a:tr>
              <a:tr h="457200">
                <a:tc>
                  <a:txBody>
                    <a:bodyPr wrap="square"/>
                    <a:lstStyle/>
                    <a:p>
                      <a:pPr algn="ctr">
                        <a:spcBef>
                          <a:spcPts val="0"/>
                        </a:spcBef>
                        <a:spcAft>
                          <a:spcPts val="0"/>
                        </a:spcAft>
                      </a:pPr>
                      <a:r>
                        <a:rPr lang="tr-TR" sz="1800" b="0" i="0">
                          <a:solidFill>
                            <a:srgbClr val="262626"/>
                          </a:solidFill>
                          <a:latin typeface="Calibri"/>
                        </a:rPr>
                        <a:t>3. grup</a:t>
                      </a:r>
                    </a:p>
                  </a:txBody>
                  <a:tcPr marL="54864" marR="54864" marT="18288" marB="18288" anchor="ctr">
                    <a:solidFill>
                      <a:srgbClr val="FFFFFF"/>
                    </a:solidFill>
                  </a:tcPr>
                </a:tc>
                <a:tc>
                  <a:txBody>
                    <a:bodyPr wrap="square"/>
                    <a:lstStyle/>
                    <a:p>
                      <a:pPr algn="l">
                        <a:spcBef>
                          <a:spcPts val="0"/>
                        </a:spcBef>
                        <a:spcAft>
                          <a:spcPts val="0"/>
                        </a:spcAft>
                      </a:pPr>
                      <a:r>
                        <a:rPr lang="tr-TR" sz="1800" b="0" i="0">
                          <a:solidFill>
                            <a:srgbClr val="262626"/>
                          </a:solidFill>
                          <a:latin typeface="Calibri"/>
                        </a:rPr>
                        <a:t>Azerbaycan</a:t>
                      </a:r>
                    </a:p>
                  </a:txBody>
                  <a:tcPr marL="54864" marR="54864" marT="18288" marB="18288" anchor="ctr">
                    <a:solidFill>
                      <a:srgbClr val="FFFFFF"/>
                    </a:solidFill>
                  </a:tcPr>
                </a:tc>
              </a:tr>
              <a:tr h="457200">
                <a:tc>
                  <a:txBody>
                    <a:bodyPr wrap="square"/>
                    <a:lstStyle/>
                    <a:p>
                      <a:pPr algn="ctr">
                        <a:spcBef>
                          <a:spcPts val="0"/>
                        </a:spcBef>
                        <a:spcAft>
                          <a:spcPts val="0"/>
                        </a:spcAft>
                      </a:pPr>
                      <a:r>
                        <a:rPr lang="tr-TR" sz="1800" b="0" i="0">
                          <a:solidFill>
                            <a:srgbClr val="262626"/>
                          </a:solidFill>
                          <a:latin typeface="Calibri"/>
                        </a:rPr>
                        <a:t>4. grup</a:t>
                      </a:r>
                    </a:p>
                  </a:txBody>
                  <a:tcPr marL="54864" marR="54864" marT="18288" marB="18288" anchor="ctr">
                    <a:solidFill>
                      <a:srgbClr val="E3ECF5"/>
                    </a:solidFill>
                  </a:tcPr>
                </a:tc>
                <a:tc>
                  <a:txBody>
                    <a:bodyPr wrap="square"/>
                    <a:lstStyle/>
                    <a:p>
                      <a:pPr algn="l">
                        <a:spcBef>
                          <a:spcPts val="0"/>
                        </a:spcBef>
                        <a:spcAft>
                          <a:spcPts val="0"/>
                        </a:spcAft>
                      </a:pPr>
                      <a:r>
                        <a:rPr lang="tr-TR" sz="1800" b="0" i="0">
                          <a:solidFill>
                            <a:srgbClr val="262626"/>
                          </a:solidFill>
                          <a:latin typeface="Calibri"/>
                        </a:rPr>
                        <a:t>Türkmenistan</a:t>
                      </a:r>
                    </a:p>
                  </a:txBody>
                  <a:tcPr marL="54864" marR="54864" marT="18288" marB="18288" anchor="ctr">
                    <a:solidFill>
                      <a:srgbClr val="E3ECF5"/>
                    </a:solidFill>
                  </a:tcPr>
                </a:tc>
              </a:tr>
              <a:tr h="457200">
                <a:tc>
                  <a:txBody>
                    <a:bodyPr wrap="square"/>
                    <a:lstStyle/>
                    <a:p>
                      <a:pPr algn="ctr">
                        <a:spcBef>
                          <a:spcPts val="0"/>
                        </a:spcBef>
                        <a:spcAft>
                          <a:spcPts val="0"/>
                        </a:spcAft>
                      </a:pPr>
                      <a:r>
                        <a:rPr lang="tr-TR" sz="1800" b="0" i="0">
                          <a:solidFill>
                            <a:srgbClr val="262626"/>
                          </a:solidFill>
                          <a:latin typeface="Calibri"/>
                        </a:rPr>
                        <a:t>5. grup</a:t>
                      </a:r>
                    </a:p>
                  </a:txBody>
                  <a:tcPr marL="54864" marR="54864" marT="18288" marB="18288" anchor="ctr">
                    <a:solidFill>
                      <a:srgbClr val="FFFFFF"/>
                    </a:solidFill>
                  </a:tcPr>
                </a:tc>
                <a:tc>
                  <a:txBody>
                    <a:bodyPr wrap="square"/>
                    <a:lstStyle/>
                    <a:p>
                      <a:pPr algn="l">
                        <a:spcBef>
                          <a:spcPts val="0"/>
                        </a:spcBef>
                        <a:spcAft>
                          <a:spcPts val="0"/>
                        </a:spcAft>
                      </a:pPr>
                      <a:r>
                        <a:rPr lang="tr-TR" sz="1800" b="0" i="0">
                          <a:solidFill>
                            <a:srgbClr val="262626"/>
                          </a:solidFill>
                          <a:latin typeface="Calibri"/>
                        </a:rPr>
                        <a:t>Kazakistan</a:t>
                      </a:r>
                    </a:p>
                  </a:txBody>
                  <a:tcPr marL="54864" marR="54864" marT="18288" marB="18288" anchor="ctr">
                    <a:solidFill>
                      <a:srgbClr val="FFFFFF"/>
                    </a:solidFill>
                  </a:tcPr>
                </a:tc>
              </a:tr>
              <a:tr h="457200">
                <a:tc>
                  <a:txBody>
                    <a:bodyPr wrap="square"/>
                    <a:lstStyle/>
                    <a:p>
                      <a:pPr algn="ctr">
                        <a:spcBef>
                          <a:spcPts val="0"/>
                        </a:spcBef>
                        <a:spcAft>
                          <a:spcPts val="0"/>
                        </a:spcAft>
                      </a:pPr>
                      <a:r>
                        <a:rPr lang="tr-TR" sz="1800" b="0" i="0">
                          <a:solidFill>
                            <a:srgbClr val="262626"/>
                          </a:solidFill>
                          <a:latin typeface="Calibri"/>
                        </a:rPr>
                        <a:t>6. grup</a:t>
                      </a:r>
                    </a:p>
                  </a:txBody>
                  <a:tcPr marL="54864" marR="54864" marT="18288" marB="18288" anchor="ctr">
                    <a:solidFill>
                      <a:srgbClr val="E3ECF5"/>
                    </a:solidFill>
                  </a:tcPr>
                </a:tc>
                <a:tc>
                  <a:txBody>
                    <a:bodyPr wrap="square"/>
                    <a:lstStyle/>
                    <a:p>
                      <a:pPr algn="l">
                        <a:spcBef>
                          <a:spcPts val="0"/>
                        </a:spcBef>
                        <a:spcAft>
                          <a:spcPts val="0"/>
                        </a:spcAft>
                      </a:pPr>
                      <a:r>
                        <a:rPr lang="tr-TR" sz="1800" b="0" i="0">
                          <a:solidFill>
                            <a:srgbClr val="262626"/>
                          </a:solidFill>
                          <a:latin typeface="Calibri"/>
                        </a:rPr>
                        <a:t>Kırgızistan</a:t>
                      </a:r>
                    </a:p>
                  </a:txBody>
                  <a:tcPr marL="54864" marR="54864" marT="18288" marB="18288" anchor="ctr">
                    <a:solidFill>
                      <a:srgbClr val="E3ECF5"/>
                    </a:solidFill>
                  </a:tcPr>
                </a:tc>
              </a:tr>
              <a:tr h="457200">
                <a:tc>
                  <a:txBody>
                    <a:bodyPr wrap="square"/>
                    <a:lstStyle/>
                    <a:p>
                      <a:pPr algn="ctr">
                        <a:spcBef>
                          <a:spcPts val="0"/>
                        </a:spcBef>
                        <a:spcAft>
                          <a:spcPts val="0"/>
                        </a:spcAft>
                      </a:pPr>
                      <a:r>
                        <a:rPr lang="tr-TR" sz="1800" b="0" i="0">
                          <a:solidFill>
                            <a:srgbClr val="262626"/>
                          </a:solidFill>
                          <a:latin typeface="Calibri"/>
                        </a:rPr>
                        <a:t>7. grup</a:t>
                      </a:r>
                    </a:p>
                  </a:txBody>
                  <a:tcPr marL="54864" marR="54864" marT="18288" marB="18288" anchor="ctr">
                    <a:solidFill>
                      <a:srgbClr val="FFFFFF"/>
                    </a:solidFill>
                  </a:tcPr>
                </a:tc>
                <a:tc>
                  <a:txBody>
                    <a:bodyPr wrap="square"/>
                    <a:lstStyle/>
                    <a:p>
                      <a:pPr algn="l">
                        <a:spcBef>
                          <a:spcPts val="0"/>
                        </a:spcBef>
                        <a:spcAft>
                          <a:spcPts val="0"/>
                        </a:spcAft>
                      </a:pPr>
                      <a:r>
                        <a:rPr lang="tr-TR" sz="1800" b="0" i="0">
                          <a:solidFill>
                            <a:srgbClr val="262626"/>
                          </a:solidFill>
                          <a:latin typeface="Calibri"/>
                        </a:rPr>
                        <a:t>Özbekistan</a:t>
                      </a:r>
                    </a:p>
                  </a:txBody>
                  <a:tcPr marL="54864" marR="54864" marT="18288" marB="18288" anchor="ctr">
                    <a:solidFill>
                      <a:srgbClr val="FFFFFF"/>
                    </a:solidFill>
                  </a:tcPr>
                </a:tc>
              </a:tr>
              <a:tr h="457200">
                <a:tc>
                  <a:txBody>
                    <a:bodyPr wrap="square"/>
                    <a:lstStyle/>
                    <a:p>
                      <a:pPr algn="ctr">
                        <a:spcBef>
                          <a:spcPts val="0"/>
                        </a:spcBef>
                        <a:spcAft>
                          <a:spcPts val="0"/>
                        </a:spcAft>
                      </a:pPr>
                      <a:r>
                        <a:rPr lang="tr-TR" sz="1800" b="0" i="0">
                          <a:solidFill>
                            <a:srgbClr val="262626"/>
                          </a:solidFill>
                          <a:latin typeface="Calibri"/>
                        </a:rPr>
                        <a:t>8. grup</a:t>
                      </a:r>
                    </a:p>
                  </a:txBody>
                  <a:tcPr marL="54864" marR="54864" marT="18288" marB="18288" anchor="ctr">
                    <a:solidFill>
                      <a:srgbClr val="FFF3D1"/>
                    </a:solidFill>
                  </a:tcPr>
                </a:tc>
                <a:tc>
                  <a:txBody>
                    <a:bodyPr wrap="square"/>
                    <a:lstStyle/>
                    <a:p>
                      <a:pPr algn="l">
                        <a:spcBef>
                          <a:spcPts val="0"/>
                        </a:spcBef>
                        <a:spcAft>
                          <a:spcPts val="0"/>
                        </a:spcAft>
                      </a:pPr>
                      <a:r>
                        <a:rPr lang="tr-TR" sz="1800" b="0" i="0">
                          <a:solidFill>
                            <a:srgbClr val="262626"/>
                          </a:solidFill>
                          <a:latin typeface="Calibri"/>
                        </a:rPr>
                        <a:t>Ortak harita ve karşılaştırma tablosu</a:t>
                      </a:r>
                    </a:p>
                  </a:txBody>
                  <a:tcPr marL="54864" marR="54864" marT="18288" marB="18288" anchor="ctr">
                    <a:solidFill>
                      <a:srgbClr val="FFF3D1"/>
                    </a:solidFill>
                  </a:tcPr>
                </a:tc>
              </a:tr>
            </a:tbl>
          </a:graphicData>
        </a:graphic>
      </p:graphicFrame>
      <p:sp>
        <p:nvSpPr>
          <p:cNvPr id="8" name="Rounded Rectangle 7"/>
          <p:cNvSpPr/>
          <p:nvPr/>
        </p:nvSpPr>
        <p:spPr>
          <a:xfrm>
            <a:off x="502920" y="5559552"/>
            <a:ext cx="11185855" cy="68580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1800" b="1" i="0">
                <a:solidFill>
                  <a:srgbClr val="262626"/>
                </a:solidFill>
                <a:latin typeface="Calibri"/>
              </a:rPr>
              <a:t>Kaynak ve yıl yaz · telefon gerekmez: evde bilgisayar, okul kütüphanesi ya da laboratuvar · malzeme okuldan</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10" name="Rounded Rectangle 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145</a:t>
            </a:r>
          </a:p>
        </p:txBody>
      </p:sp>
      <p:sp>
        <p:nvSpPr>
          <p:cNvPr id="11" name="TextBox 1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46 / 379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 hafta evde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20. HAFTA</a:t>
            </a:r>
          </a:p>
        </p:txBody>
      </p:sp>
      <p:sp>
        <p:nvSpPr>
          <p:cNvPr id="6" name="TextBox 5"/>
          <p:cNvSpPr txBox="1"/>
          <p:nvPr/>
        </p:nvSpPr>
        <p:spPr>
          <a:xfrm>
            <a:off x="594360" y="1307592"/>
            <a:ext cx="11002975" cy="4846320"/>
          </a:xfrm>
          <a:prstGeom prst="rect">
            <a:avLst/>
          </a:prstGeom>
          <a:noFill/>
        </p:spPr>
        <p:txBody>
          <a:bodyPr wrap="square" anchor="t" lIns="73152" rIns="73152" tIns="36576" bIns="36576">
            <a:noAutofit/>
          </a:bodyPr>
          <a:lstStyle/>
          <a:p>
            <a:pPr algn="l" marL="323206" indent="-323206">
              <a:spcBef>
                <a:spcPts val="0"/>
              </a:spcBef>
              <a:spcAft>
                <a:spcPts val="1200"/>
              </a:spcAft>
            </a:pPr>
            <a:r>
              <a:rPr lang="tr-TR" sz="2600" b="1" i="0">
                <a:solidFill>
                  <a:srgbClr val="2C6696"/>
                </a:solidFill>
                <a:latin typeface="Calibri"/>
              </a:rPr>
              <a:t>•  </a:t>
            </a:r>
            <a:r>
              <a:rPr lang="tr-TR" sz="2600" b="0" i="0">
                <a:solidFill>
                  <a:srgbClr val="262626"/>
                </a:solidFill>
                <a:latin typeface="Calibri"/>
              </a:rPr>
              <a:t>Çalışma kâğıdı Bölüm 1: 1-2. sorular (kitap s. 140-143).</a:t>
            </a:r>
          </a:p>
          <a:p>
            <a:pPr algn="l" marL="323206" indent="-323206">
              <a:spcBef>
                <a:spcPts val="0"/>
              </a:spcBef>
              <a:spcAft>
                <a:spcPts val="1200"/>
              </a:spcAft>
            </a:pPr>
            <a:r>
              <a:rPr lang="tr-TR" sz="2600" b="1" i="0">
                <a:solidFill>
                  <a:srgbClr val="2C6696"/>
                </a:solidFill>
                <a:latin typeface="Calibri"/>
              </a:rPr>
              <a:t>•  </a:t>
            </a:r>
            <a:r>
              <a:rPr lang="tr-TR" sz="2600" b="0" i="0">
                <a:solidFill>
                  <a:srgbClr val="262626"/>
                </a:solidFill>
                <a:latin typeface="Calibri"/>
              </a:rPr>
              <a:t>Grubunun Türk devletinin güncel nüfus verilerini kaynağı ve yılıyla derle: toplam nüfus, nüfus yoğunluğu, yıllık nüfus artış hızı, ortalama yaşam süresi, kişi başına düşen millî gelir.</a:t>
            </a:r>
          </a:p>
          <a:p>
            <a:pPr algn="l" marL="323206" indent="-323206">
              <a:spcBef>
                <a:spcPts val="0"/>
              </a:spcBef>
              <a:spcAft>
                <a:spcPts val="1200"/>
              </a:spcAft>
            </a:pPr>
            <a:r>
              <a:rPr lang="tr-TR" sz="2600" b="1" i="0">
                <a:solidFill>
                  <a:srgbClr val="2C6696"/>
                </a:solidFill>
                <a:latin typeface="Calibri"/>
              </a:rPr>
              <a:t>•  </a:t>
            </a:r>
            <a:r>
              <a:rPr lang="tr-TR" sz="2600" b="0" i="0">
                <a:solidFill>
                  <a:srgbClr val="262626"/>
                </a:solidFill>
                <a:latin typeface="Calibri"/>
              </a:rPr>
              <a:t>Kitap s. 144'teki iki grafiğin başlığını, eksenlerini ve birimini deftere yaz.</a:t>
            </a:r>
          </a:p>
          <a:p>
            <a:pPr algn="l" marL="323206" indent="-323206">
              <a:spcBef>
                <a:spcPts val="0"/>
              </a:spcBef>
              <a:spcAft>
                <a:spcPts val="0"/>
              </a:spcAft>
            </a:pPr>
            <a:r>
              <a:rPr lang="tr-TR" sz="2600" b="1" i="0">
                <a:solidFill>
                  <a:srgbClr val="2C6696"/>
                </a:solidFill>
                <a:latin typeface="Calibri"/>
              </a:rPr>
              <a:t>•  </a:t>
            </a:r>
            <a:r>
              <a:rPr lang="tr-TR" sz="2600" b="0" i="0">
                <a:solidFill>
                  <a:srgbClr val="262626"/>
                </a:solidFill>
                <a:latin typeface="Calibri"/>
              </a:rPr>
              <a:t>Öğrenme günlüğü: bu haftanın kaydı (3-4 cümle).</a:t>
            </a:r>
          </a:p>
        </p:txBody>
      </p:sp>
      <p:sp>
        <p:nvSpPr>
          <p:cNvPr id="7" name="TextBox 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8" name="Rounded Rectangle 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144-145</a:t>
            </a:r>
          </a:p>
        </p:txBody>
      </p:sp>
      <p:sp>
        <p:nvSpPr>
          <p:cNvPr id="9" name="TextBox 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47 / 379</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Kaynaklar ve Haklar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KAYNAKÇA</a:t>
            </a:r>
          </a:p>
        </p:txBody>
      </p:sp>
      <p:sp>
        <p:nvSpPr>
          <p:cNvPr id="6" name="Rounded Rectangle 5"/>
          <p:cNvSpPr/>
          <p:nvPr/>
        </p:nvSpPr>
        <p:spPr>
          <a:xfrm>
            <a:off x="502920" y="1280160"/>
            <a:ext cx="11185855" cy="150876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Ders kitabı.</a:t>
            </a:r>
            <a:r>
              <a:rPr lang="tr-TR" sz="1650" b="0" i="0">
                <a:solidFill>
                  <a:srgbClr val="262626"/>
                </a:solidFill>
                <a:latin typeface="Calibri"/>
              </a:rPr>
              <a:t> Coğrafya 9. Sınıf Ders Kitabı (Ortaöğretim), 2026-2027 baskısı. </a:t>
            </a:r>
            <a:r>
              <a:rPr lang="tr-TR" sz="1650" b="1" i="0">
                <a:solidFill>
                  <a:srgbClr val="262626"/>
                </a:solidFill>
                <a:latin typeface="Calibri"/>
              </a:rPr>
              <a:t>Yazarlar:</a:t>
            </a:r>
            <a:r>
              <a:rPr lang="tr-TR" sz="1650" b="0" i="0">
                <a:solidFill>
                  <a:srgbClr val="262626"/>
                </a:solidFill>
                <a:latin typeface="Calibri"/>
              </a:rPr>
              <a:t> Dr. Gülten İçel, Alper Soyatlar, Beyhan Polat, Bülent Akça, Cem Erdebil, Kenan Türkez, Mehmet Ekici, Mutlu Karakoç, Nihal Öztürk, Nurullah Balşen, Orhan Ekin, Ramazan Bıçaklı, Raşit Düzgün, Soner Cırık, Tuba Dirim. Millî Eğitim Bakanlığı Yayınları No 9606 · Ders Kitapları Dizisi No 2027 · Devlet Kitapları, 2026 · ISBN 978-975-11-8046-9. Slaytlardaki “Kitap s. …” etiketleri bu baskının sayfalarıdır.</a:t>
            </a:r>
          </a:p>
        </p:txBody>
      </p:sp>
      <p:sp>
        <p:nvSpPr>
          <p:cNvPr id="7" name="Rounded Rectangle 6"/>
          <p:cNvSpPr/>
          <p:nvPr/>
        </p:nvSpPr>
        <p:spPr>
          <a:xfrm>
            <a:off x="502920" y="2916936"/>
            <a:ext cx="11185855" cy="11430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Öğretim programı ve etkinlikler.</a:t>
            </a:r>
            <a:r>
              <a:rPr lang="tr-TR" sz="1650" b="0" i="0">
                <a:solidFill>
                  <a:srgbClr val="262626"/>
                </a:solidFill>
                <a:latin typeface="Calibri"/>
              </a:rPr>
              <a:t> Coğrafya dersi öğretim programı (2026 nüshası): Talim ve Terbiye Kurulunun 23.05.2024 tarihli ve 20 sayılı kararıyla kabul edilen, 13.05.2026 tarihli ve 53 sayılı kararıyla güncellenen program. Etkinliklerin bir bölümü MEB Ortaöğretim Genel Müdürlüğünün OGM Materyal platformundaki etkileşimli etkinliklerle paralel kurulmuştur.</a:t>
            </a:r>
          </a:p>
        </p:txBody>
      </p:sp>
      <p:sp>
        <p:nvSpPr>
          <p:cNvPr id="8" name="Rounded Rectangle 7"/>
          <p:cNvSpPr/>
          <p:nvPr/>
        </p:nvSpPr>
        <p:spPr>
          <a:xfrm>
            <a:off x="502920" y="4187952"/>
            <a:ext cx="11185855" cy="13716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700" b="1" i="0">
                <a:solidFill>
                  <a:srgbClr val="262626"/>
                </a:solidFill>
                <a:latin typeface="Calibri"/>
              </a:rPr>
              <a:t>Haklar ve lisans.</a:t>
            </a:r>
            <a:r>
              <a:rPr lang="tr-TR" sz="1700" b="0" i="0">
                <a:solidFill>
                  <a:srgbClr val="262626"/>
                </a:solidFill>
                <a:latin typeface="Calibri"/>
              </a:rPr>
              <a:t> Ders kitabından ve OGM Materyal'den alınan metin, soru ve görsellerin hakları Millî Eğitim Bakanlığına aittir; eğitim ve öğretim amacıyla, kaynak gösterilerek alıntılanmıştır (5846 sayılı Fikir ve Sanat Eserleri Kanunu md. 34). Sunumun tasarımı, ders akışı, etkinlik kurgusu, örnek cevaplar ve öğretmen notları okulapp.org'un özgün katkısıdır; yalnız bu katkılar CC BY 4.0 lisansıyla paylaşılır. Resmî bir Bakanlık materyali değildir.</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4. Ünite: Beşerî Sistemler ve Süreçler</a:t>
            </a:r>
          </a:p>
        </p:txBody>
      </p:sp>
      <p:sp>
        <p:nvSpPr>
          <p:cNvPr id="10" name="TextBox 9"/>
          <p:cNvSpPr txBox="1"/>
          <p:nvPr/>
        </p:nvSpPr>
        <p:spPr>
          <a:xfrm>
            <a:off x="8503920" y="6437376"/>
            <a:ext cx="32918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okulapp.org/cografya · sürüm 2026.10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GNL-COG9-SN-U4 — 20. hafta · Nüfusun Tarihsel Değişimi I: Sıçramalar ve Grafik Okuma (slayt 1-47)</dc:title>
  <dc:subject>9. Sınıf Coğrafya ders sunumu. Kaynak: Coğrafya 9. Sınıf Ders Kitabı (MEB, 2026-2027 baskısı) ve 2026 öğretim programı. okulapp.org/cografya</dc:subject>
  <dc:creator>okulapp.org</dc:creator>
  <cp:keywords/>
  <dc:description>Kitaptan ve OGM Materyal'den alınan metin, soru ve görsellerin hakları MEB'e aittir (5846 sayılı Kanun md. 34 kapsamında kaynak gösterilerek alıntı). Özgün katkılar CC BY 4.0 — okulapp.org</dc:description>
  <cp:lastModifiedBy>okulapp.org</cp:lastModifiedBy>
  <cp:revision>1</cp:revision>
  <dcterms:created xsi:type="dcterms:W3CDTF">2013-01-27T09:14:16Z</dcterms:created>
  <dcterms:modified xsi:type="dcterms:W3CDTF">2013-01-27T09:15:58Z</dcterms:modified>
  <cp:category>Ders materyali</cp:category>
  <dc:language>tr-TR</dc:language>
</cp:coreProperties>
</file>