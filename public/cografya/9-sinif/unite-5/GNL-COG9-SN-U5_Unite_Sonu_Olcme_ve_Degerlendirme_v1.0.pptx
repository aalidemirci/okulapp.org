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4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51"/>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51" Type="http://schemas.openxmlformats.org/officeDocument/2006/relationships/slide" Target="slides/slide44.xml"/><Relationship Id="rId131" Type="http://schemas.openxmlformats.org/officeDocument/2006/relationships/slide" Target="slides/slide1.xml"/><Relationship Id="rId132" Type="http://schemas.openxmlformats.org/officeDocument/2006/relationships/slide" Target="slides/slide2.xml"/><Relationship Id="rId133" Type="http://schemas.openxmlformats.org/officeDocument/2006/relationships/slide" Target="slides/slide3.xml"/><Relationship Id="rId134" Type="http://schemas.openxmlformats.org/officeDocument/2006/relationships/slide" Target="slides/slide4.xml"/><Relationship Id="rId135" Type="http://schemas.openxmlformats.org/officeDocument/2006/relationships/slide" Target="slides/slide5.xml"/><Relationship Id="rId136" Type="http://schemas.openxmlformats.org/officeDocument/2006/relationships/slide" Target="slides/slide6.xml"/><Relationship Id="rId137" Type="http://schemas.openxmlformats.org/officeDocument/2006/relationships/slide" Target="slides/slide7.xml"/><Relationship Id="rId138" Type="http://schemas.openxmlformats.org/officeDocument/2006/relationships/slide" Target="slides/slide8.xml"/><Relationship Id="rId139" Type="http://schemas.openxmlformats.org/officeDocument/2006/relationships/slide" Target="slides/slide9.xml"/><Relationship Id="rId140" Type="http://schemas.openxmlformats.org/officeDocument/2006/relationships/slide" Target="slides/slide10.xml"/><Relationship Id="rId141" Type="http://schemas.openxmlformats.org/officeDocument/2006/relationships/slide" Target="slides/slide11.xml"/><Relationship Id="rId142" Type="http://schemas.openxmlformats.org/officeDocument/2006/relationships/slide" Target="slides/slide12.xml"/><Relationship Id="rId143" Type="http://schemas.openxmlformats.org/officeDocument/2006/relationships/slide" Target="slides/slide13.xml"/><Relationship Id="rId144" Type="http://schemas.openxmlformats.org/officeDocument/2006/relationships/slide" Target="slides/slide14.xml"/><Relationship Id="rId145" Type="http://schemas.openxmlformats.org/officeDocument/2006/relationships/slide" Target="slides/slide15.xml"/><Relationship Id="rId146" Type="http://schemas.openxmlformats.org/officeDocument/2006/relationships/slide" Target="slides/slide16.xml"/><Relationship Id="rId147" Type="http://schemas.openxmlformats.org/officeDocument/2006/relationships/slide" Target="slides/slide17.xml"/><Relationship Id="rId148" Type="http://schemas.openxmlformats.org/officeDocument/2006/relationships/slide" Target="slides/slide18.xml"/><Relationship Id="rId149" Type="http://schemas.openxmlformats.org/officeDocument/2006/relationships/slide" Target="slides/slide19.xml"/><Relationship Id="rId150" Type="http://schemas.openxmlformats.org/officeDocument/2006/relationships/slide" Target="slides/slide20.xml"/><Relationship Id="rId151" Type="http://schemas.openxmlformats.org/officeDocument/2006/relationships/slide" Target="slides/slide21.xml"/><Relationship Id="rId152" Type="http://schemas.openxmlformats.org/officeDocument/2006/relationships/slide" Target="slides/slide22.xml"/><Relationship Id="rId153" Type="http://schemas.openxmlformats.org/officeDocument/2006/relationships/slide" Target="slides/slide23.xml"/><Relationship Id="rId154" Type="http://schemas.openxmlformats.org/officeDocument/2006/relationships/slide" Target="slides/slide24.xml"/><Relationship Id="rId155" Type="http://schemas.openxmlformats.org/officeDocument/2006/relationships/slide" Target="slides/slide25.xml"/><Relationship Id="rId156" Type="http://schemas.openxmlformats.org/officeDocument/2006/relationships/slide" Target="slides/slide26.xml"/><Relationship Id="rId157" Type="http://schemas.openxmlformats.org/officeDocument/2006/relationships/slide" Target="slides/slide27.xml"/><Relationship Id="rId158" Type="http://schemas.openxmlformats.org/officeDocument/2006/relationships/slide" Target="slides/slide28.xml"/><Relationship Id="rId159" Type="http://schemas.openxmlformats.org/officeDocument/2006/relationships/slide" Target="slides/slide29.xml"/><Relationship Id="rId160" Type="http://schemas.openxmlformats.org/officeDocument/2006/relationships/slide" Target="slides/slide30.xml"/><Relationship Id="rId161" Type="http://schemas.openxmlformats.org/officeDocument/2006/relationships/slide" Target="slides/slide31.xml"/><Relationship Id="rId162" Type="http://schemas.openxmlformats.org/officeDocument/2006/relationships/slide" Target="slides/slide32.xml"/><Relationship Id="rId163" Type="http://schemas.openxmlformats.org/officeDocument/2006/relationships/slide" Target="slides/slide33.xml"/><Relationship Id="rId164" Type="http://schemas.openxmlformats.org/officeDocument/2006/relationships/slide" Target="slides/slide34.xml"/><Relationship Id="rId165" Type="http://schemas.openxmlformats.org/officeDocument/2006/relationships/slide" Target="slides/slide35.xml"/><Relationship Id="rId166" Type="http://schemas.openxmlformats.org/officeDocument/2006/relationships/slide" Target="slides/slide36.xml"/><Relationship Id="rId167" Type="http://schemas.openxmlformats.org/officeDocument/2006/relationships/slide" Target="slides/slide37.xml"/><Relationship Id="rId168" Type="http://schemas.openxmlformats.org/officeDocument/2006/relationships/slide" Target="slides/slide38.xml"/><Relationship Id="rId169" Type="http://schemas.openxmlformats.org/officeDocument/2006/relationships/slide" Target="slides/slide39.xml"/><Relationship Id="rId170" Type="http://schemas.openxmlformats.org/officeDocument/2006/relationships/slide" Target="slides/slide40.xml"/><Relationship Id="rId171" Type="http://schemas.openxmlformats.org/officeDocument/2006/relationships/slide" Target="slides/slide41.xml"/><Relationship Id="rId172" Type="http://schemas.openxmlformats.org/officeDocument/2006/relationships/slide" Target="slides/slide42.xml"/><Relationship Id="rId173"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 sonu ölçme sorularının yapısını göstermek; hangi soruların deftere yazılacağını, hangilerinin isteğe bağlı olduğunu ve karekoddaki ek soruların nasıl kullanılacağını söylemek.</a:t>
            </a:r>
          </a:p>
          <a:p/>
          <a:p>
            <a:r>
              <a:t>SÜRE: Ders planında bu bölüm için ayrı aşama yoktur: kitabın altı sorusu 29. haftanın ev çalışmasıdır (ders planı, 29. hafta 'ev'). Kontrol zamanını öğretmen belirler.</a:t>
            </a:r>
          </a:p>
          <a:p/>
          <a:p>
            <a:r>
              <a:t>NASIL: Altı soru aynı metne ve iki haritaya dayanır (çay tarımı): önce metin ve haritalar okunur (sonraki dört slayt). 29. hafta ev çalışması: 1, 3 ve 5 deftere yazılır; 2, 4 ve 6 isteğe bağlıdır. Her sorunun cevabı ya da örnek cevabı sorunun hemen ardındaki slayttadır: kontrol ederken önce öğrencinin kendi cevabını söylemesini bekleyin. Kitaptaki 'daha fazla soru' karekodu EBA'da 8 ek soru açar; bu bölümün sonunda tahtada birlikte çözülür (öğrenci telefonu kullanılmaz — karekodu öğretmen açar ya da bu slaytlar kullanılır).</a:t>
            </a:r>
          </a:p>
          <a:p/>
          <a:p>
            <a:r>
              <a:t>KAYNAK: Kitap s. 184 (başlık ve giriş cümleleri birebir), s. 185 (6 soru). Ders planı 29. hafta ev çalışması: 's. 184-185 ünite ölçme sorularından 1, 3 ve 5 (çay metni ve haritaları) deftere; 2, 4 ve 6 isteğe bağlı'. OGM Materyal: 2. soru = 163, 3. soru = 164.</a:t>
            </a:r>
          </a:p>
          <a:p/>
          <a:p>
            <a:r>
              <a:t>NOT: Kartların rengi: yeşil doğal faktörler (1, 3), mavi beşerî faktörler (4, 6), turuncu ikisi birlikte ya da metin okuma (2, 5). Kitabın bu altı sorusunun cevap anahtarı elimizde değildir (kitabın içindekiler listesine göre cevap anahtarları s. 233'teki karekoddadır); sunumdaki cevaplar metin ve haritalardan gerekçelendirilmiştir.</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Altı sorunun dayandığı metnin ilk bölümünü okumak: çayın yetişme koşulları.</a:t>
            </a:r>
          </a:p>
          <a:p/>
          <a:p>
            <a:r>
              <a:t>NASIL: Metni bir öğrenciye okutun. Okuduktan sonra iki sözlü soru: 'Çay en iyi hangi yükseltilere kadar yetişir? Hangi enlemler arasında yetişebilir?' Koşulları tahtaya maddeleyin (bu liste 3 ve 5. sorularda kullanılacak).</a:t>
            </a:r>
          </a:p>
          <a:p/>
          <a:p>
            <a:r>
              <a:t>BEKLENEN CEVAP: Deniz seviyesinden 2200 metre yüksekliğe kadar; 42° kuzey ile 30° güney enlemleri arası. Koşullar: nemli ve bol yağışlı alan, kireçsiz toprak, yıllık sıcaklık ortalaması 14 °C'tan düşük olmayan yer.</a:t>
            </a:r>
          </a:p>
          <a:p/>
          <a:p>
            <a:r>
              <a:t>KAYNAK: Kitap s. 184 (yönerge ve metnin ilk dört cümlesi birebir).</a:t>
            </a:r>
          </a:p>
          <a:p/>
          <a:p>
            <a:r>
              <a:t>NOT: Metin kitapta tek paragraftır; okunabilirlik için iki slayta bölündü (cümleler değişmedi).</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Metnin ikinci bölümünü okumak: çay üreten ülkeler, Türkiye'de çay üreten iller, iş gücü ve fabrikalar.</a:t>
            </a:r>
          </a:p>
          <a:p/>
          <a:p>
            <a:r>
              <a:t>NASIL: Metni okutun. Sözlü soru: 'Çay tarımında neden çok iş gücü gerekir? Fabrikalar neden çay bahçelerinin yakınında?'</a:t>
            </a:r>
          </a:p>
          <a:p/>
          <a:p>
            <a:r>
              <a:t>BEKLENEN CEVAP: Çay engebeli arazilerde yetiştirilir; toplanması, fabrikaya taşınması ve işlenmesinde insan emeği gerekir. Fabrikalar, çayın hasattan hemen sonra fabrikaya ulaştırılıp işlenmesi için üretim alanlarının yakınında kurulmuştur.</a:t>
            </a:r>
          </a:p>
          <a:p/>
          <a:p>
            <a:r>
              <a:t>KAYNAK: Kitap s. 184 (metnin son beş cümlesi birebir; kaynak gösterimi '(TÜİK, 2023)' kitaptaki gibidir).</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Dünya haritasında çay üretiminde ilk beş ülkeyi bulmak; Kenya ile Türkiye'nin konumunu karşılaştırmak (1. soruya hazırlık).</a:t>
            </a:r>
          </a:p>
          <a:p/>
          <a:p>
            <a:r>
              <a:t>NASIL: Sağdaki üç soruyu sözlü sorun. Haritada Kenya'nın ortasından geçen ince mavi yatay çizgi Ekvator'dur (kitap haritasında etiketsizdir; 1. sorunun gerekçe slaytında sunum etiketler).</a:t>
            </a:r>
          </a:p>
          <a:p/>
          <a:p>
            <a:r>
              <a:t>BEKLENEN CEVAP: 1) Çin, Hindistan, Kenya, Türkiye ve Sri Lanka (lejant: 'Dünya çay üretiminde ilk beş ülke'). 2) Kenya: Ekvator Kenya'dan geçer; Sri Lanka da Ekvator'a yakındır ama kuzeyinde kalır. 3) Kenya (Afrika); öbür dördü Asya'dadır (Türkiye'nin toprakları Asya ve Avrupa'da).</a:t>
            </a:r>
          </a:p>
          <a:p/>
          <a:p>
            <a:r>
              <a:t>KAYNAK: Kitap s. 184 haritası (kırpıldı; harita başlığı ve lejant kitaptaki gibi). Ekvator: haritadaki tek yatay çizgi (sayfanın vektör çiziminde y = 552,4 pt; Kenya'nın ortasından geçer).</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Türkiye haritasında çay üretilen illeri ve üretim aralıklarını lejantla okumak.</a:t>
            </a:r>
          </a:p>
          <a:p/>
          <a:p>
            <a:r>
              <a:t>NASIL: Önce lejantı okutun: renk koyulaştıkça üretim artar; birim bin tondur. 'En çok üreten il? Üretimi 30-40 bin ton olan il? Metindeki sıralama haritayla uyuşuyor mu?' Alttaki çipler haritadan okunan aralıklardır.</a:t>
            </a:r>
          </a:p>
          <a:p/>
          <a:p>
            <a:r>
              <a:t>BEKLENEN CEVAP: En çok Rize (950 bin tondan fazla), sonra Trabzon (300-350), Artvin (100-150), Giresun (30-40), Ordu (0-1 bin ton). Metindeki 'sırasıyla Rize, Trabzon, Artvin, Giresun ve Ordu' sıralamasıyla uyuşur. Çay illeri haritanın kenarındaki enlem değerlerine göre yaklaşık 41° kuzeydedir (çayın kuzey sınırı 42° K).</a:t>
            </a:r>
          </a:p>
          <a:p/>
          <a:p>
            <a:r>
              <a:t>KAYNAK: Kitap s. 184 haritası (kırpıldı). İllerin üretim aralığı sayfanın vektör çiziminden ölçülür (il dolgusu ↔ lejant rengi) ve sunum her üretildiğinde yeniden sınanır; değerler aralıktır, ilin tam üretimi kitapta yoktur.</a:t>
            </a:r>
          </a:p>
          <a:p/>
          <a:p>
            <a:r>
              <a:t>NOT: Haritada 'Ordu' ve 'Giresun' gibi il adları beyaz yazılıdır; yansıtırken okunmuyorsa alttaki çiplerden okutun.</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Kenya ile Türkiye'de çay tarımının ortak nedenlerini metin ve haritadan çıkarmak.</a:t>
            </a:r>
          </a:p>
          <a:p/>
          <a:p>
            <a:r>
              <a:t>NASIL: Öncülleri tek tek sorun: 'Bu konuda metinde ya da haritada ne var? Kenya'da ve Türkiye'de aynı mı?' Dünya haritasında Kenya'nın Ekvator'da, Türkiye'nin orta kuşakta olduğunu hatırlatın (önceki slaytlar). 1 dakika bireysel, sonra işaretle oylama.</a:t>
            </a:r>
          </a:p>
          <a:p/>
          <a:p>
            <a:r>
              <a:t>BEKLENEN CEVAP: C) I ve II.</a:t>
            </a:r>
          </a:p>
          <a:p/>
          <a:p>
            <a:r>
              <a:t>KAYNAK: Kitap s. 185 (soru, öncüller ve seçenekler birebir; seçeneklerde kitapta 'Yanlız' yazılıdır, sunumda 'Yalnız'). Metin ve haritalar s. 184.</a:t>
            </a:r>
          </a:p>
          <a:p/>
          <a:p>
            <a:r>
              <a:t>NOT: 29. hafta ev çalışmasında deftere yazılan sorulardandır.</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Her öncülü 'ortak mı, farklı mı?' diye tek tek tartışın; ayrıntılı gerekçe sonraki slaytta haritayla birliktedir. Öğrenci B (yalnız II) derse: Kenya'da da çayın yüksek ve engebeli alanlarda yetiştirildiğini hatırlatın. D (II ve III) derse: Kenya sıcak kuşakta, Türkiye orta kuşaktadır; yıllık sıcaklık ortalamaları aynı değildir.</a:t>
            </a:r>
          </a:p>
          <a:p/>
          <a:p>
            <a:r>
              <a:t>BEKLENEN CEVAP: C) I ve II. I: Türkiye'de çay 'engebeli arazilere sahip alanlarda' yapılır; Kenya'da da çay yüksek ve engebeli alanlarda yetiştirilir. II: çay 'nemli ve bol yağışlı alanlar'da yetişir; iki ülkenin çay alanları da nemli ve bol yağışlıdır. III ve IV: Kenya Ekvator üzerindedir (sıcak kuşak), Türkiye'nin çay illeri yaklaşık 41° K'dedir (orta kuşak); Ekvator'a uzaklık ve buna bağlı yıllık sıcaklık ortalamaları farklıdır.</a:t>
            </a:r>
          </a:p>
          <a:p/>
          <a:p>
            <a:r>
              <a:t>KAYNAK: Kitap s. 184 (metin ve iki harita), s. 185. Kenya'daki çay alanlarının yüksek ve engebeli olduğu bilgisi bilimseldir; kitapta yok. ⚠ Kitabın bu soruya ait cevap anahtarı elimizde değildir (kitabın içindekiler listesine göre cevap anahtarları s. 233'teki karekoddadır): cevabı kitabın karekodlu cevap anahtarıyla karşılaştırın.</a:t>
            </a:r>
          </a:p>
          <a:p/>
          <a:p>
            <a:r>
              <a:t>NOT: Kitap düzeltmesi: seçeneklerde 'Yanlız I', 'Yanlız II' yazılıdır; doğrusu 'Yalnız' (TDK). 'Yağış rejimi' terim olarak yağışın yıl içindeki dağılışıdır; soruda çayın istediği bol ve düzenli yağış koşulu kastedilmektedir — iki ülkenin yağış rejimleri ayrıntıda birebir aynı değildir, bu incelik 9. sınıf düzeyinde tartıştırılmaz.</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sorunun gerekçesini harita üzerinde göstermek: ortak olan iki neden, farklı olan iki neden.</a:t>
            </a:r>
          </a:p>
          <a:p/>
          <a:p>
            <a:r>
              <a:t>NASIL: Haritada kırmızı kesikli çizgi Ekvator'dur (çizgi kitap haritasındadır; kırmızı vurgu ve etiket sunuma aittir). Sağdaki dört satırı sırayla okutun; 'ortak' ile 'farklı'yı öğrenci söylesin.</a:t>
            </a:r>
          </a:p>
          <a:p/>
          <a:p>
            <a:r>
              <a:t>BEKLENEN CEVAP: I ortak (engebeli, eğimli araziler) · II ortak (nemli ve bol yağışlı alanlar) · III farklı (Kenya sıcak kuşakta, Türkiye orta kuşakta) · IV farklı (Kenya Ekvator üzerinde, Türkiye'nin çay illeri ≈ 41° K) → C.</a:t>
            </a:r>
          </a:p>
          <a:p/>
          <a:p>
            <a:r>
              <a:t>KAYNAK: Kitap s. 184: metin ('engebeli arazilere sahip alanlarda', 'nemli ve bol yağışlı alanlar'), dünya haritası (Ekvator çizgisi) ve Türkiye haritasının enlem değerleri (41-42). Kenya'nın yer şekli bilgisi bilimseldir; kitapta yok.</a:t>
            </a:r>
          </a:p>
          <a:p/>
          <a:p>
            <a:r>
              <a:t>NOT: III: iki ülkenin çay alanları da '14 °C'tan düşük olmama' koşulunu sağlar; ancak ortalamalar ve onları belirleyen etken farklıdır (Kenya'da Ekvator'a yakınlık ve yükselti, Türkiye'de orta kuşakta yer alma), bu yüzden 'ortak neden' sayılmaz.</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Metin ve haritaların hangi sorulara cevap verdiğini ayırt etmek (kaynağın sınırını görmek; OGM Materyal 163 ile aynı soru).</a:t>
            </a:r>
          </a:p>
          <a:p/>
          <a:p>
            <a:r>
              <a:t>NASIL: Her soru için 'Metinde ya da haritada bunun cevabı var mı? Hangi cümlede?' diye sorun. 2 dakika bireysel işaretleme, sonra ikili karşılaştırma. Metin ve haritalar önceki slaytlardadır (kitap s. 184).</a:t>
            </a:r>
          </a:p>
          <a:p/>
          <a:p>
            <a:r>
              <a:t>BEKLENEN CEVAP: Cevaplanabilir: 1, 2, 4, 6, 8. Cevaplanamaz: 3 (ithalat), 5 (tüketim), 7 (başka sanayi sektörleri). Dayanaklar sonraki slaytta.</a:t>
            </a:r>
          </a:p>
          <a:p/>
          <a:p>
            <a:r>
              <a:t>KAYNAK: Kitap s. 185 (soru ve sekiz seçenek birebir, kitaptaki sırayla; numaralar sunuma aittir). OGM Materyal 163 (Id 61129).</a:t>
            </a:r>
          </a:p>
          <a:p/>
          <a:p>
            <a:r>
              <a:t>NOT: 29. hafta ev çalışmasında isteğe bağlıdır.</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sorunun cevabı: metin ve haritaların cevap verdiği ve vermediği sorular.</a:t>
            </a:r>
          </a:p>
          <a:p/>
          <a:p>
            <a:r>
              <a:t>NASIL: Her satırda dayanağı öğrenciye söyletin. 5. satırda üretim ile tüketimin farklı şeyler olduğunu vurgulayın (kitap s. 174 tanımları). 7. satırda 'çay işleme fabrikası' geçtiği için tartışma çıkabilir: soru 'başka hangi sanayi sektörleri' der; metin yalnız çayın işlendiği fabrikadan söz eder.</a:t>
            </a:r>
          </a:p>
          <a:p/>
          <a:p>
            <a:r>
              <a:t>BEKLENEN CEVAP: 1 ✓ metin ve dünya haritası · 2 ✓ metin ('sırasıyla Rize, Trabzon …') ve Türkiye haritası · 3 ✗ ithalat bilgisi yok · 4 ✓ metin (yükselti, nem, yağış, toprak, sıcaklık, enlem) · 5 ✗ tüketim bilgisi yok · 6 ✓ metin (engebeli arazi, insan emeği) · 7 ✗ başka sanayi sektörü yok · 8 ✓ metin ('ihtiyaç duyduğu koşullar nedeniyle her yerde yetiştirilemez').</a:t>
            </a:r>
          </a:p>
          <a:p/>
          <a:p>
            <a:r>
              <a:t>KAYNAK: Kitap s. 184-185. Tanımlar s. 174: 'Üretilen mal ve hizmetlerin bir yerden başka bir yere aktarılması dağıtım, tüketiciler tarafından kullanılması da tüketim olarak adlandırılır.' OGM Materyal 163: cevaplar aynıdır (cevaplanabilir beş soru, cevaplanamaz üç soru).</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Çay üretiminde ilk beş ülkedeki benzer doğal faktörleri metinden çıkarmak (OGM Materyal 164 ile paralel).</a:t>
            </a:r>
          </a:p>
          <a:p/>
          <a:p>
            <a:r>
              <a:t>NASIL: Kitapta açık uçludur: öğrenciler deftere yazar. Sınıfta OGM uygulamasının yedi seçeneğiyle hızlı bir işaretleme yapılabilir: her seçenek için 'Metinde dayanağı var mı?' Cevaplar sonraki slaytta, yazılı örnek cevap ondan sonraki slaytta.</a:t>
            </a:r>
          </a:p>
          <a:p/>
          <a:p>
            <a:r>
              <a:t>BEKLENEN CEVAP: Benzer doğal faktörler: nemli ve bol (yeterli, düzenli) yağış, yüksek nem, kireçsiz toprak, yıllık sıcaklık ortalamasının 14 °C'tan düşük olmaması (ılıman iklim), 42° K - 30° G enlemleri arasında yer alma; yükselti 2200 metreye kadar.</a:t>
            </a:r>
          </a:p>
          <a:p/>
          <a:p>
            <a:r>
              <a:t>KAYNAK: Kitap s. 185 (soru birebir), s. 184 (metin). OGM Materyal 164 (Id 61206): seçeneklerin adları OGM'den, sıraları sunuma aittir.</a:t>
            </a:r>
          </a:p>
          <a:p/>
          <a:p>
            <a:r>
              <a:t>NOT: 29. hafta ev çalışmasında deftere yazılan sorulardandır.</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Seçeneklerin metne göre değerlendirmesi.</a:t>
            </a:r>
          </a:p>
          <a:p/>
          <a:p>
            <a:r>
              <a:t>NASIL: Her satırda dayanağı söyletin. 'Yüksek rakım'da durun: metin çayın deniz seviyesinden 2200 metreye KADAR olan alanlarda yetiştiğini söyler; bu bir üst sınırdır. Türkiye'nin çay illeri kıyıdadır (Türkiye haritası).</a:t>
            </a:r>
          </a:p>
          <a:p/>
          <a:p>
            <a:r>
              <a:t>BEKLENEN CEVAP: Benzer doğal faktör: yeterli ve düzenli yağış, yüksek nem, ılıman iklim. Değil: bozkır toprakları, yazları sıcak ve kurak iklim, seyrek bitki örtüsü, yüksek rakım.</a:t>
            </a:r>
          </a:p>
          <a:p/>
          <a:p>
            <a:r>
              <a:t>KAYNAK: Kitap s. 184: 'Çay, en iyi şekilde deniz seviyesinden 2200 metre yüksekliğe kadar olan nemli ve bol yağışlı alanlar ile kireçsiz topraklarda yetişmektedir.' 'Çayın yetişme alanlarının yıllık sıcaklık ortalaması, 14 °C’tan düşük olmamalıdır.' Bozkır, seyrek bitki örtüsü ve kurak iklimle ilgili açıklamalar bilimseldir; kitapta yok.</a:t>
            </a:r>
          </a:p>
          <a:p/>
          <a:p>
            <a:r>
              <a:t>NOT: OGM: OGM 164 'Yüksek rakım'ı doğru sayar; kitapla desteklenmez (2200 m bir üst sınırdır, Türkiye'de çay kıyıya yakın alanlarda yetişir) — sunumda işaretlenmedi. 'Ilıman iklim' kitapta bu kelimeyle geçmez; çayın istediği 'yıllık sıcaklık ortalaması 14 °C'tan düşük olmayan' ve nemli koşulun öğrenci dilindeki karşılığı olarak OGM ile aynı işaretlendi.</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Kitaptaki açık uçlu sorunun yazılı örnek cevabı.</a:t>
            </a:r>
          </a:p>
          <a:p/>
          <a:p>
            <a:r>
              <a:t>NASIL: Öğrencilerin deftere yazdığı cevaplardan iki tanesini okutun; aşağıdaki beş faktörden kaçını içerdiğine bakın. En az dört faktör ve metinden dayanak beklenir.</a:t>
            </a:r>
          </a:p>
          <a:p/>
          <a:p>
            <a:r>
              <a:t>BEKLENEN CEVAP: Bu ülkelerin çay alanları nemli ve bol yağışlıdır, toprakları kireçsizdir; yıllık sıcaklık ortalaması 14 °C'tan düşük değildir; hepsi 42° kuzey ile 30° güney enlemleri arasındadır; çay buralarda deniz seviyesinden 2200 metre yüksekliğe kadar olan alanlarda yetiştirilir.</a:t>
            </a:r>
          </a:p>
          <a:p/>
          <a:p>
            <a:r>
              <a:t>KAYNAK: Kitap s. 184 (beş faktörün dayanağı birebir). 'Hepsi 42° K - 30° G arasındadır' çıkarımı metinden ve haritadan yapılır: ilk beş ülke çay üretir, bu enlemler çayın son yetişme sınırlarıdır.</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İş gücü ihtiyacı (beşerî faktör) ile nüfus arasında ilişki kurmak.</a:t>
            </a:r>
          </a:p>
          <a:p/>
          <a:p>
            <a:r>
              <a:t>NASIL: Soldaki üç cümleyi okutun. İpucu soruları: 'Bir yerde iş imkânı varsa insanlar oradan gider mi, kalır mı? Hasat döneminde iş gücü yetmezse ne olur? Fabrikalar çevresinde neler oluşur?' 4. ünitede (nüfusun dağılışı ve göç) öğrenilenleri hatırlatın.</a:t>
            </a:r>
          </a:p>
          <a:p/>
          <a:p>
            <a:r>
              <a:t>BEKLENEN CEVAP: Örnek cevap sonraki slaytta: nüfus bölgede kalır ve yoğun olur; hasatta çevreden işçi gelebilir; yerleşmeler büyür.</a:t>
            </a:r>
          </a:p>
          <a:p/>
          <a:p>
            <a:r>
              <a:t>KAYNAK: Kitap s. 185 (soru birebir), s. 184 (metin).</a:t>
            </a:r>
          </a:p>
          <a:p/>
          <a:p>
            <a:r>
              <a:t>NOT: 29. hafta ev çalışmasında isteğe bağlıdır.</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4. sorunun örnek cevabı (ölçütlü: iş gücü ihtiyacını nüfusla gerekçeli ilişkilendirmek).</a:t>
            </a:r>
          </a:p>
          <a:p/>
          <a:p>
            <a:r>
              <a:t>NASIL: Öğrencinin gerekçeli her maddesini kabul edin; soru 'olabilir' diye sorduğu için cevaplar da olasılık diliyle yazılır. Mevsimlik işçilerden söz ederken insan onuruna saygılı, genelleme yapmayan bir dil kullanın.</a:t>
            </a:r>
          </a:p>
          <a:p/>
          <a:p>
            <a:r>
              <a:t>BEKLENEN CEVAP: İş gücü ihtiyacı iş imkânı demektir: nüfus bölgede kalır, dışarıya göç azalmış olabilir; kırsal nüfus yoğun kalır ve çay bahçelerinin çevresine yayılır. Hasat dönemlerinde iş gücü yetmezse çevreden mevsimlik işçi gelebilir, nüfus geçici olarak artar. Çay işleme fabrikaları üretim alanlarının yakınında olduğundan fabrikalar da iş imkânı yaratır; kasaba ve kentler büyür.</a:t>
            </a:r>
          </a:p>
          <a:p/>
          <a:p>
            <a:r>
              <a:t>KAYNAK: Kitap s. 184 (iş gücü ihtiyacı, insan emeği, fabrikaların yeri), s. 177 (beşerî faktörler: nüfus, iş gücü). 4. ünite: nüfusun dağılışını etkileyen beşerî ve ekonomik faktörler arasında tarım, sanayi ve göçler sayılır (s. 146, Şema 4.1); göçün çekici faktörleri s. 150. Göç ve mevsimlik işçilikle ilgili maddeler bilimseldir; kitapta çay için yazılmaz.</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Metin ve haritalardan çay üretiminin neden sınırlı alanlarda yapıldığına dair sonuçlar çıkarmak (doğal ve beşerî koşulları birlikte değerlendirmek).</a:t>
            </a:r>
          </a:p>
          <a:p/>
          <a:p>
            <a:r>
              <a:t>NASIL: Aşağıdaki iki kutuyu tahtada açın: önce doğal koşullar, sonra beşerî koşullar. 'Bu koşulların hepsi aynı yerde bulunur mu?' sorusuyla sonuca bağlayın.</a:t>
            </a:r>
          </a:p>
          <a:p/>
          <a:p>
            <a:r>
              <a:t>BEKLENEN CEVAP: Örnek cevap sonraki slaytta.</a:t>
            </a:r>
          </a:p>
          <a:p/>
          <a:p>
            <a:r>
              <a:t>KAYNAK: Kitap s. 185 (soru birebir), s. 184.</a:t>
            </a:r>
          </a:p>
          <a:p/>
          <a:p>
            <a:r>
              <a:t>NOT: 29. hafta ev çalışmasında deftere yazılan sorulardandır.</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5. sorunun örnek cevabı (ölçütlü: doğal ve beşerî koşulları ayırıp sonuca bağlamak).</a:t>
            </a:r>
          </a:p>
          <a:p/>
          <a:p>
            <a:r>
              <a:t>NASIL: Öğrencinin sonuç cümlesini önemseyin: doğal koşullar çayın sınırını çizer, beşerî koşullar üretimin nerede ve ne kadar yapılacağını etkiler. Kitabın s. 174 cümlesiyle bağlayın (alt kutu).</a:t>
            </a:r>
          </a:p>
          <a:p/>
          <a:p>
            <a:r>
              <a:t>BEKLENEN CEVAP: Çay; nemli ve bol yağışlı, kireçsiz topraklı, yıllık sıcaklık ortalaması 14 °C'tan düşük olmayan, 42° K - 30° G enlemleri arasında ve deniz seviyesinden 2200 metreye kadar olan alanlarda yetişir. Bu koşulların bir arada bulunduğu yerler azdır. Ayrıca çay tarımı çok iş gücü ister ve çay hasattan hemen sonra işlenmelidir; bu yüzden üretim, iş gücünün bulunduğu ve fabrikaların yakında olduğu yerlerde yoğunlaşır. Sonuç: bir ürünün nerede üretileceğini doğal ve beşerî faktörler birlikte belirler.</a:t>
            </a:r>
          </a:p>
          <a:p/>
          <a:p>
            <a:r>
              <a:t>KAYNAK: Kitap s. 184 (koşullar, iş gücü, fabrikalar), s. 174 (doğal faktörlerin sınır belirleyici rolü).</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Haritadan dört ilin üretimini Rize ile karşılaştırmak ve üretimi artırmak için doğaya zarar vermeyen öneriler geliştirmek.</a:t>
            </a:r>
          </a:p>
          <a:p/>
          <a:p>
            <a:r>
              <a:t>NASIL: Haritada dört ili gösterin ve Rize ile karşılaştırın (Ordu 0-1, Giresun 30-40, Trabzon 300-350, Artvin 100-150 bin ton; Rize 950 binden fazla). İkili düşünme 2 dakika: 'Mevcut çay bahçelerinde verimi nasıl artırırız? İşleme, ulaşım, örgütlenme?' Önerinin doğaya zarar vermemesi gerektiğini baştan söyleyin.</a:t>
            </a:r>
          </a:p>
          <a:p/>
          <a:p>
            <a:r>
              <a:t>BEKLENEN CEVAP: Örnek cevap sonraki slaytta.</a:t>
            </a:r>
          </a:p>
          <a:p/>
          <a:p>
            <a:r>
              <a:t>KAYNAK: Kitap s. 185 (soru birebir), s. 184 (Türkiye haritası; aralıklar haritadan okunur).</a:t>
            </a:r>
          </a:p>
          <a:p/>
          <a:p>
            <a:r>
              <a:t>NOT: 29. hafta ev çalışmasında isteğe bağlıdır; ders planının zenginleştirme önerisinde bu soru üzerine gerekçeli kısa metin yazılır.</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6. sorunun örnek cevabı (ölçütlü: doğaya zarar vermeden verim, işleme, ulaşım ve örgütlenme önerileri).</a:t>
            </a:r>
          </a:p>
          <a:p/>
          <a:p>
            <a:r>
              <a:t>NASIL: Öğrencinin gerekçeli önerilerini kabul edin. Öğrenci 'yeni çay bahçesi için ormanı açmak' gibi bir öneri getirirse erozyon, heyelan ve doğanın korunması açısından tartıştırın; öneriler mevcut bahçelerin verimine ve kalitesine yönelmeli (kaynakları verimli kullanma, D17.3 tasarruf).</a:t>
            </a:r>
          </a:p>
          <a:p/>
          <a:p>
            <a:r>
              <a:t>BEKLENEN CEVAP: Verim: yaşlanmış çay bahçelerini budayarak gençleştirmek, toprak incelemesine göre doğru ve dengeli gübreleme, kaliteli fidan ve özenli bakım. Hasat ve işleme: filizleri zamanında ve özenle toplamak; yakındaki fabrikaların kapasitesini artırmak ve yenilemek (çay hasattan hemen sonra işlenmeli). Ulaşım: bahçeler ile fabrikalar arasındaki yolları iyileştirmek, yamaçlardan taşımayı kolaylaştırmak. Örgütlenme ve eğitim: üreticilerin kooperatif gibi birliklerle örgütlenmesi, üreticiye eğitim ve danışmanlık, destekler; markalaşma ve pazarlama.</a:t>
            </a:r>
          </a:p>
          <a:p/>
          <a:p>
            <a:r>
              <a:t>KAYNAK: Kitap s. 184 (insan emeği; fabrikaların üretim alanlarına yakınlığı; Türkiye haritası), s. 177 (sermaye), s. 178 (teknoloji, ulaşım: 'Ulaşımın mal ve hizmetlerin üretim, dağıtım ve tüketiminde doğrudan etkisi vardır.'). Önerilerin kendisi bilimseldir; kitapta yok.</a:t>
            </a:r>
          </a:p>
          <a:p/>
          <a:p>
            <a:r>
              <a:t>NOT: Ordu ve Giresun'da üretimin düşük olmasının nedenleri kitapta açıklanmaz; nedeni tartışılacaksa öğrencinin metindeki doğal koşullara dayanan gerekçesi aranır, il hakkında kitapta olmayan bilgi verilmez.</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s. 185 karekodundaki EBA içeriğini (8 ek soru) tanıtmak.</a:t>
            </a:r>
          </a:p>
          <a:p/>
          <a:p>
            <a:r>
              <a:t>NASIL: Karekodu öğretmen kendi cihazından ya da etkileşimli tahtadan açar; öğrenci telefonu kullanılmaz (Genelge bent 37). Bu bölüm EBA'daki soruların sunuma aktarılmış hâlidir: her sorunun cevabı hemen ardındadır. Ders planında ayrı aşaması yoktur; ünite tekrarında ya da 2. dönem 2. yazılı öncesinde tahtada birlikte çözülebilir.</a:t>
            </a:r>
          </a:p>
          <a:p/>
          <a:p>
            <a:r>
              <a:t>KAYNAK: Kitap s. 185 karekodu → EBA '9.5-Tema Sonu E-Ölçme ve Değerlendirme Soruları' (EBA 05_05, 4 sayfa; 4. sayfa cevap anahtarı: ağaç 3. çıkış · 2 E · 3 A · 4 D · 5 C · 6 iklim, toprak, topoğrafya, coğrafi konum). 7 ve 8. soruların anahtarı yoktur; sunumdaki örnek cevaplar EBA metninden ve haritasından çıkarılmıştır.</a:t>
            </a:r>
          </a:p>
          <a:p/>
          <a:p>
            <a:r>
              <a:t>NOT: EBA metinleri kitapta yoktur; sunumda birebir alınmış ve EBA PDF'ine karşı denetlenmiştir. Soru rozetleri 'EK SORU 1-8'dir (haftaların ara yoklama numaralarıyla karışmasın).</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temel kavramlarını doğru/yanlış önermelerle yoklamak; ulaşılan çıkıştan öğrencinin nerede yanıldığını görmek (tanılayıcı ağaç).</a:t>
            </a:r>
          </a:p>
          <a:p/>
          <a:p>
            <a:r>
              <a:t>NASIL: Yönergeyi okutun. Önermeler bir sonraki slaytta büyük yazıyla aynı düzende verilmiştir; öğrenciler defterine yalnız ulaştığı çıkışın numarasını ve seçimlerini (ör. 1 D, 2 …) yazar. 3 dakika bireysel çalışma.</a:t>
            </a:r>
          </a:p>
          <a:p/>
          <a:p>
            <a:r>
              <a:t>BEKLENEN CEVAP: Doğru sonuç 3. çıkıştır (cevap ve yol iki slayt sonra).</a:t>
            </a:r>
          </a:p>
          <a:p/>
          <a:p>
            <a:r>
              <a:t>KAYNAK: EBA 05_05, 1. sayfa (soru ve ağaç; görsel kırpıldı). Yönerge EBA'dan birebir.</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Ağacı sınıfta okunur boyda göstermek (önermeler ve dallar EBA'daki düzenle aynı).</a:t>
            </a:r>
          </a:p>
          <a:p/>
          <a:p>
            <a:r>
              <a:t>NASIL: 1'den başlatın; her önermede sınıfa 'D mi, Y mi?' diye sormayın — öğrenci kendi yolunu izlesin. Kutuların altındaki çipler son önermeden sonraki çıkışlardır (D → tek, Y → çift numaralı çıkış). Süre bitince ulaşılan çıkışları el kaldırarak sayın.</a:t>
            </a:r>
          </a:p>
          <a:p/>
          <a:p>
            <a:r>
              <a:t>BEKLENEN CEVAP: Doğru yol: 1 D → 2 D → 4 Y → 9 D → 3. çıkış.</a:t>
            </a:r>
          </a:p>
          <a:p/>
          <a:p>
            <a:r>
              <a:t>KAYNAK: EBA 05_05, 1. sayfa: önermeler birebir (13. önermede EBA'da cümle sonu noktası yoktur; 4. önermede EBA yazımı 'arttırır', TDK'ye göre 'artırır'). Dalların düzeni sunumda yeniden dizildi (önceki slayttaki EBA görseliyle aynı).</a:t>
            </a:r>
          </a:p>
          <a:p/>
          <a:p>
            <a:r>
              <a:t>NOT: Tanı için: öğrencinin ulaştığı çıkışa göre yanıldığı önermeler cevap slaytlarının notunda verilmiştir.</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yolu EBA'daki ağaç üzerinde göstermek.</a:t>
            </a:r>
          </a:p>
          <a:p/>
          <a:p>
            <a:r>
              <a:t>NASIL: Yeşil çerçeveler doğru yolu gösterir (işaretler sunuma aittir). Sağdaki dört adımı sırayla okutun; her önermenin neden doğru ya da yanlış olduğu sonraki slayttadır.</a:t>
            </a:r>
          </a:p>
          <a:p/>
          <a:p>
            <a:r>
              <a:t>BEKLENEN CEVAP: 1 D → 2 D → 4 Y → 9 D → 3. çıkış. Ulaşılan çıkışa göre yanılınan önermeler (sunumun değerlendirmesi): 1. çıkış: 4 · 2. çıkış: 4, 8 · 3. çıkış: hatasız · 4. çıkış: 9 · 5. çıkış: 2 · 6. çıkış: 2, 10 · 7. çıkış: 2, 5, 11 · 8. çıkış: 2, 5 · 9. çıkış: 1, 3, 12 · 10. çıkış: 1, 3 · 11. çıkış: 1, 3, 6, 13 · 12. çıkış: 1, 3, 6 · 13. çıkış: 1, 14 · 14. çıkış: 1 · 15. çıkış: 1, 7, 15 · 16. çıkış: 1, 7.</a:t>
            </a:r>
          </a:p>
          <a:p/>
          <a:p>
            <a:r>
              <a:t>KAYNAK: EBA 05_05, 4. sayfa (cevap anahtarı): 'Tanılayıcı Dallanmış Ağaçta Ulaşılması Gereken Doğru Sonuç: 3. Çıkış olacaktır.' Yol, önermelerin doğruluk değerlerinden hesaplanır ve sunum her üretildiğinde anahtarla sınanır.</a:t>
            </a:r>
          </a:p>
          <a:p/>
          <a:p>
            <a:r>
              <a:t>NOT: Anahtar yalnız doğru çıkışı verir; yanılınan önermeler listesi yol dışındaki önermelerin kitaba göre değerlendirilmesine dayanır (iki slayt sonra).</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yoldaki dört önermenin doğruluğunu kitaba dayandırmak.</a:t>
            </a:r>
          </a:p>
          <a:p/>
          <a:p>
            <a:r>
              <a:t>NASIL: Her satırda önce öğrenciye 'neden?' diye sorun, sonra kitap cümlesini okutun. 4. önermede 28. haftanın s. 176 uygulamasını hatırlatın: Amazon Havzası gibi aşırı yağışlı alanlarda tarım alanları sınırlıdır.</a:t>
            </a:r>
          </a:p>
          <a:p/>
          <a:p>
            <a:r>
              <a:t>BEKLENEN CEVAP: 1 D: ekonomik faaliyetler üretim, dağıtım ve tüketim süreçlerini kapsar. 2 D: iklim, kitapta ekonomik faaliyetleri etkileyen doğal faktörler arasında işlenir. 4 Y: aşırı yağış sel, taşkın ve toprak kaybıyla tarıma zarar verir; doğal faktörler faaliyetlerin sınırını da belirler. 9 D: su kaynakları tarım (sulama), balıkçılık, enerji ve sanayi üretimi için gereklidir.</a:t>
            </a:r>
          </a:p>
          <a:p/>
          <a:p>
            <a:r>
              <a:t>KAYNAK: Kitap s. 174 (tanımlar; iklim; doğal faktörlerin sınır belirleyici rolü), s. 175 (su kaynakları), s. 176 (Dünya Tarım Alanları Yoğunluk Haritası, c harfi Amazon Havzası). Aşırı yağışın tarıma zararı (sel, taşkın, toprağın yıkanması) bilimseldir.</a:t>
            </a:r>
          </a:p>
          <a:p/>
          <a:p>
            <a:r>
              <a:t>NOT: EBA yazımı 'arttırır' (4. önerme); TDK'ye göre 'artırır'. EBA içeriğidir, kitap değil.</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Yol dışındaki on bir önermenin doğruluğunu göstermek: başka bir çıkışa ulaşan öğrenci hangi önermede yanıldığını bulsun.</a:t>
            </a:r>
          </a:p>
          <a:p/>
          <a:p>
            <a:r>
              <a:t>NASIL: Öğrenciden kendi yolunu (ör. 1 Y → 3 …) bu tabloyla karşılaştırmasını isteyin. Ulaşılan çıkışa göre yanılınan önermeler: 1. çıkış: 4 · 2. çıkış: 4, 8 · 3. çıkış: hatasız · 4. çıkış: 9 · 5. çıkış: 2 · 6. çıkış: 2, 10 · 7. çıkış: 2, 5, 11 · 8. çıkış: 2, 5 · 9. çıkış: 1, 3, 12 · 10. çıkış: 1, 3 · 11. çıkış: 1, 3, 6, 13 · 12. çıkış: 1, 3, 6 · 13. çıkış: 1, 14 · 14. çıkış: 1 · 15. çıkış: 1, 7, 15 · 16. çıkış: 1, 7.</a:t>
            </a:r>
          </a:p>
          <a:p/>
          <a:p>
            <a:r>
              <a:t>BEKLENEN CEVAP: D (doğru): 5, 6, 7, 8, 10. Y (yanlış): 3, 11, 12, 13, 14, 15.</a:t>
            </a:r>
          </a:p>
          <a:p/>
          <a:p>
            <a:r>
              <a:t>KAYNAK: Kitap s. 174 (iklim; doğal faktörler; Görsel 5.1 'Sıcak ve yağışlı alanlarda ananas yetiştirilebilirken sıcaklığın düştüğü ve yağışın azaldığı yerlerde buğday tarımı yapılabilmektedir.'), s. 177 ('Ekonomik faaliyetlerde yoğun makineleşmeye rağmen iş gücünün varlığı ve maliyeti önemini korumaktadır.' · Görsel 5.6 'Teknolojinin yoğun olarak kullanıldığı ülkelerde vasıflı iş gücüne duyulan ihtiyaç artmaktadır.' · Görsel 5.7 'Bir sanayi tesisinin kuruluşu ve işletilmesi esnasında yüksek miktarda sermayeye ihtiyaç vardır.'), s. 178 ('Teknolojik gelişmeler, mal ve hizmet üretimi ile bunların dağıtım ve tüketiminin hızlı ve kolay bir şekilde gerçekleşmesini sağlamaktadır.' · 'Böylece sanayi faaliyetlerinde üretim maliyetleri düşerken hız ve kalite artmıştır.').</a:t>
            </a:r>
          </a:p>
          <a:p/>
          <a:p>
            <a:r>
              <a:t>NOT: ⚠ EBA'nın cevap anahtarı yalnız doğru çıkışı (3) verir; bu on bir önermenin doğruluk değeri sunumun kitaba göre değerlendirmesidir. 3. önermede incelik: kitap teknolojinin yoğun kullanıldığı ülkelerde VASIFLI iş gücüne ihtiyacın arttığını söyler (Görsel 5.6); önerme ise genel insan gücünden söz eder — makineleşme aynı üretim için gereken insan gücünü azaltır. Öğrenci Görsel 5.6'yı gerekçe gösterirse bu ayrımı tartıştırın.</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Bir sanayi tesisinin kuruluş yerini etkileyen doğal ve beşerî faktörleri metinden bulmak; olumsuz soru kökünü fark etmek.</a:t>
            </a:r>
          </a:p>
          <a:p/>
          <a:p>
            <a:r>
              <a:t>NASIL: Yönerge: '2-5. soruların doğru cevabını işaretleyiniz.' Soru kökündeki 'olmamıştır' kelimesine dikkat çekin (EBA'da altı çizilidir; sunumda kalın). Metinde her faktörün izini sürdürün: su, toprak, ulaşım, pazar.</a:t>
            </a:r>
          </a:p>
          <a:p/>
          <a:p>
            <a:r>
              <a:t>BEKLENEN CEVAP: E) Maden rezervlerinin fazla olması.</a:t>
            </a:r>
          </a:p>
          <a:p/>
          <a:p>
            <a:r>
              <a:t>KAYNAK: EBA 05_05, 2. sayfa, 2. soru (metin, kök ve seçenekler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seçenek ve her seçeneğin metindeki dayanağı.</a:t>
            </a:r>
          </a:p>
          <a:p/>
          <a:p>
            <a:r>
              <a:t>NASIL: Kalın yazılı ifadeler metindeki kanıtlardır. A seçeneğinde 'alüvyon' kelimesi metinde geçmez: akarsu kıyısındaki toprakların akarsuyun getirdiği alüvyonlardan oluştuğu ve verimli olduğu çıkarımı yapılır. Cevap slaytının solunda metnin yalnız kanıt cümleleri vardır ('…' atlanan yerlerdir); metnin tamamı soru slaytındadır.</a:t>
            </a:r>
          </a:p>
          <a:p/>
          <a:p>
            <a:r>
              <a:t>BEKLENEN CEVAP: E) Maden rezervlerinin fazla olması: metinde maden yoktur; şeker fabrikası ham maddesini tarımdan alır. Etkili olanlar: su kaynağı ve verimli toprak (Ergene Nehri kıyısı), ulaşım (Edirne-İstanbul tren yolu ve kara yolu), pazar (İstanbul'a yakınlık).</a:t>
            </a:r>
          </a:p>
          <a:p/>
          <a:p>
            <a:r>
              <a:t>KAYNAK: EBA 05_05, 4. sayfa cevap anahtarı: 2 → E. Kitap s. 175 (Bir yerdeki su kaynakları, balıkçılık faaliyetlerinin ve hidroelektrik enerji üretiminin olmazsa olmazıdır. Tarım faaliyetlerinin temelinde toprak vardır.), s. 178 (Sanayi faaliyetleri için gerekli ham maddenin fabrikalara ulaştırılması ile işlenmiş maddelerin pazarlara gönderilmesi, çeşitli ve gelişmiş ulaşım sistemleriyle sağlanabilir.). Şekerin şeker pancarından üretildiği ve akarsu kıyısında alüvyonlu toprak bulunduğu bilgisi bilimseldir; EBA metninde yazılmaz.</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Üretim ile ihracat sırası arasındaki farkı tüketimle açıklamak (üretim-dağıtım-tüketim).</a:t>
            </a:r>
          </a:p>
          <a:p/>
          <a:p>
            <a:r>
              <a:t>NASIL: Önce iki sırayı tahtaya yazdırın: üretimde Çin 3., ihracatta 5. 'Üretilen tavuk etinin çoğu nereye gidiyor?' Metinde tüketimle ilgili cümleyi buldurun.</a:t>
            </a:r>
          </a:p>
          <a:p/>
          <a:p>
            <a:r>
              <a:t>BEKLENEN CEVAP: A) Ülke içi tüketimin fazla olması.</a:t>
            </a:r>
          </a:p>
          <a:p/>
          <a:p>
            <a:r>
              <a:t>KAYNAK: EBA 05_05, 2. sayfa, 3. soru (metin, kök ve seçenekler birebir; metnin kaynağı EBA'da 'TEPGE 2023 raporuna göre yazılmıştır').</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seçenek ve her seçeneğin metindeki dayanağı.</a:t>
            </a:r>
          </a:p>
          <a:p/>
          <a:p>
            <a:r>
              <a:t>NASIL: Kalın ifadeler kanıtlardır. Tüketim tanımını hatırlatın (kitap s. 174). Cevap slaytının solunda metnin yalnız kanıt cümleleri vardır ('…' atlanan yerlerdir); metnin tamamı soru slaytındadır.</a:t>
            </a:r>
          </a:p>
          <a:p/>
          <a:p>
            <a:r>
              <a:t>BEKLENEN CEVAP: A) Ülke içi tüketimin fazla olması: metne göre tavuk eti üretimindeki artışın önemli nedeni Çin gibi ülkelerdeki tüketim artışıdır; Çin ürettiğinin büyük bölümünü kendi içinde tükettiği için üretimde 3., ihracatta 5. sıradadır. B metne terstir (ucuz), C-D-E metinde yoktur.</a:t>
            </a:r>
          </a:p>
          <a:p/>
          <a:p>
            <a:r>
              <a:t>KAYNAK: EBA 05_05, 4. sayfa cevap anahtarı: 3 → A. Kitap s. 174: 'Üretilen mal ve hizmetlerin bir yerden başka bir yere aktarılması dağıtım, tüketiciler tarafından kullanılması da tüketim olarak adlandırılır.' Kitap s. 177: nüfus (miktarı …) ekonomik faaliyetleri etkileyen beşerî faktördür. 'Çin'in kalabalık nüfusu' bilgisi bilimseldir; EBA metninde yazılmaz.</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4 ve 5. soruların metnini okumak: bir enerji santralinin kuruluş yeri ve çevresine etkisi.</a:t>
            </a:r>
          </a:p>
          <a:p/>
          <a:p>
            <a:r>
              <a:t>NASIL: Metni okutun. İki sözlü soru: 'Santralin soğutulması için neye ihtiyaç var, nereden sağlanıyor? Santralin çevresinde hangi altyapı gelişiyor?'</a:t>
            </a:r>
          </a:p>
          <a:p/>
          <a:p>
            <a:r>
              <a:t>BEKLENEN CEVAP: Bol miktarda suya; deniz suyundan. Ulaşım ve liman altyapısı (Mersin-Antalya kara yolunda köprü ve viyadük çalışmaları; ekipmanın bir kısmı deniz yoluyla taşınıyor).</a:t>
            </a:r>
          </a:p>
          <a:p/>
          <a:p>
            <a:r>
              <a:t>KAYNAK: EBA 05_05, 2. sayfa (yönerge ve metin birebir).</a:t>
            </a:r>
          </a:p>
          <a:p/>
          <a:p>
            <a:r>
              <a:t>NOT: Siyasi ya da enerji politikasına ilişkin tartışmaya girilmez; soru coğrafi faktörlerle sınırlıdır.</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Bir enerji santralinin kuruluş yerini etkileyen doğal faktörü (su kaynağı) metinden bulmak.</a:t>
            </a:r>
          </a:p>
          <a:p/>
          <a:p>
            <a:r>
              <a:t>NASIL: 'Santral neden deniz kıyısında?' sorusuyla başlayın. C seçeneğine dikkat: metin ulaşımın 'gelişmekte' olduğunu söyler (zaman kipi).</a:t>
            </a:r>
          </a:p>
          <a:p/>
          <a:p>
            <a:r>
              <a:t>BEKLENEN CEVAP: D) Deniz suyunun soğutma amaçlı kullanılacak olması.</a:t>
            </a:r>
          </a:p>
          <a:p/>
          <a:p>
            <a:r>
              <a:t>KAYNAK: EBA 05_05, 2. sayfa, 4. soru (kök ve seçenekler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seçenek ve gerekçeler.</a:t>
            </a:r>
          </a:p>
          <a:p/>
          <a:p>
            <a:r>
              <a:t>NASIL: Kalın cümleler kanıttır. Kitabın s. 175 cümlesini okutun: su kaynakları nükleer santrallerin kurulmasına zemin hazırlar. Cevap slaytının solunda metnin yalnız kanıt cümleleri vardır ('…' atlanan yerlerdir); metnin tamamı soru slaytındadır.</a:t>
            </a:r>
          </a:p>
          <a:p/>
          <a:p>
            <a:r>
              <a:t>BEKLENEN CEVAP: D) Reaktörlerin soğutulması için bol suya ihtiyaç vardır ve bu ihtiyaç deniz suyuyla karşılanacaktır: santralin deniz kıyısında kurulmasının nedeni budur. C yanlıştır: metne göre ulaşım ve liman altyapısı santral kurulurken geliştirilmektedir; yer seçildiğinde gelişmiş bir ulaşım ağı yoktu. A, B ve E metinde yer seçiminin nedeni olarak geçmez.</a:t>
            </a:r>
          </a:p>
          <a:p/>
          <a:p>
            <a:r>
              <a:t>KAYNAK: EBA 05_05, 4. sayfa cevap anahtarı: 4 → D. Kitap s. 175: 'Ayrıca söz konusu kaynaklar; tarımsal sulama, deniz ulaşımı ve turizminin yapılması ile nükleer santral ve demir-çelik fabrikaları gibi bazı sanayi tesislerinin kurulmasına da zemin teşkil etmektedir.'</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Bir ekonomik faaliyetin çevresindeki beşerî faktörleri (ulaşım) nasıl geliştirdiğini görmek.</a:t>
            </a:r>
          </a:p>
          <a:p/>
          <a:p>
            <a:r>
              <a:t>NASIL: Önce seçeneklerden beşerî faktör olmayanları eletin (bitki örtüsü doğal; tarımsal faaliyet bir ekonomik faaliyet). Kalanlardan metinde açıkça geçeni buldurun.</a:t>
            </a:r>
          </a:p>
          <a:p/>
          <a:p>
            <a:r>
              <a:t>BEKLENEN CEVAP: C) Ulaşımın gelişmesi.</a:t>
            </a:r>
          </a:p>
          <a:p/>
          <a:p>
            <a:r>
              <a:t>KAYNAK: EBA 05_05, 2. sayfa, 5. soru (kök ve seçenekler birebir).</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seçenek ve gerekçeler.</a:t>
            </a:r>
          </a:p>
          <a:p/>
          <a:p>
            <a:r>
              <a:t>NASIL: Kalın cümleler kanıttır: ulaşım ve liman altyapısı gelişiyor, kara yolunda köprü ve viyadük çalışmaları sürüyor, ekipman deniz yoluyla taşınıyor. Cevap slaytının solunda metnin yalnız kanıt cümleleri vardır ('…' atlanan yerlerdir); metnin tamamı soru slaytındadır.</a:t>
            </a:r>
          </a:p>
          <a:p/>
          <a:p>
            <a:r>
              <a:t>BEKLENEN CEVAP: C) Metne göre santralin çevresinde (Silifke ve Gülnar) ulaşım ve liman altyapısı gelişmektedir; Mersin-Antalya kara yolunda köprü ve viyadük çalışmaları sürmektedir. A ve E beşerî faktördür ama metin bunları santralin geliştirdiği şeyler olarak anlatmaz; B doğal faktördür, D bir ekonomik faaliyettir.</a:t>
            </a:r>
          </a:p>
          <a:p/>
          <a:p>
            <a:r>
              <a:t>KAYNAK: EBA 05_05, 4. sayfa cevap anahtarı: 5 → C. Kitap s. 178: 'Ekonomik faaliyetleri etkileyen faktörlerden bir diğeri ulaşımdır.' Kitap s. 175: bitki örtüsü doğal faktörler arasında işlenir.</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6-8. soruların metnini okumak: iklim değişikliğinin tarım ürünlerinin yetişme alanlarına etkisi (kahve örneği).</a:t>
            </a:r>
          </a:p>
          <a:p/>
          <a:p>
            <a:r>
              <a:t>NASIL: Metni iki öğrenciye okutun. Sözlü sorular: 'Kahveye uygun alanlar nerede azalacak, nerede artacak? Metin hangi nedenleri sayıyor?'</a:t>
            </a:r>
          </a:p>
          <a:p/>
          <a:p>
            <a:r>
              <a:t>BEKLENEN CEVAP: Azalma: tropikal bölgede (Brezilya, Vietnam, Kolombiya, Endonezya); artış: tropikal bölgenin dışındaki ülkelerde (ABD, Arjantin, Uruguay, Çin). Nedenler: artan sıcaklık ve yağışlar, toprağın pH değeri ve yapısındaki değişiklikler.</a:t>
            </a:r>
          </a:p>
          <a:p/>
          <a:p>
            <a:r>
              <a:t>KAYNAK: EBA 05_05, 3. sayfa (yönerge ve metin birebir).</a:t>
            </a:r>
          </a:p>
          <a:p/>
          <a:p>
            <a:r>
              <a:t>NOT: Metindeki öngörüler araştırmalara dayanır ('öngörüyor', 'bekleniyor'); kesin sonuç gibi anlatılmaz.</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Kahve haritasını okumak: en çok üreten ülkeler ve konumları.</a:t>
            </a:r>
          </a:p>
          <a:p/>
          <a:p>
            <a:r>
              <a:t>NASIL: 'En çok üreten ilk iki ülke? Bu ülkeler hangi kuşakta (Ekvator'a yakın mı)? Metinde üretimin artması beklenen ülkeler haritada var mı?' sorularını sorun.</a:t>
            </a:r>
          </a:p>
          <a:p/>
          <a:p>
            <a:r>
              <a:t>BEKLENEN CEVAP: Brezilya (3.978.000 ton) ve Vietnam (1.650.000 ton); haritadaki ülkelerin hepsi Ekvator'a yakın, sıcak (tropikal) kuşaktadır. Artış beklenen ABD, Arjantin, Uruguay ve Çin bu haritada etiketli değildir.</a:t>
            </a:r>
          </a:p>
          <a:p/>
          <a:p>
            <a:r>
              <a:t>KAYNAK: EBA 05_05, 3. sayfa (harita ve alt yazı; görsel kırpıldı; ülke etiketleri ve değerler haritadaki gibi).</a:t>
            </a:r>
          </a:p>
          <a:p/>
          <a:p>
            <a:r>
              <a:t>NOT: Haritada Meksika 245.400 ton diye yazılıdır (öbür değerler binlik yuvarlak); EBA'daki gibi bırakıldı.</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Kahve üretiminin ekvatoral kuşakta toplanmasını açıklayan doğal faktörleri seçmek.</a:t>
            </a:r>
          </a:p>
          <a:p/>
          <a:p>
            <a:r>
              <a:t>NASIL: Her seçenek için iki soru: 'Doğal faktör mü? Kahvenin Ekvator çevresinde toplanmasını açıklıyor mu?' Kitabın doğal faktörler listesini hatırlatın (s. 174-175: coğrafi konum, iklim, topoğrafya, su kaynakları, toprak, bitki örtüsü, madenler ve enerji kaynakları).</a:t>
            </a:r>
          </a:p>
          <a:p/>
          <a:p>
            <a:r>
              <a:t>BEKLENEN CEVAP: İklim, toprak, topoğrafya, coğrafi konum.</a:t>
            </a:r>
          </a:p>
          <a:p/>
          <a:p>
            <a:r>
              <a:t>KAYNAK: EBA 05_05, 3. sayfa, 6. soru (kök ve dokuz seçenek birebir; ızgara düzeni EBA'daki gibi).</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6. sorunun cevabı ve gerekçeleri.</a:t>
            </a:r>
          </a:p>
          <a:p/>
          <a:p>
            <a:r>
              <a:t>NASIL: Yer altı kaynaklarında durun: doğal faktördür (madenler) ama kahvenin nerede yetiştiğini belirlemez. Gübreleme, iş gücü ve teknoloji insana bağlıdır (beşerî).</a:t>
            </a:r>
          </a:p>
          <a:p/>
          <a:p>
            <a:r>
              <a:t>BEKLENEN CEVAP: ✓ İklim (sıcak ve yağışlı ekvatoral kuşak), ✓ Toprak (metin: toprağın pH değeri ve yapısı), ✓ Topoğrafya (yükselti ve eğim sıcaklığı ve nemi değiştirir), ✓ Coğrafi konum (Ekvator'a yakınlık). ✗ Yer altı kaynakları, ham madde, gübreleme, iş gücü, teknoloji.</a:t>
            </a:r>
          </a:p>
          <a:p/>
          <a:p>
            <a:r>
              <a:t>KAYNAK: EBA 05_05, 4. sayfa cevap anahtarı (İklim, Toprak, Topoğrafya, Coğrafi konum). Kitap s. 174 ('Bir yerin coğrafi özelliklerinin ana kaynağı, o yerin sahip olduğu coğrafi konumdur.'), s. 175 ('Bir bölgenin topoğrafik özellikleri (yükselti, eğim, bakı vb.) o bölgenin ekonomik potansiyelinin belirlenmesinde etkin rol oynar.' · 'Toprağın özellikleri, tarımsal üretimi olumlu veya olumsuz etkileyebilmektedir.'). Topoğrafyanın kahve tarımına etkisi bilimseldir; EBA metninde yazılmaz.</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Kahve üretiminin azalacağı ve artacağı ülkeleri nedenleriyle açıklamak (metin ve haritayı birlikte kullanmak).</a:t>
            </a:r>
          </a:p>
          <a:p/>
          <a:p>
            <a:r>
              <a:t>NASIL: Tahtayı ikiye bölün: azalma · artış. Her sütuna ülkeleri ve metindeki nedeni yazdırın; haritada azalma beklenen ülkelerin üretim miktarlarını buldurun.</a:t>
            </a:r>
          </a:p>
          <a:p/>
          <a:p>
            <a:r>
              <a:t>BEKLENEN CEVAP: Örnek cevap sonraki slaytta.</a:t>
            </a:r>
          </a:p>
          <a:p/>
          <a:p>
            <a:r>
              <a:t>KAYNAK: EBA 05_05, 3. sayfa, 7. soru (birebir). EBA'da bu sorunun cevap anahtarı yoktur.</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7. sorunun örnek cevabı (ölçütlü: azalma ve artış beklenen ülkeler + metindeki nedenler + haritadan veri).</a:t>
            </a:r>
          </a:p>
          <a:p/>
          <a:p>
            <a:r>
              <a:t>NASIL: Haritada kırmızı çerçeveli etiketler azalma beklenen dört ülkedir (işaretler sunuma aittir). Öğrencinin metne dayanan her gerekçesini kabul edin.</a:t>
            </a:r>
          </a:p>
          <a:p/>
          <a:p>
            <a:r>
              <a:t>BEKLENEN CEVAP: Azalma: Brezilya (3.978.000 ton), Vietnam (1.650.000 ton), Kolombiya (690.000 ton), Endonezya (582.000 ton) — tropikal bölgededir, haritada en çok kahve üreten ülkeler arasındadır; küresel ısınmayla artan sıcaklık ve yağışlar, toprağın pH değeri ve yapısındaki değişiklikler kahve alanlarını küçültür. Artış: ABD, Arjantin, Uruguay, Çin — haritadaki büyük üreticilerin kuzeyinde ya da güneyinde, tropikal bölgenin dışındadır; artan sıcaklıklar tropikal ürünlerin daha kuzey ve güneydeki bölgelerde yetişmesine olanak sağlar (avokado-Sicilya örneği). Sonuç: kahve üretim alanları ekvatoral kuşaktan kuzeye ve güneye doğru genişleyebilir.</a:t>
            </a:r>
          </a:p>
          <a:p/>
          <a:p>
            <a:r>
              <a:t>KAYNAK: EBA 05_05, 3. sayfa (metin ve harita). EBA'da cevap anahtarı yoktur: örnek cevap EBA metninden çıkarımdır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Üretimdeki değişimi dağıtım ve tüketimle ilişkilendirmek (üretim-dağıtım-tüketim).</a:t>
            </a:r>
          </a:p>
          <a:p/>
          <a:p>
            <a:r>
              <a:t>NASIL: İpucu: 'Piyasada daha çok kahve olursa fiyatına ve kahveye ulaşmaya ne olur?' Tropikal bölgede beklenen azalmayı da hesaba katmalarını isteyin.</a:t>
            </a:r>
          </a:p>
          <a:p/>
          <a:p>
            <a:r>
              <a:t>BEKLENEN CEVAP: Örnek cevap sonraki slaytta.</a:t>
            </a:r>
          </a:p>
          <a:p/>
          <a:p>
            <a:r>
              <a:t>KAYNAK: EBA 05_05, 3. sayfa, 8. soru (birebir). EBA'da bu sorunun cevap anahtarı yoktur.</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8. sorunun örnek cevabı (ölçütlü: üretim artışını dağıtım ve tüketimle gerekçeli ilişkilendirmek).</a:t>
            </a:r>
          </a:p>
          <a:p/>
          <a:p>
            <a:r>
              <a:t>NASIL: Zincirdeki dört adımı okutun; 'ama' kutusundaki koşulu tartıştırın. Gerekçeli farklı cevapları kabul edin (ör. 'tüketim alışkanlıkları hemen değişmez').</a:t>
            </a:r>
          </a:p>
          <a:p/>
          <a:p>
            <a:r>
              <a:t>BEKLENEN CEVAP: Üretim artarsa piyasaya çıkan kahve miktarı artar; kahve daha kolay bulunur ve ucuzlayabilir; bu da dünya genelinde tüketimi artırabilir. Yeni üretim alanları tüketicilere daha yakınsa dağıtım (taşıma) kolaylaşır. Ancak tropikal bölgedeki büyük üreticilerde üretim azalırsa yeni alanlardaki artış bu azalmayı karşılamayabilir; o zaman kahve pahalanır, tüketim azalabilir.</a:t>
            </a:r>
          </a:p>
          <a:p/>
          <a:p>
            <a:r>
              <a:t>KAYNAK: EBA 05_05, 3. sayfa (metin). Kitap s. 174 ('Ekonomik faaliyetler; üretim, dağıtım ve tüketim süreçlerini kapsar.'), s. 178 ('Ulaşımın mal ve hizmetlerin üretim, dağıtım ve tüketiminde doğrudan etkisi vardır.'). Benzer ilişki EBA'nın 3. sorusunda: 'Diğer protein kaynaklarına göre ucuz ve ulaşılabilir olması, kanatlı hayvan etinin tercih sebebidir.' Fiyat-tüketim ilişkisi bilimseldir; EBA'da cevap anahtarı yoktur.</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özünü çay örneğiyle toparlamak; öğrencinin kendi öğrenmesini değerlendirmesine fırsat vermek.</a:t>
            </a:r>
          </a:p>
          <a:p/>
          <a:p>
            <a:r>
              <a:t>NASIL: Üstteki iki kartı okutun; 'Çay örneğinde hangi faktörler vardı?' sorusuyla alt satıra geçin. Öz değerlendirme sorularını öğrenciler deftere kısaca yanıtlar (not verilmez).</a:t>
            </a:r>
          </a:p>
          <a:p/>
          <a:p>
            <a:r>
              <a:t>BEKLENEN CEVAP: Çay örneği — doğal: nem ve yağış, toprak (kireçsiz), sıcaklık, enlem, yükselti · beşerî: iş gücü (insan emeği), işleme fabrikaları, ulaşım.</a:t>
            </a:r>
          </a:p>
          <a:p/>
          <a:p>
            <a:r>
              <a:t>KAYNAK: Program (2026): COĞ.9.5.1. Kitap s. 174-175 (doğal faktörler), s. 177-178 (beşerî faktörler), s. 184 (çay metni).</a:t>
            </a:r>
          </a:p>
          <a:p/>
          <a:p>
            <a:r>
              <a:t>NOT: Bu kısa öz değerlendirme ünite sonu soruları içindir; performans görevinin öz değerlendirme formu (EBA 05_03) ayrıdır ve 29. haftada doldurulur.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 Id="rId3" Type="http://schemas.openxmlformats.org/officeDocument/2006/relationships/image" Target="../media/image3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 Id="rId3" Type="http://schemas.openxmlformats.org/officeDocument/2006/relationships/image" Target="../media/image3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 Id="rId3" Type="http://schemas.openxmlformats.org/officeDocument/2006/relationships/image" Target="../media/image3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 Id="rId3" Type="http://schemas.openxmlformats.org/officeDocument/2006/relationships/image" Target="../media/image3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 Id="rId3" Type="http://schemas.openxmlformats.org/officeDocument/2006/relationships/image" Target="../media/image3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 Id="rId3" Type="http://schemas.openxmlformats.org/officeDocument/2006/relationships/image" Target="../media/image3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 Id="rId3" Type="http://schemas.openxmlformats.org/officeDocument/2006/relationships/image" Target="../media/image3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 Id="rId3" Type="http://schemas.openxmlformats.org/officeDocument/2006/relationships/image" Target="../media/image3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 Id="rId3" Type="http://schemas.openxmlformats.org/officeDocument/2006/relationships/image" Target="../media/image3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5. Ünite Ölçme Değerlendirme Soruları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ÜNİTE SONU</a:t>
            </a:r>
          </a:p>
        </p:txBody>
      </p:sp>
      <p:sp>
        <p:nvSpPr>
          <p:cNvPr id="6" name="TextBox 5"/>
          <p:cNvSpPr txBox="1"/>
          <p:nvPr/>
        </p:nvSpPr>
        <p:spPr>
          <a:xfrm>
            <a:off x="502920" y="1188720"/>
            <a:ext cx="11185855" cy="658368"/>
          </a:xfrm>
          <a:prstGeom prst="rect">
            <a:avLst/>
          </a:prstGeom>
          <a:noFill/>
        </p:spPr>
        <p:txBody>
          <a:bodyPr wrap="square" anchor="t" lIns="73152" rIns="73152" tIns="36576" bIns="36576">
            <a:noAutofit/>
          </a:bodyPr>
          <a:lstStyle/>
          <a:p>
            <a:pPr algn="ctr">
              <a:spcBef>
                <a:spcPts val="0"/>
              </a:spcBef>
              <a:spcAft>
                <a:spcPts val="200"/>
              </a:spcAft>
            </a:pPr>
            <a:r>
              <a:rPr lang="tr-TR" sz="1800" b="0" i="1">
                <a:solidFill>
                  <a:srgbClr val="767676"/>
                </a:solidFill>
                <a:latin typeface="Calibri"/>
              </a:rPr>
              <a:t>Bu testte cevaplamanız için farklı soru çeşitlerinden oluşan toplam 6 soru verilmiştir.</a:t>
            </a:r>
          </a:p>
          <a:p>
            <a:pPr algn="ctr">
              <a:spcBef>
                <a:spcPts val="0"/>
              </a:spcBef>
              <a:spcAft>
                <a:spcPts val="0"/>
              </a:spcAft>
            </a:pPr>
            <a:r>
              <a:rPr lang="tr-TR" sz="1800" b="0" i="1">
                <a:solidFill>
                  <a:srgbClr val="767676"/>
                </a:solidFill>
                <a:latin typeface="Calibri"/>
              </a:rPr>
              <a:t>Daha fazla soruya ulaşmak için testin sonunda yer alan karekodu okutunuz.</a:t>
            </a:r>
          </a:p>
        </p:txBody>
      </p:sp>
      <p:sp>
        <p:nvSpPr>
          <p:cNvPr id="7" name="Rounded Rectangle 6"/>
          <p:cNvSpPr/>
          <p:nvPr/>
        </p:nvSpPr>
        <p:spPr>
          <a:xfrm>
            <a:off x="502920" y="1947672"/>
            <a:ext cx="1742389" cy="3291840"/>
          </a:xfrm>
          <a:prstGeom prst="roundRect">
            <a:avLst>
              <a:gd name="adj" fmla="val 6000"/>
            </a:avLst>
          </a:prstGeom>
          <a:solidFill>
            <a:srgbClr val="F0F0F0"/>
          </a:solidFill>
          <a:ln>
            <a:noFill/>
          </a:ln>
          <a:effectLst/>
        </p:spPr>
        <p:txBody>
          <a:bodyPr rtlCol="0" anchor="ctr"/>
          <a:lstStyle/>
          <a:p/>
        </p:txBody>
      </p:sp>
      <p:sp>
        <p:nvSpPr>
          <p:cNvPr id="8" name="Rounded Rectangle 7"/>
          <p:cNvSpPr/>
          <p:nvPr/>
        </p:nvSpPr>
        <p:spPr>
          <a:xfrm>
            <a:off x="502920" y="1947672"/>
            <a:ext cx="1742389" cy="777240"/>
          </a:xfrm>
          <a:prstGeom prst="roundRect">
            <a:avLst>
              <a:gd name="adj" fmla="val 12000"/>
            </a:avLst>
          </a:prstGeom>
          <a:solidFill>
            <a:srgbClr val="3E8E41"/>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FFFFFF"/>
                </a:solidFill>
                <a:latin typeface="Calibri"/>
              </a:rPr>
              <a:t>1</a:t>
            </a:r>
          </a:p>
        </p:txBody>
      </p:sp>
      <p:sp>
        <p:nvSpPr>
          <p:cNvPr id="9" name="TextBox 8"/>
          <p:cNvSpPr txBox="1"/>
          <p:nvPr/>
        </p:nvSpPr>
        <p:spPr>
          <a:xfrm>
            <a:off x="594360" y="2816352"/>
            <a:ext cx="1559509" cy="1325880"/>
          </a:xfrm>
          <a:prstGeom prst="rect">
            <a:avLst/>
          </a:prstGeom>
          <a:noFill/>
        </p:spPr>
        <p:txBody>
          <a:bodyPr wrap="square" anchor="ctr" lIns="73152" rIns="73152" tIns="36576" bIns="36576">
            <a:noAutofit/>
          </a:bodyPr>
          <a:lstStyle/>
          <a:p>
            <a:pPr algn="ctr">
              <a:spcBef>
                <a:spcPts val="0"/>
              </a:spcBef>
              <a:spcAft>
                <a:spcPts val="0"/>
              </a:spcAft>
            </a:pPr>
            <a:r>
              <a:rPr lang="tr-TR" sz="1950" b="1" i="0">
                <a:solidFill>
                  <a:srgbClr val="262626"/>
                </a:solidFill>
                <a:latin typeface="Calibri"/>
              </a:rPr>
              <a:t>Kenya ve Türkiye: ortak nedenler</a:t>
            </a:r>
          </a:p>
        </p:txBody>
      </p:sp>
      <p:sp>
        <p:nvSpPr>
          <p:cNvPr id="10" name="Rounded Rectangle 9"/>
          <p:cNvSpPr/>
          <p:nvPr/>
        </p:nvSpPr>
        <p:spPr>
          <a:xfrm>
            <a:off x="612648" y="4233672"/>
            <a:ext cx="1522933" cy="411480"/>
          </a:xfrm>
          <a:prstGeom prst="roundRect">
            <a:avLst>
              <a:gd name="adj" fmla="val 30000"/>
            </a:avLst>
          </a:prstGeom>
          <a:solidFill>
            <a:srgbClr val="FFFFFF"/>
          </a:solidFill>
          <a:ln w="12700">
            <a:solidFill>
              <a:srgbClr val="3E8E41"/>
            </a:solidFill>
          </a:ln>
          <a:effectLst/>
        </p:spPr>
        <p:txBody>
          <a:bodyPr rtlCol="0" anchor="ctr" wrap="square" lIns="36576" rIns="36576" tIns="0" bIns="0">
            <a:noAutofit/>
          </a:bodyPr>
          <a:lstStyle/>
          <a:p>
            <a:pPr algn="ctr">
              <a:spcBef>
                <a:spcPts val="0"/>
              </a:spcBef>
              <a:spcAft>
                <a:spcPts val="0"/>
              </a:spcAft>
            </a:pPr>
            <a:r>
              <a:rPr lang="tr-TR" sz="1600" b="1" i="0">
                <a:solidFill>
                  <a:srgbClr val="3E8E41"/>
                </a:solidFill>
                <a:latin typeface="Calibri"/>
              </a:rPr>
              <a:t>çoktan seçmeli</a:t>
            </a:r>
          </a:p>
        </p:txBody>
      </p:sp>
      <p:sp>
        <p:nvSpPr>
          <p:cNvPr id="11" name="Rounded Rectangle 10"/>
          <p:cNvSpPr/>
          <p:nvPr/>
        </p:nvSpPr>
        <p:spPr>
          <a:xfrm>
            <a:off x="612648" y="4718304"/>
            <a:ext cx="1522933" cy="411480"/>
          </a:xfrm>
          <a:prstGeom prst="roundRect">
            <a:avLst>
              <a:gd name="adj" fmla="val 30000"/>
            </a:avLst>
          </a:prstGeom>
          <a:solidFill>
            <a:srgbClr val="3E8E41"/>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FFFFFF"/>
                </a:solidFill>
                <a:latin typeface="Calibri"/>
              </a:rPr>
              <a:t>DEFTERE</a:t>
            </a:r>
          </a:p>
        </p:txBody>
      </p:sp>
      <p:sp>
        <p:nvSpPr>
          <p:cNvPr id="12" name="Rounded Rectangle 11"/>
          <p:cNvSpPr/>
          <p:nvPr/>
        </p:nvSpPr>
        <p:spPr>
          <a:xfrm>
            <a:off x="2391613" y="1947672"/>
            <a:ext cx="1742389" cy="3291840"/>
          </a:xfrm>
          <a:prstGeom prst="roundRect">
            <a:avLst>
              <a:gd name="adj" fmla="val 6000"/>
            </a:avLst>
          </a:prstGeom>
          <a:solidFill>
            <a:srgbClr val="F0F0F0"/>
          </a:solidFill>
          <a:ln>
            <a:noFill/>
          </a:ln>
          <a:effectLst/>
        </p:spPr>
        <p:txBody>
          <a:bodyPr rtlCol="0" anchor="ctr"/>
          <a:lstStyle/>
          <a:p/>
        </p:txBody>
      </p:sp>
      <p:sp>
        <p:nvSpPr>
          <p:cNvPr id="13" name="Rounded Rectangle 12"/>
          <p:cNvSpPr/>
          <p:nvPr/>
        </p:nvSpPr>
        <p:spPr>
          <a:xfrm>
            <a:off x="2391613" y="1947672"/>
            <a:ext cx="1742389" cy="777240"/>
          </a:xfrm>
          <a:prstGeom prst="roundRect">
            <a:avLst>
              <a:gd name="adj" fmla="val 12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FFFFFF"/>
                </a:solidFill>
                <a:latin typeface="Calibri"/>
              </a:rPr>
              <a:t>2</a:t>
            </a:r>
          </a:p>
        </p:txBody>
      </p:sp>
      <p:sp>
        <p:nvSpPr>
          <p:cNvPr id="14" name="TextBox 13"/>
          <p:cNvSpPr txBox="1"/>
          <p:nvPr/>
        </p:nvSpPr>
        <p:spPr>
          <a:xfrm>
            <a:off x="2483053" y="2816352"/>
            <a:ext cx="1559509" cy="1325880"/>
          </a:xfrm>
          <a:prstGeom prst="rect">
            <a:avLst/>
          </a:prstGeom>
          <a:noFill/>
        </p:spPr>
        <p:txBody>
          <a:bodyPr wrap="square" anchor="ctr" lIns="73152" rIns="73152" tIns="36576" bIns="36576">
            <a:noAutofit/>
          </a:bodyPr>
          <a:lstStyle/>
          <a:p>
            <a:pPr algn="ctr">
              <a:spcBef>
                <a:spcPts val="0"/>
              </a:spcBef>
              <a:spcAft>
                <a:spcPts val="0"/>
              </a:spcAft>
            </a:pPr>
            <a:r>
              <a:rPr lang="tr-TR" sz="1950" b="1" i="0">
                <a:solidFill>
                  <a:srgbClr val="262626"/>
                </a:solidFill>
                <a:latin typeface="Calibri"/>
              </a:rPr>
              <a:t>Metin ve haritalarla hangi sorular cevaplanır?</a:t>
            </a:r>
          </a:p>
        </p:txBody>
      </p:sp>
      <p:sp>
        <p:nvSpPr>
          <p:cNvPr id="15" name="Rounded Rectangle 14"/>
          <p:cNvSpPr/>
          <p:nvPr/>
        </p:nvSpPr>
        <p:spPr>
          <a:xfrm>
            <a:off x="2501341" y="4233672"/>
            <a:ext cx="1522933" cy="411480"/>
          </a:xfrm>
          <a:prstGeom prst="roundRect">
            <a:avLst>
              <a:gd name="adj" fmla="val 30000"/>
            </a:avLst>
          </a:prstGeom>
          <a:solidFill>
            <a:srgbClr val="FFFFFF"/>
          </a:solidFill>
          <a:ln w="12700">
            <a:solidFill>
              <a:srgbClr val="B85C12"/>
            </a:solidFill>
          </a:ln>
          <a:effectLst/>
        </p:spPr>
        <p:txBody>
          <a:bodyPr rtlCol="0" anchor="ctr" wrap="square" lIns="36576" rIns="36576" tIns="0" bIns="0">
            <a:noAutofit/>
          </a:bodyPr>
          <a:lstStyle/>
          <a:p>
            <a:pPr algn="ctr">
              <a:spcBef>
                <a:spcPts val="0"/>
              </a:spcBef>
              <a:spcAft>
                <a:spcPts val="0"/>
              </a:spcAft>
            </a:pPr>
            <a:r>
              <a:rPr lang="tr-TR" sz="1600" b="1" i="0">
                <a:solidFill>
                  <a:srgbClr val="B85C12"/>
                </a:solidFill>
                <a:latin typeface="Calibri"/>
              </a:rPr>
              <a:t>işaretleme</a:t>
            </a:r>
          </a:p>
        </p:txBody>
      </p:sp>
      <p:sp>
        <p:nvSpPr>
          <p:cNvPr id="16" name="Rounded Rectangle 15"/>
          <p:cNvSpPr/>
          <p:nvPr/>
        </p:nvSpPr>
        <p:spPr>
          <a:xfrm>
            <a:off x="2501341" y="4718304"/>
            <a:ext cx="1522933" cy="411480"/>
          </a:xfrm>
          <a:prstGeom prst="roundRect">
            <a:avLst>
              <a:gd name="adj" fmla="val 30000"/>
            </a:avLst>
          </a:prstGeom>
          <a:solidFill>
            <a:srgbClr val="FFF3D1"/>
          </a:solidFill>
          <a:ln w="12700">
            <a:solidFill>
              <a:srgbClr val="FCC021"/>
            </a:solidFill>
          </a:ln>
          <a:effectLst/>
        </p:spPr>
        <p:txBody>
          <a:bodyPr rtlCol="0" anchor="ctr" wrap="square" lIns="36576" rIns="36576" tIns="0" bIns="0">
            <a:noAutofit/>
          </a:bodyPr>
          <a:lstStyle/>
          <a:p>
            <a:pPr algn="ctr">
              <a:spcBef>
                <a:spcPts val="0"/>
              </a:spcBef>
              <a:spcAft>
                <a:spcPts val="0"/>
              </a:spcAft>
            </a:pPr>
            <a:r>
              <a:rPr lang="tr-TR" sz="1600" b="1" i="0">
                <a:solidFill>
                  <a:srgbClr val="262626"/>
                </a:solidFill>
                <a:latin typeface="Calibri"/>
              </a:rPr>
              <a:t>İSTEĞE BAĞLI</a:t>
            </a:r>
          </a:p>
        </p:txBody>
      </p:sp>
      <p:sp>
        <p:nvSpPr>
          <p:cNvPr id="17" name="Rounded Rectangle 16"/>
          <p:cNvSpPr/>
          <p:nvPr/>
        </p:nvSpPr>
        <p:spPr>
          <a:xfrm>
            <a:off x="4280306" y="1947672"/>
            <a:ext cx="1742389" cy="3291840"/>
          </a:xfrm>
          <a:prstGeom prst="roundRect">
            <a:avLst>
              <a:gd name="adj" fmla="val 6000"/>
            </a:avLst>
          </a:prstGeom>
          <a:solidFill>
            <a:srgbClr val="F0F0F0"/>
          </a:solidFill>
          <a:ln>
            <a:noFill/>
          </a:ln>
          <a:effectLst/>
        </p:spPr>
        <p:txBody>
          <a:bodyPr rtlCol="0" anchor="ctr"/>
          <a:lstStyle/>
          <a:p/>
        </p:txBody>
      </p:sp>
      <p:sp>
        <p:nvSpPr>
          <p:cNvPr id="18" name="Rounded Rectangle 17"/>
          <p:cNvSpPr/>
          <p:nvPr/>
        </p:nvSpPr>
        <p:spPr>
          <a:xfrm>
            <a:off x="4280306" y="1947672"/>
            <a:ext cx="1742389" cy="777240"/>
          </a:xfrm>
          <a:prstGeom prst="roundRect">
            <a:avLst>
              <a:gd name="adj" fmla="val 12000"/>
            </a:avLst>
          </a:prstGeom>
          <a:solidFill>
            <a:srgbClr val="3E8E41"/>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FFFFFF"/>
                </a:solidFill>
                <a:latin typeface="Calibri"/>
              </a:rPr>
              <a:t>3</a:t>
            </a:r>
          </a:p>
        </p:txBody>
      </p:sp>
      <p:sp>
        <p:nvSpPr>
          <p:cNvPr id="19" name="TextBox 18"/>
          <p:cNvSpPr txBox="1"/>
          <p:nvPr/>
        </p:nvSpPr>
        <p:spPr>
          <a:xfrm>
            <a:off x="4371746" y="2816352"/>
            <a:ext cx="1559509" cy="1325880"/>
          </a:xfrm>
          <a:prstGeom prst="rect">
            <a:avLst/>
          </a:prstGeom>
          <a:noFill/>
        </p:spPr>
        <p:txBody>
          <a:bodyPr wrap="square" anchor="ctr" lIns="73152" rIns="73152" tIns="36576" bIns="36576">
            <a:noAutofit/>
          </a:bodyPr>
          <a:lstStyle/>
          <a:p>
            <a:pPr algn="ctr">
              <a:spcBef>
                <a:spcPts val="0"/>
              </a:spcBef>
              <a:spcAft>
                <a:spcPts val="0"/>
              </a:spcAft>
            </a:pPr>
            <a:r>
              <a:rPr lang="tr-TR" sz="1950" b="1" i="0">
                <a:solidFill>
                  <a:srgbClr val="262626"/>
                </a:solidFill>
                <a:latin typeface="Calibri"/>
              </a:rPr>
              <a:t>Benzer doğal faktörler</a:t>
            </a:r>
          </a:p>
        </p:txBody>
      </p:sp>
      <p:sp>
        <p:nvSpPr>
          <p:cNvPr id="20" name="Rounded Rectangle 19"/>
          <p:cNvSpPr/>
          <p:nvPr/>
        </p:nvSpPr>
        <p:spPr>
          <a:xfrm>
            <a:off x="4390034" y="4233672"/>
            <a:ext cx="1522933" cy="411480"/>
          </a:xfrm>
          <a:prstGeom prst="roundRect">
            <a:avLst>
              <a:gd name="adj" fmla="val 30000"/>
            </a:avLst>
          </a:prstGeom>
          <a:solidFill>
            <a:srgbClr val="FFFFFF"/>
          </a:solidFill>
          <a:ln w="12700">
            <a:solidFill>
              <a:srgbClr val="3E8E41"/>
            </a:solidFill>
          </a:ln>
          <a:effectLst/>
        </p:spPr>
        <p:txBody>
          <a:bodyPr rtlCol="0" anchor="ctr" wrap="square" lIns="36576" rIns="36576" tIns="0" bIns="0">
            <a:noAutofit/>
          </a:bodyPr>
          <a:lstStyle/>
          <a:p>
            <a:pPr algn="ctr">
              <a:spcBef>
                <a:spcPts val="0"/>
              </a:spcBef>
              <a:spcAft>
                <a:spcPts val="0"/>
              </a:spcAft>
            </a:pPr>
            <a:r>
              <a:rPr lang="tr-TR" sz="1600" b="1" i="0">
                <a:solidFill>
                  <a:srgbClr val="3E8E41"/>
                </a:solidFill>
                <a:latin typeface="Calibri"/>
              </a:rPr>
              <a:t>açık uçlu</a:t>
            </a:r>
          </a:p>
        </p:txBody>
      </p:sp>
      <p:sp>
        <p:nvSpPr>
          <p:cNvPr id="21" name="Rounded Rectangle 20"/>
          <p:cNvSpPr/>
          <p:nvPr/>
        </p:nvSpPr>
        <p:spPr>
          <a:xfrm>
            <a:off x="4390034" y="4718304"/>
            <a:ext cx="1522933" cy="411480"/>
          </a:xfrm>
          <a:prstGeom prst="roundRect">
            <a:avLst>
              <a:gd name="adj" fmla="val 30000"/>
            </a:avLst>
          </a:prstGeom>
          <a:solidFill>
            <a:srgbClr val="3E8E41"/>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FFFFFF"/>
                </a:solidFill>
                <a:latin typeface="Calibri"/>
              </a:rPr>
              <a:t>DEFTERE</a:t>
            </a:r>
          </a:p>
        </p:txBody>
      </p:sp>
      <p:sp>
        <p:nvSpPr>
          <p:cNvPr id="22" name="Rounded Rectangle 21"/>
          <p:cNvSpPr/>
          <p:nvPr/>
        </p:nvSpPr>
        <p:spPr>
          <a:xfrm>
            <a:off x="6168999" y="1947672"/>
            <a:ext cx="1742389" cy="3291840"/>
          </a:xfrm>
          <a:prstGeom prst="roundRect">
            <a:avLst>
              <a:gd name="adj" fmla="val 6000"/>
            </a:avLst>
          </a:prstGeom>
          <a:solidFill>
            <a:srgbClr val="F0F0F0"/>
          </a:solidFill>
          <a:ln>
            <a:noFill/>
          </a:ln>
          <a:effectLst/>
        </p:spPr>
        <p:txBody>
          <a:bodyPr rtlCol="0" anchor="ctr"/>
          <a:lstStyle/>
          <a:p/>
        </p:txBody>
      </p:sp>
      <p:sp>
        <p:nvSpPr>
          <p:cNvPr id="23" name="Rounded Rectangle 22"/>
          <p:cNvSpPr/>
          <p:nvPr/>
        </p:nvSpPr>
        <p:spPr>
          <a:xfrm>
            <a:off x="6168999" y="1947672"/>
            <a:ext cx="1742389" cy="777240"/>
          </a:xfrm>
          <a:prstGeom prst="roundRect">
            <a:avLst>
              <a:gd name="adj" fmla="val 12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FFFFFF"/>
                </a:solidFill>
                <a:latin typeface="Calibri"/>
              </a:rPr>
              <a:t>4</a:t>
            </a:r>
          </a:p>
        </p:txBody>
      </p:sp>
      <p:sp>
        <p:nvSpPr>
          <p:cNvPr id="24" name="TextBox 23"/>
          <p:cNvSpPr txBox="1"/>
          <p:nvPr/>
        </p:nvSpPr>
        <p:spPr>
          <a:xfrm>
            <a:off x="6260439" y="2816352"/>
            <a:ext cx="1559509" cy="1325880"/>
          </a:xfrm>
          <a:prstGeom prst="rect">
            <a:avLst/>
          </a:prstGeom>
          <a:noFill/>
        </p:spPr>
        <p:txBody>
          <a:bodyPr wrap="square" anchor="ctr" lIns="73152" rIns="73152" tIns="36576" bIns="36576">
            <a:noAutofit/>
          </a:bodyPr>
          <a:lstStyle/>
          <a:p>
            <a:pPr algn="ctr">
              <a:spcBef>
                <a:spcPts val="0"/>
              </a:spcBef>
              <a:spcAft>
                <a:spcPts val="0"/>
              </a:spcAft>
            </a:pPr>
            <a:r>
              <a:rPr lang="tr-TR" sz="1950" b="1" i="0">
                <a:solidFill>
                  <a:srgbClr val="262626"/>
                </a:solidFill>
                <a:latin typeface="Calibri"/>
              </a:rPr>
              <a:t>İş gücü ihtiyacı ve nüfus</a:t>
            </a:r>
          </a:p>
        </p:txBody>
      </p:sp>
      <p:sp>
        <p:nvSpPr>
          <p:cNvPr id="25" name="Rounded Rectangle 24"/>
          <p:cNvSpPr/>
          <p:nvPr/>
        </p:nvSpPr>
        <p:spPr>
          <a:xfrm>
            <a:off x="6278727" y="4233672"/>
            <a:ext cx="1522933" cy="411480"/>
          </a:xfrm>
          <a:prstGeom prst="roundRect">
            <a:avLst>
              <a:gd name="adj" fmla="val 30000"/>
            </a:avLst>
          </a:prstGeom>
          <a:solidFill>
            <a:srgbClr val="FFFFFF"/>
          </a:solidFill>
          <a:ln w="12700">
            <a:solidFill>
              <a:srgbClr val="2C6696"/>
            </a:solidFill>
          </a:ln>
          <a:effectLst/>
        </p:spPr>
        <p:txBody>
          <a:bodyPr rtlCol="0" anchor="ctr" wrap="square" lIns="36576" rIns="36576" tIns="0" bIns="0">
            <a:noAutofit/>
          </a:bodyPr>
          <a:lstStyle/>
          <a:p>
            <a:pPr algn="ctr">
              <a:spcBef>
                <a:spcPts val="0"/>
              </a:spcBef>
              <a:spcAft>
                <a:spcPts val="0"/>
              </a:spcAft>
            </a:pPr>
            <a:r>
              <a:rPr lang="tr-TR" sz="1600" b="1" i="0">
                <a:solidFill>
                  <a:srgbClr val="2C6696"/>
                </a:solidFill>
                <a:latin typeface="Calibri"/>
              </a:rPr>
              <a:t>açık uçlu</a:t>
            </a:r>
          </a:p>
        </p:txBody>
      </p:sp>
      <p:sp>
        <p:nvSpPr>
          <p:cNvPr id="26" name="Rounded Rectangle 25"/>
          <p:cNvSpPr/>
          <p:nvPr/>
        </p:nvSpPr>
        <p:spPr>
          <a:xfrm>
            <a:off x="6278727" y="4718304"/>
            <a:ext cx="1522933" cy="411480"/>
          </a:xfrm>
          <a:prstGeom prst="roundRect">
            <a:avLst>
              <a:gd name="adj" fmla="val 30000"/>
            </a:avLst>
          </a:prstGeom>
          <a:solidFill>
            <a:srgbClr val="FFF3D1"/>
          </a:solidFill>
          <a:ln w="12700">
            <a:solidFill>
              <a:srgbClr val="FCC021"/>
            </a:solidFill>
          </a:ln>
          <a:effectLst/>
        </p:spPr>
        <p:txBody>
          <a:bodyPr rtlCol="0" anchor="ctr" wrap="square" lIns="36576" rIns="36576" tIns="0" bIns="0">
            <a:noAutofit/>
          </a:bodyPr>
          <a:lstStyle/>
          <a:p>
            <a:pPr algn="ctr">
              <a:spcBef>
                <a:spcPts val="0"/>
              </a:spcBef>
              <a:spcAft>
                <a:spcPts val="0"/>
              </a:spcAft>
            </a:pPr>
            <a:r>
              <a:rPr lang="tr-TR" sz="1600" b="1" i="0">
                <a:solidFill>
                  <a:srgbClr val="262626"/>
                </a:solidFill>
                <a:latin typeface="Calibri"/>
              </a:rPr>
              <a:t>İSTEĞE BAĞLI</a:t>
            </a:r>
          </a:p>
        </p:txBody>
      </p:sp>
      <p:sp>
        <p:nvSpPr>
          <p:cNvPr id="27" name="Rounded Rectangle 26"/>
          <p:cNvSpPr/>
          <p:nvPr/>
        </p:nvSpPr>
        <p:spPr>
          <a:xfrm>
            <a:off x="8057692" y="1947672"/>
            <a:ext cx="1742389" cy="3291840"/>
          </a:xfrm>
          <a:prstGeom prst="roundRect">
            <a:avLst>
              <a:gd name="adj" fmla="val 6000"/>
            </a:avLst>
          </a:prstGeom>
          <a:solidFill>
            <a:srgbClr val="F0F0F0"/>
          </a:solidFill>
          <a:ln>
            <a:noFill/>
          </a:ln>
          <a:effectLst/>
        </p:spPr>
        <p:txBody>
          <a:bodyPr rtlCol="0" anchor="ctr"/>
          <a:lstStyle/>
          <a:p/>
        </p:txBody>
      </p:sp>
      <p:sp>
        <p:nvSpPr>
          <p:cNvPr id="28" name="Rounded Rectangle 27"/>
          <p:cNvSpPr/>
          <p:nvPr/>
        </p:nvSpPr>
        <p:spPr>
          <a:xfrm>
            <a:off x="8057692" y="1947672"/>
            <a:ext cx="1742389" cy="777240"/>
          </a:xfrm>
          <a:prstGeom prst="roundRect">
            <a:avLst>
              <a:gd name="adj" fmla="val 12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FFFFFF"/>
                </a:solidFill>
                <a:latin typeface="Calibri"/>
              </a:rPr>
              <a:t>5</a:t>
            </a:r>
          </a:p>
        </p:txBody>
      </p:sp>
      <p:sp>
        <p:nvSpPr>
          <p:cNvPr id="29" name="TextBox 28"/>
          <p:cNvSpPr txBox="1"/>
          <p:nvPr/>
        </p:nvSpPr>
        <p:spPr>
          <a:xfrm>
            <a:off x="8149132" y="2816352"/>
            <a:ext cx="1559509" cy="1325880"/>
          </a:xfrm>
          <a:prstGeom prst="rect">
            <a:avLst/>
          </a:prstGeom>
          <a:noFill/>
        </p:spPr>
        <p:txBody>
          <a:bodyPr wrap="square" anchor="ctr" lIns="73152" rIns="73152" tIns="36576" bIns="36576">
            <a:noAutofit/>
          </a:bodyPr>
          <a:lstStyle/>
          <a:p>
            <a:pPr algn="ctr">
              <a:spcBef>
                <a:spcPts val="0"/>
              </a:spcBef>
              <a:spcAft>
                <a:spcPts val="0"/>
              </a:spcAft>
            </a:pPr>
            <a:r>
              <a:rPr lang="tr-TR" sz="1950" b="1" i="0">
                <a:solidFill>
                  <a:srgbClr val="262626"/>
                </a:solidFill>
                <a:latin typeface="Calibri"/>
              </a:rPr>
              <a:t>Çay neden her yerde yetişmez?</a:t>
            </a:r>
          </a:p>
        </p:txBody>
      </p:sp>
      <p:sp>
        <p:nvSpPr>
          <p:cNvPr id="30" name="Rounded Rectangle 29"/>
          <p:cNvSpPr/>
          <p:nvPr/>
        </p:nvSpPr>
        <p:spPr>
          <a:xfrm>
            <a:off x="8167420" y="4233672"/>
            <a:ext cx="1522933" cy="411480"/>
          </a:xfrm>
          <a:prstGeom prst="roundRect">
            <a:avLst>
              <a:gd name="adj" fmla="val 30000"/>
            </a:avLst>
          </a:prstGeom>
          <a:solidFill>
            <a:srgbClr val="FFFFFF"/>
          </a:solidFill>
          <a:ln w="12700">
            <a:solidFill>
              <a:srgbClr val="B85C12"/>
            </a:solidFill>
          </a:ln>
          <a:effectLst/>
        </p:spPr>
        <p:txBody>
          <a:bodyPr rtlCol="0" anchor="ctr" wrap="square" lIns="36576" rIns="36576" tIns="0" bIns="0">
            <a:noAutofit/>
          </a:bodyPr>
          <a:lstStyle/>
          <a:p>
            <a:pPr algn="ctr">
              <a:spcBef>
                <a:spcPts val="0"/>
              </a:spcBef>
              <a:spcAft>
                <a:spcPts val="0"/>
              </a:spcAft>
            </a:pPr>
            <a:r>
              <a:rPr lang="tr-TR" sz="1600" b="1" i="0">
                <a:solidFill>
                  <a:srgbClr val="B85C12"/>
                </a:solidFill>
                <a:latin typeface="Calibri"/>
              </a:rPr>
              <a:t>açık uçlu</a:t>
            </a:r>
          </a:p>
        </p:txBody>
      </p:sp>
      <p:sp>
        <p:nvSpPr>
          <p:cNvPr id="31" name="Rounded Rectangle 30"/>
          <p:cNvSpPr/>
          <p:nvPr/>
        </p:nvSpPr>
        <p:spPr>
          <a:xfrm>
            <a:off x="8167420" y="4718304"/>
            <a:ext cx="1522933" cy="411480"/>
          </a:xfrm>
          <a:prstGeom prst="roundRect">
            <a:avLst>
              <a:gd name="adj" fmla="val 30000"/>
            </a:avLst>
          </a:prstGeom>
          <a:solidFill>
            <a:srgbClr val="B85C12"/>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FFFFFF"/>
                </a:solidFill>
                <a:latin typeface="Calibri"/>
              </a:rPr>
              <a:t>DEFTERE</a:t>
            </a:r>
          </a:p>
        </p:txBody>
      </p:sp>
      <p:sp>
        <p:nvSpPr>
          <p:cNvPr id="32" name="Rounded Rectangle 31"/>
          <p:cNvSpPr/>
          <p:nvPr/>
        </p:nvSpPr>
        <p:spPr>
          <a:xfrm>
            <a:off x="9946385" y="1947672"/>
            <a:ext cx="1742389" cy="3291840"/>
          </a:xfrm>
          <a:prstGeom prst="roundRect">
            <a:avLst>
              <a:gd name="adj" fmla="val 6000"/>
            </a:avLst>
          </a:prstGeom>
          <a:solidFill>
            <a:srgbClr val="F0F0F0"/>
          </a:solidFill>
          <a:ln>
            <a:noFill/>
          </a:ln>
          <a:effectLst/>
        </p:spPr>
        <p:txBody>
          <a:bodyPr rtlCol="0" anchor="ctr"/>
          <a:lstStyle/>
          <a:p/>
        </p:txBody>
      </p:sp>
      <p:sp>
        <p:nvSpPr>
          <p:cNvPr id="33" name="Rounded Rectangle 32"/>
          <p:cNvSpPr/>
          <p:nvPr/>
        </p:nvSpPr>
        <p:spPr>
          <a:xfrm>
            <a:off x="9946385" y="1947672"/>
            <a:ext cx="1742389" cy="777240"/>
          </a:xfrm>
          <a:prstGeom prst="roundRect">
            <a:avLst>
              <a:gd name="adj" fmla="val 12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FFFFFF"/>
                </a:solidFill>
                <a:latin typeface="Calibri"/>
              </a:rPr>
              <a:t>6</a:t>
            </a:r>
          </a:p>
        </p:txBody>
      </p:sp>
      <p:sp>
        <p:nvSpPr>
          <p:cNvPr id="34" name="TextBox 33"/>
          <p:cNvSpPr txBox="1"/>
          <p:nvPr/>
        </p:nvSpPr>
        <p:spPr>
          <a:xfrm>
            <a:off x="10037825" y="2816352"/>
            <a:ext cx="1559509" cy="1325880"/>
          </a:xfrm>
          <a:prstGeom prst="rect">
            <a:avLst/>
          </a:prstGeom>
          <a:noFill/>
        </p:spPr>
        <p:txBody>
          <a:bodyPr wrap="square" anchor="ctr" lIns="73152" rIns="73152" tIns="36576" bIns="36576">
            <a:noAutofit/>
          </a:bodyPr>
          <a:lstStyle/>
          <a:p>
            <a:pPr algn="ctr">
              <a:spcBef>
                <a:spcPts val="0"/>
              </a:spcBef>
              <a:spcAft>
                <a:spcPts val="0"/>
              </a:spcAft>
            </a:pPr>
            <a:r>
              <a:rPr lang="tr-TR" sz="1950" b="1" i="0">
                <a:solidFill>
                  <a:srgbClr val="262626"/>
                </a:solidFill>
                <a:latin typeface="Calibri"/>
              </a:rPr>
              <a:t>Çay üretimini artırmak</a:t>
            </a:r>
          </a:p>
        </p:txBody>
      </p:sp>
      <p:sp>
        <p:nvSpPr>
          <p:cNvPr id="35" name="Rounded Rectangle 34"/>
          <p:cNvSpPr/>
          <p:nvPr/>
        </p:nvSpPr>
        <p:spPr>
          <a:xfrm>
            <a:off x="10056113" y="4233672"/>
            <a:ext cx="1522933" cy="411480"/>
          </a:xfrm>
          <a:prstGeom prst="roundRect">
            <a:avLst>
              <a:gd name="adj" fmla="val 30000"/>
            </a:avLst>
          </a:prstGeom>
          <a:solidFill>
            <a:srgbClr val="FFFFFF"/>
          </a:solidFill>
          <a:ln w="12700">
            <a:solidFill>
              <a:srgbClr val="2C6696"/>
            </a:solidFill>
          </a:ln>
          <a:effectLst/>
        </p:spPr>
        <p:txBody>
          <a:bodyPr rtlCol="0" anchor="ctr" wrap="square" lIns="36576" rIns="36576" tIns="0" bIns="0">
            <a:noAutofit/>
          </a:bodyPr>
          <a:lstStyle/>
          <a:p>
            <a:pPr algn="ctr">
              <a:spcBef>
                <a:spcPts val="0"/>
              </a:spcBef>
              <a:spcAft>
                <a:spcPts val="0"/>
              </a:spcAft>
            </a:pPr>
            <a:r>
              <a:rPr lang="tr-TR" sz="1600" b="1" i="0">
                <a:solidFill>
                  <a:srgbClr val="2C6696"/>
                </a:solidFill>
                <a:latin typeface="Calibri"/>
              </a:rPr>
              <a:t>açık uçlu</a:t>
            </a:r>
          </a:p>
        </p:txBody>
      </p:sp>
      <p:sp>
        <p:nvSpPr>
          <p:cNvPr id="36" name="Rounded Rectangle 35"/>
          <p:cNvSpPr/>
          <p:nvPr/>
        </p:nvSpPr>
        <p:spPr>
          <a:xfrm>
            <a:off x="10056113" y="4718304"/>
            <a:ext cx="1522933" cy="411480"/>
          </a:xfrm>
          <a:prstGeom prst="roundRect">
            <a:avLst>
              <a:gd name="adj" fmla="val 30000"/>
            </a:avLst>
          </a:prstGeom>
          <a:solidFill>
            <a:srgbClr val="FFF3D1"/>
          </a:solidFill>
          <a:ln w="12700">
            <a:solidFill>
              <a:srgbClr val="FCC021"/>
            </a:solidFill>
          </a:ln>
          <a:effectLst/>
        </p:spPr>
        <p:txBody>
          <a:bodyPr rtlCol="0" anchor="ctr" wrap="square" lIns="36576" rIns="36576" tIns="0" bIns="0">
            <a:noAutofit/>
          </a:bodyPr>
          <a:lstStyle/>
          <a:p>
            <a:pPr algn="ctr">
              <a:spcBef>
                <a:spcPts val="0"/>
              </a:spcBef>
              <a:spcAft>
                <a:spcPts val="0"/>
              </a:spcAft>
            </a:pPr>
            <a:r>
              <a:rPr lang="tr-TR" sz="1600" b="1" i="0">
                <a:solidFill>
                  <a:srgbClr val="262626"/>
                </a:solidFill>
                <a:latin typeface="Calibri"/>
              </a:rPr>
              <a:t>İSTEĞE BAĞLI</a:t>
            </a:r>
          </a:p>
        </p:txBody>
      </p:sp>
      <p:sp>
        <p:nvSpPr>
          <p:cNvPr id="37" name="Rounded Rectangle 36"/>
          <p:cNvSpPr/>
          <p:nvPr/>
        </p:nvSpPr>
        <p:spPr>
          <a:xfrm>
            <a:off x="502920" y="5376672"/>
            <a:ext cx="11185855" cy="91440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300"/>
              </a:spcAft>
            </a:pPr>
            <a:r>
              <a:rPr lang="tr-TR" sz="2100" b="1" i="0">
                <a:solidFill>
                  <a:srgbClr val="262626"/>
                </a:solidFill>
                <a:latin typeface="Calibri"/>
              </a:rPr>
              <a:t>29. hafta ev çalışması: 1, 3 ve 5 deftere · 2, 4 ve 6 isteğe bağlı</a:t>
            </a:r>
          </a:p>
          <a:p>
            <a:pPr algn="ctr">
              <a:spcBef>
                <a:spcPts val="0"/>
              </a:spcBef>
              <a:spcAft>
                <a:spcPts val="0"/>
              </a:spcAft>
            </a:pPr>
            <a:r>
              <a:rPr lang="tr-TR" sz="1800" b="0" i="0">
                <a:solidFill>
                  <a:srgbClr val="262626"/>
                </a:solidFill>
                <a:latin typeface="Calibri"/>
              </a:rPr>
              <a:t>Karekoddaki 8 ek soru (EBA) bu bölümün sonunda: tahtada birlikte, telefon gerekmez</a:t>
            </a:r>
          </a:p>
        </p:txBody>
      </p:sp>
      <p:sp>
        <p:nvSpPr>
          <p:cNvPr id="38" name="TextBox 3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9" name="Rounded Rectangle 3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184-185</a:t>
            </a:r>
          </a:p>
        </p:txBody>
      </p:sp>
      <p:sp>
        <p:nvSpPr>
          <p:cNvPr id="40" name="TextBox 3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124 / 166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1-6. sorular: çayın yetişme koşulları</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1-6</a:t>
            </a:r>
          </a:p>
        </p:txBody>
      </p:sp>
      <p:sp>
        <p:nvSpPr>
          <p:cNvPr id="6" name="TextBox 5"/>
          <p:cNvSpPr txBox="1"/>
          <p:nvPr/>
        </p:nvSpPr>
        <p:spPr>
          <a:xfrm>
            <a:off x="502920" y="1170432"/>
            <a:ext cx="11185855" cy="365760"/>
          </a:xfrm>
          <a:prstGeom prst="rect">
            <a:avLst/>
          </a:prstGeom>
          <a:noFill/>
        </p:spPr>
        <p:txBody>
          <a:bodyPr wrap="square" anchor="t" lIns="73152" rIns="73152" tIns="36576" bIns="36576">
            <a:noAutofit/>
          </a:bodyPr>
          <a:lstStyle/>
          <a:p>
            <a:pPr algn="l">
              <a:spcBef>
                <a:spcPts val="0"/>
              </a:spcBef>
              <a:spcAft>
                <a:spcPts val="0"/>
              </a:spcAft>
            </a:pPr>
            <a:r>
              <a:rPr lang="tr-TR" sz="1600" b="0" i="1">
                <a:solidFill>
                  <a:srgbClr val="767676"/>
                </a:solidFill>
                <a:latin typeface="Calibri"/>
              </a:rPr>
              <a:t>1-6. soruları aşağıda verilen metin ve haritalara göre cevaplayınız.</a:t>
            </a:r>
          </a:p>
        </p:txBody>
      </p:sp>
      <p:sp>
        <p:nvSpPr>
          <p:cNvPr id="7" name="Rounded Rectangle 6"/>
          <p:cNvSpPr/>
          <p:nvPr/>
        </p:nvSpPr>
        <p:spPr>
          <a:xfrm>
            <a:off x="502920" y="1627632"/>
            <a:ext cx="11185855" cy="4617720"/>
          </a:xfrm>
          <a:prstGeom prst="roundRect">
            <a:avLst>
              <a:gd name="adj" fmla="val 6000"/>
            </a:avLst>
          </a:prstGeom>
          <a:solidFill>
            <a:srgbClr val="F0F0F0"/>
          </a:solidFill>
          <a:ln>
            <a:noFill/>
          </a:ln>
          <a:effectLst/>
        </p:spPr>
        <p:txBody>
          <a:bodyPr rtlCol="0" anchor="ctr"/>
          <a:lstStyle/>
          <a:p/>
        </p:txBody>
      </p:sp>
      <p:sp>
        <p:nvSpPr>
          <p:cNvPr id="8" name="Rectangle 7"/>
          <p:cNvSpPr/>
          <p:nvPr/>
        </p:nvSpPr>
        <p:spPr>
          <a:xfrm>
            <a:off x="502920" y="1627632"/>
            <a:ext cx="118872" cy="4617720"/>
          </a:xfrm>
          <a:prstGeom prst="rect">
            <a:avLst/>
          </a:prstGeom>
          <a:solidFill>
            <a:srgbClr val="3E8E41"/>
          </a:solidFill>
          <a:ln>
            <a:noFill/>
          </a:ln>
          <a:effectLst/>
        </p:spPr>
        <p:txBody>
          <a:bodyPr rtlCol="0" anchor="ctr"/>
          <a:lstStyle/>
          <a:p/>
        </p:txBody>
      </p:sp>
      <p:sp>
        <p:nvSpPr>
          <p:cNvPr id="9" name="TextBox 8"/>
          <p:cNvSpPr txBox="1"/>
          <p:nvPr/>
        </p:nvSpPr>
        <p:spPr>
          <a:xfrm>
            <a:off x="777240" y="1627632"/>
            <a:ext cx="10774375" cy="4617720"/>
          </a:xfrm>
          <a:prstGeom prst="rect">
            <a:avLst/>
          </a:prstGeom>
          <a:noFill/>
        </p:spPr>
        <p:txBody>
          <a:bodyPr wrap="square" anchor="ctr" lIns="73152" rIns="73152" tIns="36576" bIns="36576">
            <a:noAutofit/>
          </a:bodyPr>
          <a:lstStyle/>
          <a:p>
            <a:pPr algn="l">
              <a:spcBef>
                <a:spcPts val="0"/>
              </a:spcBef>
              <a:spcAft>
                <a:spcPts val="1600"/>
              </a:spcAft>
            </a:pPr>
            <a:r>
              <a:rPr lang="tr-TR" sz="2800" b="0" i="0">
                <a:solidFill>
                  <a:srgbClr val="262626"/>
                </a:solidFill>
                <a:latin typeface="Calibri"/>
              </a:rPr>
              <a:t>İlk defa Çin ve Hindistan’da üretilmeye başlanan çay, ihtiyaç duyduğu koşullar nedeniyle her yerde yetiştirilemez.</a:t>
            </a:r>
          </a:p>
          <a:p>
            <a:pPr algn="l">
              <a:spcBef>
                <a:spcPts val="0"/>
              </a:spcBef>
              <a:spcAft>
                <a:spcPts val="1600"/>
              </a:spcAft>
            </a:pPr>
            <a:r>
              <a:rPr lang="tr-TR" sz="2800" b="0" i="0">
                <a:solidFill>
                  <a:srgbClr val="262626"/>
                </a:solidFill>
                <a:latin typeface="Calibri"/>
              </a:rPr>
              <a:t>Çay, en iyi şekilde deniz seviyesinden 2200 metre yüksekliğe kadar olan nemli ve bol yağışlı alanlar ile kireçsiz topraklarda yetişmektedir.</a:t>
            </a:r>
          </a:p>
          <a:p>
            <a:pPr algn="l">
              <a:spcBef>
                <a:spcPts val="0"/>
              </a:spcBef>
              <a:spcAft>
                <a:spcPts val="1600"/>
              </a:spcAft>
            </a:pPr>
            <a:r>
              <a:rPr lang="tr-TR" sz="2800" b="0" i="0">
                <a:solidFill>
                  <a:srgbClr val="262626"/>
                </a:solidFill>
                <a:latin typeface="Calibri"/>
              </a:rPr>
              <a:t>Çayın yetişme alanlarının yıllık sıcaklık ortalaması, 14 °C’tan düşük olmamalıdır.</a:t>
            </a:r>
          </a:p>
          <a:p>
            <a:pPr algn="l">
              <a:spcBef>
                <a:spcPts val="0"/>
              </a:spcBef>
              <a:spcAft>
                <a:spcPts val="0"/>
              </a:spcAft>
            </a:pPr>
            <a:r>
              <a:rPr lang="tr-TR" sz="2800" b="0" i="0">
                <a:solidFill>
                  <a:srgbClr val="262626"/>
                </a:solidFill>
                <a:latin typeface="Calibri"/>
              </a:rPr>
              <a:t>Dünya üzerinde 42° kuzey ile 30° güney enlemleri, çay bitkisinin son yetişme sınırlarıdır.</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125 / 166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1-6. sorular: çay üretimi ve iş gücü</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1-6</a:t>
            </a:r>
          </a:p>
        </p:txBody>
      </p:sp>
      <p:sp>
        <p:nvSpPr>
          <p:cNvPr id="6" name="TextBox 5"/>
          <p:cNvSpPr txBox="1"/>
          <p:nvPr/>
        </p:nvSpPr>
        <p:spPr>
          <a:xfrm>
            <a:off x="502920" y="1170432"/>
            <a:ext cx="11185855" cy="365760"/>
          </a:xfrm>
          <a:prstGeom prst="rect">
            <a:avLst/>
          </a:prstGeom>
          <a:noFill/>
        </p:spPr>
        <p:txBody>
          <a:bodyPr wrap="square" anchor="t" lIns="73152" rIns="73152" tIns="36576" bIns="36576">
            <a:noAutofit/>
          </a:bodyPr>
          <a:lstStyle/>
          <a:p>
            <a:pPr algn="l">
              <a:spcBef>
                <a:spcPts val="0"/>
              </a:spcBef>
              <a:spcAft>
                <a:spcPts val="0"/>
              </a:spcAft>
            </a:pPr>
            <a:r>
              <a:rPr lang="tr-TR" sz="1600" b="0" i="1">
                <a:solidFill>
                  <a:srgbClr val="767676"/>
                </a:solidFill>
                <a:latin typeface="Calibri"/>
              </a:rPr>
              <a:t>1-6. soruları aşağıda verilen metin ve haritalara göre cevaplayınız.</a:t>
            </a:r>
          </a:p>
        </p:txBody>
      </p:sp>
      <p:sp>
        <p:nvSpPr>
          <p:cNvPr id="7" name="Rounded Rectangle 6"/>
          <p:cNvSpPr/>
          <p:nvPr/>
        </p:nvSpPr>
        <p:spPr>
          <a:xfrm>
            <a:off x="502920" y="1627632"/>
            <a:ext cx="11185855" cy="4617720"/>
          </a:xfrm>
          <a:prstGeom prst="roundRect">
            <a:avLst>
              <a:gd name="adj" fmla="val 6000"/>
            </a:avLst>
          </a:prstGeom>
          <a:solidFill>
            <a:srgbClr val="F0F0F0"/>
          </a:solidFill>
          <a:ln>
            <a:noFill/>
          </a:ln>
          <a:effectLst/>
        </p:spPr>
        <p:txBody>
          <a:bodyPr rtlCol="0" anchor="ctr"/>
          <a:lstStyle/>
          <a:p/>
        </p:txBody>
      </p:sp>
      <p:sp>
        <p:nvSpPr>
          <p:cNvPr id="8" name="Rectangle 7"/>
          <p:cNvSpPr/>
          <p:nvPr/>
        </p:nvSpPr>
        <p:spPr>
          <a:xfrm>
            <a:off x="502920" y="1627632"/>
            <a:ext cx="118872" cy="4617720"/>
          </a:xfrm>
          <a:prstGeom prst="rect">
            <a:avLst/>
          </a:prstGeom>
          <a:solidFill>
            <a:srgbClr val="2C6696"/>
          </a:solidFill>
          <a:ln>
            <a:noFill/>
          </a:ln>
          <a:effectLst/>
        </p:spPr>
        <p:txBody>
          <a:bodyPr rtlCol="0" anchor="ctr"/>
          <a:lstStyle/>
          <a:p/>
        </p:txBody>
      </p:sp>
      <p:sp>
        <p:nvSpPr>
          <p:cNvPr id="9" name="TextBox 8"/>
          <p:cNvSpPr txBox="1"/>
          <p:nvPr/>
        </p:nvSpPr>
        <p:spPr>
          <a:xfrm>
            <a:off x="777240" y="1627632"/>
            <a:ext cx="10774375" cy="4617720"/>
          </a:xfrm>
          <a:prstGeom prst="rect">
            <a:avLst/>
          </a:prstGeom>
          <a:noFill/>
        </p:spPr>
        <p:txBody>
          <a:bodyPr wrap="square" anchor="ctr" lIns="73152" rIns="73152" tIns="36576" bIns="36576">
            <a:noAutofit/>
          </a:bodyPr>
          <a:lstStyle/>
          <a:p>
            <a:pPr algn="l">
              <a:spcBef>
                <a:spcPts val="0"/>
              </a:spcBef>
              <a:spcAft>
                <a:spcPts val="1296"/>
              </a:spcAft>
            </a:pPr>
            <a:r>
              <a:rPr lang="tr-TR" sz="2500" b="0" i="0">
                <a:solidFill>
                  <a:srgbClr val="262626"/>
                </a:solidFill>
                <a:latin typeface="Calibri"/>
              </a:rPr>
              <a:t>Çay üretiminde Çin, Hindistan, Kenya, Türkiye ve Sri Lanka ilk sıralarda yer almaktadır.</a:t>
            </a:r>
          </a:p>
          <a:p>
            <a:pPr algn="l">
              <a:spcBef>
                <a:spcPts val="0"/>
              </a:spcBef>
              <a:spcAft>
                <a:spcPts val="1296"/>
              </a:spcAft>
            </a:pPr>
            <a:r>
              <a:rPr lang="tr-TR" sz="2500" b="0" i="0">
                <a:solidFill>
                  <a:srgbClr val="262626"/>
                </a:solidFill>
                <a:latin typeface="Calibri"/>
              </a:rPr>
              <a:t>Türkiye’de çay üretimi 2022 yılında sırasıyla Rize, Trabzon, Artvin, Giresun ve Ordu illerinde gerçekleştirilmiştir (TÜİK, 2023).</a:t>
            </a:r>
          </a:p>
          <a:p>
            <a:pPr algn="l">
              <a:spcBef>
                <a:spcPts val="0"/>
              </a:spcBef>
              <a:spcAft>
                <a:spcPts val="1296"/>
              </a:spcAft>
            </a:pPr>
            <a:r>
              <a:rPr lang="tr-TR" sz="2500" b="0" i="0">
                <a:solidFill>
                  <a:srgbClr val="262626"/>
                </a:solidFill>
                <a:latin typeface="Calibri"/>
              </a:rPr>
              <a:t>Rize, Trabzon, Artvin, Giresun, Ordu gibi engebeli arazilere sahip alanlarda yapılan çay tarımında iş gücü ihtiyacı fazladır.</a:t>
            </a:r>
          </a:p>
          <a:p>
            <a:pPr algn="l">
              <a:spcBef>
                <a:spcPts val="0"/>
              </a:spcBef>
              <a:spcAft>
                <a:spcPts val="1296"/>
              </a:spcAft>
            </a:pPr>
            <a:r>
              <a:rPr lang="tr-TR" sz="2500" b="0" i="0">
                <a:solidFill>
                  <a:srgbClr val="262626"/>
                </a:solidFill>
                <a:latin typeface="Calibri"/>
              </a:rPr>
              <a:t>Çayın toplanması, fabrikaya ulaştırılması ve işlenmesinde insan emeği gereklidir.</a:t>
            </a:r>
          </a:p>
          <a:p>
            <a:pPr algn="l">
              <a:spcBef>
                <a:spcPts val="0"/>
              </a:spcBef>
              <a:spcAft>
                <a:spcPts val="0"/>
              </a:spcAft>
            </a:pPr>
            <a:r>
              <a:rPr lang="tr-TR" sz="2500" b="0" i="0">
                <a:solidFill>
                  <a:srgbClr val="262626"/>
                </a:solidFill>
                <a:latin typeface="Calibri"/>
              </a:rPr>
              <a:t>Çay işleme fabrikaları, çay bitkisinin hasat edildikten hemen sonra fabrikaya ulaştırılması ve işlenmesi için üretim alanlarının yakınında kurulmuştur.</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126 / 166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1-6. sorular: dünyada çay üretimi (2022)</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1-6</a:t>
            </a:r>
          </a:p>
        </p:txBody>
      </p:sp>
      <p:pic>
        <p:nvPicPr>
          <p:cNvPr id="6" name="Picture 5" descr="sonu_cay_dunya_s184.jpg"/>
          <p:cNvPicPr>
            <a:picLocks noChangeAspect="1"/>
          </p:cNvPicPr>
          <p:nvPr/>
        </p:nvPicPr>
        <p:blipFill>
          <a:blip r:embed="rId3"/>
          <a:stretch>
            <a:fillRect/>
          </a:stretch>
        </p:blipFill>
        <p:spPr>
          <a:xfrm>
            <a:off x="502920" y="1216152"/>
            <a:ext cx="6233419" cy="4736592"/>
          </a:xfrm>
          <a:prstGeom prst="rect">
            <a:avLst/>
          </a:prstGeom>
          <a:ln w="9525">
            <a:solidFill>
              <a:srgbClr val="D9D9D9"/>
            </a:solidFill>
          </a:ln>
        </p:spPr>
      </p:pic>
      <p:sp>
        <p:nvSpPr>
          <p:cNvPr id="7" name="TextBox 6"/>
          <p:cNvSpPr txBox="1"/>
          <p:nvPr/>
        </p:nvSpPr>
        <p:spPr>
          <a:xfrm>
            <a:off x="502920" y="5980176"/>
            <a:ext cx="6233419"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Harita: Ders kitabı s. 184</a:t>
            </a:r>
          </a:p>
        </p:txBody>
      </p:sp>
      <p:sp>
        <p:nvSpPr>
          <p:cNvPr id="8" name="Rounded Rectangle 7"/>
          <p:cNvSpPr/>
          <p:nvPr/>
        </p:nvSpPr>
        <p:spPr>
          <a:xfrm>
            <a:off x="6964939" y="1216152"/>
            <a:ext cx="4723836" cy="566928"/>
          </a:xfrm>
          <a:prstGeom prst="roundRect">
            <a:avLst>
              <a:gd name="adj" fmla="val 8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Haritayı okuyalım</a:t>
            </a:r>
          </a:p>
        </p:txBody>
      </p:sp>
      <p:sp>
        <p:nvSpPr>
          <p:cNvPr id="9" name="Rounded Rectangle 8"/>
          <p:cNvSpPr/>
          <p:nvPr/>
        </p:nvSpPr>
        <p:spPr>
          <a:xfrm>
            <a:off x="6964939" y="1920240"/>
            <a:ext cx="4723836" cy="1143000"/>
          </a:xfrm>
          <a:prstGeom prst="roundRect">
            <a:avLst>
              <a:gd name="adj" fmla="val 8000"/>
            </a:avLst>
          </a:prstGeom>
          <a:solidFill>
            <a:srgbClr val="F0F0F0"/>
          </a:solidFill>
          <a:ln>
            <a:noFill/>
          </a:ln>
          <a:effectLst/>
        </p:spPr>
        <p:txBody>
          <a:bodyPr rtlCol="0" anchor="ctr"/>
          <a:lstStyle/>
          <a:p/>
        </p:txBody>
      </p:sp>
      <p:sp>
        <p:nvSpPr>
          <p:cNvPr id="10" name="Oval 9"/>
          <p:cNvSpPr/>
          <p:nvPr/>
        </p:nvSpPr>
        <p:spPr>
          <a:xfrm>
            <a:off x="7074667" y="2253996"/>
            <a:ext cx="475488" cy="475488"/>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a:t>
            </a:r>
          </a:p>
        </p:txBody>
      </p:sp>
      <p:sp>
        <p:nvSpPr>
          <p:cNvPr id="11" name="TextBox 10"/>
          <p:cNvSpPr txBox="1"/>
          <p:nvPr/>
        </p:nvSpPr>
        <p:spPr>
          <a:xfrm>
            <a:off x="7650739" y="1920240"/>
            <a:ext cx="3946596" cy="114300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Çay üretiminde ilk beş ülke hangileri?</a:t>
            </a:r>
          </a:p>
        </p:txBody>
      </p:sp>
      <p:sp>
        <p:nvSpPr>
          <p:cNvPr id="12" name="Rounded Rectangle 11"/>
          <p:cNvSpPr/>
          <p:nvPr/>
        </p:nvSpPr>
        <p:spPr>
          <a:xfrm>
            <a:off x="6964939" y="3200400"/>
            <a:ext cx="4723836" cy="1143000"/>
          </a:xfrm>
          <a:prstGeom prst="roundRect">
            <a:avLst>
              <a:gd name="adj" fmla="val 8000"/>
            </a:avLst>
          </a:prstGeom>
          <a:solidFill>
            <a:srgbClr val="F0F0F0"/>
          </a:solidFill>
          <a:ln>
            <a:noFill/>
          </a:ln>
          <a:effectLst/>
        </p:spPr>
        <p:txBody>
          <a:bodyPr rtlCol="0" anchor="ctr"/>
          <a:lstStyle/>
          <a:p/>
        </p:txBody>
      </p:sp>
      <p:sp>
        <p:nvSpPr>
          <p:cNvPr id="13" name="Oval 12"/>
          <p:cNvSpPr/>
          <p:nvPr/>
        </p:nvSpPr>
        <p:spPr>
          <a:xfrm>
            <a:off x="7074667" y="3534156"/>
            <a:ext cx="475488" cy="475488"/>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2</a:t>
            </a:r>
          </a:p>
        </p:txBody>
      </p:sp>
      <p:sp>
        <p:nvSpPr>
          <p:cNvPr id="14" name="TextBox 13"/>
          <p:cNvSpPr txBox="1"/>
          <p:nvPr/>
        </p:nvSpPr>
        <p:spPr>
          <a:xfrm>
            <a:off x="7650739" y="3200400"/>
            <a:ext cx="3946596" cy="114300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Bu ülkelerden hangisi Ekvator'a en yakın?</a:t>
            </a:r>
          </a:p>
        </p:txBody>
      </p:sp>
      <p:sp>
        <p:nvSpPr>
          <p:cNvPr id="15" name="Rounded Rectangle 14"/>
          <p:cNvSpPr/>
          <p:nvPr/>
        </p:nvSpPr>
        <p:spPr>
          <a:xfrm>
            <a:off x="6964939" y="4480560"/>
            <a:ext cx="4723836" cy="1143000"/>
          </a:xfrm>
          <a:prstGeom prst="roundRect">
            <a:avLst>
              <a:gd name="adj" fmla="val 8000"/>
            </a:avLst>
          </a:prstGeom>
          <a:solidFill>
            <a:srgbClr val="F0F0F0"/>
          </a:solidFill>
          <a:ln>
            <a:noFill/>
          </a:ln>
          <a:effectLst/>
        </p:spPr>
        <p:txBody>
          <a:bodyPr rtlCol="0" anchor="ctr"/>
          <a:lstStyle/>
          <a:p/>
        </p:txBody>
      </p:sp>
      <p:sp>
        <p:nvSpPr>
          <p:cNvPr id="16" name="Oval 15"/>
          <p:cNvSpPr/>
          <p:nvPr/>
        </p:nvSpPr>
        <p:spPr>
          <a:xfrm>
            <a:off x="7074667" y="4814316"/>
            <a:ext cx="475488" cy="475488"/>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3</a:t>
            </a:r>
          </a:p>
        </p:txBody>
      </p:sp>
      <p:sp>
        <p:nvSpPr>
          <p:cNvPr id="17" name="TextBox 16"/>
          <p:cNvSpPr txBox="1"/>
          <p:nvPr/>
        </p:nvSpPr>
        <p:spPr>
          <a:xfrm>
            <a:off x="7650739" y="4480560"/>
            <a:ext cx="3946596" cy="114300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Hangisi Afrika kıtasında?</a:t>
            </a:r>
          </a:p>
        </p:txBody>
      </p:sp>
      <p:sp>
        <p:nvSpPr>
          <p:cNvPr id="18" name="TextBox 17"/>
          <p:cNvSpPr txBox="1"/>
          <p:nvPr/>
        </p:nvSpPr>
        <p:spPr>
          <a:xfrm>
            <a:off x="6964939" y="5760720"/>
            <a:ext cx="4723836" cy="530352"/>
          </a:xfrm>
          <a:prstGeom prst="rect">
            <a:avLst/>
          </a:prstGeom>
          <a:noFill/>
        </p:spPr>
        <p:txBody>
          <a:bodyPr wrap="square" anchor="t" lIns="73152" rIns="73152" tIns="36576" bIns="36576">
            <a:noAutofit/>
          </a:bodyPr>
          <a:lstStyle/>
          <a:p>
            <a:pPr algn="l">
              <a:spcBef>
                <a:spcPts val="0"/>
              </a:spcBef>
              <a:spcAft>
                <a:spcPts val="0"/>
              </a:spcAft>
            </a:pPr>
            <a:r>
              <a:rPr lang="tr-TR" sz="1450" b="0" i="1">
                <a:solidFill>
                  <a:srgbClr val="767676"/>
                </a:solidFill>
                <a:latin typeface="Calibri"/>
              </a:rPr>
              <a:t>“Dünya çay üretiminde ilk beş ülke”: haritadaki yeşil ülkeler</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127 / 166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1-6. sorular: Türkiye'de çay üretimi (2022)</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1-6</a:t>
            </a:r>
          </a:p>
        </p:txBody>
      </p:sp>
      <p:pic>
        <p:nvPicPr>
          <p:cNvPr id="6" name="Picture 5" descr="sonu_cay_turkiye_s184.jpg"/>
          <p:cNvPicPr>
            <a:picLocks noChangeAspect="1"/>
          </p:cNvPicPr>
          <p:nvPr/>
        </p:nvPicPr>
        <p:blipFill>
          <a:blip r:embed="rId3"/>
          <a:stretch>
            <a:fillRect/>
          </a:stretch>
        </p:blipFill>
        <p:spPr>
          <a:xfrm>
            <a:off x="502920" y="1216152"/>
            <a:ext cx="11185855" cy="3573259"/>
          </a:xfrm>
          <a:prstGeom prst="rect">
            <a:avLst/>
          </a:prstGeom>
          <a:ln w="9525">
            <a:solidFill>
              <a:srgbClr val="D9D9D9"/>
            </a:solidFill>
          </a:ln>
        </p:spPr>
      </p:pic>
      <p:sp>
        <p:nvSpPr>
          <p:cNvPr id="7" name="TextBox 6"/>
          <p:cNvSpPr txBox="1"/>
          <p:nvPr/>
        </p:nvSpPr>
        <p:spPr>
          <a:xfrm>
            <a:off x="502920" y="4807699"/>
            <a:ext cx="11185855"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Harita: Ders kitabı s. 184</a:t>
            </a:r>
          </a:p>
        </p:txBody>
      </p:sp>
      <p:sp>
        <p:nvSpPr>
          <p:cNvPr id="8" name="TextBox 7"/>
          <p:cNvSpPr txBox="1"/>
          <p:nvPr/>
        </p:nvSpPr>
        <p:spPr>
          <a:xfrm>
            <a:off x="502920" y="5155171"/>
            <a:ext cx="11185855" cy="347472"/>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767676"/>
                </a:solidFill>
                <a:latin typeface="Calibri"/>
              </a:rPr>
              <a:t>Haritadan okunan üretim aralıkları — Üretim (Bin ton)</a:t>
            </a:r>
          </a:p>
        </p:txBody>
      </p:sp>
      <p:sp>
        <p:nvSpPr>
          <p:cNvPr id="9" name="Rounded Rectangle 8"/>
          <p:cNvSpPr/>
          <p:nvPr/>
        </p:nvSpPr>
        <p:spPr>
          <a:xfrm>
            <a:off x="502920" y="5566651"/>
            <a:ext cx="2105497" cy="724421"/>
          </a:xfrm>
          <a:prstGeom prst="roundRect">
            <a:avLst>
              <a:gd name="adj" fmla="val 25000"/>
            </a:avLst>
          </a:prstGeom>
          <a:solidFill>
            <a:srgbClr val="256A45"/>
          </a:solidFill>
          <a:ln w="12700">
            <a:solidFill>
              <a:srgbClr val="D9D9D9"/>
            </a:solidFill>
          </a:ln>
          <a:effectLst/>
        </p:spPr>
        <p:txBody>
          <a:bodyPr rtlCol="0" anchor="ctr" wrap="square" tIns="18288" bIns="18288">
            <a:noAutofit/>
          </a:bodyPr>
          <a:lstStyle/>
          <a:p>
            <a:pPr algn="ctr">
              <a:spcBef>
                <a:spcPts val="0"/>
              </a:spcBef>
              <a:spcAft>
                <a:spcPts val="0"/>
              </a:spcAft>
            </a:pPr>
            <a:r>
              <a:rPr lang="tr-TR" sz="1650" b="1" i="0">
                <a:solidFill>
                  <a:srgbClr val="FFFFFF"/>
                </a:solidFill>
                <a:latin typeface="Calibri"/>
              </a:rPr>
              <a:t>Rize</a:t>
            </a:r>
          </a:p>
          <a:p>
            <a:pPr algn="ctr">
              <a:spcBef>
                <a:spcPts val="0"/>
              </a:spcBef>
              <a:spcAft>
                <a:spcPts val="0"/>
              </a:spcAft>
            </a:pPr>
            <a:r>
              <a:rPr lang="tr-TR" sz="1650" b="0" i="0">
                <a:solidFill>
                  <a:srgbClr val="FFFFFF"/>
                </a:solidFill>
                <a:latin typeface="Calibri"/>
              </a:rPr>
              <a:t>950 bin tondan fazla</a:t>
            </a:r>
          </a:p>
        </p:txBody>
      </p:sp>
      <p:sp>
        <p:nvSpPr>
          <p:cNvPr id="10" name="Rounded Rectangle 9"/>
          <p:cNvSpPr/>
          <p:nvPr/>
        </p:nvSpPr>
        <p:spPr>
          <a:xfrm>
            <a:off x="2773009" y="5566651"/>
            <a:ext cx="2105497" cy="724421"/>
          </a:xfrm>
          <a:prstGeom prst="roundRect">
            <a:avLst>
              <a:gd name="adj" fmla="val 25000"/>
            </a:avLst>
          </a:prstGeom>
          <a:solidFill>
            <a:srgbClr val="4B7F5D"/>
          </a:solidFill>
          <a:ln w="12700">
            <a:solidFill>
              <a:srgbClr val="D9D9D9"/>
            </a:solidFill>
          </a:ln>
          <a:effectLst/>
        </p:spPr>
        <p:txBody>
          <a:bodyPr rtlCol="0" anchor="ctr" wrap="square" tIns="18288" bIns="18288">
            <a:noAutofit/>
          </a:bodyPr>
          <a:lstStyle/>
          <a:p>
            <a:pPr algn="ctr">
              <a:spcBef>
                <a:spcPts val="0"/>
              </a:spcBef>
              <a:spcAft>
                <a:spcPts val="0"/>
              </a:spcAft>
            </a:pPr>
            <a:r>
              <a:rPr lang="tr-TR" sz="1650" b="1" i="0">
                <a:solidFill>
                  <a:srgbClr val="FFFFFF"/>
                </a:solidFill>
                <a:latin typeface="Calibri"/>
              </a:rPr>
              <a:t>Trabzon</a:t>
            </a:r>
          </a:p>
          <a:p>
            <a:pPr algn="ctr">
              <a:spcBef>
                <a:spcPts val="0"/>
              </a:spcBef>
              <a:spcAft>
                <a:spcPts val="0"/>
              </a:spcAft>
            </a:pPr>
            <a:r>
              <a:rPr lang="tr-TR" sz="1650" b="0" i="0">
                <a:solidFill>
                  <a:srgbClr val="FFFFFF"/>
                </a:solidFill>
                <a:latin typeface="Calibri"/>
              </a:rPr>
              <a:t>300-350 bin ton</a:t>
            </a:r>
          </a:p>
        </p:txBody>
      </p:sp>
      <p:sp>
        <p:nvSpPr>
          <p:cNvPr id="11" name="Rounded Rectangle 10"/>
          <p:cNvSpPr/>
          <p:nvPr/>
        </p:nvSpPr>
        <p:spPr>
          <a:xfrm>
            <a:off x="5043098" y="5566651"/>
            <a:ext cx="2105497" cy="724421"/>
          </a:xfrm>
          <a:prstGeom prst="roundRect">
            <a:avLst>
              <a:gd name="adj" fmla="val 25000"/>
            </a:avLst>
          </a:prstGeom>
          <a:solidFill>
            <a:srgbClr val="679778"/>
          </a:solidFill>
          <a:ln w="12700">
            <a:solidFill>
              <a:srgbClr val="D9D9D9"/>
            </a:solidFill>
          </a:ln>
          <a:effectLst/>
        </p:spPr>
        <p:txBody>
          <a:bodyPr rtlCol="0" anchor="ctr" wrap="square" tIns="18288" bIns="18288">
            <a:noAutofit/>
          </a:bodyPr>
          <a:lstStyle/>
          <a:p>
            <a:pPr algn="ctr">
              <a:spcBef>
                <a:spcPts val="0"/>
              </a:spcBef>
              <a:spcAft>
                <a:spcPts val="0"/>
              </a:spcAft>
            </a:pPr>
            <a:r>
              <a:rPr lang="tr-TR" sz="1650" b="1" i="0">
                <a:solidFill>
                  <a:srgbClr val="FFFFFF"/>
                </a:solidFill>
                <a:latin typeface="Calibri"/>
              </a:rPr>
              <a:t>Artvin</a:t>
            </a:r>
          </a:p>
          <a:p>
            <a:pPr algn="ctr">
              <a:spcBef>
                <a:spcPts val="0"/>
              </a:spcBef>
              <a:spcAft>
                <a:spcPts val="0"/>
              </a:spcAft>
            </a:pPr>
            <a:r>
              <a:rPr lang="tr-TR" sz="1650" b="0" i="0">
                <a:solidFill>
                  <a:srgbClr val="FFFFFF"/>
                </a:solidFill>
                <a:latin typeface="Calibri"/>
              </a:rPr>
              <a:t>100-150 bin ton</a:t>
            </a:r>
          </a:p>
        </p:txBody>
      </p:sp>
      <p:sp>
        <p:nvSpPr>
          <p:cNvPr id="12" name="Rounded Rectangle 11"/>
          <p:cNvSpPr/>
          <p:nvPr/>
        </p:nvSpPr>
        <p:spPr>
          <a:xfrm>
            <a:off x="7313188" y="5566651"/>
            <a:ext cx="2105497" cy="724421"/>
          </a:xfrm>
          <a:prstGeom prst="roundRect">
            <a:avLst>
              <a:gd name="adj" fmla="val 25000"/>
            </a:avLst>
          </a:prstGeom>
          <a:solidFill>
            <a:srgbClr val="85B697"/>
          </a:solidFill>
          <a:ln w="12700">
            <a:solidFill>
              <a:srgbClr val="D9D9D9"/>
            </a:solidFill>
          </a:ln>
          <a:effectLst/>
        </p:spPr>
        <p:txBody>
          <a:bodyPr rtlCol="0" anchor="ctr" wrap="square" tIns="18288" bIns="18288">
            <a:noAutofit/>
          </a:bodyPr>
          <a:lstStyle/>
          <a:p>
            <a:pPr algn="ctr">
              <a:spcBef>
                <a:spcPts val="0"/>
              </a:spcBef>
              <a:spcAft>
                <a:spcPts val="0"/>
              </a:spcAft>
            </a:pPr>
            <a:r>
              <a:rPr lang="tr-TR" sz="1650" b="1" i="0">
                <a:solidFill>
                  <a:srgbClr val="262626"/>
                </a:solidFill>
                <a:latin typeface="Calibri"/>
              </a:rPr>
              <a:t>Giresun</a:t>
            </a:r>
          </a:p>
          <a:p>
            <a:pPr algn="ctr">
              <a:spcBef>
                <a:spcPts val="0"/>
              </a:spcBef>
              <a:spcAft>
                <a:spcPts val="0"/>
              </a:spcAft>
            </a:pPr>
            <a:r>
              <a:rPr lang="tr-TR" sz="1650" b="0" i="0">
                <a:solidFill>
                  <a:srgbClr val="262626"/>
                </a:solidFill>
                <a:latin typeface="Calibri"/>
              </a:rPr>
              <a:t>30-40 bin ton</a:t>
            </a:r>
          </a:p>
        </p:txBody>
      </p:sp>
      <p:sp>
        <p:nvSpPr>
          <p:cNvPr id="13" name="Rounded Rectangle 12"/>
          <p:cNvSpPr/>
          <p:nvPr/>
        </p:nvSpPr>
        <p:spPr>
          <a:xfrm>
            <a:off x="9583277" y="5566651"/>
            <a:ext cx="2105497" cy="724421"/>
          </a:xfrm>
          <a:prstGeom prst="roundRect">
            <a:avLst>
              <a:gd name="adj" fmla="val 25000"/>
            </a:avLst>
          </a:prstGeom>
          <a:solidFill>
            <a:srgbClr val="A4D7BA"/>
          </a:solidFill>
          <a:ln w="12700">
            <a:solidFill>
              <a:srgbClr val="D9D9D9"/>
            </a:solidFill>
          </a:ln>
          <a:effectLst/>
        </p:spPr>
        <p:txBody>
          <a:bodyPr rtlCol="0" anchor="ctr" wrap="square" tIns="18288" bIns="18288">
            <a:noAutofit/>
          </a:bodyPr>
          <a:lstStyle/>
          <a:p>
            <a:pPr algn="ctr">
              <a:spcBef>
                <a:spcPts val="0"/>
              </a:spcBef>
              <a:spcAft>
                <a:spcPts val="0"/>
              </a:spcAft>
            </a:pPr>
            <a:r>
              <a:rPr lang="tr-TR" sz="1650" b="1" i="0">
                <a:solidFill>
                  <a:srgbClr val="262626"/>
                </a:solidFill>
                <a:latin typeface="Calibri"/>
              </a:rPr>
              <a:t>Ordu</a:t>
            </a:r>
          </a:p>
          <a:p>
            <a:pPr algn="ctr">
              <a:spcBef>
                <a:spcPts val="0"/>
              </a:spcBef>
              <a:spcAft>
                <a:spcPts val="0"/>
              </a:spcAft>
            </a:pPr>
            <a:r>
              <a:rPr lang="tr-TR" sz="1650" b="0" i="0">
                <a:solidFill>
                  <a:srgbClr val="262626"/>
                </a:solidFill>
                <a:latin typeface="Calibri"/>
              </a:rPr>
              <a:t>0-1 bin ton</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128 / 166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1.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200" b="1" i="0">
                <a:solidFill>
                  <a:srgbClr val="262626"/>
                </a:solidFill>
                <a:latin typeface="Calibri"/>
              </a:rPr>
              <a:t>Kenya ve Türkiye’de çay tarımının yapılmasıyla ilgili  I. Topoğrafik özellikler  II. Yağış rejimi  III. Yıllık sıcaklık ortalamaları  IV. Ekvator’a uzaklık  nedenlerinden hangileri ortaktır?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I</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II</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 ve II</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II ve III</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III ve IV</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129 / 166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1. soru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200" b="1" i="0">
                <a:solidFill>
                  <a:srgbClr val="262626"/>
                </a:solidFill>
                <a:latin typeface="Calibri"/>
              </a:rPr>
              <a:t>Kenya ve Türkiye’de çay tarımının yapılmasıyla ilgili  I. Topoğrafik özellikler  II. Yağış rejimi  III. Yıllık sıcaklık ortalamaları  IV. Ekvator’a uzaklık  nedenlerinden hangileri ortaktır?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Yalnız I</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Yalnız II</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I ve II</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II ve III</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III ve IV</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İki ülkede de çay engebeli, eğimli arazilerde (I) ve nemli, bol yağışlı alanlarda (II) yetiştirilir. Kenya Ekvator üzerinde, Türkiye orta kuşakta: Ekvator'a uzaklık (IV) ve sıcaklık ortalamaları (III) farklıdır.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130 / 166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 cevap: neden I ve II?</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a:t>
            </a:r>
          </a:p>
        </p:txBody>
      </p:sp>
      <p:pic>
        <p:nvPicPr>
          <p:cNvPr id="6" name="Picture 5" descr="sonu_cay_dunya_s184.jpg"/>
          <p:cNvPicPr>
            <a:picLocks noChangeAspect="1"/>
          </p:cNvPicPr>
          <p:nvPr/>
        </p:nvPicPr>
        <p:blipFill>
          <a:blip r:embed="rId3"/>
          <a:stretch>
            <a:fillRect/>
          </a:stretch>
        </p:blipFill>
        <p:spPr>
          <a:xfrm>
            <a:off x="502920" y="1216152"/>
            <a:ext cx="4892040" cy="3717317"/>
          </a:xfrm>
          <a:prstGeom prst="rect">
            <a:avLst/>
          </a:prstGeom>
          <a:ln w="9525">
            <a:solidFill>
              <a:srgbClr val="D9D9D9"/>
            </a:solidFill>
          </a:ln>
        </p:spPr>
      </p:pic>
      <p:cxnSp>
        <p:nvCxnSpPr>
          <p:cNvPr id="7" name="Connector 6"/>
          <p:cNvCxnSpPr/>
          <p:nvPr/>
        </p:nvCxnSpPr>
        <p:spPr>
          <a:xfrm>
            <a:off x="530648" y="4489503"/>
            <a:ext cx="4840545" cy="0"/>
          </a:xfrm>
          <a:prstGeom prst="line">
            <a:avLst/>
          </a:prstGeom>
          <a:ln w="28575">
            <a:solidFill>
              <a:srgbClr val="D3373A"/>
            </a:solidFill>
            <a:prstDash val="dash"/>
          </a:ln>
        </p:spPr>
      </p:cxnSp>
      <p:sp>
        <p:nvSpPr>
          <p:cNvPr id="8" name="Rounded Rectangle 7"/>
          <p:cNvSpPr/>
          <p:nvPr/>
        </p:nvSpPr>
        <p:spPr>
          <a:xfrm>
            <a:off x="3625639" y="4180761"/>
            <a:ext cx="1109126" cy="264108"/>
          </a:xfrm>
          <a:prstGeom prst="roundRect">
            <a:avLst>
              <a:gd name="adj" fmla="val 30000"/>
            </a:avLst>
          </a:prstGeom>
          <a:solidFill>
            <a:srgbClr val="FFFFFF"/>
          </a:solidFill>
          <a:ln w="9525">
            <a:solidFill>
              <a:srgbClr val="D3373A"/>
            </a:solidFill>
          </a:ln>
          <a:effectLst/>
        </p:spPr>
        <p:txBody>
          <a:bodyPr rtlCol="0" anchor="ctr" wrap="square" lIns="27432" rIns="27432" tIns="0" bIns="0">
            <a:noAutofit/>
          </a:bodyPr>
          <a:lstStyle/>
          <a:p>
            <a:pPr algn="ctr">
              <a:spcBef>
                <a:spcPts val="0"/>
              </a:spcBef>
              <a:spcAft>
                <a:spcPts val="0"/>
              </a:spcAft>
            </a:pPr>
            <a:r>
              <a:rPr lang="tr-TR" sz="1400" b="1" i="0">
                <a:solidFill>
                  <a:srgbClr val="D3373A"/>
                </a:solidFill>
                <a:latin typeface="Calibri"/>
              </a:rPr>
              <a:t>Ekvator (0°)</a:t>
            </a:r>
          </a:p>
        </p:txBody>
      </p:sp>
      <p:sp>
        <p:nvSpPr>
          <p:cNvPr id="9" name="TextBox 8"/>
          <p:cNvSpPr txBox="1"/>
          <p:nvPr/>
        </p:nvSpPr>
        <p:spPr>
          <a:xfrm>
            <a:off x="502920" y="4951757"/>
            <a:ext cx="489204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Harita: Ders kitabı s. 184 · Ekvator vurgusu ve etiketi sunuma aittir</a:t>
            </a:r>
          </a:p>
        </p:txBody>
      </p:sp>
      <p:sp>
        <p:nvSpPr>
          <p:cNvPr id="10" name="Rounded Rectangle 9"/>
          <p:cNvSpPr/>
          <p:nvPr/>
        </p:nvSpPr>
        <p:spPr>
          <a:xfrm>
            <a:off x="502920" y="5299229"/>
            <a:ext cx="4892040" cy="991843"/>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266"/>
              </a:spcAft>
            </a:pPr>
            <a:r>
              <a:rPr lang="tr-TR" sz="1600" b="1" i="0">
                <a:solidFill>
                  <a:srgbClr val="262626"/>
                </a:solidFill>
                <a:latin typeface="Calibri"/>
              </a:rPr>
              <a:t>Kenya: Ekvator üzerinde</a:t>
            </a:r>
          </a:p>
          <a:p>
            <a:pPr algn="l">
              <a:spcBef>
                <a:spcPts val="0"/>
              </a:spcBef>
              <a:spcAft>
                <a:spcPts val="0"/>
              </a:spcAft>
            </a:pPr>
            <a:r>
              <a:rPr lang="tr-TR" sz="1600" b="0" i="0">
                <a:solidFill>
                  <a:srgbClr val="262626"/>
                </a:solidFill>
                <a:latin typeface="Calibri"/>
              </a:rPr>
              <a:t>Türkiye'nin çay illeri: ≈ 41° K (Türkiye haritasının enlem değerleri)</a:t>
            </a:r>
          </a:p>
        </p:txBody>
      </p:sp>
      <p:sp>
        <p:nvSpPr>
          <p:cNvPr id="11" name="Rounded Rectangle 10"/>
          <p:cNvSpPr/>
          <p:nvPr/>
        </p:nvSpPr>
        <p:spPr>
          <a:xfrm>
            <a:off x="5596128" y="1216152"/>
            <a:ext cx="6092647" cy="1186434"/>
          </a:xfrm>
          <a:prstGeom prst="roundRect">
            <a:avLst>
              <a:gd name="adj" fmla="val 8000"/>
            </a:avLst>
          </a:prstGeom>
          <a:solidFill>
            <a:srgbClr val="E3F1E4"/>
          </a:solidFill>
          <a:ln w="19050">
            <a:solidFill>
              <a:srgbClr val="2E7D32"/>
            </a:solidFill>
          </a:ln>
          <a:effectLst/>
        </p:spPr>
        <p:txBody>
          <a:bodyPr rtlCol="0" anchor="ctr"/>
          <a:lstStyle/>
          <a:p/>
        </p:txBody>
      </p:sp>
      <p:sp>
        <p:nvSpPr>
          <p:cNvPr id="12" name="Oval 11"/>
          <p:cNvSpPr/>
          <p:nvPr/>
        </p:nvSpPr>
        <p:spPr>
          <a:xfrm>
            <a:off x="5705856" y="1525905"/>
            <a:ext cx="566928" cy="56692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I</a:t>
            </a:r>
          </a:p>
        </p:txBody>
      </p:sp>
      <p:sp>
        <p:nvSpPr>
          <p:cNvPr id="13" name="TextBox 12"/>
          <p:cNvSpPr txBox="1"/>
          <p:nvPr/>
        </p:nvSpPr>
        <p:spPr>
          <a:xfrm>
            <a:off x="6400800" y="1252728"/>
            <a:ext cx="3760927" cy="420624"/>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62626"/>
                </a:solidFill>
                <a:latin typeface="Calibri"/>
              </a:rPr>
              <a:t>Topoğrafik özellikler</a:t>
            </a:r>
          </a:p>
        </p:txBody>
      </p:sp>
      <p:sp>
        <p:nvSpPr>
          <p:cNvPr id="14" name="Rounded Rectangle 13"/>
          <p:cNvSpPr/>
          <p:nvPr/>
        </p:nvSpPr>
        <p:spPr>
          <a:xfrm>
            <a:off x="10225735" y="1289304"/>
            <a:ext cx="1353312" cy="365760"/>
          </a:xfrm>
          <a:prstGeom prst="roundRect">
            <a:avLst>
              <a:gd name="adj" fmla="val 40000"/>
            </a:avLst>
          </a:prstGeom>
          <a:solidFill>
            <a:srgbClr val="2E7D32"/>
          </a:solidFill>
          <a:ln>
            <a:noFill/>
          </a:ln>
          <a:effectLst/>
        </p:spPr>
        <p:txBody>
          <a:bodyPr rtlCol="0" anchor="ctr" wrap="square" lIns="27432" rIns="27432" tIns="0" bIns="0">
            <a:noAutofit/>
          </a:bodyPr>
          <a:lstStyle/>
          <a:p>
            <a:pPr algn="ctr">
              <a:spcBef>
                <a:spcPts val="0"/>
              </a:spcBef>
              <a:spcAft>
                <a:spcPts val="0"/>
              </a:spcAft>
            </a:pPr>
            <a:r>
              <a:rPr lang="tr-TR" sz="1500" b="1" i="0">
                <a:solidFill>
                  <a:srgbClr val="FFFFFF"/>
                </a:solidFill>
                <a:latin typeface="Calibri"/>
              </a:rPr>
              <a:t>ORTAK ✓</a:t>
            </a:r>
          </a:p>
        </p:txBody>
      </p:sp>
      <p:sp>
        <p:nvSpPr>
          <p:cNvPr id="15" name="TextBox 14"/>
          <p:cNvSpPr txBox="1"/>
          <p:nvPr/>
        </p:nvSpPr>
        <p:spPr>
          <a:xfrm>
            <a:off x="6400800" y="1673352"/>
            <a:ext cx="5223967" cy="692658"/>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262626"/>
                </a:solidFill>
                <a:latin typeface="Calibri"/>
              </a:rPr>
              <a:t>İki ülkede de çay engebeli, eğimli arazilerde yetiştirilir.</a:t>
            </a:r>
          </a:p>
        </p:txBody>
      </p:sp>
      <p:sp>
        <p:nvSpPr>
          <p:cNvPr id="16" name="Rounded Rectangle 15"/>
          <p:cNvSpPr/>
          <p:nvPr/>
        </p:nvSpPr>
        <p:spPr>
          <a:xfrm>
            <a:off x="5596128" y="2512314"/>
            <a:ext cx="6092647" cy="1186434"/>
          </a:xfrm>
          <a:prstGeom prst="roundRect">
            <a:avLst>
              <a:gd name="adj" fmla="val 8000"/>
            </a:avLst>
          </a:prstGeom>
          <a:solidFill>
            <a:srgbClr val="E3F1E4"/>
          </a:solidFill>
          <a:ln w="19050">
            <a:solidFill>
              <a:srgbClr val="2E7D32"/>
            </a:solidFill>
          </a:ln>
          <a:effectLst/>
        </p:spPr>
        <p:txBody>
          <a:bodyPr rtlCol="0" anchor="ctr"/>
          <a:lstStyle/>
          <a:p/>
        </p:txBody>
      </p:sp>
      <p:sp>
        <p:nvSpPr>
          <p:cNvPr id="17" name="Oval 16"/>
          <p:cNvSpPr/>
          <p:nvPr/>
        </p:nvSpPr>
        <p:spPr>
          <a:xfrm>
            <a:off x="5705856" y="2822067"/>
            <a:ext cx="566928" cy="56692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II</a:t>
            </a:r>
          </a:p>
        </p:txBody>
      </p:sp>
      <p:sp>
        <p:nvSpPr>
          <p:cNvPr id="18" name="TextBox 17"/>
          <p:cNvSpPr txBox="1"/>
          <p:nvPr/>
        </p:nvSpPr>
        <p:spPr>
          <a:xfrm>
            <a:off x="6400800" y="2548890"/>
            <a:ext cx="3760927" cy="420624"/>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62626"/>
                </a:solidFill>
                <a:latin typeface="Calibri"/>
              </a:rPr>
              <a:t>Yağış rejimi</a:t>
            </a:r>
          </a:p>
        </p:txBody>
      </p:sp>
      <p:sp>
        <p:nvSpPr>
          <p:cNvPr id="19" name="Rounded Rectangle 18"/>
          <p:cNvSpPr/>
          <p:nvPr/>
        </p:nvSpPr>
        <p:spPr>
          <a:xfrm>
            <a:off x="10225735" y="2585466"/>
            <a:ext cx="1353312" cy="365760"/>
          </a:xfrm>
          <a:prstGeom prst="roundRect">
            <a:avLst>
              <a:gd name="adj" fmla="val 40000"/>
            </a:avLst>
          </a:prstGeom>
          <a:solidFill>
            <a:srgbClr val="2E7D32"/>
          </a:solidFill>
          <a:ln>
            <a:noFill/>
          </a:ln>
          <a:effectLst/>
        </p:spPr>
        <p:txBody>
          <a:bodyPr rtlCol="0" anchor="ctr" wrap="square" lIns="27432" rIns="27432" tIns="0" bIns="0">
            <a:noAutofit/>
          </a:bodyPr>
          <a:lstStyle/>
          <a:p>
            <a:pPr algn="ctr">
              <a:spcBef>
                <a:spcPts val="0"/>
              </a:spcBef>
              <a:spcAft>
                <a:spcPts val="0"/>
              </a:spcAft>
            </a:pPr>
            <a:r>
              <a:rPr lang="tr-TR" sz="1500" b="1" i="0">
                <a:solidFill>
                  <a:srgbClr val="FFFFFF"/>
                </a:solidFill>
                <a:latin typeface="Calibri"/>
              </a:rPr>
              <a:t>ORTAK ✓</a:t>
            </a:r>
          </a:p>
        </p:txBody>
      </p:sp>
      <p:sp>
        <p:nvSpPr>
          <p:cNvPr id="20" name="TextBox 19"/>
          <p:cNvSpPr txBox="1"/>
          <p:nvPr/>
        </p:nvSpPr>
        <p:spPr>
          <a:xfrm>
            <a:off x="6400800" y="2969514"/>
            <a:ext cx="5223967" cy="692658"/>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262626"/>
                </a:solidFill>
                <a:latin typeface="Calibri"/>
              </a:rPr>
              <a:t>Çay nemli ve bol yağışlı alanlarda yetişir: iki ülkenin çay alanları da öyle.</a:t>
            </a:r>
          </a:p>
        </p:txBody>
      </p:sp>
      <p:sp>
        <p:nvSpPr>
          <p:cNvPr id="21" name="Rounded Rectangle 20"/>
          <p:cNvSpPr/>
          <p:nvPr/>
        </p:nvSpPr>
        <p:spPr>
          <a:xfrm>
            <a:off x="5596128" y="3808476"/>
            <a:ext cx="6092647" cy="1186434"/>
          </a:xfrm>
          <a:prstGeom prst="roundRect">
            <a:avLst>
              <a:gd name="adj" fmla="val 8000"/>
            </a:avLst>
          </a:prstGeom>
          <a:solidFill>
            <a:srgbClr val="F9E1E1"/>
          </a:solidFill>
          <a:ln w="19050">
            <a:solidFill>
              <a:srgbClr val="D3373A"/>
            </a:solidFill>
          </a:ln>
          <a:effectLst/>
        </p:spPr>
        <p:txBody>
          <a:bodyPr rtlCol="0" anchor="ctr"/>
          <a:lstStyle/>
          <a:p/>
        </p:txBody>
      </p:sp>
      <p:sp>
        <p:nvSpPr>
          <p:cNvPr id="22" name="Oval 21"/>
          <p:cNvSpPr/>
          <p:nvPr/>
        </p:nvSpPr>
        <p:spPr>
          <a:xfrm>
            <a:off x="5705856" y="4118229"/>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III</a:t>
            </a:r>
          </a:p>
        </p:txBody>
      </p:sp>
      <p:sp>
        <p:nvSpPr>
          <p:cNvPr id="23" name="TextBox 22"/>
          <p:cNvSpPr txBox="1"/>
          <p:nvPr/>
        </p:nvSpPr>
        <p:spPr>
          <a:xfrm>
            <a:off x="6400800" y="3845052"/>
            <a:ext cx="3760927" cy="420624"/>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62626"/>
                </a:solidFill>
                <a:latin typeface="Calibri"/>
              </a:rPr>
              <a:t>Yıllık sıcaklık ortalamaları</a:t>
            </a:r>
          </a:p>
        </p:txBody>
      </p:sp>
      <p:sp>
        <p:nvSpPr>
          <p:cNvPr id="24" name="Rounded Rectangle 23"/>
          <p:cNvSpPr/>
          <p:nvPr/>
        </p:nvSpPr>
        <p:spPr>
          <a:xfrm>
            <a:off x="10225735" y="3881628"/>
            <a:ext cx="1353312" cy="365760"/>
          </a:xfrm>
          <a:prstGeom prst="roundRect">
            <a:avLst>
              <a:gd name="adj" fmla="val 40000"/>
            </a:avLst>
          </a:prstGeom>
          <a:solidFill>
            <a:srgbClr val="D3373A"/>
          </a:solidFill>
          <a:ln>
            <a:noFill/>
          </a:ln>
          <a:effectLst/>
        </p:spPr>
        <p:txBody>
          <a:bodyPr rtlCol="0" anchor="ctr" wrap="square" lIns="27432" rIns="27432" tIns="0" bIns="0">
            <a:noAutofit/>
          </a:bodyPr>
          <a:lstStyle/>
          <a:p>
            <a:pPr algn="ctr">
              <a:spcBef>
                <a:spcPts val="0"/>
              </a:spcBef>
              <a:spcAft>
                <a:spcPts val="0"/>
              </a:spcAft>
            </a:pPr>
            <a:r>
              <a:rPr lang="tr-TR" sz="1500" b="1" i="0">
                <a:solidFill>
                  <a:srgbClr val="FFFFFF"/>
                </a:solidFill>
                <a:latin typeface="Calibri"/>
              </a:rPr>
              <a:t>FARKLI ✗</a:t>
            </a:r>
          </a:p>
        </p:txBody>
      </p:sp>
      <p:sp>
        <p:nvSpPr>
          <p:cNvPr id="25" name="TextBox 24"/>
          <p:cNvSpPr txBox="1"/>
          <p:nvPr/>
        </p:nvSpPr>
        <p:spPr>
          <a:xfrm>
            <a:off x="6400800" y="4265676"/>
            <a:ext cx="5223967" cy="692658"/>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262626"/>
                </a:solidFill>
                <a:latin typeface="Calibri"/>
              </a:rPr>
              <a:t>Kenya sıcak kuşakta, Türkiye orta kuşakta: ortalamalar farklı.</a:t>
            </a:r>
          </a:p>
        </p:txBody>
      </p:sp>
      <p:sp>
        <p:nvSpPr>
          <p:cNvPr id="26" name="Rounded Rectangle 25"/>
          <p:cNvSpPr/>
          <p:nvPr/>
        </p:nvSpPr>
        <p:spPr>
          <a:xfrm>
            <a:off x="5596128" y="5104638"/>
            <a:ext cx="6092647" cy="1186434"/>
          </a:xfrm>
          <a:prstGeom prst="roundRect">
            <a:avLst>
              <a:gd name="adj" fmla="val 8000"/>
            </a:avLst>
          </a:prstGeom>
          <a:solidFill>
            <a:srgbClr val="F9E1E1"/>
          </a:solidFill>
          <a:ln w="19050">
            <a:solidFill>
              <a:srgbClr val="D3373A"/>
            </a:solidFill>
          </a:ln>
          <a:effectLst/>
        </p:spPr>
        <p:txBody>
          <a:bodyPr rtlCol="0" anchor="ctr"/>
          <a:lstStyle/>
          <a:p/>
        </p:txBody>
      </p:sp>
      <p:sp>
        <p:nvSpPr>
          <p:cNvPr id="27" name="Oval 26"/>
          <p:cNvSpPr/>
          <p:nvPr/>
        </p:nvSpPr>
        <p:spPr>
          <a:xfrm>
            <a:off x="5705856" y="5414391"/>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IV</a:t>
            </a:r>
          </a:p>
        </p:txBody>
      </p:sp>
      <p:sp>
        <p:nvSpPr>
          <p:cNvPr id="28" name="TextBox 27"/>
          <p:cNvSpPr txBox="1"/>
          <p:nvPr/>
        </p:nvSpPr>
        <p:spPr>
          <a:xfrm>
            <a:off x="6400800" y="5141214"/>
            <a:ext cx="3760927" cy="420624"/>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62626"/>
                </a:solidFill>
                <a:latin typeface="Calibri"/>
              </a:rPr>
              <a:t>Ekvator'a uzaklık</a:t>
            </a:r>
          </a:p>
        </p:txBody>
      </p:sp>
      <p:sp>
        <p:nvSpPr>
          <p:cNvPr id="29" name="Rounded Rectangle 28"/>
          <p:cNvSpPr/>
          <p:nvPr/>
        </p:nvSpPr>
        <p:spPr>
          <a:xfrm>
            <a:off x="10225735" y="5177790"/>
            <a:ext cx="1353312" cy="365760"/>
          </a:xfrm>
          <a:prstGeom prst="roundRect">
            <a:avLst>
              <a:gd name="adj" fmla="val 40000"/>
            </a:avLst>
          </a:prstGeom>
          <a:solidFill>
            <a:srgbClr val="D3373A"/>
          </a:solidFill>
          <a:ln>
            <a:noFill/>
          </a:ln>
          <a:effectLst/>
        </p:spPr>
        <p:txBody>
          <a:bodyPr rtlCol="0" anchor="ctr" wrap="square" lIns="27432" rIns="27432" tIns="0" bIns="0">
            <a:noAutofit/>
          </a:bodyPr>
          <a:lstStyle/>
          <a:p>
            <a:pPr algn="ctr">
              <a:spcBef>
                <a:spcPts val="0"/>
              </a:spcBef>
              <a:spcAft>
                <a:spcPts val="0"/>
              </a:spcAft>
            </a:pPr>
            <a:r>
              <a:rPr lang="tr-TR" sz="1500" b="1" i="0">
                <a:solidFill>
                  <a:srgbClr val="FFFFFF"/>
                </a:solidFill>
                <a:latin typeface="Calibri"/>
              </a:rPr>
              <a:t>FARKLI ✗</a:t>
            </a:r>
          </a:p>
        </p:txBody>
      </p:sp>
      <p:sp>
        <p:nvSpPr>
          <p:cNvPr id="30" name="TextBox 29"/>
          <p:cNvSpPr txBox="1"/>
          <p:nvPr/>
        </p:nvSpPr>
        <p:spPr>
          <a:xfrm>
            <a:off x="6400800" y="5561838"/>
            <a:ext cx="5223967" cy="692658"/>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262626"/>
                </a:solidFill>
                <a:latin typeface="Calibri"/>
              </a:rPr>
              <a:t>Kenya Ekvator üzerinde (≈ 0°), Türkiye'nin çay illeri ≈ 41° K'de.</a:t>
            </a:r>
          </a:p>
        </p:txBody>
      </p:sp>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184-185</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131 / 166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2.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2</a:t>
            </a:r>
          </a:p>
        </p:txBody>
      </p:sp>
      <p:sp>
        <p:nvSpPr>
          <p:cNvPr id="6" name="Rounded Rectangle 5"/>
          <p:cNvSpPr/>
          <p:nvPr/>
        </p:nvSpPr>
        <p:spPr>
          <a:xfrm>
            <a:off x="502920" y="1216152"/>
            <a:ext cx="11185855" cy="914400"/>
          </a:xfrm>
          <a:prstGeom prst="roundRect">
            <a:avLst>
              <a:gd name="adj" fmla="val 12000"/>
            </a:avLst>
          </a:prstGeom>
          <a:solidFill>
            <a:srgbClr val="F0F0F0"/>
          </a:solidFill>
          <a:ln>
            <a:noFill/>
          </a:ln>
          <a:effectLst/>
        </p:spPr>
        <p:txBody>
          <a:bodyPr rtlCol="0" anchor="ctr"/>
          <a:lstStyle/>
          <a:p/>
        </p:txBody>
      </p:sp>
      <p:sp>
        <p:nvSpPr>
          <p:cNvPr id="7" name="Oval 6"/>
          <p:cNvSpPr/>
          <p:nvPr/>
        </p:nvSpPr>
        <p:spPr>
          <a:xfrm>
            <a:off x="612648" y="139903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2</a:t>
            </a:r>
          </a:p>
        </p:txBody>
      </p:sp>
      <p:sp>
        <p:nvSpPr>
          <p:cNvPr id="8" name="TextBox 7"/>
          <p:cNvSpPr txBox="1"/>
          <p:nvPr/>
        </p:nvSpPr>
        <p:spPr>
          <a:xfrm>
            <a:off x="1280160" y="1216152"/>
            <a:ext cx="10317175" cy="91440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Verilen metin ve haritadaki bilgilere göre aşağıdaki sorulardan hangilerine cevap verilebilir? (Birden çok seçenek işaretleyebilirsiniz.)</a:t>
            </a:r>
          </a:p>
        </p:txBody>
      </p:sp>
      <p:sp>
        <p:nvSpPr>
          <p:cNvPr id="9" name="Rounded Rectangle 8"/>
          <p:cNvSpPr/>
          <p:nvPr/>
        </p:nvSpPr>
        <p:spPr>
          <a:xfrm>
            <a:off x="502920" y="2267712"/>
            <a:ext cx="11185855" cy="438911"/>
          </a:xfrm>
          <a:prstGeom prst="roundRect">
            <a:avLst>
              <a:gd name="adj" fmla="val 20833"/>
            </a:avLst>
          </a:prstGeom>
          <a:solidFill>
            <a:srgbClr val="FFFFFF"/>
          </a:solidFill>
          <a:ln w="12700">
            <a:solidFill>
              <a:srgbClr val="D9D9D9"/>
            </a:solidFill>
          </a:ln>
          <a:effectLst/>
        </p:spPr>
        <p:txBody>
          <a:bodyPr rtlCol="0" anchor="ctr"/>
          <a:lstStyle/>
          <a:p/>
        </p:txBody>
      </p:sp>
      <p:sp>
        <p:nvSpPr>
          <p:cNvPr id="10" name="TextBox 9"/>
          <p:cNvSpPr txBox="1"/>
          <p:nvPr/>
        </p:nvSpPr>
        <p:spPr>
          <a:xfrm>
            <a:off x="557784" y="2267712"/>
            <a:ext cx="365760" cy="438911"/>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1</a:t>
            </a:r>
          </a:p>
        </p:txBody>
      </p:sp>
      <p:sp>
        <p:nvSpPr>
          <p:cNvPr id="11" name="Rectangle 10"/>
          <p:cNvSpPr/>
          <p:nvPr/>
        </p:nvSpPr>
        <p:spPr>
          <a:xfrm>
            <a:off x="941832" y="2313432"/>
            <a:ext cx="347471" cy="347471"/>
          </a:xfrm>
          <a:prstGeom prst="rect">
            <a:avLst/>
          </a:prstGeom>
          <a:solidFill>
            <a:srgbClr val="FFFFFF"/>
          </a:solidFill>
          <a:ln w="19050">
            <a:solidFill>
              <a:srgbClr val="4F4F4F"/>
            </a:solidFill>
          </a:ln>
          <a:effectLst/>
        </p:spPr>
        <p:txBody>
          <a:bodyPr rtlCol="0" anchor="ctr"/>
          <a:lstStyle/>
          <a:p/>
        </p:txBody>
      </p:sp>
      <p:sp>
        <p:nvSpPr>
          <p:cNvPr id="12" name="TextBox 11"/>
          <p:cNvSpPr txBox="1"/>
          <p:nvPr/>
        </p:nvSpPr>
        <p:spPr>
          <a:xfrm>
            <a:off x="1453896" y="2267712"/>
            <a:ext cx="10161727" cy="438911"/>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Dünyada en fazla çay üreten ülkeler hangileridir?</a:t>
            </a:r>
          </a:p>
        </p:txBody>
      </p:sp>
      <p:sp>
        <p:nvSpPr>
          <p:cNvPr id="13" name="Rounded Rectangle 12"/>
          <p:cNvSpPr/>
          <p:nvPr/>
        </p:nvSpPr>
        <p:spPr>
          <a:xfrm>
            <a:off x="502920" y="2779776"/>
            <a:ext cx="11185855" cy="438911"/>
          </a:xfrm>
          <a:prstGeom prst="roundRect">
            <a:avLst>
              <a:gd name="adj" fmla="val 20833"/>
            </a:avLst>
          </a:prstGeom>
          <a:solidFill>
            <a:srgbClr val="FFFFFF"/>
          </a:solidFill>
          <a:ln w="12700">
            <a:solidFill>
              <a:srgbClr val="D9D9D9"/>
            </a:solidFill>
          </a:ln>
          <a:effectLst/>
        </p:spPr>
        <p:txBody>
          <a:bodyPr rtlCol="0" anchor="ctr"/>
          <a:lstStyle/>
          <a:p/>
        </p:txBody>
      </p:sp>
      <p:sp>
        <p:nvSpPr>
          <p:cNvPr id="14" name="TextBox 13"/>
          <p:cNvSpPr txBox="1"/>
          <p:nvPr/>
        </p:nvSpPr>
        <p:spPr>
          <a:xfrm>
            <a:off x="557784" y="2779776"/>
            <a:ext cx="365760" cy="438911"/>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2</a:t>
            </a:r>
          </a:p>
        </p:txBody>
      </p:sp>
      <p:sp>
        <p:nvSpPr>
          <p:cNvPr id="15" name="Rectangle 14"/>
          <p:cNvSpPr/>
          <p:nvPr/>
        </p:nvSpPr>
        <p:spPr>
          <a:xfrm>
            <a:off x="941832" y="2825496"/>
            <a:ext cx="347471" cy="347471"/>
          </a:xfrm>
          <a:prstGeom prst="rect">
            <a:avLst/>
          </a:prstGeom>
          <a:solidFill>
            <a:srgbClr val="FFFFFF"/>
          </a:solidFill>
          <a:ln w="19050">
            <a:solidFill>
              <a:srgbClr val="4F4F4F"/>
            </a:solidFill>
          </a:ln>
          <a:effectLst/>
        </p:spPr>
        <p:txBody>
          <a:bodyPr rtlCol="0" anchor="ctr"/>
          <a:lstStyle/>
          <a:p/>
        </p:txBody>
      </p:sp>
      <p:sp>
        <p:nvSpPr>
          <p:cNvPr id="16" name="TextBox 15"/>
          <p:cNvSpPr txBox="1"/>
          <p:nvPr/>
        </p:nvSpPr>
        <p:spPr>
          <a:xfrm>
            <a:off x="1453896" y="2779776"/>
            <a:ext cx="10161727" cy="438911"/>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Türkiye’de çay tarımı en fazla nerelerde yapılmaktadır?</a:t>
            </a:r>
          </a:p>
        </p:txBody>
      </p:sp>
      <p:sp>
        <p:nvSpPr>
          <p:cNvPr id="17" name="Rounded Rectangle 16"/>
          <p:cNvSpPr/>
          <p:nvPr/>
        </p:nvSpPr>
        <p:spPr>
          <a:xfrm>
            <a:off x="502920" y="3291840"/>
            <a:ext cx="11185855" cy="438911"/>
          </a:xfrm>
          <a:prstGeom prst="roundRect">
            <a:avLst>
              <a:gd name="adj" fmla="val 20833"/>
            </a:avLst>
          </a:prstGeom>
          <a:solidFill>
            <a:srgbClr val="FFFFFF"/>
          </a:solidFill>
          <a:ln w="12700">
            <a:solidFill>
              <a:srgbClr val="D9D9D9"/>
            </a:solidFill>
          </a:ln>
          <a:effectLst/>
        </p:spPr>
        <p:txBody>
          <a:bodyPr rtlCol="0" anchor="ctr"/>
          <a:lstStyle/>
          <a:p/>
        </p:txBody>
      </p:sp>
      <p:sp>
        <p:nvSpPr>
          <p:cNvPr id="18" name="TextBox 17"/>
          <p:cNvSpPr txBox="1"/>
          <p:nvPr/>
        </p:nvSpPr>
        <p:spPr>
          <a:xfrm>
            <a:off x="557784" y="3291840"/>
            <a:ext cx="365760" cy="438911"/>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3</a:t>
            </a:r>
          </a:p>
        </p:txBody>
      </p:sp>
      <p:sp>
        <p:nvSpPr>
          <p:cNvPr id="19" name="Rectangle 18"/>
          <p:cNvSpPr/>
          <p:nvPr/>
        </p:nvSpPr>
        <p:spPr>
          <a:xfrm>
            <a:off x="941832" y="3337560"/>
            <a:ext cx="347471" cy="347471"/>
          </a:xfrm>
          <a:prstGeom prst="rect">
            <a:avLst/>
          </a:prstGeom>
          <a:solidFill>
            <a:srgbClr val="FFFFFF"/>
          </a:solidFill>
          <a:ln w="19050">
            <a:solidFill>
              <a:srgbClr val="4F4F4F"/>
            </a:solidFill>
          </a:ln>
          <a:effectLst/>
        </p:spPr>
        <p:txBody>
          <a:bodyPr rtlCol="0" anchor="ctr"/>
          <a:lstStyle/>
          <a:p/>
        </p:txBody>
      </p:sp>
      <p:sp>
        <p:nvSpPr>
          <p:cNvPr id="20" name="TextBox 19"/>
          <p:cNvSpPr txBox="1"/>
          <p:nvPr/>
        </p:nvSpPr>
        <p:spPr>
          <a:xfrm>
            <a:off x="1453896" y="3291840"/>
            <a:ext cx="10161727" cy="438911"/>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Çay ithalatında önde gelen ülkeler hangileridir?</a:t>
            </a:r>
          </a:p>
        </p:txBody>
      </p:sp>
      <p:sp>
        <p:nvSpPr>
          <p:cNvPr id="21" name="Rounded Rectangle 20"/>
          <p:cNvSpPr/>
          <p:nvPr/>
        </p:nvSpPr>
        <p:spPr>
          <a:xfrm>
            <a:off x="502920" y="3803904"/>
            <a:ext cx="11185855" cy="438911"/>
          </a:xfrm>
          <a:prstGeom prst="roundRect">
            <a:avLst>
              <a:gd name="adj" fmla="val 20833"/>
            </a:avLst>
          </a:prstGeom>
          <a:solidFill>
            <a:srgbClr val="FFFFFF"/>
          </a:solidFill>
          <a:ln w="12700">
            <a:solidFill>
              <a:srgbClr val="D9D9D9"/>
            </a:solidFill>
          </a:ln>
          <a:effectLst/>
        </p:spPr>
        <p:txBody>
          <a:bodyPr rtlCol="0" anchor="ctr"/>
          <a:lstStyle/>
          <a:p/>
        </p:txBody>
      </p:sp>
      <p:sp>
        <p:nvSpPr>
          <p:cNvPr id="22" name="TextBox 21"/>
          <p:cNvSpPr txBox="1"/>
          <p:nvPr/>
        </p:nvSpPr>
        <p:spPr>
          <a:xfrm>
            <a:off x="557784" y="3803904"/>
            <a:ext cx="365760" cy="438911"/>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4</a:t>
            </a:r>
          </a:p>
        </p:txBody>
      </p:sp>
      <p:sp>
        <p:nvSpPr>
          <p:cNvPr id="23" name="Rectangle 22"/>
          <p:cNvSpPr/>
          <p:nvPr/>
        </p:nvSpPr>
        <p:spPr>
          <a:xfrm>
            <a:off x="941832" y="3849624"/>
            <a:ext cx="347471" cy="347471"/>
          </a:xfrm>
          <a:prstGeom prst="rect">
            <a:avLst/>
          </a:prstGeom>
          <a:solidFill>
            <a:srgbClr val="FFFFFF"/>
          </a:solidFill>
          <a:ln w="19050">
            <a:solidFill>
              <a:srgbClr val="4F4F4F"/>
            </a:solidFill>
          </a:ln>
          <a:effectLst/>
        </p:spPr>
        <p:txBody>
          <a:bodyPr rtlCol="0" anchor="ctr"/>
          <a:lstStyle/>
          <a:p/>
        </p:txBody>
      </p:sp>
      <p:sp>
        <p:nvSpPr>
          <p:cNvPr id="24" name="TextBox 23"/>
          <p:cNvSpPr txBox="1"/>
          <p:nvPr/>
        </p:nvSpPr>
        <p:spPr>
          <a:xfrm>
            <a:off x="1453896" y="3803904"/>
            <a:ext cx="10161727" cy="438911"/>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Dünyada çayın yetişmesini etkileyen coğrafi faktörler nelerdir?</a:t>
            </a:r>
          </a:p>
        </p:txBody>
      </p:sp>
      <p:sp>
        <p:nvSpPr>
          <p:cNvPr id="25" name="Rounded Rectangle 24"/>
          <p:cNvSpPr/>
          <p:nvPr/>
        </p:nvSpPr>
        <p:spPr>
          <a:xfrm>
            <a:off x="502920" y="4315968"/>
            <a:ext cx="11185855" cy="438911"/>
          </a:xfrm>
          <a:prstGeom prst="roundRect">
            <a:avLst>
              <a:gd name="adj" fmla="val 20833"/>
            </a:avLst>
          </a:prstGeom>
          <a:solidFill>
            <a:srgbClr val="FFFFFF"/>
          </a:solidFill>
          <a:ln w="12700">
            <a:solidFill>
              <a:srgbClr val="D9D9D9"/>
            </a:solidFill>
          </a:ln>
          <a:effectLst/>
        </p:spPr>
        <p:txBody>
          <a:bodyPr rtlCol="0" anchor="ctr"/>
          <a:lstStyle/>
          <a:p/>
        </p:txBody>
      </p:sp>
      <p:sp>
        <p:nvSpPr>
          <p:cNvPr id="26" name="TextBox 25"/>
          <p:cNvSpPr txBox="1"/>
          <p:nvPr/>
        </p:nvSpPr>
        <p:spPr>
          <a:xfrm>
            <a:off x="557784" y="4315968"/>
            <a:ext cx="365760" cy="438911"/>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5</a:t>
            </a:r>
          </a:p>
        </p:txBody>
      </p:sp>
      <p:sp>
        <p:nvSpPr>
          <p:cNvPr id="27" name="Rectangle 26"/>
          <p:cNvSpPr/>
          <p:nvPr/>
        </p:nvSpPr>
        <p:spPr>
          <a:xfrm>
            <a:off x="941832" y="4361688"/>
            <a:ext cx="347471" cy="347471"/>
          </a:xfrm>
          <a:prstGeom prst="rect">
            <a:avLst/>
          </a:prstGeom>
          <a:solidFill>
            <a:srgbClr val="FFFFFF"/>
          </a:solidFill>
          <a:ln w="19050">
            <a:solidFill>
              <a:srgbClr val="4F4F4F"/>
            </a:solidFill>
          </a:ln>
          <a:effectLst/>
        </p:spPr>
        <p:txBody>
          <a:bodyPr rtlCol="0" anchor="ctr"/>
          <a:lstStyle/>
          <a:p/>
        </p:txBody>
      </p:sp>
      <p:sp>
        <p:nvSpPr>
          <p:cNvPr id="28" name="TextBox 27"/>
          <p:cNvSpPr txBox="1"/>
          <p:nvPr/>
        </p:nvSpPr>
        <p:spPr>
          <a:xfrm>
            <a:off x="1453896" y="4315968"/>
            <a:ext cx="10161727" cy="438911"/>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Dünyada çay tüketiminin en çok olduğu ülkeler hangileridir?</a:t>
            </a:r>
          </a:p>
        </p:txBody>
      </p:sp>
      <p:sp>
        <p:nvSpPr>
          <p:cNvPr id="29" name="Rounded Rectangle 28"/>
          <p:cNvSpPr/>
          <p:nvPr/>
        </p:nvSpPr>
        <p:spPr>
          <a:xfrm>
            <a:off x="502920" y="4828032"/>
            <a:ext cx="11185855" cy="438911"/>
          </a:xfrm>
          <a:prstGeom prst="roundRect">
            <a:avLst>
              <a:gd name="adj" fmla="val 20833"/>
            </a:avLst>
          </a:prstGeom>
          <a:solidFill>
            <a:srgbClr val="FFFFFF"/>
          </a:solidFill>
          <a:ln w="12700">
            <a:solidFill>
              <a:srgbClr val="D9D9D9"/>
            </a:solidFill>
          </a:ln>
          <a:effectLst/>
        </p:spPr>
        <p:txBody>
          <a:bodyPr rtlCol="0" anchor="ctr"/>
          <a:lstStyle/>
          <a:p/>
        </p:txBody>
      </p:sp>
      <p:sp>
        <p:nvSpPr>
          <p:cNvPr id="30" name="TextBox 29"/>
          <p:cNvSpPr txBox="1"/>
          <p:nvPr/>
        </p:nvSpPr>
        <p:spPr>
          <a:xfrm>
            <a:off x="557784" y="4828032"/>
            <a:ext cx="365760" cy="438911"/>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6</a:t>
            </a:r>
          </a:p>
        </p:txBody>
      </p:sp>
      <p:sp>
        <p:nvSpPr>
          <p:cNvPr id="31" name="Rectangle 30"/>
          <p:cNvSpPr/>
          <p:nvPr/>
        </p:nvSpPr>
        <p:spPr>
          <a:xfrm>
            <a:off x="941832" y="4873752"/>
            <a:ext cx="347471" cy="347471"/>
          </a:xfrm>
          <a:prstGeom prst="rect">
            <a:avLst/>
          </a:prstGeom>
          <a:solidFill>
            <a:srgbClr val="FFFFFF"/>
          </a:solidFill>
          <a:ln w="19050">
            <a:solidFill>
              <a:srgbClr val="4F4F4F"/>
            </a:solidFill>
          </a:ln>
          <a:effectLst/>
        </p:spPr>
        <p:txBody>
          <a:bodyPr rtlCol="0" anchor="ctr"/>
          <a:lstStyle/>
          <a:p/>
        </p:txBody>
      </p:sp>
      <p:sp>
        <p:nvSpPr>
          <p:cNvPr id="32" name="TextBox 31"/>
          <p:cNvSpPr txBox="1"/>
          <p:nvPr/>
        </p:nvSpPr>
        <p:spPr>
          <a:xfrm>
            <a:off x="1453896" y="4828032"/>
            <a:ext cx="10161727" cy="438911"/>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Çay tarımında makine kullanılamamasının nedenleri nelerdir?</a:t>
            </a:r>
          </a:p>
        </p:txBody>
      </p:sp>
      <p:sp>
        <p:nvSpPr>
          <p:cNvPr id="33" name="Rounded Rectangle 32"/>
          <p:cNvSpPr/>
          <p:nvPr/>
        </p:nvSpPr>
        <p:spPr>
          <a:xfrm>
            <a:off x="502920" y="5340096"/>
            <a:ext cx="11185855" cy="438911"/>
          </a:xfrm>
          <a:prstGeom prst="roundRect">
            <a:avLst>
              <a:gd name="adj" fmla="val 20833"/>
            </a:avLst>
          </a:prstGeom>
          <a:solidFill>
            <a:srgbClr val="FFFFFF"/>
          </a:solidFill>
          <a:ln w="12700">
            <a:solidFill>
              <a:srgbClr val="D9D9D9"/>
            </a:solidFill>
          </a:ln>
          <a:effectLst/>
        </p:spPr>
        <p:txBody>
          <a:bodyPr rtlCol="0" anchor="ctr"/>
          <a:lstStyle/>
          <a:p/>
        </p:txBody>
      </p:sp>
      <p:sp>
        <p:nvSpPr>
          <p:cNvPr id="34" name="TextBox 33"/>
          <p:cNvSpPr txBox="1"/>
          <p:nvPr/>
        </p:nvSpPr>
        <p:spPr>
          <a:xfrm>
            <a:off x="557784" y="5340096"/>
            <a:ext cx="365760" cy="438911"/>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7</a:t>
            </a:r>
          </a:p>
        </p:txBody>
      </p:sp>
      <p:sp>
        <p:nvSpPr>
          <p:cNvPr id="35" name="Rectangle 34"/>
          <p:cNvSpPr/>
          <p:nvPr/>
        </p:nvSpPr>
        <p:spPr>
          <a:xfrm>
            <a:off x="941832" y="5385816"/>
            <a:ext cx="347471" cy="347471"/>
          </a:xfrm>
          <a:prstGeom prst="rect">
            <a:avLst/>
          </a:prstGeom>
          <a:solidFill>
            <a:srgbClr val="FFFFFF"/>
          </a:solidFill>
          <a:ln w="19050">
            <a:solidFill>
              <a:srgbClr val="4F4F4F"/>
            </a:solidFill>
          </a:ln>
          <a:effectLst/>
        </p:spPr>
        <p:txBody>
          <a:bodyPr rtlCol="0" anchor="ctr"/>
          <a:lstStyle/>
          <a:p/>
        </p:txBody>
      </p:sp>
      <p:sp>
        <p:nvSpPr>
          <p:cNvPr id="36" name="TextBox 35"/>
          <p:cNvSpPr txBox="1"/>
          <p:nvPr/>
        </p:nvSpPr>
        <p:spPr>
          <a:xfrm>
            <a:off x="1453896" y="5340096"/>
            <a:ext cx="10161727" cy="438911"/>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Çay tarımı başka hangi sanayi sektörleriyle ilişkilidir?</a:t>
            </a:r>
          </a:p>
        </p:txBody>
      </p:sp>
      <p:sp>
        <p:nvSpPr>
          <p:cNvPr id="37" name="Rounded Rectangle 36"/>
          <p:cNvSpPr/>
          <p:nvPr/>
        </p:nvSpPr>
        <p:spPr>
          <a:xfrm>
            <a:off x="502920" y="5852160"/>
            <a:ext cx="11185855" cy="438911"/>
          </a:xfrm>
          <a:prstGeom prst="roundRect">
            <a:avLst>
              <a:gd name="adj" fmla="val 20833"/>
            </a:avLst>
          </a:prstGeom>
          <a:solidFill>
            <a:srgbClr val="FFFFFF"/>
          </a:solidFill>
          <a:ln w="12700">
            <a:solidFill>
              <a:srgbClr val="D9D9D9"/>
            </a:solidFill>
          </a:ln>
          <a:effectLst/>
        </p:spPr>
        <p:txBody>
          <a:bodyPr rtlCol="0" anchor="ctr"/>
          <a:lstStyle/>
          <a:p/>
        </p:txBody>
      </p:sp>
      <p:sp>
        <p:nvSpPr>
          <p:cNvPr id="38" name="TextBox 37"/>
          <p:cNvSpPr txBox="1"/>
          <p:nvPr/>
        </p:nvSpPr>
        <p:spPr>
          <a:xfrm>
            <a:off x="557784" y="5852160"/>
            <a:ext cx="365760" cy="438911"/>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8</a:t>
            </a:r>
          </a:p>
        </p:txBody>
      </p:sp>
      <p:sp>
        <p:nvSpPr>
          <p:cNvPr id="39" name="Rectangle 38"/>
          <p:cNvSpPr/>
          <p:nvPr/>
        </p:nvSpPr>
        <p:spPr>
          <a:xfrm>
            <a:off x="941832" y="5897880"/>
            <a:ext cx="347471" cy="347471"/>
          </a:xfrm>
          <a:prstGeom prst="rect">
            <a:avLst/>
          </a:prstGeom>
          <a:solidFill>
            <a:srgbClr val="FFFFFF"/>
          </a:solidFill>
          <a:ln w="19050">
            <a:solidFill>
              <a:srgbClr val="4F4F4F"/>
            </a:solidFill>
          </a:ln>
          <a:effectLst/>
        </p:spPr>
        <p:txBody>
          <a:bodyPr rtlCol="0" anchor="ctr"/>
          <a:lstStyle/>
          <a:p/>
        </p:txBody>
      </p:sp>
      <p:sp>
        <p:nvSpPr>
          <p:cNvPr id="40" name="TextBox 39"/>
          <p:cNvSpPr txBox="1"/>
          <p:nvPr/>
        </p:nvSpPr>
        <p:spPr>
          <a:xfrm>
            <a:off x="1453896" y="5852160"/>
            <a:ext cx="10161727" cy="438911"/>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Çay üretiminin her yerde yapılamamasının nedenleri nelerdir?</a:t>
            </a:r>
          </a:p>
        </p:txBody>
      </p:sp>
      <p:sp>
        <p:nvSpPr>
          <p:cNvPr id="41" name="TextBox 4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42" name="Rounded Rectangle 4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a:t>
            </a:r>
          </a:p>
        </p:txBody>
      </p:sp>
      <p:sp>
        <p:nvSpPr>
          <p:cNvPr id="43" name="TextBox 4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132 / 166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2</a:t>
            </a:r>
          </a:p>
        </p:txBody>
      </p:sp>
      <p:sp>
        <p:nvSpPr>
          <p:cNvPr id="6" name="Rounded Rectangle 5"/>
          <p:cNvSpPr/>
          <p:nvPr/>
        </p:nvSpPr>
        <p:spPr>
          <a:xfrm>
            <a:off x="502920" y="1216152"/>
            <a:ext cx="11185855" cy="564642"/>
          </a:xfrm>
          <a:prstGeom prst="roundRect">
            <a:avLst>
              <a:gd name="adj" fmla="val 16194"/>
            </a:avLst>
          </a:prstGeom>
          <a:solidFill>
            <a:srgbClr val="E3F1E4"/>
          </a:solidFill>
          <a:ln w="22225">
            <a:solidFill>
              <a:srgbClr val="2E7D32"/>
            </a:solidFill>
          </a:ln>
          <a:effectLst/>
        </p:spPr>
        <p:txBody>
          <a:bodyPr rtlCol="0" anchor="ctr"/>
          <a:lstStyle/>
          <a:p/>
        </p:txBody>
      </p:sp>
      <p:sp>
        <p:nvSpPr>
          <p:cNvPr id="7" name="TextBox 6"/>
          <p:cNvSpPr txBox="1"/>
          <p:nvPr/>
        </p:nvSpPr>
        <p:spPr>
          <a:xfrm>
            <a:off x="557784" y="1216152"/>
            <a:ext cx="365760" cy="56464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1</a:t>
            </a:r>
          </a:p>
        </p:txBody>
      </p:sp>
      <p:sp>
        <p:nvSpPr>
          <p:cNvPr id="8" name="Rectangle 7"/>
          <p:cNvSpPr/>
          <p:nvPr/>
        </p:nvSpPr>
        <p:spPr>
          <a:xfrm>
            <a:off x="941832" y="1315593"/>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9" name="TextBox 8"/>
          <p:cNvSpPr txBox="1"/>
          <p:nvPr/>
        </p:nvSpPr>
        <p:spPr>
          <a:xfrm>
            <a:off x="1453896" y="1216152"/>
            <a:ext cx="5784073" cy="564642"/>
          </a:xfrm>
          <a:prstGeom prst="rect">
            <a:avLst/>
          </a:prstGeom>
          <a:noFill/>
        </p:spPr>
        <p:txBody>
          <a:bodyPr wrap="square" anchor="ctr" lIns="73152" rIns="73152" tIns="36576" bIns="36576">
            <a:noAutofit/>
          </a:bodyPr>
          <a:lstStyle/>
          <a:p>
            <a:pPr algn="l">
              <a:spcBef>
                <a:spcPts val="0"/>
              </a:spcBef>
              <a:spcAft>
                <a:spcPts val="0"/>
              </a:spcAft>
            </a:pPr>
            <a:r>
              <a:rPr lang="tr-TR" sz="1650" b="1" i="0">
                <a:solidFill>
                  <a:srgbClr val="262626"/>
                </a:solidFill>
                <a:latin typeface="Calibri"/>
              </a:rPr>
              <a:t>Dünyada en fazla çay üreten ülkeler hangileridir?</a:t>
            </a:r>
          </a:p>
        </p:txBody>
      </p:sp>
      <p:sp>
        <p:nvSpPr>
          <p:cNvPr id="10" name="TextBox 9"/>
          <p:cNvSpPr txBox="1"/>
          <p:nvPr/>
        </p:nvSpPr>
        <p:spPr>
          <a:xfrm>
            <a:off x="7347697" y="1216152"/>
            <a:ext cx="4267925" cy="56464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E7D32"/>
                </a:solidFill>
                <a:latin typeface="Calibri"/>
              </a:rPr>
              <a:t>→ Metin: ilk beş ülke · dünya haritası</a:t>
            </a:r>
          </a:p>
        </p:txBody>
      </p:sp>
      <p:sp>
        <p:nvSpPr>
          <p:cNvPr id="11" name="Rounded Rectangle 10"/>
          <p:cNvSpPr/>
          <p:nvPr/>
        </p:nvSpPr>
        <p:spPr>
          <a:xfrm>
            <a:off x="502920" y="1853946"/>
            <a:ext cx="11185855" cy="564642"/>
          </a:xfrm>
          <a:prstGeom prst="roundRect">
            <a:avLst>
              <a:gd name="adj" fmla="val 16194"/>
            </a:avLst>
          </a:prstGeom>
          <a:solidFill>
            <a:srgbClr val="E3F1E4"/>
          </a:solidFill>
          <a:ln w="22225">
            <a:solidFill>
              <a:srgbClr val="2E7D32"/>
            </a:solidFill>
          </a:ln>
          <a:effectLst/>
        </p:spPr>
        <p:txBody>
          <a:bodyPr rtlCol="0" anchor="ctr"/>
          <a:lstStyle/>
          <a:p/>
        </p:txBody>
      </p:sp>
      <p:sp>
        <p:nvSpPr>
          <p:cNvPr id="12" name="TextBox 11"/>
          <p:cNvSpPr txBox="1"/>
          <p:nvPr/>
        </p:nvSpPr>
        <p:spPr>
          <a:xfrm>
            <a:off x="557784" y="1853946"/>
            <a:ext cx="365760" cy="56464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2</a:t>
            </a:r>
          </a:p>
        </p:txBody>
      </p:sp>
      <p:sp>
        <p:nvSpPr>
          <p:cNvPr id="13" name="Rectangle 12"/>
          <p:cNvSpPr/>
          <p:nvPr/>
        </p:nvSpPr>
        <p:spPr>
          <a:xfrm>
            <a:off x="941832" y="1953387"/>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4" name="TextBox 13"/>
          <p:cNvSpPr txBox="1"/>
          <p:nvPr/>
        </p:nvSpPr>
        <p:spPr>
          <a:xfrm>
            <a:off x="1453896" y="1853946"/>
            <a:ext cx="5784073" cy="564642"/>
          </a:xfrm>
          <a:prstGeom prst="rect">
            <a:avLst/>
          </a:prstGeom>
          <a:noFill/>
        </p:spPr>
        <p:txBody>
          <a:bodyPr wrap="square" anchor="ctr" lIns="73152" rIns="73152" tIns="36576" bIns="36576">
            <a:noAutofit/>
          </a:bodyPr>
          <a:lstStyle/>
          <a:p>
            <a:pPr algn="l">
              <a:spcBef>
                <a:spcPts val="0"/>
              </a:spcBef>
              <a:spcAft>
                <a:spcPts val="0"/>
              </a:spcAft>
            </a:pPr>
            <a:r>
              <a:rPr lang="tr-TR" sz="1650" b="1" i="0">
                <a:solidFill>
                  <a:srgbClr val="262626"/>
                </a:solidFill>
                <a:latin typeface="Calibri"/>
              </a:rPr>
              <a:t>Türkiye’de çay tarımı en fazla nerelerde yapılmaktadır?</a:t>
            </a:r>
          </a:p>
        </p:txBody>
      </p:sp>
      <p:sp>
        <p:nvSpPr>
          <p:cNvPr id="15" name="TextBox 14"/>
          <p:cNvSpPr txBox="1"/>
          <p:nvPr/>
        </p:nvSpPr>
        <p:spPr>
          <a:xfrm>
            <a:off x="7347697" y="1853946"/>
            <a:ext cx="4267925" cy="56464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E7D32"/>
                </a:solidFill>
                <a:latin typeface="Calibri"/>
              </a:rPr>
              <a:t>→ Metin: sırasıyla Rize, Trabzon … · Türkiye haritası</a:t>
            </a:r>
          </a:p>
        </p:txBody>
      </p:sp>
      <p:sp>
        <p:nvSpPr>
          <p:cNvPr id="16" name="Rounded Rectangle 15"/>
          <p:cNvSpPr/>
          <p:nvPr/>
        </p:nvSpPr>
        <p:spPr>
          <a:xfrm>
            <a:off x="502920" y="2491740"/>
            <a:ext cx="11185855" cy="564642"/>
          </a:xfrm>
          <a:prstGeom prst="roundRect">
            <a:avLst>
              <a:gd name="adj" fmla="val 16194"/>
            </a:avLst>
          </a:prstGeom>
          <a:solidFill>
            <a:srgbClr val="F9E1E1"/>
          </a:solidFill>
          <a:ln w="22225">
            <a:solidFill>
              <a:srgbClr val="D3373A"/>
            </a:solidFill>
          </a:ln>
          <a:effectLst/>
        </p:spPr>
        <p:txBody>
          <a:bodyPr rtlCol="0" anchor="ctr"/>
          <a:lstStyle/>
          <a:p/>
        </p:txBody>
      </p:sp>
      <p:sp>
        <p:nvSpPr>
          <p:cNvPr id="17" name="TextBox 16"/>
          <p:cNvSpPr txBox="1"/>
          <p:nvPr/>
        </p:nvSpPr>
        <p:spPr>
          <a:xfrm>
            <a:off x="557784" y="2491740"/>
            <a:ext cx="365760" cy="56464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3</a:t>
            </a:r>
          </a:p>
        </p:txBody>
      </p:sp>
      <p:sp>
        <p:nvSpPr>
          <p:cNvPr id="18" name="Rectangle 17"/>
          <p:cNvSpPr/>
          <p:nvPr/>
        </p:nvSpPr>
        <p:spPr>
          <a:xfrm>
            <a:off x="941832" y="2591181"/>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9" name="TextBox 18"/>
          <p:cNvSpPr txBox="1"/>
          <p:nvPr/>
        </p:nvSpPr>
        <p:spPr>
          <a:xfrm>
            <a:off x="1453896" y="2491740"/>
            <a:ext cx="5784073" cy="564642"/>
          </a:xfrm>
          <a:prstGeom prst="rect">
            <a:avLst/>
          </a:prstGeom>
          <a:noFill/>
        </p:spPr>
        <p:txBody>
          <a:bodyPr wrap="square" anchor="ctr" lIns="73152" rIns="73152" tIns="36576" bIns="36576">
            <a:noAutofit/>
          </a:bodyPr>
          <a:lstStyle/>
          <a:p>
            <a:pPr algn="l">
              <a:spcBef>
                <a:spcPts val="0"/>
              </a:spcBef>
              <a:spcAft>
                <a:spcPts val="0"/>
              </a:spcAft>
            </a:pPr>
            <a:r>
              <a:rPr lang="tr-TR" sz="1650" b="0" i="0">
                <a:solidFill>
                  <a:srgbClr val="262626"/>
                </a:solidFill>
                <a:latin typeface="Calibri"/>
              </a:rPr>
              <a:t>Çay ithalatında önde gelen ülkeler hangileridir?</a:t>
            </a:r>
          </a:p>
        </p:txBody>
      </p:sp>
      <p:sp>
        <p:nvSpPr>
          <p:cNvPr id="20" name="TextBox 19"/>
          <p:cNvSpPr txBox="1"/>
          <p:nvPr/>
        </p:nvSpPr>
        <p:spPr>
          <a:xfrm>
            <a:off x="7347697" y="2491740"/>
            <a:ext cx="4267925" cy="56464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D3373A"/>
                </a:solidFill>
                <a:latin typeface="Calibri"/>
              </a:rPr>
              <a:t>→ İthalat (dışarıdan alım) bilgisi yok</a:t>
            </a:r>
          </a:p>
        </p:txBody>
      </p:sp>
      <p:sp>
        <p:nvSpPr>
          <p:cNvPr id="21" name="Rounded Rectangle 20"/>
          <p:cNvSpPr/>
          <p:nvPr/>
        </p:nvSpPr>
        <p:spPr>
          <a:xfrm>
            <a:off x="502920" y="3129534"/>
            <a:ext cx="11185855" cy="564642"/>
          </a:xfrm>
          <a:prstGeom prst="roundRect">
            <a:avLst>
              <a:gd name="adj" fmla="val 16194"/>
            </a:avLst>
          </a:prstGeom>
          <a:solidFill>
            <a:srgbClr val="E3F1E4"/>
          </a:solidFill>
          <a:ln w="22225">
            <a:solidFill>
              <a:srgbClr val="2E7D32"/>
            </a:solidFill>
          </a:ln>
          <a:effectLst/>
        </p:spPr>
        <p:txBody>
          <a:bodyPr rtlCol="0" anchor="ctr"/>
          <a:lstStyle/>
          <a:p/>
        </p:txBody>
      </p:sp>
      <p:sp>
        <p:nvSpPr>
          <p:cNvPr id="22" name="TextBox 21"/>
          <p:cNvSpPr txBox="1"/>
          <p:nvPr/>
        </p:nvSpPr>
        <p:spPr>
          <a:xfrm>
            <a:off x="557784" y="3129534"/>
            <a:ext cx="365760" cy="56464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4</a:t>
            </a:r>
          </a:p>
        </p:txBody>
      </p:sp>
      <p:sp>
        <p:nvSpPr>
          <p:cNvPr id="23" name="Rectangle 22"/>
          <p:cNvSpPr/>
          <p:nvPr/>
        </p:nvSpPr>
        <p:spPr>
          <a:xfrm>
            <a:off x="941832" y="3228975"/>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4" name="TextBox 23"/>
          <p:cNvSpPr txBox="1"/>
          <p:nvPr/>
        </p:nvSpPr>
        <p:spPr>
          <a:xfrm>
            <a:off x="1453896" y="3129534"/>
            <a:ext cx="5784073" cy="564642"/>
          </a:xfrm>
          <a:prstGeom prst="rect">
            <a:avLst/>
          </a:prstGeom>
          <a:noFill/>
        </p:spPr>
        <p:txBody>
          <a:bodyPr wrap="square" anchor="ctr" lIns="73152" rIns="73152" tIns="36576" bIns="36576">
            <a:noAutofit/>
          </a:bodyPr>
          <a:lstStyle/>
          <a:p>
            <a:pPr algn="l">
              <a:spcBef>
                <a:spcPts val="0"/>
              </a:spcBef>
              <a:spcAft>
                <a:spcPts val="0"/>
              </a:spcAft>
            </a:pPr>
            <a:r>
              <a:rPr lang="tr-TR" sz="1650" b="1" i="0">
                <a:solidFill>
                  <a:srgbClr val="262626"/>
                </a:solidFill>
                <a:latin typeface="Calibri"/>
              </a:rPr>
              <a:t>Dünyada çayın yetişmesini etkileyen coğrafi faktörler nelerdir?</a:t>
            </a:r>
          </a:p>
        </p:txBody>
      </p:sp>
      <p:sp>
        <p:nvSpPr>
          <p:cNvPr id="25" name="TextBox 24"/>
          <p:cNvSpPr txBox="1"/>
          <p:nvPr/>
        </p:nvSpPr>
        <p:spPr>
          <a:xfrm>
            <a:off x="7347697" y="3129534"/>
            <a:ext cx="4267925" cy="56464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E7D32"/>
                </a:solidFill>
                <a:latin typeface="Calibri"/>
              </a:rPr>
              <a:t>→ Metin: yükselti, nem, yağış, toprak, sıcaklık, enlem</a:t>
            </a:r>
          </a:p>
        </p:txBody>
      </p:sp>
      <p:sp>
        <p:nvSpPr>
          <p:cNvPr id="26" name="Rounded Rectangle 25"/>
          <p:cNvSpPr/>
          <p:nvPr/>
        </p:nvSpPr>
        <p:spPr>
          <a:xfrm>
            <a:off x="502920" y="3767328"/>
            <a:ext cx="11185855" cy="564642"/>
          </a:xfrm>
          <a:prstGeom prst="roundRect">
            <a:avLst>
              <a:gd name="adj" fmla="val 16194"/>
            </a:avLst>
          </a:prstGeom>
          <a:solidFill>
            <a:srgbClr val="F9E1E1"/>
          </a:solidFill>
          <a:ln w="22225">
            <a:solidFill>
              <a:srgbClr val="D3373A"/>
            </a:solidFill>
          </a:ln>
          <a:effectLst/>
        </p:spPr>
        <p:txBody>
          <a:bodyPr rtlCol="0" anchor="ctr"/>
          <a:lstStyle/>
          <a:p/>
        </p:txBody>
      </p:sp>
      <p:sp>
        <p:nvSpPr>
          <p:cNvPr id="27" name="TextBox 26"/>
          <p:cNvSpPr txBox="1"/>
          <p:nvPr/>
        </p:nvSpPr>
        <p:spPr>
          <a:xfrm>
            <a:off x="557784" y="3767328"/>
            <a:ext cx="365760" cy="56464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5</a:t>
            </a:r>
          </a:p>
        </p:txBody>
      </p:sp>
      <p:sp>
        <p:nvSpPr>
          <p:cNvPr id="28" name="Rectangle 27"/>
          <p:cNvSpPr/>
          <p:nvPr/>
        </p:nvSpPr>
        <p:spPr>
          <a:xfrm>
            <a:off x="941832" y="3866769"/>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9" name="TextBox 28"/>
          <p:cNvSpPr txBox="1"/>
          <p:nvPr/>
        </p:nvSpPr>
        <p:spPr>
          <a:xfrm>
            <a:off x="1453896" y="3767328"/>
            <a:ext cx="5784073" cy="564642"/>
          </a:xfrm>
          <a:prstGeom prst="rect">
            <a:avLst/>
          </a:prstGeom>
          <a:noFill/>
        </p:spPr>
        <p:txBody>
          <a:bodyPr wrap="square" anchor="ctr" lIns="73152" rIns="73152" tIns="36576" bIns="36576">
            <a:noAutofit/>
          </a:bodyPr>
          <a:lstStyle/>
          <a:p>
            <a:pPr algn="l">
              <a:spcBef>
                <a:spcPts val="0"/>
              </a:spcBef>
              <a:spcAft>
                <a:spcPts val="0"/>
              </a:spcAft>
            </a:pPr>
            <a:r>
              <a:rPr lang="tr-TR" sz="1650" b="0" i="0">
                <a:solidFill>
                  <a:srgbClr val="262626"/>
                </a:solidFill>
                <a:latin typeface="Calibri"/>
              </a:rPr>
              <a:t>Dünyada çay tüketiminin en çok olduğu ülkeler hangileridir?</a:t>
            </a:r>
          </a:p>
        </p:txBody>
      </p:sp>
      <p:sp>
        <p:nvSpPr>
          <p:cNvPr id="30" name="TextBox 29"/>
          <p:cNvSpPr txBox="1"/>
          <p:nvPr/>
        </p:nvSpPr>
        <p:spPr>
          <a:xfrm>
            <a:off x="7347697" y="3767328"/>
            <a:ext cx="4267925" cy="56464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D3373A"/>
                </a:solidFill>
                <a:latin typeface="Calibri"/>
              </a:rPr>
              <a:t>→ Tüketim bilgisi yok; metin üretimi anlatır</a:t>
            </a:r>
          </a:p>
        </p:txBody>
      </p:sp>
      <p:sp>
        <p:nvSpPr>
          <p:cNvPr id="31" name="Rounded Rectangle 30"/>
          <p:cNvSpPr/>
          <p:nvPr/>
        </p:nvSpPr>
        <p:spPr>
          <a:xfrm>
            <a:off x="502920" y="4405122"/>
            <a:ext cx="11185855" cy="564642"/>
          </a:xfrm>
          <a:prstGeom prst="roundRect">
            <a:avLst>
              <a:gd name="adj" fmla="val 16194"/>
            </a:avLst>
          </a:prstGeom>
          <a:solidFill>
            <a:srgbClr val="E3F1E4"/>
          </a:solidFill>
          <a:ln w="22225">
            <a:solidFill>
              <a:srgbClr val="2E7D32"/>
            </a:solidFill>
          </a:ln>
          <a:effectLst/>
        </p:spPr>
        <p:txBody>
          <a:bodyPr rtlCol="0" anchor="ctr"/>
          <a:lstStyle/>
          <a:p/>
        </p:txBody>
      </p:sp>
      <p:sp>
        <p:nvSpPr>
          <p:cNvPr id="32" name="TextBox 31"/>
          <p:cNvSpPr txBox="1"/>
          <p:nvPr/>
        </p:nvSpPr>
        <p:spPr>
          <a:xfrm>
            <a:off x="557784" y="4405122"/>
            <a:ext cx="365760" cy="56464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6</a:t>
            </a:r>
          </a:p>
        </p:txBody>
      </p:sp>
      <p:sp>
        <p:nvSpPr>
          <p:cNvPr id="33" name="Rectangle 32"/>
          <p:cNvSpPr/>
          <p:nvPr/>
        </p:nvSpPr>
        <p:spPr>
          <a:xfrm>
            <a:off x="941832" y="4504563"/>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34" name="TextBox 33"/>
          <p:cNvSpPr txBox="1"/>
          <p:nvPr/>
        </p:nvSpPr>
        <p:spPr>
          <a:xfrm>
            <a:off x="1453896" y="4405122"/>
            <a:ext cx="5784073" cy="564642"/>
          </a:xfrm>
          <a:prstGeom prst="rect">
            <a:avLst/>
          </a:prstGeom>
          <a:noFill/>
        </p:spPr>
        <p:txBody>
          <a:bodyPr wrap="square" anchor="ctr" lIns="73152" rIns="73152" tIns="36576" bIns="36576">
            <a:noAutofit/>
          </a:bodyPr>
          <a:lstStyle/>
          <a:p>
            <a:pPr algn="l">
              <a:spcBef>
                <a:spcPts val="0"/>
              </a:spcBef>
              <a:spcAft>
                <a:spcPts val="0"/>
              </a:spcAft>
            </a:pPr>
            <a:r>
              <a:rPr lang="tr-TR" sz="1650" b="1" i="0">
                <a:solidFill>
                  <a:srgbClr val="262626"/>
                </a:solidFill>
                <a:latin typeface="Calibri"/>
              </a:rPr>
              <a:t>Çay tarımında makine kullanılamamasının nedenleri nelerdir?</a:t>
            </a:r>
          </a:p>
        </p:txBody>
      </p:sp>
      <p:sp>
        <p:nvSpPr>
          <p:cNvPr id="35" name="TextBox 34"/>
          <p:cNvSpPr txBox="1"/>
          <p:nvPr/>
        </p:nvSpPr>
        <p:spPr>
          <a:xfrm>
            <a:off x="7347697" y="4405122"/>
            <a:ext cx="4267925" cy="56464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E7D32"/>
                </a:solidFill>
                <a:latin typeface="Calibri"/>
              </a:rPr>
              <a:t>→ Metin: engebeli arazi, insan emeği gerekir</a:t>
            </a:r>
          </a:p>
        </p:txBody>
      </p:sp>
      <p:sp>
        <p:nvSpPr>
          <p:cNvPr id="36" name="Rounded Rectangle 35"/>
          <p:cNvSpPr/>
          <p:nvPr/>
        </p:nvSpPr>
        <p:spPr>
          <a:xfrm>
            <a:off x="502920" y="5042916"/>
            <a:ext cx="11185855" cy="564642"/>
          </a:xfrm>
          <a:prstGeom prst="roundRect">
            <a:avLst>
              <a:gd name="adj" fmla="val 16194"/>
            </a:avLst>
          </a:prstGeom>
          <a:solidFill>
            <a:srgbClr val="F9E1E1"/>
          </a:solidFill>
          <a:ln w="22225">
            <a:solidFill>
              <a:srgbClr val="D3373A"/>
            </a:solidFill>
          </a:ln>
          <a:effectLst/>
        </p:spPr>
        <p:txBody>
          <a:bodyPr rtlCol="0" anchor="ctr"/>
          <a:lstStyle/>
          <a:p/>
        </p:txBody>
      </p:sp>
      <p:sp>
        <p:nvSpPr>
          <p:cNvPr id="37" name="TextBox 36"/>
          <p:cNvSpPr txBox="1"/>
          <p:nvPr/>
        </p:nvSpPr>
        <p:spPr>
          <a:xfrm>
            <a:off x="557784" y="5042916"/>
            <a:ext cx="365760" cy="56464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7</a:t>
            </a:r>
          </a:p>
        </p:txBody>
      </p:sp>
      <p:sp>
        <p:nvSpPr>
          <p:cNvPr id="38" name="Rectangle 37"/>
          <p:cNvSpPr/>
          <p:nvPr/>
        </p:nvSpPr>
        <p:spPr>
          <a:xfrm>
            <a:off x="941832" y="5142357"/>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39" name="TextBox 38"/>
          <p:cNvSpPr txBox="1"/>
          <p:nvPr/>
        </p:nvSpPr>
        <p:spPr>
          <a:xfrm>
            <a:off x="1453896" y="5042916"/>
            <a:ext cx="5784073" cy="564642"/>
          </a:xfrm>
          <a:prstGeom prst="rect">
            <a:avLst/>
          </a:prstGeom>
          <a:noFill/>
        </p:spPr>
        <p:txBody>
          <a:bodyPr wrap="square" anchor="ctr" lIns="73152" rIns="73152" tIns="36576" bIns="36576">
            <a:noAutofit/>
          </a:bodyPr>
          <a:lstStyle/>
          <a:p>
            <a:pPr algn="l">
              <a:spcBef>
                <a:spcPts val="0"/>
              </a:spcBef>
              <a:spcAft>
                <a:spcPts val="0"/>
              </a:spcAft>
            </a:pPr>
            <a:r>
              <a:rPr lang="tr-TR" sz="1650" b="0" i="0">
                <a:solidFill>
                  <a:srgbClr val="262626"/>
                </a:solidFill>
                <a:latin typeface="Calibri"/>
              </a:rPr>
              <a:t>Çay tarımı başka hangi sanayi sektörleriyle ilişkilidir?</a:t>
            </a:r>
          </a:p>
        </p:txBody>
      </p:sp>
      <p:sp>
        <p:nvSpPr>
          <p:cNvPr id="40" name="TextBox 39"/>
          <p:cNvSpPr txBox="1"/>
          <p:nvPr/>
        </p:nvSpPr>
        <p:spPr>
          <a:xfrm>
            <a:off x="7347697" y="5042916"/>
            <a:ext cx="4267925" cy="56464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D3373A"/>
                </a:solidFill>
                <a:latin typeface="Calibri"/>
              </a:rPr>
              <a:t>→ Yalnız çay işleme fabrikası geçer; başka sanayi yok</a:t>
            </a:r>
          </a:p>
        </p:txBody>
      </p:sp>
      <p:sp>
        <p:nvSpPr>
          <p:cNvPr id="41" name="Rounded Rectangle 40"/>
          <p:cNvSpPr/>
          <p:nvPr/>
        </p:nvSpPr>
        <p:spPr>
          <a:xfrm>
            <a:off x="502920" y="5680710"/>
            <a:ext cx="11185855" cy="564642"/>
          </a:xfrm>
          <a:prstGeom prst="roundRect">
            <a:avLst>
              <a:gd name="adj" fmla="val 16194"/>
            </a:avLst>
          </a:prstGeom>
          <a:solidFill>
            <a:srgbClr val="E3F1E4"/>
          </a:solidFill>
          <a:ln w="22225">
            <a:solidFill>
              <a:srgbClr val="2E7D32"/>
            </a:solidFill>
          </a:ln>
          <a:effectLst/>
        </p:spPr>
        <p:txBody>
          <a:bodyPr rtlCol="0" anchor="ctr"/>
          <a:lstStyle/>
          <a:p/>
        </p:txBody>
      </p:sp>
      <p:sp>
        <p:nvSpPr>
          <p:cNvPr id="42" name="TextBox 41"/>
          <p:cNvSpPr txBox="1"/>
          <p:nvPr/>
        </p:nvSpPr>
        <p:spPr>
          <a:xfrm>
            <a:off x="557784" y="5680710"/>
            <a:ext cx="365760" cy="56464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8</a:t>
            </a:r>
          </a:p>
        </p:txBody>
      </p:sp>
      <p:sp>
        <p:nvSpPr>
          <p:cNvPr id="43" name="Rectangle 42"/>
          <p:cNvSpPr/>
          <p:nvPr/>
        </p:nvSpPr>
        <p:spPr>
          <a:xfrm>
            <a:off x="941832" y="5780151"/>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44" name="TextBox 43"/>
          <p:cNvSpPr txBox="1"/>
          <p:nvPr/>
        </p:nvSpPr>
        <p:spPr>
          <a:xfrm>
            <a:off x="1453896" y="5680710"/>
            <a:ext cx="5784073" cy="564642"/>
          </a:xfrm>
          <a:prstGeom prst="rect">
            <a:avLst/>
          </a:prstGeom>
          <a:noFill/>
        </p:spPr>
        <p:txBody>
          <a:bodyPr wrap="square" anchor="ctr" lIns="73152" rIns="73152" tIns="36576" bIns="36576">
            <a:noAutofit/>
          </a:bodyPr>
          <a:lstStyle/>
          <a:p>
            <a:pPr algn="l">
              <a:spcBef>
                <a:spcPts val="0"/>
              </a:spcBef>
              <a:spcAft>
                <a:spcPts val="0"/>
              </a:spcAft>
            </a:pPr>
            <a:r>
              <a:rPr lang="tr-TR" sz="1650" b="1" i="0">
                <a:solidFill>
                  <a:srgbClr val="262626"/>
                </a:solidFill>
                <a:latin typeface="Calibri"/>
              </a:rPr>
              <a:t>Çay üretiminin her yerde yapılamamasının nedenleri nelerdir?</a:t>
            </a:r>
          </a:p>
        </p:txBody>
      </p:sp>
      <p:sp>
        <p:nvSpPr>
          <p:cNvPr id="45" name="TextBox 44"/>
          <p:cNvSpPr txBox="1"/>
          <p:nvPr/>
        </p:nvSpPr>
        <p:spPr>
          <a:xfrm>
            <a:off x="7347697" y="5680710"/>
            <a:ext cx="4267925" cy="56464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E7D32"/>
                </a:solidFill>
                <a:latin typeface="Calibri"/>
              </a:rPr>
              <a:t>→ Metin: koşullar nedeniyle her yerde yetiştirilemez</a:t>
            </a:r>
          </a:p>
        </p:txBody>
      </p:sp>
      <p:sp>
        <p:nvSpPr>
          <p:cNvPr id="46" name="TextBox 4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47" name="Rounded Rectangle 4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184-185</a:t>
            </a:r>
          </a:p>
        </p:txBody>
      </p:sp>
      <p:sp>
        <p:nvSpPr>
          <p:cNvPr id="48" name="TextBox 4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133 / 166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3.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3</a:t>
            </a:r>
          </a:p>
        </p:txBody>
      </p:sp>
      <p:sp>
        <p:nvSpPr>
          <p:cNvPr id="6" name="Rounded Rectangle 5"/>
          <p:cNvSpPr/>
          <p:nvPr/>
        </p:nvSpPr>
        <p:spPr>
          <a:xfrm>
            <a:off x="502920" y="1216152"/>
            <a:ext cx="11185855" cy="1051560"/>
          </a:xfrm>
          <a:prstGeom prst="roundRect">
            <a:avLst>
              <a:gd name="adj" fmla="val 6000"/>
            </a:avLst>
          </a:prstGeom>
          <a:solidFill>
            <a:srgbClr val="FFF3D1"/>
          </a:solidFill>
          <a:ln>
            <a:noFill/>
          </a:ln>
          <a:effectLst/>
        </p:spPr>
        <p:txBody>
          <a:bodyPr rtlCol="0" anchor="ctr"/>
          <a:lstStyle/>
          <a:p/>
        </p:txBody>
      </p:sp>
      <p:sp>
        <p:nvSpPr>
          <p:cNvPr id="7" name="Oval 6"/>
          <p:cNvSpPr/>
          <p:nvPr/>
        </p:nvSpPr>
        <p:spPr>
          <a:xfrm>
            <a:off x="640080" y="1353312"/>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3</a:t>
            </a:r>
          </a:p>
        </p:txBody>
      </p:sp>
      <p:sp>
        <p:nvSpPr>
          <p:cNvPr id="8" name="TextBox 7"/>
          <p:cNvSpPr txBox="1"/>
          <p:nvPr/>
        </p:nvSpPr>
        <p:spPr>
          <a:xfrm>
            <a:off x="1325880" y="1289304"/>
            <a:ext cx="10271455" cy="905256"/>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262626"/>
                </a:solidFill>
                <a:latin typeface="Calibri"/>
              </a:rPr>
              <a:t>Bu ülkelerde çay üretiminin fazla olmasını sağlayan benzer doğal faktörler neler olabilir?</a:t>
            </a:r>
          </a:p>
        </p:txBody>
      </p:sp>
      <p:sp>
        <p:nvSpPr>
          <p:cNvPr id="9" name="TextBox 8"/>
          <p:cNvSpPr txBox="1"/>
          <p:nvPr/>
        </p:nvSpPr>
        <p:spPr>
          <a:xfrm>
            <a:off x="502920" y="2377440"/>
            <a:ext cx="11185855"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767676"/>
                </a:solidFill>
                <a:latin typeface="Calibri"/>
              </a:rPr>
              <a:t>Hangileri bu ülkelerdeki benzer doğal faktörlerdir? İşaretleyin, dayanağını metinden gösterin.</a:t>
            </a:r>
          </a:p>
        </p:txBody>
      </p:sp>
      <p:sp>
        <p:nvSpPr>
          <p:cNvPr id="10" name="Rounded Rectangle 9"/>
          <p:cNvSpPr/>
          <p:nvPr/>
        </p:nvSpPr>
        <p:spPr>
          <a:xfrm>
            <a:off x="502920" y="2907792"/>
            <a:ext cx="5478627" cy="790956"/>
          </a:xfrm>
          <a:prstGeom prst="roundRect">
            <a:avLst>
              <a:gd name="adj" fmla="val 11560"/>
            </a:avLst>
          </a:prstGeom>
          <a:solidFill>
            <a:srgbClr val="FFFFFF"/>
          </a:solidFill>
          <a:ln w="12700">
            <a:solidFill>
              <a:srgbClr val="D9D9D9"/>
            </a:solidFill>
          </a:ln>
          <a:effectLst/>
        </p:spPr>
        <p:txBody>
          <a:bodyPr rtlCol="0" anchor="ctr"/>
          <a:lstStyle/>
          <a:p/>
        </p:txBody>
      </p:sp>
      <p:sp>
        <p:nvSpPr>
          <p:cNvPr id="11" name="Rectangle 10"/>
          <p:cNvSpPr/>
          <p:nvPr/>
        </p:nvSpPr>
        <p:spPr>
          <a:xfrm>
            <a:off x="612648" y="3120390"/>
            <a:ext cx="365760" cy="365760"/>
          </a:xfrm>
          <a:prstGeom prst="rect">
            <a:avLst/>
          </a:prstGeom>
          <a:solidFill>
            <a:srgbClr val="FFFFFF"/>
          </a:solidFill>
          <a:ln w="19050">
            <a:solidFill>
              <a:srgbClr val="4F4F4F"/>
            </a:solidFill>
          </a:ln>
          <a:effectLst/>
        </p:spPr>
        <p:txBody>
          <a:bodyPr rtlCol="0" anchor="ctr"/>
          <a:lstStyle/>
          <a:p/>
        </p:txBody>
      </p:sp>
      <p:sp>
        <p:nvSpPr>
          <p:cNvPr id="12" name="TextBox 11"/>
          <p:cNvSpPr txBox="1"/>
          <p:nvPr/>
        </p:nvSpPr>
        <p:spPr>
          <a:xfrm>
            <a:off x="1124712" y="2907792"/>
            <a:ext cx="4783683" cy="790956"/>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Yeterli ve düzenli yağış</a:t>
            </a:r>
          </a:p>
        </p:txBody>
      </p:sp>
      <p:sp>
        <p:nvSpPr>
          <p:cNvPr id="13" name="Rounded Rectangle 12"/>
          <p:cNvSpPr/>
          <p:nvPr/>
        </p:nvSpPr>
        <p:spPr>
          <a:xfrm>
            <a:off x="502920" y="3771900"/>
            <a:ext cx="5478627" cy="790956"/>
          </a:xfrm>
          <a:prstGeom prst="roundRect">
            <a:avLst>
              <a:gd name="adj" fmla="val 11560"/>
            </a:avLst>
          </a:prstGeom>
          <a:solidFill>
            <a:srgbClr val="FFFFFF"/>
          </a:solidFill>
          <a:ln w="12700">
            <a:solidFill>
              <a:srgbClr val="D9D9D9"/>
            </a:solidFill>
          </a:ln>
          <a:effectLst/>
        </p:spPr>
        <p:txBody>
          <a:bodyPr rtlCol="0" anchor="ctr"/>
          <a:lstStyle/>
          <a:p/>
        </p:txBody>
      </p:sp>
      <p:sp>
        <p:nvSpPr>
          <p:cNvPr id="14" name="Rectangle 13"/>
          <p:cNvSpPr/>
          <p:nvPr/>
        </p:nvSpPr>
        <p:spPr>
          <a:xfrm>
            <a:off x="612648" y="3984498"/>
            <a:ext cx="365760" cy="365760"/>
          </a:xfrm>
          <a:prstGeom prst="rect">
            <a:avLst/>
          </a:prstGeom>
          <a:solidFill>
            <a:srgbClr val="FFFFFF"/>
          </a:solidFill>
          <a:ln w="19050">
            <a:solidFill>
              <a:srgbClr val="4F4F4F"/>
            </a:solidFill>
          </a:ln>
          <a:effectLst/>
        </p:spPr>
        <p:txBody>
          <a:bodyPr rtlCol="0" anchor="ctr"/>
          <a:lstStyle/>
          <a:p/>
        </p:txBody>
      </p:sp>
      <p:sp>
        <p:nvSpPr>
          <p:cNvPr id="15" name="TextBox 14"/>
          <p:cNvSpPr txBox="1"/>
          <p:nvPr/>
        </p:nvSpPr>
        <p:spPr>
          <a:xfrm>
            <a:off x="1124712" y="3771900"/>
            <a:ext cx="4783683" cy="790956"/>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Bozkır toprakları</a:t>
            </a:r>
          </a:p>
        </p:txBody>
      </p:sp>
      <p:sp>
        <p:nvSpPr>
          <p:cNvPr id="16" name="Rounded Rectangle 15"/>
          <p:cNvSpPr/>
          <p:nvPr/>
        </p:nvSpPr>
        <p:spPr>
          <a:xfrm>
            <a:off x="502920" y="4636008"/>
            <a:ext cx="5478627" cy="790956"/>
          </a:xfrm>
          <a:prstGeom prst="roundRect">
            <a:avLst>
              <a:gd name="adj" fmla="val 11560"/>
            </a:avLst>
          </a:prstGeom>
          <a:solidFill>
            <a:srgbClr val="FFFFFF"/>
          </a:solidFill>
          <a:ln w="12700">
            <a:solidFill>
              <a:srgbClr val="D9D9D9"/>
            </a:solidFill>
          </a:ln>
          <a:effectLst/>
        </p:spPr>
        <p:txBody>
          <a:bodyPr rtlCol="0" anchor="ctr"/>
          <a:lstStyle/>
          <a:p/>
        </p:txBody>
      </p:sp>
      <p:sp>
        <p:nvSpPr>
          <p:cNvPr id="17" name="Rectangle 16"/>
          <p:cNvSpPr/>
          <p:nvPr/>
        </p:nvSpPr>
        <p:spPr>
          <a:xfrm>
            <a:off x="612648" y="4848606"/>
            <a:ext cx="365760" cy="365760"/>
          </a:xfrm>
          <a:prstGeom prst="rect">
            <a:avLst/>
          </a:prstGeom>
          <a:solidFill>
            <a:srgbClr val="FFFFFF"/>
          </a:solidFill>
          <a:ln w="19050">
            <a:solidFill>
              <a:srgbClr val="4F4F4F"/>
            </a:solidFill>
          </a:ln>
          <a:effectLst/>
        </p:spPr>
        <p:txBody>
          <a:bodyPr rtlCol="0" anchor="ctr"/>
          <a:lstStyle/>
          <a:p/>
        </p:txBody>
      </p:sp>
      <p:sp>
        <p:nvSpPr>
          <p:cNvPr id="18" name="TextBox 17"/>
          <p:cNvSpPr txBox="1"/>
          <p:nvPr/>
        </p:nvSpPr>
        <p:spPr>
          <a:xfrm>
            <a:off x="1124712" y="4636008"/>
            <a:ext cx="4783683" cy="790956"/>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Yüksek nem</a:t>
            </a:r>
          </a:p>
        </p:txBody>
      </p:sp>
      <p:sp>
        <p:nvSpPr>
          <p:cNvPr id="19" name="Rounded Rectangle 18"/>
          <p:cNvSpPr/>
          <p:nvPr/>
        </p:nvSpPr>
        <p:spPr>
          <a:xfrm>
            <a:off x="502920" y="5500116"/>
            <a:ext cx="5478627" cy="790956"/>
          </a:xfrm>
          <a:prstGeom prst="roundRect">
            <a:avLst>
              <a:gd name="adj" fmla="val 11560"/>
            </a:avLst>
          </a:prstGeom>
          <a:solidFill>
            <a:srgbClr val="FFFFFF"/>
          </a:solidFill>
          <a:ln w="12700">
            <a:solidFill>
              <a:srgbClr val="D9D9D9"/>
            </a:solidFill>
          </a:ln>
          <a:effectLst/>
        </p:spPr>
        <p:txBody>
          <a:bodyPr rtlCol="0" anchor="ctr"/>
          <a:lstStyle/>
          <a:p/>
        </p:txBody>
      </p:sp>
      <p:sp>
        <p:nvSpPr>
          <p:cNvPr id="20" name="Rectangle 19"/>
          <p:cNvSpPr/>
          <p:nvPr/>
        </p:nvSpPr>
        <p:spPr>
          <a:xfrm>
            <a:off x="612648" y="5712714"/>
            <a:ext cx="365760" cy="365760"/>
          </a:xfrm>
          <a:prstGeom prst="rect">
            <a:avLst/>
          </a:prstGeom>
          <a:solidFill>
            <a:srgbClr val="FFFFFF"/>
          </a:solidFill>
          <a:ln w="19050">
            <a:solidFill>
              <a:srgbClr val="4F4F4F"/>
            </a:solidFill>
          </a:ln>
          <a:effectLst/>
        </p:spPr>
        <p:txBody>
          <a:bodyPr rtlCol="0" anchor="ctr"/>
          <a:lstStyle/>
          <a:p/>
        </p:txBody>
      </p:sp>
      <p:sp>
        <p:nvSpPr>
          <p:cNvPr id="21" name="TextBox 20"/>
          <p:cNvSpPr txBox="1"/>
          <p:nvPr/>
        </p:nvSpPr>
        <p:spPr>
          <a:xfrm>
            <a:off x="1124712" y="5500116"/>
            <a:ext cx="4783683" cy="790956"/>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Yazları sıcak ve kurak iklim</a:t>
            </a:r>
          </a:p>
        </p:txBody>
      </p:sp>
      <p:sp>
        <p:nvSpPr>
          <p:cNvPr id="22" name="Rounded Rectangle 21"/>
          <p:cNvSpPr/>
          <p:nvPr/>
        </p:nvSpPr>
        <p:spPr>
          <a:xfrm>
            <a:off x="6210147" y="2907792"/>
            <a:ext cx="5478627" cy="790956"/>
          </a:xfrm>
          <a:prstGeom prst="roundRect">
            <a:avLst>
              <a:gd name="adj" fmla="val 11560"/>
            </a:avLst>
          </a:prstGeom>
          <a:solidFill>
            <a:srgbClr val="FFFFFF"/>
          </a:solidFill>
          <a:ln w="12700">
            <a:solidFill>
              <a:srgbClr val="D9D9D9"/>
            </a:solidFill>
          </a:ln>
          <a:effectLst/>
        </p:spPr>
        <p:txBody>
          <a:bodyPr rtlCol="0" anchor="ctr"/>
          <a:lstStyle/>
          <a:p/>
        </p:txBody>
      </p:sp>
      <p:sp>
        <p:nvSpPr>
          <p:cNvPr id="23" name="Rectangle 22"/>
          <p:cNvSpPr/>
          <p:nvPr/>
        </p:nvSpPr>
        <p:spPr>
          <a:xfrm>
            <a:off x="6319875" y="3120390"/>
            <a:ext cx="365760" cy="365760"/>
          </a:xfrm>
          <a:prstGeom prst="rect">
            <a:avLst/>
          </a:prstGeom>
          <a:solidFill>
            <a:srgbClr val="FFFFFF"/>
          </a:solidFill>
          <a:ln w="19050">
            <a:solidFill>
              <a:srgbClr val="4F4F4F"/>
            </a:solidFill>
          </a:ln>
          <a:effectLst/>
        </p:spPr>
        <p:txBody>
          <a:bodyPr rtlCol="0" anchor="ctr"/>
          <a:lstStyle/>
          <a:p/>
        </p:txBody>
      </p:sp>
      <p:sp>
        <p:nvSpPr>
          <p:cNvPr id="24" name="TextBox 23"/>
          <p:cNvSpPr txBox="1"/>
          <p:nvPr/>
        </p:nvSpPr>
        <p:spPr>
          <a:xfrm>
            <a:off x="6831939" y="2907792"/>
            <a:ext cx="4783683" cy="790956"/>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Ilıman iklim</a:t>
            </a:r>
          </a:p>
        </p:txBody>
      </p:sp>
      <p:sp>
        <p:nvSpPr>
          <p:cNvPr id="25" name="Rounded Rectangle 24"/>
          <p:cNvSpPr/>
          <p:nvPr/>
        </p:nvSpPr>
        <p:spPr>
          <a:xfrm>
            <a:off x="6210147" y="3771900"/>
            <a:ext cx="5478627" cy="790956"/>
          </a:xfrm>
          <a:prstGeom prst="roundRect">
            <a:avLst>
              <a:gd name="adj" fmla="val 11560"/>
            </a:avLst>
          </a:prstGeom>
          <a:solidFill>
            <a:srgbClr val="FFFFFF"/>
          </a:solidFill>
          <a:ln w="12700">
            <a:solidFill>
              <a:srgbClr val="D9D9D9"/>
            </a:solidFill>
          </a:ln>
          <a:effectLst/>
        </p:spPr>
        <p:txBody>
          <a:bodyPr rtlCol="0" anchor="ctr"/>
          <a:lstStyle/>
          <a:p/>
        </p:txBody>
      </p:sp>
      <p:sp>
        <p:nvSpPr>
          <p:cNvPr id="26" name="Rectangle 25"/>
          <p:cNvSpPr/>
          <p:nvPr/>
        </p:nvSpPr>
        <p:spPr>
          <a:xfrm>
            <a:off x="6319875" y="3984498"/>
            <a:ext cx="365760" cy="365760"/>
          </a:xfrm>
          <a:prstGeom prst="rect">
            <a:avLst/>
          </a:prstGeom>
          <a:solidFill>
            <a:srgbClr val="FFFFFF"/>
          </a:solidFill>
          <a:ln w="19050">
            <a:solidFill>
              <a:srgbClr val="4F4F4F"/>
            </a:solidFill>
          </a:ln>
          <a:effectLst/>
        </p:spPr>
        <p:txBody>
          <a:bodyPr rtlCol="0" anchor="ctr"/>
          <a:lstStyle/>
          <a:p/>
        </p:txBody>
      </p:sp>
      <p:sp>
        <p:nvSpPr>
          <p:cNvPr id="27" name="TextBox 26"/>
          <p:cNvSpPr txBox="1"/>
          <p:nvPr/>
        </p:nvSpPr>
        <p:spPr>
          <a:xfrm>
            <a:off x="6831939" y="3771900"/>
            <a:ext cx="4783683" cy="790956"/>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Seyrek bitki örtüsü</a:t>
            </a:r>
          </a:p>
        </p:txBody>
      </p:sp>
      <p:sp>
        <p:nvSpPr>
          <p:cNvPr id="28" name="Rounded Rectangle 27"/>
          <p:cNvSpPr/>
          <p:nvPr/>
        </p:nvSpPr>
        <p:spPr>
          <a:xfrm>
            <a:off x="6210147" y="4636008"/>
            <a:ext cx="5478627" cy="790956"/>
          </a:xfrm>
          <a:prstGeom prst="roundRect">
            <a:avLst>
              <a:gd name="adj" fmla="val 11560"/>
            </a:avLst>
          </a:prstGeom>
          <a:solidFill>
            <a:srgbClr val="FFFFFF"/>
          </a:solidFill>
          <a:ln w="12700">
            <a:solidFill>
              <a:srgbClr val="D9D9D9"/>
            </a:solidFill>
          </a:ln>
          <a:effectLst/>
        </p:spPr>
        <p:txBody>
          <a:bodyPr rtlCol="0" anchor="ctr"/>
          <a:lstStyle/>
          <a:p/>
        </p:txBody>
      </p:sp>
      <p:sp>
        <p:nvSpPr>
          <p:cNvPr id="29" name="Rectangle 28"/>
          <p:cNvSpPr/>
          <p:nvPr/>
        </p:nvSpPr>
        <p:spPr>
          <a:xfrm>
            <a:off x="6319875" y="4848606"/>
            <a:ext cx="365760" cy="365760"/>
          </a:xfrm>
          <a:prstGeom prst="rect">
            <a:avLst/>
          </a:prstGeom>
          <a:solidFill>
            <a:srgbClr val="FFFFFF"/>
          </a:solidFill>
          <a:ln w="19050">
            <a:solidFill>
              <a:srgbClr val="4F4F4F"/>
            </a:solidFill>
          </a:ln>
          <a:effectLst/>
        </p:spPr>
        <p:txBody>
          <a:bodyPr rtlCol="0" anchor="ctr"/>
          <a:lstStyle/>
          <a:p/>
        </p:txBody>
      </p:sp>
      <p:sp>
        <p:nvSpPr>
          <p:cNvPr id="30" name="TextBox 29"/>
          <p:cNvSpPr txBox="1"/>
          <p:nvPr/>
        </p:nvSpPr>
        <p:spPr>
          <a:xfrm>
            <a:off x="6831939" y="4636008"/>
            <a:ext cx="4783683" cy="790956"/>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Yüksek rakım</a:t>
            </a:r>
          </a:p>
        </p:txBody>
      </p:sp>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134 / 166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soru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3</a:t>
            </a:r>
          </a:p>
        </p:txBody>
      </p:sp>
      <p:sp>
        <p:nvSpPr>
          <p:cNvPr id="6" name="Rounded Rectangle 5"/>
          <p:cNvSpPr/>
          <p:nvPr/>
        </p:nvSpPr>
        <p:spPr>
          <a:xfrm>
            <a:off x="502920" y="1216152"/>
            <a:ext cx="11185855" cy="655755"/>
          </a:xfrm>
          <a:prstGeom prst="roundRect">
            <a:avLst>
              <a:gd name="adj" fmla="val 13944"/>
            </a:avLst>
          </a:prstGeom>
          <a:solidFill>
            <a:srgbClr val="E3F1E4"/>
          </a:solidFill>
          <a:ln w="22225">
            <a:solidFill>
              <a:srgbClr val="2E7D32"/>
            </a:solidFill>
          </a:ln>
          <a:effectLst/>
        </p:spPr>
        <p:txBody>
          <a:bodyPr rtlCol="0" anchor="ctr"/>
          <a:lstStyle/>
          <a:p/>
        </p:txBody>
      </p:sp>
      <p:sp>
        <p:nvSpPr>
          <p:cNvPr id="7" name="Rectangle 6"/>
          <p:cNvSpPr/>
          <p:nvPr/>
        </p:nvSpPr>
        <p:spPr>
          <a:xfrm>
            <a:off x="612648" y="1361149"/>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8" name="TextBox 7"/>
          <p:cNvSpPr txBox="1"/>
          <p:nvPr/>
        </p:nvSpPr>
        <p:spPr>
          <a:xfrm>
            <a:off x="1124712" y="1216152"/>
            <a:ext cx="10490911" cy="655755"/>
          </a:xfrm>
          <a:prstGeom prst="rect">
            <a:avLst/>
          </a:prstGeom>
          <a:noFill/>
        </p:spPr>
        <p:txBody>
          <a:bodyPr wrap="square" anchor="ctr" lIns="73152" rIns="73152" tIns="36576" bIns="36576">
            <a:noAutofit/>
          </a:bodyPr>
          <a:lstStyle/>
          <a:p>
            <a:pPr algn="l">
              <a:spcBef>
                <a:spcPts val="0"/>
              </a:spcBef>
              <a:spcAft>
                <a:spcPts val="300"/>
              </a:spcAft>
            </a:pPr>
            <a:r>
              <a:rPr lang="tr-TR" sz="1900" b="1" i="0">
                <a:solidFill>
                  <a:srgbClr val="262626"/>
                </a:solidFill>
                <a:latin typeface="Calibri"/>
              </a:rPr>
              <a:t>Yeterli ve düzenli yağış</a:t>
            </a:r>
          </a:p>
          <a:p>
            <a:pPr algn="l">
              <a:spcBef>
                <a:spcPts val="0"/>
              </a:spcBef>
              <a:spcAft>
                <a:spcPts val="0"/>
              </a:spcAft>
            </a:pPr>
            <a:r>
              <a:rPr lang="tr-TR" sz="1596" b="0" i="0">
                <a:solidFill>
                  <a:srgbClr val="2E7D32"/>
                </a:solidFill>
                <a:latin typeface="Calibri"/>
              </a:rPr>
              <a:t>→ Metin: çay nemli ve bol yağışlı alanlarda yetişir</a:t>
            </a:r>
          </a:p>
        </p:txBody>
      </p:sp>
      <p:sp>
        <p:nvSpPr>
          <p:cNvPr id="9" name="Rounded Rectangle 8"/>
          <p:cNvSpPr/>
          <p:nvPr/>
        </p:nvSpPr>
        <p:spPr>
          <a:xfrm>
            <a:off x="502920" y="1945059"/>
            <a:ext cx="11185855" cy="655755"/>
          </a:xfrm>
          <a:prstGeom prst="roundRect">
            <a:avLst>
              <a:gd name="adj" fmla="val 13944"/>
            </a:avLst>
          </a:prstGeom>
          <a:solidFill>
            <a:srgbClr val="F9E1E1"/>
          </a:solidFill>
          <a:ln w="22225">
            <a:solidFill>
              <a:srgbClr val="D3373A"/>
            </a:solidFill>
          </a:ln>
          <a:effectLst/>
        </p:spPr>
        <p:txBody>
          <a:bodyPr rtlCol="0" anchor="ctr"/>
          <a:lstStyle/>
          <a:p/>
        </p:txBody>
      </p:sp>
      <p:sp>
        <p:nvSpPr>
          <p:cNvPr id="10" name="Rectangle 9"/>
          <p:cNvSpPr/>
          <p:nvPr/>
        </p:nvSpPr>
        <p:spPr>
          <a:xfrm>
            <a:off x="612648" y="2090057"/>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1" name="TextBox 10"/>
          <p:cNvSpPr txBox="1"/>
          <p:nvPr/>
        </p:nvSpPr>
        <p:spPr>
          <a:xfrm>
            <a:off x="1124712" y="1945059"/>
            <a:ext cx="10490911" cy="655755"/>
          </a:xfrm>
          <a:prstGeom prst="rect">
            <a:avLst/>
          </a:prstGeom>
          <a:noFill/>
        </p:spPr>
        <p:txBody>
          <a:bodyPr wrap="square" anchor="ctr" lIns="73152" rIns="73152" tIns="36576" bIns="36576">
            <a:noAutofit/>
          </a:bodyPr>
          <a:lstStyle/>
          <a:p>
            <a:pPr algn="l">
              <a:spcBef>
                <a:spcPts val="0"/>
              </a:spcBef>
              <a:spcAft>
                <a:spcPts val="300"/>
              </a:spcAft>
            </a:pPr>
            <a:r>
              <a:rPr lang="tr-TR" sz="1900" b="0" i="0">
                <a:solidFill>
                  <a:srgbClr val="262626"/>
                </a:solidFill>
                <a:latin typeface="Calibri"/>
              </a:rPr>
              <a:t>Bozkır toprakları</a:t>
            </a:r>
          </a:p>
          <a:p>
            <a:pPr algn="l">
              <a:spcBef>
                <a:spcPts val="0"/>
              </a:spcBef>
              <a:spcAft>
                <a:spcPts val="0"/>
              </a:spcAft>
            </a:pPr>
            <a:r>
              <a:rPr lang="tr-TR" sz="1596" b="0" i="0">
                <a:solidFill>
                  <a:srgbClr val="D3373A"/>
                </a:solidFill>
                <a:latin typeface="Calibri"/>
              </a:rPr>
              <a:t>→ Bozkırlar yağışı az yerlerdedir; çay bol yağış ve kireçsiz toprak ister</a:t>
            </a:r>
          </a:p>
        </p:txBody>
      </p:sp>
      <p:sp>
        <p:nvSpPr>
          <p:cNvPr id="12" name="Rounded Rectangle 11"/>
          <p:cNvSpPr/>
          <p:nvPr/>
        </p:nvSpPr>
        <p:spPr>
          <a:xfrm>
            <a:off x="502920" y="2673966"/>
            <a:ext cx="11185855" cy="655755"/>
          </a:xfrm>
          <a:prstGeom prst="roundRect">
            <a:avLst>
              <a:gd name="adj" fmla="val 13944"/>
            </a:avLst>
          </a:prstGeom>
          <a:solidFill>
            <a:srgbClr val="E3F1E4"/>
          </a:solidFill>
          <a:ln w="22225">
            <a:solidFill>
              <a:srgbClr val="2E7D32"/>
            </a:solidFill>
          </a:ln>
          <a:effectLst/>
        </p:spPr>
        <p:txBody>
          <a:bodyPr rtlCol="0" anchor="ctr"/>
          <a:lstStyle/>
          <a:p/>
        </p:txBody>
      </p:sp>
      <p:sp>
        <p:nvSpPr>
          <p:cNvPr id="13" name="Rectangle 12"/>
          <p:cNvSpPr/>
          <p:nvPr/>
        </p:nvSpPr>
        <p:spPr>
          <a:xfrm>
            <a:off x="612648" y="2818964"/>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4" name="TextBox 13"/>
          <p:cNvSpPr txBox="1"/>
          <p:nvPr/>
        </p:nvSpPr>
        <p:spPr>
          <a:xfrm>
            <a:off x="1124712" y="2673966"/>
            <a:ext cx="10490911" cy="655755"/>
          </a:xfrm>
          <a:prstGeom prst="rect">
            <a:avLst/>
          </a:prstGeom>
          <a:noFill/>
        </p:spPr>
        <p:txBody>
          <a:bodyPr wrap="square" anchor="ctr" lIns="73152" rIns="73152" tIns="36576" bIns="36576">
            <a:noAutofit/>
          </a:bodyPr>
          <a:lstStyle/>
          <a:p>
            <a:pPr algn="l">
              <a:spcBef>
                <a:spcPts val="0"/>
              </a:spcBef>
              <a:spcAft>
                <a:spcPts val="300"/>
              </a:spcAft>
            </a:pPr>
            <a:r>
              <a:rPr lang="tr-TR" sz="1900" b="1" i="0">
                <a:solidFill>
                  <a:srgbClr val="262626"/>
                </a:solidFill>
                <a:latin typeface="Calibri"/>
              </a:rPr>
              <a:t>Yüksek nem</a:t>
            </a:r>
          </a:p>
          <a:p>
            <a:pPr algn="l">
              <a:spcBef>
                <a:spcPts val="0"/>
              </a:spcBef>
              <a:spcAft>
                <a:spcPts val="0"/>
              </a:spcAft>
            </a:pPr>
            <a:r>
              <a:rPr lang="tr-TR" sz="1596" b="0" i="0">
                <a:solidFill>
                  <a:srgbClr val="2E7D32"/>
                </a:solidFill>
                <a:latin typeface="Calibri"/>
              </a:rPr>
              <a:t>→ Metin: çay nemli alanlarda yetişir</a:t>
            </a:r>
          </a:p>
        </p:txBody>
      </p:sp>
      <p:sp>
        <p:nvSpPr>
          <p:cNvPr id="15" name="Rounded Rectangle 14"/>
          <p:cNvSpPr/>
          <p:nvPr/>
        </p:nvSpPr>
        <p:spPr>
          <a:xfrm>
            <a:off x="502920" y="3402874"/>
            <a:ext cx="11185855" cy="655755"/>
          </a:xfrm>
          <a:prstGeom prst="roundRect">
            <a:avLst>
              <a:gd name="adj" fmla="val 13944"/>
            </a:avLst>
          </a:prstGeom>
          <a:solidFill>
            <a:srgbClr val="F9E1E1"/>
          </a:solidFill>
          <a:ln w="22225">
            <a:solidFill>
              <a:srgbClr val="D3373A"/>
            </a:solidFill>
          </a:ln>
          <a:effectLst/>
        </p:spPr>
        <p:txBody>
          <a:bodyPr rtlCol="0" anchor="ctr"/>
          <a:lstStyle/>
          <a:p/>
        </p:txBody>
      </p:sp>
      <p:sp>
        <p:nvSpPr>
          <p:cNvPr id="16" name="Rectangle 15"/>
          <p:cNvSpPr/>
          <p:nvPr/>
        </p:nvSpPr>
        <p:spPr>
          <a:xfrm>
            <a:off x="612648" y="3547872"/>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7" name="TextBox 16"/>
          <p:cNvSpPr txBox="1"/>
          <p:nvPr/>
        </p:nvSpPr>
        <p:spPr>
          <a:xfrm>
            <a:off x="1124712" y="3402874"/>
            <a:ext cx="10490911" cy="655755"/>
          </a:xfrm>
          <a:prstGeom prst="rect">
            <a:avLst/>
          </a:prstGeom>
          <a:noFill/>
        </p:spPr>
        <p:txBody>
          <a:bodyPr wrap="square" anchor="ctr" lIns="73152" rIns="73152" tIns="36576" bIns="36576">
            <a:noAutofit/>
          </a:bodyPr>
          <a:lstStyle/>
          <a:p>
            <a:pPr algn="l">
              <a:spcBef>
                <a:spcPts val="0"/>
              </a:spcBef>
              <a:spcAft>
                <a:spcPts val="300"/>
              </a:spcAft>
            </a:pPr>
            <a:r>
              <a:rPr lang="tr-TR" sz="1900" b="0" i="0">
                <a:solidFill>
                  <a:srgbClr val="262626"/>
                </a:solidFill>
                <a:latin typeface="Calibri"/>
              </a:rPr>
              <a:t>Yazları sıcak ve kurak iklim</a:t>
            </a:r>
          </a:p>
          <a:p>
            <a:pPr algn="l">
              <a:spcBef>
                <a:spcPts val="0"/>
              </a:spcBef>
              <a:spcAft>
                <a:spcPts val="0"/>
              </a:spcAft>
            </a:pPr>
            <a:r>
              <a:rPr lang="tr-TR" sz="1596" b="0" i="0">
                <a:solidFill>
                  <a:srgbClr val="D3373A"/>
                </a:solidFill>
                <a:latin typeface="Calibri"/>
              </a:rPr>
              <a:t>→ Kurak dönem çaya uygun değil: çay nemli ve bol yağışlı alan ister</a:t>
            </a:r>
          </a:p>
        </p:txBody>
      </p:sp>
      <p:sp>
        <p:nvSpPr>
          <p:cNvPr id="18" name="Rounded Rectangle 17"/>
          <p:cNvSpPr/>
          <p:nvPr/>
        </p:nvSpPr>
        <p:spPr>
          <a:xfrm>
            <a:off x="502920" y="4131781"/>
            <a:ext cx="11185855" cy="655755"/>
          </a:xfrm>
          <a:prstGeom prst="roundRect">
            <a:avLst>
              <a:gd name="adj" fmla="val 13944"/>
            </a:avLst>
          </a:prstGeom>
          <a:solidFill>
            <a:srgbClr val="E3F1E4"/>
          </a:solidFill>
          <a:ln w="22225">
            <a:solidFill>
              <a:srgbClr val="2E7D32"/>
            </a:solidFill>
          </a:ln>
          <a:effectLst/>
        </p:spPr>
        <p:txBody>
          <a:bodyPr rtlCol="0" anchor="ctr"/>
          <a:lstStyle/>
          <a:p/>
        </p:txBody>
      </p:sp>
      <p:sp>
        <p:nvSpPr>
          <p:cNvPr id="19" name="Rectangle 18"/>
          <p:cNvSpPr/>
          <p:nvPr/>
        </p:nvSpPr>
        <p:spPr>
          <a:xfrm>
            <a:off x="612648" y="4276779"/>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0" name="TextBox 19"/>
          <p:cNvSpPr txBox="1"/>
          <p:nvPr/>
        </p:nvSpPr>
        <p:spPr>
          <a:xfrm>
            <a:off x="1124712" y="4131781"/>
            <a:ext cx="10490911" cy="655755"/>
          </a:xfrm>
          <a:prstGeom prst="rect">
            <a:avLst/>
          </a:prstGeom>
          <a:noFill/>
        </p:spPr>
        <p:txBody>
          <a:bodyPr wrap="square" anchor="ctr" lIns="73152" rIns="73152" tIns="36576" bIns="36576">
            <a:noAutofit/>
          </a:bodyPr>
          <a:lstStyle/>
          <a:p>
            <a:pPr algn="l">
              <a:spcBef>
                <a:spcPts val="0"/>
              </a:spcBef>
              <a:spcAft>
                <a:spcPts val="300"/>
              </a:spcAft>
            </a:pPr>
            <a:r>
              <a:rPr lang="tr-TR" sz="1900" b="1" i="0">
                <a:solidFill>
                  <a:srgbClr val="262626"/>
                </a:solidFill>
                <a:latin typeface="Calibri"/>
              </a:rPr>
              <a:t>Ilıman iklim</a:t>
            </a:r>
          </a:p>
          <a:p>
            <a:pPr algn="l">
              <a:spcBef>
                <a:spcPts val="0"/>
              </a:spcBef>
              <a:spcAft>
                <a:spcPts val="0"/>
              </a:spcAft>
            </a:pPr>
            <a:r>
              <a:rPr lang="tr-TR" sz="1596" b="0" i="0">
                <a:solidFill>
                  <a:srgbClr val="2E7D32"/>
                </a:solidFill>
                <a:latin typeface="Calibri"/>
              </a:rPr>
              <a:t>→ Metin: yıllık sıcaklık ortalaması 14 °C'tan düşük olmamalı; çay soğuk iklimde yetişmez</a:t>
            </a:r>
          </a:p>
        </p:txBody>
      </p:sp>
      <p:sp>
        <p:nvSpPr>
          <p:cNvPr id="21" name="Rounded Rectangle 20"/>
          <p:cNvSpPr/>
          <p:nvPr/>
        </p:nvSpPr>
        <p:spPr>
          <a:xfrm>
            <a:off x="502920" y="4860689"/>
            <a:ext cx="11185855" cy="655755"/>
          </a:xfrm>
          <a:prstGeom prst="roundRect">
            <a:avLst>
              <a:gd name="adj" fmla="val 13944"/>
            </a:avLst>
          </a:prstGeom>
          <a:solidFill>
            <a:srgbClr val="F9E1E1"/>
          </a:solidFill>
          <a:ln w="22225">
            <a:solidFill>
              <a:srgbClr val="D3373A"/>
            </a:solidFill>
          </a:ln>
          <a:effectLst/>
        </p:spPr>
        <p:txBody>
          <a:bodyPr rtlCol="0" anchor="ctr"/>
          <a:lstStyle/>
          <a:p/>
        </p:txBody>
      </p:sp>
      <p:sp>
        <p:nvSpPr>
          <p:cNvPr id="22" name="Rectangle 21"/>
          <p:cNvSpPr/>
          <p:nvPr/>
        </p:nvSpPr>
        <p:spPr>
          <a:xfrm>
            <a:off x="612648" y="5005686"/>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3" name="TextBox 22"/>
          <p:cNvSpPr txBox="1"/>
          <p:nvPr/>
        </p:nvSpPr>
        <p:spPr>
          <a:xfrm>
            <a:off x="1124712" y="4860689"/>
            <a:ext cx="10490911" cy="655755"/>
          </a:xfrm>
          <a:prstGeom prst="rect">
            <a:avLst/>
          </a:prstGeom>
          <a:noFill/>
        </p:spPr>
        <p:txBody>
          <a:bodyPr wrap="square" anchor="ctr" lIns="73152" rIns="73152" tIns="36576" bIns="36576">
            <a:noAutofit/>
          </a:bodyPr>
          <a:lstStyle/>
          <a:p>
            <a:pPr algn="l">
              <a:spcBef>
                <a:spcPts val="0"/>
              </a:spcBef>
              <a:spcAft>
                <a:spcPts val="300"/>
              </a:spcAft>
            </a:pPr>
            <a:r>
              <a:rPr lang="tr-TR" sz="1900" b="0" i="0">
                <a:solidFill>
                  <a:srgbClr val="262626"/>
                </a:solidFill>
                <a:latin typeface="Calibri"/>
              </a:rPr>
              <a:t>Seyrek bitki örtüsü</a:t>
            </a:r>
          </a:p>
          <a:p>
            <a:pPr algn="l">
              <a:spcBef>
                <a:spcPts val="0"/>
              </a:spcBef>
              <a:spcAft>
                <a:spcPts val="0"/>
              </a:spcAft>
            </a:pPr>
            <a:r>
              <a:rPr lang="tr-TR" sz="1596" b="0" i="0">
                <a:solidFill>
                  <a:srgbClr val="D3373A"/>
                </a:solidFill>
                <a:latin typeface="Calibri"/>
              </a:rPr>
              <a:t>→ Nemli ve bol yağışlı alanlarda bitki örtüsü gürdür; seyrek değildir</a:t>
            </a:r>
          </a:p>
        </p:txBody>
      </p:sp>
      <p:sp>
        <p:nvSpPr>
          <p:cNvPr id="24" name="Rounded Rectangle 23"/>
          <p:cNvSpPr/>
          <p:nvPr/>
        </p:nvSpPr>
        <p:spPr>
          <a:xfrm>
            <a:off x="502920" y="5589596"/>
            <a:ext cx="11185855" cy="655755"/>
          </a:xfrm>
          <a:prstGeom prst="roundRect">
            <a:avLst>
              <a:gd name="adj" fmla="val 13944"/>
            </a:avLst>
          </a:prstGeom>
          <a:solidFill>
            <a:srgbClr val="F9E1E1"/>
          </a:solidFill>
          <a:ln w="22225">
            <a:solidFill>
              <a:srgbClr val="D3373A"/>
            </a:solidFill>
          </a:ln>
          <a:effectLst/>
        </p:spPr>
        <p:txBody>
          <a:bodyPr rtlCol="0" anchor="ctr"/>
          <a:lstStyle/>
          <a:p/>
        </p:txBody>
      </p:sp>
      <p:sp>
        <p:nvSpPr>
          <p:cNvPr id="25" name="Rectangle 24"/>
          <p:cNvSpPr/>
          <p:nvPr/>
        </p:nvSpPr>
        <p:spPr>
          <a:xfrm>
            <a:off x="612648" y="5734594"/>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6" name="TextBox 25"/>
          <p:cNvSpPr txBox="1"/>
          <p:nvPr/>
        </p:nvSpPr>
        <p:spPr>
          <a:xfrm>
            <a:off x="1124712" y="5589596"/>
            <a:ext cx="10490911" cy="655755"/>
          </a:xfrm>
          <a:prstGeom prst="rect">
            <a:avLst/>
          </a:prstGeom>
          <a:noFill/>
        </p:spPr>
        <p:txBody>
          <a:bodyPr wrap="square" anchor="ctr" lIns="73152" rIns="73152" tIns="36576" bIns="36576">
            <a:noAutofit/>
          </a:bodyPr>
          <a:lstStyle/>
          <a:p>
            <a:pPr algn="l">
              <a:spcBef>
                <a:spcPts val="0"/>
              </a:spcBef>
              <a:spcAft>
                <a:spcPts val="300"/>
              </a:spcAft>
            </a:pPr>
            <a:r>
              <a:rPr lang="tr-TR" sz="1900" b="0" i="0">
                <a:solidFill>
                  <a:srgbClr val="262626"/>
                </a:solidFill>
                <a:latin typeface="Calibri"/>
              </a:rPr>
              <a:t>Yüksek rakım</a:t>
            </a:r>
          </a:p>
          <a:p>
            <a:pPr algn="l">
              <a:spcBef>
                <a:spcPts val="0"/>
              </a:spcBef>
              <a:spcAft>
                <a:spcPts val="0"/>
              </a:spcAft>
            </a:pPr>
            <a:r>
              <a:rPr lang="tr-TR" sz="1596" b="0" i="0">
                <a:solidFill>
                  <a:srgbClr val="D3373A"/>
                </a:solidFill>
                <a:latin typeface="Calibri"/>
              </a:rPr>
              <a:t>→ Metin: 2200 m'ye KADAR (bir üst sınır); Türkiye'nin çay illeri kıyıdadır</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184-185</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135 / 166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3</a:t>
            </a:r>
          </a:p>
        </p:txBody>
      </p:sp>
      <p:sp>
        <p:nvSpPr>
          <p:cNvPr id="6" name="Rounded Rectangle 5"/>
          <p:cNvSpPr/>
          <p:nvPr/>
        </p:nvSpPr>
        <p:spPr>
          <a:xfrm>
            <a:off x="502920" y="1216152"/>
            <a:ext cx="11185855" cy="731520"/>
          </a:xfrm>
          <a:prstGeom prst="roundRect">
            <a:avLst>
              <a:gd name="adj" fmla="val 12000"/>
            </a:avLst>
          </a:prstGeom>
          <a:solidFill>
            <a:srgbClr val="F0F0F0"/>
          </a:solidFill>
          <a:ln>
            <a:noFill/>
          </a:ln>
          <a:effectLst/>
        </p:spPr>
        <p:txBody>
          <a:bodyPr rtlCol="0" anchor="ctr"/>
          <a:lstStyle/>
          <a:p/>
        </p:txBody>
      </p:sp>
      <p:sp>
        <p:nvSpPr>
          <p:cNvPr id="7" name="Oval 6"/>
          <p:cNvSpPr/>
          <p:nvPr/>
        </p:nvSpPr>
        <p:spPr>
          <a:xfrm>
            <a:off x="612648" y="130759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3</a:t>
            </a:r>
          </a:p>
        </p:txBody>
      </p:sp>
      <p:sp>
        <p:nvSpPr>
          <p:cNvPr id="8" name="TextBox 7"/>
          <p:cNvSpPr txBox="1"/>
          <p:nvPr/>
        </p:nvSpPr>
        <p:spPr>
          <a:xfrm>
            <a:off x="1280160" y="1216152"/>
            <a:ext cx="10317175" cy="7315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Bu ülkelerde çay üretiminin fazla olmasını sağlayan benzer doğal faktörler neler olabilir?</a:t>
            </a:r>
          </a:p>
        </p:txBody>
      </p:sp>
      <p:sp>
        <p:nvSpPr>
          <p:cNvPr id="9" name="Rounded Rectangle 8"/>
          <p:cNvSpPr/>
          <p:nvPr/>
        </p:nvSpPr>
        <p:spPr>
          <a:xfrm>
            <a:off x="502920" y="2084832"/>
            <a:ext cx="11185855" cy="182880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502920" y="2084832"/>
            <a:ext cx="109728" cy="1828800"/>
          </a:xfrm>
          <a:prstGeom prst="rect">
            <a:avLst/>
          </a:prstGeom>
          <a:solidFill>
            <a:srgbClr val="2E7D32"/>
          </a:solidFill>
          <a:ln>
            <a:noFill/>
          </a:ln>
          <a:effectLst/>
        </p:spPr>
        <p:txBody>
          <a:bodyPr rtlCol="0" anchor="ctr"/>
          <a:lstStyle/>
          <a:p/>
        </p:txBody>
      </p:sp>
      <p:sp>
        <p:nvSpPr>
          <p:cNvPr id="11" name="TextBox 10"/>
          <p:cNvSpPr txBox="1"/>
          <p:nvPr/>
        </p:nvSpPr>
        <p:spPr>
          <a:xfrm>
            <a:off x="731520" y="2139696"/>
            <a:ext cx="10865815" cy="1719072"/>
          </a:xfrm>
          <a:prstGeom prst="rect">
            <a:avLst/>
          </a:prstGeom>
          <a:noFill/>
        </p:spPr>
        <p:txBody>
          <a:bodyPr wrap="square" anchor="ctr" lIns="73152" rIns="73152" tIns="36576" bIns="36576">
            <a:noAutofit/>
          </a:bodyPr>
          <a:lstStyle/>
          <a:p>
            <a:pPr algn="l">
              <a:spcBef>
                <a:spcPts val="0"/>
              </a:spcBef>
              <a:spcAft>
                <a:spcPts val="400"/>
              </a:spcAft>
            </a:pPr>
            <a:r>
              <a:rPr lang="tr-TR" sz="2200" b="1" i="0">
                <a:solidFill>
                  <a:srgbClr val="2E7D32"/>
                </a:solidFill>
                <a:latin typeface="Calibri"/>
              </a:rPr>
              <a:t>Örnek cevap</a:t>
            </a:r>
          </a:p>
          <a:p>
            <a:pPr algn="l">
              <a:spcBef>
                <a:spcPts val="0"/>
              </a:spcBef>
              <a:spcAft>
                <a:spcPts val="0"/>
              </a:spcAft>
            </a:pPr>
            <a:r>
              <a:rPr lang="tr-TR" sz="2200" b="0" i="0">
                <a:solidFill>
                  <a:srgbClr val="262626"/>
                </a:solidFill>
                <a:latin typeface="Calibri"/>
              </a:rPr>
              <a:t>Bu ülkelerin çay alanları nemli ve bol yağışlıdır, toprakları kireçsizdir; yıllık sıcaklık ortalaması 14 °C'tan düşük değildir; hepsi 42° K - 30° G enlemleri arasındadır; çay deniz seviyesinden 2200 m'ye kadar olan alanlarda yetiştirilir.</a:t>
            </a:r>
          </a:p>
        </p:txBody>
      </p:sp>
      <p:sp>
        <p:nvSpPr>
          <p:cNvPr id="12" name="Rounded Rectangle 11"/>
          <p:cNvSpPr/>
          <p:nvPr/>
        </p:nvSpPr>
        <p:spPr>
          <a:xfrm>
            <a:off x="502920" y="4069080"/>
            <a:ext cx="2120127" cy="2221992"/>
          </a:xfrm>
          <a:prstGeom prst="roundRect">
            <a:avLst>
              <a:gd name="adj" fmla="val 5000"/>
            </a:avLst>
          </a:prstGeom>
          <a:solidFill>
            <a:srgbClr val="E3F1E4"/>
          </a:solidFill>
          <a:ln>
            <a:noFill/>
          </a:ln>
          <a:effectLst/>
        </p:spPr>
        <p:txBody>
          <a:bodyPr rtlCol="0" anchor="ctr"/>
          <a:lstStyle/>
          <a:p/>
        </p:txBody>
      </p:sp>
      <p:sp>
        <p:nvSpPr>
          <p:cNvPr id="13" name="Rounded Rectangle 12"/>
          <p:cNvSpPr/>
          <p:nvPr/>
        </p:nvSpPr>
        <p:spPr>
          <a:xfrm>
            <a:off x="502920" y="4069080"/>
            <a:ext cx="2120127" cy="502920"/>
          </a:xfrm>
          <a:prstGeom prst="roundRect">
            <a:avLst>
              <a:gd name="adj" fmla="val 25000"/>
            </a:avLst>
          </a:prstGeom>
          <a:solidFill>
            <a:srgbClr val="3E8E41"/>
          </a:solidFill>
          <a:ln>
            <a:noFill/>
          </a:ln>
          <a:effectLst/>
        </p:spPr>
        <p:txBody>
          <a:bodyPr rtlCol="0" anchor="ctr"/>
          <a:lstStyle/>
          <a:p/>
        </p:txBody>
      </p:sp>
      <p:sp>
        <p:nvSpPr>
          <p:cNvPr id="14" name="Rectangle 13"/>
          <p:cNvSpPr/>
          <p:nvPr/>
        </p:nvSpPr>
        <p:spPr>
          <a:xfrm>
            <a:off x="502920" y="4320540"/>
            <a:ext cx="2120127" cy="251460"/>
          </a:xfrm>
          <a:prstGeom prst="rect">
            <a:avLst/>
          </a:prstGeom>
          <a:solidFill>
            <a:srgbClr val="3E8E41"/>
          </a:solidFill>
          <a:ln>
            <a:noFill/>
          </a:ln>
          <a:effectLst/>
        </p:spPr>
        <p:txBody>
          <a:bodyPr rtlCol="0" anchor="ctr"/>
          <a:lstStyle/>
          <a:p/>
        </p:txBody>
      </p:sp>
      <p:sp>
        <p:nvSpPr>
          <p:cNvPr id="15" name="TextBox 14"/>
          <p:cNvSpPr txBox="1"/>
          <p:nvPr/>
        </p:nvSpPr>
        <p:spPr>
          <a:xfrm>
            <a:off x="594360" y="4069080"/>
            <a:ext cx="1937247" cy="502920"/>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Nem ve yağış</a:t>
            </a:r>
          </a:p>
        </p:txBody>
      </p:sp>
      <p:sp>
        <p:nvSpPr>
          <p:cNvPr id="16" name="TextBox 15"/>
          <p:cNvSpPr txBox="1"/>
          <p:nvPr/>
        </p:nvSpPr>
        <p:spPr>
          <a:xfrm>
            <a:off x="612648" y="4645152"/>
            <a:ext cx="1900671" cy="1572768"/>
          </a:xfrm>
          <a:prstGeom prst="rect">
            <a:avLst/>
          </a:prstGeom>
          <a:noFill/>
        </p:spPr>
        <p:txBody>
          <a:bodyPr wrap="square" anchor="ctr" lIns="73152" rIns="73152" tIns="36576" bIns="36576">
            <a:noAutofit/>
          </a:bodyPr>
          <a:lstStyle/>
          <a:p>
            <a:pPr algn="ctr">
              <a:spcBef>
                <a:spcPts val="0"/>
              </a:spcBef>
              <a:spcAft>
                <a:spcPts val="0"/>
              </a:spcAft>
            </a:pPr>
            <a:r>
              <a:rPr lang="tr-TR" sz="1900" b="0" i="1">
                <a:solidFill>
                  <a:srgbClr val="262626"/>
                </a:solidFill>
                <a:latin typeface="Calibri"/>
              </a:rPr>
              <a:t>“nemli ve bol yağışlı alanlar”</a:t>
            </a:r>
          </a:p>
        </p:txBody>
      </p:sp>
      <p:sp>
        <p:nvSpPr>
          <p:cNvPr id="17" name="Rounded Rectangle 16"/>
          <p:cNvSpPr/>
          <p:nvPr/>
        </p:nvSpPr>
        <p:spPr>
          <a:xfrm>
            <a:off x="2769351" y="4069080"/>
            <a:ext cx="2120127" cy="2221992"/>
          </a:xfrm>
          <a:prstGeom prst="roundRect">
            <a:avLst>
              <a:gd name="adj" fmla="val 5000"/>
            </a:avLst>
          </a:prstGeom>
          <a:solidFill>
            <a:srgbClr val="E3F1E4"/>
          </a:solidFill>
          <a:ln>
            <a:noFill/>
          </a:ln>
          <a:effectLst/>
        </p:spPr>
        <p:txBody>
          <a:bodyPr rtlCol="0" anchor="ctr"/>
          <a:lstStyle/>
          <a:p/>
        </p:txBody>
      </p:sp>
      <p:sp>
        <p:nvSpPr>
          <p:cNvPr id="18" name="Rounded Rectangle 17"/>
          <p:cNvSpPr/>
          <p:nvPr/>
        </p:nvSpPr>
        <p:spPr>
          <a:xfrm>
            <a:off x="2769351" y="4069080"/>
            <a:ext cx="2120127" cy="502920"/>
          </a:xfrm>
          <a:prstGeom prst="roundRect">
            <a:avLst>
              <a:gd name="adj" fmla="val 25000"/>
            </a:avLst>
          </a:prstGeom>
          <a:solidFill>
            <a:srgbClr val="3E8E41"/>
          </a:solidFill>
          <a:ln>
            <a:noFill/>
          </a:ln>
          <a:effectLst/>
        </p:spPr>
        <p:txBody>
          <a:bodyPr rtlCol="0" anchor="ctr"/>
          <a:lstStyle/>
          <a:p/>
        </p:txBody>
      </p:sp>
      <p:sp>
        <p:nvSpPr>
          <p:cNvPr id="19" name="Rectangle 18"/>
          <p:cNvSpPr/>
          <p:nvPr/>
        </p:nvSpPr>
        <p:spPr>
          <a:xfrm>
            <a:off x="2769351" y="4320540"/>
            <a:ext cx="2120127" cy="251460"/>
          </a:xfrm>
          <a:prstGeom prst="rect">
            <a:avLst/>
          </a:prstGeom>
          <a:solidFill>
            <a:srgbClr val="3E8E41"/>
          </a:solidFill>
          <a:ln>
            <a:noFill/>
          </a:ln>
          <a:effectLst/>
        </p:spPr>
        <p:txBody>
          <a:bodyPr rtlCol="0" anchor="ctr"/>
          <a:lstStyle/>
          <a:p/>
        </p:txBody>
      </p:sp>
      <p:sp>
        <p:nvSpPr>
          <p:cNvPr id="20" name="TextBox 19"/>
          <p:cNvSpPr txBox="1"/>
          <p:nvPr/>
        </p:nvSpPr>
        <p:spPr>
          <a:xfrm>
            <a:off x="2860791" y="4069080"/>
            <a:ext cx="1937247" cy="502920"/>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Toprak</a:t>
            </a:r>
          </a:p>
        </p:txBody>
      </p:sp>
      <p:sp>
        <p:nvSpPr>
          <p:cNvPr id="21" name="TextBox 20"/>
          <p:cNvSpPr txBox="1"/>
          <p:nvPr/>
        </p:nvSpPr>
        <p:spPr>
          <a:xfrm>
            <a:off x="2879079" y="4645152"/>
            <a:ext cx="1900671" cy="1572768"/>
          </a:xfrm>
          <a:prstGeom prst="rect">
            <a:avLst/>
          </a:prstGeom>
          <a:noFill/>
        </p:spPr>
        <p:txBody>
          <a:bodyPr wrap="square" anchor="ctr" lIns="73152" rIns="73152" tIns="36576" bIns="36576">
            <a:noAutofit/>
          </a:bodyPr>
          <a:lstStyle/>
          <a:p>
            <a:pPr algn="ctr">
              <a:spcBef>
                <a:spcPts val="0"/>
              </a:spcBef>
              <a:spcAft>
                <a:spcPts val="0"/>
              </a:spcAft>
            </a:pPr>
            <a:r>
              <a:rPr lang="tr-TR" sz="1900" b="0" i="1">
                <a:solidFill>
                  <a:srgbClr val="262626"/>
                </a:solidFill>
                <a:latin typeface="Calibri"/>
              </a:rPr>
              <a:t>“kireçsiz topraklarda”</a:t>
            </a:r>
          </a:p>
        </p:txBody>
      </p:sp>
      <p:sp>
        <p:nvSpPr>
          <p:cNvPr id="22" name="Rounded Rectangle 21"/>
          <p:cNvSpPr/>
          <p:nvPr/>
        </p:nvSpPr>
        <p:spPr>
          <a:xfrm>
            <a:off x="5035783" y="4069080"/>
            <a:ext cx="2120127" cy="2221992"/>
          </a:xfrm>
          <a:prstGeom prst="roundRect">
            <a:avLst>
              <a:gd name="adj" fmla="val 5000"/>
            </a:avLst>
          </a:prstGeom>
          <a:solidFill>
            <a:srgbClr val="E3F1E4"/>
          </a:solidFill>
          <a:ln>
            <a:noFill/>
          </a:ln>
          <a:effectLst/>
        </p:spPr>
        <p:txBody>
          <a:bodyPr rtlCol="0" anchor="ctr"/>
          <a:lstStyle/>
          <a:p/>
        </p:txBody>
      </p:sp>
      <p:sp>
        <p:nvSpPr>
          <p:cNvPr id="23" name="Rounded Rectangle 22"/>
          <p:cNvSpPr/>
          <p:nvPr/>
        </p:nvSpPr>
        <p:spPr>
          <a:xfrm>
            <a:off x="5035783" y="4069080"/>
            <a:ext cx="2120127" cy="502920"/>
          </a:xfrm>
          <a:prstGeom prst="roundRect">
            <a:avLst>
              <a:gd name="adj" fmla="val 25000"/>
            </a:avLst>
          </a:prstGeom>
          <a:solidFill>
            <a:srgbClr val="3E8E41"/>
          </a:solidFill>
          <a:ln>
            <a:noFill/>
          </a:ln>
          <a:effectLst/>
        </p:spPr>
        <p:txBody>
          <a:bodyPr rtlCol="0" anchor="ctr"/>
          <a:lstStyle/>
          <a:p/>
        </p:txBody>
      </p:sp>
      <p:sp>
        <p:nvSpPr>
          <p:cNvPr id="24" name="Rectangle 23"/>
          <p:cNvSpPr/>
          <p:nvPr/>
        </p:nvSpPr>
        <p:spPr>
          <a:xfrm>
            <a:off x="5035783" y="4320540"/>
            <a:ext cx="2120127" cy="251460"/>
          </a:xfrm>
          <a:prstGeom prst="rect">
            <a:avLst/>
          </a:prstGeom>
          <a:solidFill>
            <a:srgbClr val="3E8E41"/>
          </a:solidFill>
          <a:ln>
            <a:noFill/>
          </a:ln>
          <a:effectLst/>
        </p:spPr>
        <p:txBody>
          <a:bodyPr rtlCol="0" anchor="ctr"/>
          <a:lstStyle/>
          <a:p/>
        </p:txBody>
      </p:sp>
      <p:sp>
        <p:nvSpPr>
          <p:cNvPr id="25" name="TextBox 24"/>
          <p:cNvSpPr txBox="1"/>
          <p:nvPr/>
        </p:nvSpPr>
        <p:spPr>
          <a:xfrm>
            <a:off x="5127223" y="4069080"/>
            <a:ext cx="1937247" cy="502920"/>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Sıcaklık</a:t>
            </a:r>
          </a:p>
        </p:txBody>
      </p:sp>
      <p:sp>
        <p:nvSpPr>
          <p:cNvPr id="26" name="TextBox 25"/>
          <p:cNvSpPr txBox="1"/>
          <p:nvPr/>
        </p:nvSpPr>
        <p:spPr>
          <a:xfrm>
            <a:off x="5145511" y="4645152"/>
            <a:ext cx="1900671" cy="1572768"/>
          </a:xfrm>
          <a:prstGeom prst="rect">
            <a:avLst/>
          </a:prstGeom>
          <a:noFill/>
        </p:spPr>
        <p:txBody>
          <a:bodyPr wrap="square" anchor="ctr" lIns="73152" rIns="73152" tIns="36576" bIns="36576">
            <a:noAutofit/>
          </a:bodyPr>
          <a:lstStyle/>
          <a:p>
            <a:pPr algn="ctr">
              <a:spcBef>
                <a:spcPts val="0"/>
              </a:spcBef>
              <a:spcAft>
                <a:spcPts val="0"/>
              </a:spcAft>
            </a:pPr>
            <a:r>
              <a:rPr lang="tr-TR" sz="1900" b="0" i="1">
                <a:solidFill>
                  <a:srgbClr val="262626"/>
                </a:solidFill>
                <a:latin typeface="Calibri"/>
              </a:rPr>
              <a:t>“yıllık sıcaklık ortalaması, 14 °C’tan düşük olmamalıdır”</a:t>
            </a:r>
          </a:p>
        </p:txBody>
      </p:sp>
      <p:sp>
        <p:nvSpPr>
          <p:cNvPr id="27" name="Rounded Rectangle 26"/>
          <p:cNvSpPr/>
          <p:nvPr/>
        </p:nvSpPr>
        <p:spPr>
          <a:xfrm>
            <a:off x="7302215" y="4069080"/>
            <a:ext cx="2120127" cy="2221992"/>
          </a:xfrm>
          <a:prstGeom prst="roundRect">
            <a:avLst>
              <a:gd name="adj" fmla="val 5000"/>
            </a:avLst>
          </a:prstGeom>
          <a:solidFill>
            <a:srgbClr val="E3F1E4"/>
          </a:solidFill>
          <a:ln>
            <a:noFill/>
          </a:ln>
          <a:effectLst/>
        </p:spPr>
        <p:txBody>
          <a:bodyPr rtlCol="0" anchor="ctr"/>
          <a:lstStyle/>
          <a:p/>
        </p:txBody>
      </p:sp>
      <p:sp>
        <p:nvSpPr>
          <p:cNvPr id="28" name="Rounded Rectangle 27"/>
          <p:cNvSpPr/>
          <p:nvPr/>
        </p:nvSpPr>
        <p:spPr>
          <a:xfrm>
            <a:off x="7302215" y="4069080"/>
            <a:ext cx="2120127" cy="502920"/>
          </a:xfrm>
          <a:prstGeom prst="roundRect">
            <a:avLst>
              <a:gd name="adj" fmla="val 25000"/>
            </a:avLst>
          </a:prstGeom>
          <a:solidFill>
            <a:srgbClr val="3E8E41"/>
          </a:solidFill>
          <a:ln>
            <a:noFill/>
          </a:ln>
          <a:effectLst/>
        </p:spPr>
        <p:txBody>
          <a:bodyPr rtlCol="0" anchor="ctr"/>
          <a:lstStyle/>
          <a:p/>
        </p:txBody>
      </p:sp>
      <p:sp>
        <p:nvSpPr>
          <p:cNvPr id="29" name="Rectangle 28"/>
          <p:cNvSpPr/>
          <p:nvPr/>
        </p:nvSpPr>
        <p:spPr>
          <a:xfrm>
            <a:off x="7302215" y="4320540"/>
            <a:ext cx="2120127" cy="251460"/>
          </a:xfrm>
          <a:prstGeom prst="rect">
            <a:avLst/>
          </a:prstGeom>
          <a:solidFill>
            <a:srgbClr val="3E8E41"/>
          </a:solidFill>
          <a:ln>
            <a:noFill/>
          </a:ln>
          <a:effectLst/>
        </p:spPr>
        <p:txBody>
          <a:bodyPr rtlCol="0" anchor="ctr"/>
          <a:lstStyle/>
          <a:p/>
        </p:txBody>
      </p:sp>
      <p:sp>
        <p:nvSpPr>
          <p:cNvPr id="30" name="TextBox 29"/>
          <p:cNvSpPr txBox="1"/>
          <p:nvPr/>
        </p:nvSpPr>
        <p:spPr>
          <a:xfrm>
            <a:off x="7393655" y="4069080"/>
            <a:ext cx="1937247" cy="502920"/>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Coğrafi konum</a:t>
            </a:r>
          </a:p>
        </p:txBody>
      </p:sp>
      <p:sp>
        <p:nvSpPr>
          <p:cNvPr id="31" name="TextBox 30"/>
          <p:cNvSpPr txBox="1"/>
          <p:nvPr/>
        </p:nvSpPr>
        <p:spPr>
          <a:xfrm>
            <a:off x="7411943" y="4645152"/>
            <a:ext cx="1900671" cy="1572768"/>
          </a:xfrm>
          <a:prstGeom prst="rect">
            <a:avLst/>
          </a:prstGeom>
          <a:noFill/>
        </p:spPr>
        <p:txBody>
          <a:bodyPr wrap="square" anchor="ctr" lIns="73152" rIns="73152" tIns="36576" bIns="36576">
            <a:noAutofit/>
          </a:bodyPr>
          <a:lstStyle/>
          <a:p>
            <a:pPr algn="ctr">
              <a:spcBef>
                <a:spcPts val="0"/>
              </a:spcBef>
              <a:spcAft>
                <a:spcPts val="0"/>
              </a:spcAft>
            </a:pPr>
            <a:r>
              <a:rPr lang="tr-TR" sz="1900" b="0" i="1">
                <a:solidFill>
                  <a:srgbClr val="262626"/>
                </a:solidFill>
                <a:latin typeface="Calibri"/>
              </a:rPr>
              <a:t>“42° kuzey ile 30° güney enlemleri”</a:t>
            </a:r>
          </a:p>
        </p:txBody>
      </p:sp>
      <p:sp>
        <p:nvSpPr>
          <p:cNvPr id="32" name="Rounded Rectangle 31"/>
          <p:cNvSpPr/>
          <p:nvPr/>
        </p:nvSpPr>
        <p:spPr>
          <a:xfrm>
            <a:off x="9568647" y="4069080"/>
            <a:ext cx="2120127" cy="2221992"/>
          </a:xfrm>
          <a:prstGeom prst="roundRect">
            <a:avLst>
              <a:gd name="adj" fmla="val 5000"/>
            </a:avLst>
          </a:prstGeom>
          <a:solidFill>
            <a:srgbClr val="E3F1E4"/>
          </a:solidFill>
          <a:ln>
            <a:noFill/>
          </a:ln>
          <a:effectLst/>
        </p:spPr>
        <p:txBody>
          <a:bodyPr rtlCol="0" anchor="ctr"/>
          <a:lstStyle/>
          <a:p/>
        </p:txBody>
      </p:sp>
      <p:sp>
        <p:nvSpPr>
          <p:cNvPr id="33" name="Rounded Rectangle 32"/>
          <p:cNvSpPr/>
          <p:nvPr/>
        </p:nvSpPr>
        <p:spPr>
          <a:xfrm>
            <a:off x="9568647" y="4069080"/>
            <a:ext cx="2120127" cy="502920"/>
          </a:xfrm>
          <a:prstGeom prst="roundRect">
            <a:avLst>
              <a:gd name="adj" fmla="val 25000"/>
            </a:avLst>
          </a:prstGeom>
          <a:solidFill>
            <a:srgbClr val="3E8E41"/>
          </a:solidFill>
          <a:ln>
            <a:noFill/>
          </a:ln>
          <a:effectLst/>
        </p:spPr>
        <p:txBody>
          <a:bodyPr rtlCol="0" anchor="ctr"/>
          <a:lstStyle/>
          <a:p/>
        </p:txBody>
      </p:sp>
      <p:sp>
        <p:nvSpPr>
          <p:cNvPr id="34" name="Rectangle 33"/>
          <p:cNvSpPr/>
          <p:nvPr/>
        </p:nvSpPr>
        <p:spPr>
          <a:xfrm>
            <a:off x="9568647" y="4320540"/>
            <a:ext cx="2120127" cy="251460"/>
          </a:xfrm>
          <a:prstGeom prst="rect">
            <a:avLst/>
          </a:prstGeom>
          <a:solidFill>
            <a:srgbClr val="3E8E41"/>
          </a:solidFill>
          <a:ln>
            <a:noFill/>
          </a:ln>
          <a:effectLst/>
        </p:spPr>
        <p:txBody>
          <a:bodyPr rtlCol="0" anchor="ctr"/>
          <a:lstStyle/>
          <a:p/>
        </p:txBody>
      </p:sp>
      <p:sp>
        <p:nvSpPr>
          <p:cNvPr id="35" name="TextBox 34"/>
          <p:cNvSpPr txBox="1"/>
          <p:nvPr/>
        </p:nvSpPr>
        <p:spPr>
          <a:xfrm>
            <a:off x="9660087" y="4069080"/>
            <a:ext cx="1937247" cy="502920"/>
          </a:xfrm>
          <a:prstGeom prst="rect">
            <a:avLst/>
          </a:prstGeom>
          <a:noFill/>
        </p:spPr>
        <p:txBody>
          <a:bodyPr wrap="square" anchor="ctr" lIns="73152" rIns="73152" tIns="36576" bIns="36576">
            <a:noAutofit/>
          </a:bodyPr>
          <a:lstStyle/>
          <a:p>
            <a:pPr algn="ctr">
              <a:spcBef>
                <a:spcPts val="0"/>
              </a:spcBef>
              <a:spcAft>
                <a:spcPts val="0"/>
              </a:spcAft>
            </a:pPr>
            <a:r>
              <a:rPr lang="tr-TR" sz="1700" b="1" i="0">
                <a:solidFill>
                  <a:srgbClr val="FFFFFF"/>
                </a:solidFill>
                <a:latin typeface="Calibri"/>
              </a:rPr>
              <a:t>Yükselti</a:t>
            </a:r>
          </a:p>
        </p:txBody>
      </p:sp>
      <p:sp>
        <p:nvSpPr>
          <p:cNvPr id="36" name="TextBox 35"/>
          <p:cNvSpPr txBox="1"/>
          <p:nvPr/>
        </p:nvSpPr>
        <p:spPr>
          <a:xfrm>
            <a:off x="9678375" y="4645152"/>
            <a:ext cx="1900671" cy="1572768"/>
          </a:xfrm>
          <a:prstGeom prst="rect">
            <a:avLst/>
          </a:prstGeom>
          <a:noFill/>
        </p:spPr>
        <p:txBody>
          <a:bodyPr wrap="square" anchor="ctr" lIns="73152" rIns="73152" tIns="36576" bIns="36576">
            <a:noAutofit/>
          </a:bodyPr>
          <a:lstStyle/>
          <a:p>
            <a:pPr algn="ctr">
              <a:spcBef>
                <a:spcPts val="0"/>
              </a:spcBef>
              <a:spcAft>
                <a:spcPts val="0"/>
              </a:spcAft>
            </a:pPr>
            <a:r>
              <a:rPr lang="tr-TR" sz="1900" b="0" i="1">
                <a:solidFill>
                  <a:srgbClr val="262626"/>
                </a:solidFill>
                <a:latin typeface="Calibri"/>
              </a:rPr>
              <a:t>“deniz seviyesinden 2200 metre yüksekliğe kadar”</a:t>
            </a:r>
          </a:p>
        </p:txBody>
      </p:sp>
      <p:sp>
        <p:nvSpPr>
          <p:cNvPr id="37" name="TextBox 3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8" name="Rounded Rectangle 3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a:t>
            </a:r>
          </a:p>
        </p:txBody>
      </p:sp>
      <p:sp>
        <p:nvSpPr>
          <p:cNvPr id="39" name="TextBox 3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136 / 166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4.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4</a:t>
            </a:r>
          </a:p>
        </p:txBody>
      </p:sp>
      <p:sp>
        <p:nvSpPr>
          <p:cNvPr id="6" name="Rounded Rectangle 5"/>
          <p:cNvSpPr/>
          <p:nvPr/>
        </p:nvSpPr>
        <p:spPr>
          <a:xfrm>
            <a:off x="502920" y="1216152"/>
            <a:ext cx="5943600" cy="50292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18872" cy="5029200"/>
          </a:xfrm>
          <a:prstGeom prst="rect">
            <a:avLst/>
          </a:prstGeom>
          <a:solidFill>
            <a:srgbClr val="2C6696"/>
          </a:solidFill>
          <a:ln>
            <a:noFill/>
          </a:ln>
          <a:effectLst/>
        </p:spPr>
        <p:txBody>
          <a:bodyPr rtlCol="0" anchor="ctr"/>
          <a:lstStyle/>
          <a:p/>
        </p:txBody>
      </p:sp>
      <p:sp>
        <p:nvSpPr>
          <p:cNvPr id="8" name="TextBox 7"/>
          <p:cNvSpPr txBox="1"/>
          <p:nvPr/>
        </p:nvSpPr>
        <p:spPr>
          <a:xfrm>
            <a:off x="777240" y="1216152"/>
            <a:ext cx="5532120" cy="5029200"/>
          </a:xfrm>
          <a:prstGeom prst="rect">
            <a:avLst/>
          </a:prstGeom>
          <a:noFill/>
        </p:spPr>
        <p:txBody>
          <a:bodyPr wrap="square" anchor="ctr" lIns="73152" rIns="73152" tIns="36576" bIns="36576">
            <a:noAutofit/>
          </a:bodyPr>
          <a:lstStyle/>
          <a:p>
            <a:pPr algn="l">
              <a:spcBef>
                <a:spcPts val="0"/>
              </a:spcBef>
              <a:spcAft>
                <a:spcPts val="1200"/>
              </a:spcAft>
            </a:pPr>
            <a:r>
              <a:rPr lang="tr-TR" sz="2300" b="0" i="0">
                <a:solidFill>
                  <a:srgbClr val="262626"/>
                </a:solidFill>
                <a:latin typeface="Calibri"/>
              </a:rPr>
              <a:t>Rize, Trabzon, Artvin, Giresun, Ordu gibi engebeli arazilere sahip alanlarda yapılan çay tarımında iş gücü ihtiyacı fazladır.</a:t>
            </a:r>
          </a:p>
          <a:p>
            <a:pPr algn="l">
              <a:spcBef>
                <a:spcPts val="0"/>
              </a:spcBef>
              <a:spcAft>
                <a:spcPts val="1200"/>
              </a:spcAft>
            </a:pPr>
            <a:r>
              <a:rPr lang="tr-TR" sz="2300" b="0" i="0">
                <a:solidFill>
                  <a:srgbClr val="262626"/>
                </a:solidFill>
                <a:latin typeface="Calibri"/>
              </a:rPr>
              <a:t>Çayın toplanması, fabrikaya ulaştırılması ve işlenmesinde insan emeği gereklidir.</a:t>
            </a:r>
          </a:p>
          <a:p>
            <a:pPr algn="l">
              <a:spcBef>
                <a:spcPts val="0"/>
              </a:spcBef>
              <a:spcAft>
                <a:spcPts val="0"/>
              </a:spcAft>
            </a:pPr>
            <a:r>
              <a:rPr lang="tr-TR" sz="2300" b="0" i="0">
                <a:solidFill>
                  <a:srgbClr val="262626"/>
                </a:solidFill>
                <a:latin typeface="Calibri"/>
              </a:rPr>
              <a:t>Çay işleme fabrikaları, çay bitkisinin hasat edildikten hemen sonra fabrikaya ulaştırılması ve işlenmesi için üretim alanlarının yakınında kurulmuştur.</a:t>
            </a:r>
          </a:p>
        </p:txBody>
      </p:sp>
      <p:sp>
        <p:nvSpPr>
          <p:cNvPr id="9" name="Rounded Rectangle 8"/>
          <p:cNvSpPr/>
          <p:nvPr/>
        </p:nvSpPr>
        <p:spPr>
          <a:xfrm>
            <a:off x="6647688" y="1216152"/>
            <a:ext cx="5041087" cy="5029200"/>
          </a:xfrm>
          <a:prstGeom prst="roundRect">
            <a:avLst>
              <a:gd name="adj" fmla="val 6000"/>
            </a:avLst>
          </a:prstGeom>
          <a:solidFill>
            <a:srgbClr val="FFF3D1"/>
          </a:solidFill>
          <a:ln>
            <a:noFill/>
          </a:ln>
          <a:effectLst/>
        </p:spPr>
        <p:txBody>
          <a:bodyPr rtlCol="0" anchor="ctr"/>
          <a:lstStyle/>
          <a:p/>
        </p:txBody>
      </p:sp>
      <p:sp>
        <p:nvSpPr>
          <p:cNvPr id="10" name="Oval 9"/>
          <p:cNvSpPr/>
          <p:nvPr/>
        </p:nvSpPr>
        <p:spPr>
          <a:xfrm>
            <a:off x="6784848" y="1353312"/>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4</a:t>
            </a:r>
          </a:p>
        </p:txBody>
      </p:sp>
      <p:sp>
        <p:nvSpPr>
          <p:cNvPr id="11" name="TextBox 10"/>
          <p:cNvSpPr txBox="1"/>
          <p:nvPr/>
        </p:nvSpPr>
        <p:spPr>
          <a:xfrm>
            <a:off x="7470648" y="1289304"/>
            <a:ext cx="4126687" cy="4882896"/>
          </a:xfrm>
          <a:prstGeom prst="rect">
            <a:avLst/>
          </a:prstGeom>
          <a:noFill/>
        </p:spPr>
        <p:txBody>
          <a:bodyPr wrap="square" anchor="ctr" lIns="73152" rIns="73152" tIns="36576" bIns="36576">
            <a:noAutofit/>
          </a:bodyPr>
          <a:lstStyle/>
          <a:p>
            <a:pPr algn="l">
              <a:spcBef>
                <a:spcPts val="0"/>
              </a:spcBef>
              <a:spcAft>
                <a:spcPts val="0"/>
              </a:spcAft>
            </a:pPr>
            <a:r>
              <a:rPr lang="tr-TR" sz="2700" b="1" i="0">
                <a:solidFill>
                  <a:srgbClr val="262626"/>
                </a:solidFill>
                <a:latin typeface="Calibri"/>
              </a:rPr>
              <a:t>Dünyada çay üretimindeki iş gücü ihtiyacının fazlalığı, üretim yapılan bölgelerdeki nüfusu nasıl etkilemiş olabilir?</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184-185</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137 / 166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4.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4</a:t>
            </a:r>
          </a:p>
        </p:txBody>
      </p:sp>
      <p:sp>
        <p:nvSpPr>
          <p:cNvPr id="6" name="Rounded Rectangle 5"/>
          <p:cNvSpPr/>
          <p:nvPr/>
        </p:nvSpPr>
        <p:spPr>
          <a:xfrm>
            <a:off x="502920" y="1216152"/>
            <a:ext cx="11185855" cy="777240"/>
          </a:xfrm>
          <a:prstGeom prst="roundRect">
            <a:avLst>
              <a:gd name="adj" fmla="val 12000"/>
            </a:avLst>
          </a:prstGeom>
          <a:solidFill>
            <a:srgbClr val="F0F0F0"/>
          </a:solidFill>
          <a:ln>
            <a:noFill/>
          </a:ln>
          <a:effectLst/>
        </p:spPr>
        <p:txBody>
          <a:bodyPr rtlCol="0" anchor="ctr"/>
          <a:lstStyle/>
          <a:p/>
        </p:txBody>
      </p:sp>
      <p:sp>
        <p:nvSpPr>
          <p:cNvPr id="7" name="Oval 6"/>
          <p:cNvSpPr/>
          <p:nvPr/>
        </p:nvSpPr>
        <p:spPr>
          <a:xfrm>
            <a:off x="612648" y="133045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4</a:t>
            </a:r>
          </a:p>
        </p:txBody>
      </p:sp>
      <p:sp>
        <p:nvSpPr>
          <p:cNvPr id="8" name="TextBox 7"/>
          <p:cNvSpPr txBox="1"/>
          <p:nvPr/>
        </p:nvSpPr>
        <p:spPr>
          <a:xfrm>
            <a:off x="1280160" y="1216152"/>
            <a:ext cx="10317175" cy="77724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Dünyada çay üretimindeki iş gücü ihtiyacının fazlalığı, üretim yapılan bölgelerdeki nüfusu nasıl etkilemiş olabilir?</a:t>
            </a:r>
          </a:p>
        </p:txBody>
      </p:sp>
      <p:sp>
        <p:nvSpPr>
          <p:cNvPr id="9" name="Rounded Rectangle 8"/>
          <p:cNvSpPr/>
          <p:nvPr/>
        </p:nvSpPr>
        <p:spPr>
          <a:xfrm>
            <a:off x="502920" y="2130552"/>
            <a:ext cx="3618890" cy="2743200"/>
          </a:xfrm>
          <a:prstGeom prst="roundRect">
            <a:avLst>
              <a:gd name="adj" fmla="val 5000"/>
            </a:avLst>
          </a:prstGeom>
          <a:solidFill>
            <a:srgbClr val="E3F1E4"/>
          </a:solidFill>
          <a:ln>
            <a:noFill/>
          </a:ln>
          <a:effectLst/>
        </p:spPr>
        <p:txBody>
          <a:bodyPr rtlCol="0" anchor="ctr"/>
          <a:lstStyle/>
          <a:p/>
        </p:txBody>
      </p:sp>
      <p:sp>
        <p:nvSpPr>
          <p:cNvPr id="10" name="Rounded Rectangle 9"/>
          <p:cNvSpPr/>
          <p:nvPr/>
        </p:nvSpPr>
        <p:spPr>
          <a:xfrm>
            <a:off x="502920" y="2130552"/>
            <a:ext cx="3618890" cy="457200"/>
          </a:xfrm>
          <a:prstGeom prst="roundRect">
            <a:avLst>
              <a:gd name="adj" fmla="val 25000"/>
            </a:avLst>
          </a:prstGeom>
          <a:solidFill>
            <a:srgbClr val="2E7D32"/>
          </a:solidFill>
          <a:ln>
            <a:noFill/>
          </a:ln>
          <a:effectLst/>
        </p:spPr>
        <p:txBody>
          <a:bodyPr rtlCol="0" anchor="ctr"/>
          <a:lstStyle/>
          <a:p/>
        </p:txBody>
      </p:sp>
      <p:sp>
        <p:nvSpPr>
          <p:cNvPr id="11" name="Rectangle 10"/>
          <p:cNvSpPr/>
          <p:nvPr/>
        </p:nvSpPr>
        <p:spPr>
          <a:xfrm>
            <a:off x="502920" y="2359152"/>
            <a:ext cx="3618890" cy="228600"/>
          </a:xfrm>
          <a:prstGeom prst="rect">
            <a:avLst/>
          </a:prstGeom>
          <a:solidFill>
            <a:srgbClr val="2E7D32"/>
          </a:solidFill>
          <a:ln>
            <a:noFill/>
          </a:ln>
          <a:effectLst/>
        </p:spPr>
        <p:txBody>
          <a:bodyPr rtlCol="0" anchor="ctr"/>
          <a:lstStyle/>
          <a:p/>
        </p:txBody>
      </p:sp>
      <p:sp>
        <p:nvSpPr>
          <p:cNvPr id="12" name="TextBox 11"/>
          <p:cNvSpPr txBox="1"/>
          <p:nvPr/>
        </p:nvSpPr>
        <p:spPr>
          <a:xfrm>
            <a:off x="594360" y="2130552"/>
            <a:ext cx="3436010" cy="45720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Nüfus bölgede kalır</a:t>
            </a:r>
          </a:p>
        </p:txBody>
      </p:sp>
      <p:sp>
        <p:nvSpPr>
          <p:cNvPr id="13" name="TextBox 12"/>
          <p:cNvSpPr txBox="1"/>
          <p:nvPr/>
        </p:nvSpPr>
        <p:spPr>
          <a:xfrm>
            <a:off x="612648" y="2660904"/>
            <a:ext cx="3399434" cy="2139696"/>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İş imkânı nüfusu bölgede tutar</a:t>
            </a:r>
          </a:p>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Dışarıya göç azalmış olabilir</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Kırsal nüfus yoğun kalır</a:t>
            </a:r>
          </a:p>
        </p:txBody>
      </p:sp>
      <p:sp>
        <p:nvSpPr>
          <p:cNvPr id="14" name="Rounded Rectangle 13"/>
          <p:cNvSpPr/>
          <p:nvPr/>
        </p:nvSpPr>
        <p:spPr>
          <a:xfrm>
            <a:off x="4286402" y="2130552"/>
            <a:ext cx="3618890" cy="2743200"/>
          </a:xfrm>
          <a:prstGeom prst="roundRect">
            <a:avLst>
              <a:gd name="adj" fmla="val 5000"/>
            </a:avLst>
          </a:prstGeom>
          <a:solidFill>
            <a:srgbClr val="E3F1E4"/>
          </a:solidFill>
          <a:ln>
            <a:noFill/>
          </a:ln>
          <a:effectLst/>
        </p:spPr>
        <p:txBody>
          <a:bodyPr rtlCol="0" anchor="ctr"/>
          <a:lstStyle/>
          <a:p/>
        </p:txBody>
      </p:sp>
      <p:sp>
        <p:nvSpPr>
          <p:cNvPr id="15" name="Rounded Rectangle 14"/>
          <p:cNvSpPr/>
          <p:nvPr/>
        </p:nvSpPr>
        <p:spPr>
          <a:xfrm>
            <a:off x="4286402" y="2130552"/>
            <a:ext cx="3618890" cy="457200"/>
          </a:xfrm>
          <a:prstGeom prst="roundRect">
            <a:avLst>
              <a:gd name="adj" fmla="val 25000"/>
            </a:avLst>
          </a:prstGeom>
          <a:solidFill>
            <a:srgbClr val="2E7D32"/>
          </a:solidFill>
          <a:ln>
            <a:noFill/>
          </a:ln>
          <a:effectLst/>
        </p:spPr>
        <p:txBody>
          <a:bodyPr rtlCol="0" anchor="ctr"/>
          <a:lstStyle/>
          <a:p/>
        </p:txBody>
      </p:sp>
      <p:sp>
        <p:nvSpPr>
          <p:cNvPr id="16" name="Rectangle 15"/>
          <p:cNvSpPr/>
          <p:nvPr/>
        </p:nvSpPr>
        <p:spPr>
          <a:xfrm>
            <a:off x="4286402" y="2359152"/>
            <a:ext cx="3618890" cy="228600"/>
          </a:xfrm>
          <a:prstGeom prst="rect">
            <a:avLst/>
          </a:prstGeom>
          <a:solidFill>
            <a:srgbClr val="2E7D32"/>
          </a:solidFill>
          <a:ln>
            <a:noFill/>
          </a:ln>
          <a:effectLst/>
        </p:spPr>
        <p:txBody>
          <a:bodyPr rtlCol="0" anchor="ctr"/>
          <a:lstStyle/>
          <a:p/>
        </p:txBody>
      </p:sp>
      <p:sp>
        <p:nvSpPr>
          <p:cNvPr id="17" name="TextBox 16"/>
          <p:cNvSpPr txBox="1"/>
          <p:nvPr/>
        </p:nvSpPr>
        <p:spPr>
          <a:xfrm>
            <a:off x="4377842" y="2130552"/>
            <a:ext cx="3436010" cy="45720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Nüfus çekilir</a:t>
            </a:r>
          </a:p>
        </p:txBody>
      </p:sp>
      <p:sp>
        <p:nvSpPr>
          <p:cNvPr id="18" name="TextBox 17"/>
          <p:cNvSpPr txBox="1"/>
          <p:nvPr/>
        </p:nvSpPr>
        <p:spPr>
          <a:xfrm>
            <a:off x="4396130" y="2660904"/>
            <a:ext cx="3399434" cy="2139696"/>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Hasatta çevreden mevsimlik işçi gelebilir</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Nüfus geçici olarak artar</a:t>
            </a:r>
          </a:p>
        </p:txBody>
      </p:sp>
      <p:sp>
        <p:nvSpPr>
          <p:cNvPr id="19" name="Rounded Rectangle 18"/>
          <p:cNvSpPr/>
          <p:nvPr/>
        </p:nvSpPr>
        <p:spPr>
          <a:xfrm>
            <a:off x="8069884" y="2130552"/>
            <a:ext cx="3618890" cy="2743200"/>
          </a:xfrm>
          <a:prstGeom prst="roundRect">
            <a:avLst>
              <a:gd name="adj" fmla="val 5000"/>
            </a:avLst>
          </a:prstGeom>
          <a:solidFill>
            <a:srgbClr val="E3F1E4"/>
          </a:solidFill>
          <a:ln>
            <a:noFill/>
          </a:ln>
          <a:effectLst/>
        </p:spPr>
        <p:txBody>
          <a:bodyPr rtlCol="0" anchor="ctr"/>
          <a:lstStyle/>
          <a:p/>
        </p:txBody>
      </p:sp>
      <p:sp>
        <p:nvSpPr>
          <p:cNvPr id="20" name="Rounded Rectangle 19"/>
          <p:cNvSpPr/>
          <p:nvPr/>
        </p:nvSpPr>
        <p:spPr>
          <a:xfrm>
            <a:off x="8069884" y="2130552"/>
            <a:ext cx="3618890" cy="457200"/>
          </a:xfrm>
          <a:prstGeom prst="roundRect">
            <a:avLst>
              <a:gd name="adj" fmla="val 25000"/>
            </a:avLst>
          </a:prstGeom>
          <a:solidFill>
            <a:srgbClr val="2E7D32"/>
          </a:solidFill>
          <a:ln>
            <a:noFill/>
          </a:ln>
          <a:effectLst/>
        </p:spPr>
        <p:txBody>
          <a:bodyPr rtlCol="0" anchor="ctr"/>
          <a:lstStyle/>
          <a:p/>
        </p:txBody>
      </p:sp>
      <p:sp>
        <p:nvSpPr>
          <p:cNvPr id="21" name="Rectangle 20"/>
          <p:cNvSpPr/>
          <p:nvPr/>
        </p:nvSpPr>
        <p:spPr>
          <a:xfrm>
            <a:off x="8069884" y="2359152"/>
            <a:ext cx="3618890" cy="228600"/>
          </a:xfrm>
          <a:prstGeom prst="rect">
            <a:avLst/>
          </a:prstGeom>
          <a:solidFill>
            <a:srgbClr val="2E7D32"/>
          </a:solidFill>
          <a:ln>
            <a:noFill/>
          </a:ln>
          <a:effectLst/>
        </p:spPr>
        <p:txBody>
          <a:bodyPr rtlCol="0" anchor="ctr"/>
          <a:lstStyle/>
          <a:p/>
        </p:txBody>
      </p:sp>
      <p:sp>
        <p:nvSpPr>
          <p:cNvPr id="22" name="TextBox 21"/>
          <p:cNvSpPr txBox="1"/>
          <p:nvPr/>
        </p:nvSpPr>
        <p:spPr>
          <a:xfrm>
            <a:off x="8161324" y="2130552"/>
            <a:ext cx="3436010" cy="45720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Yerleşmeler büyür</a:t>
            </a:r>
          </a:p>
        </p:txBody>
      </p:sp>
      <p:sp>
        <p:nvSpPr>
          <p:cNvPr id="23" name="TextBox 22"/>
          <p:cNvSpPr txBox="1"/>
          <p:nvPr/>
        </p:nvSpPr>
        <p:spPr>
          <a:xfrm>
            <a:off x="8179612" y="2660904"/>
            <a:ext cx="3399434" cy="2139696"/>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Çay bahçelerinin çevresinde yerleşmeler</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Fabrikalar iş yaratır; kasaba ve kentler büyür</a:t>
            </a:r>
          </a:p>
        </p:txBody>
      </p:sp>
      <p:sp>
        <p:nvSpPr>
          <p:cNvPr id="24" name="Rounded Rectangle 23"/>
          <p:cNvSpPr/>
          <p:nvPr/>
        </p:nvSpPr>
        <p:spPr>
          <a:xfrm>
            <a:off x="502920" y="5010912"/>
            <a:ext cx="11185855" cy="128016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400"/>
              </a:spcAft>
            </a:pPr>
            <a:r>
              <a:rPr lang="tr-TR" sz="1800" b="0" i="1">
                <a:solidFill>
                  <a:srgbClr val="262626"/>
                </a:solidFill>
                <a:latin typeface="Calibri"/>
              </a:rPr>
              <a:t>Başlangıç: “Rize, Trabzon, Artvin, Giresun, Ordu gibi engebeli arazilere sahip alanlarda yapılan çay tarımında iş gücü ihtiyacı fazladır.”</a:t>
            </a:r>
          </a:p>
          <a:p>
            <a:pPr algn="l">
              <a:spcBef>
                <a:spcPts val="0"/>
              </a:spcBef>
              <a:spcAft>
                <a:spcPts val="0"/>
              </a:spcAft>
            </a:pPr>
            <a:r>
              <a:rPr lang="tr-TR" sz="1800" b="1" i="0">
                <a:solidFill>
                  <a:srgbClr val="2E7D32"/>
                </a:solidFill>
                <a:latin typeface="Calibri"/>
              </a:rPr>
              <a:t>İyi bir cevap: iş gücü ihtiyacını nüfusun miktarı, göç ve yerleşmeyle ilişkilendirir; gerekçe verir.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184-185</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138 / 166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5.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5</a:t>
            </a:r>
          </a:p>
        </p:txBody>
      </p:sp>
      <p:sp>
        <p:nvSpPr>
          <p:cNvPr id="6" name="Rounded Rectangle 5"/>
          <p:cNvSpPr/>
          <p:nvPr/>
        </p:nvSpPr>
        <p:spPr>
          <a:xfrm>
            <a:off x="502920" y="1216152"/>
            <a:ext cx="11185855" cy="1234440"/>
          </a:xfrm>
          <a:prstGeom prst="roundRect">
            <a:avLst>
              <a:gd name="adj" fmla="val 6000"/>
            </a:avLst>
          </a:prstGeom>
          <a:solidFill>
            <a:srgbClr val="FFF3D1"/>
          </a:solidFill>
          <a:ln>
            <a:noFill/>
          </a:ln>
          <a:effectLst/>
        </p:spPr>
        <p:txBody>
          <a:bodyPr rtlCol="0" anchor="ctr"/>
          <a:lstStyle/>
          <a:p/>
        </p:txBody>
      </p:sp>
      <p:sp>
        <p:nvSpPr>
          <p:cNvPr id="7" name="Oval 6"/>
          <p:cNvSpPr/>
          <p:nvPr/>
        </p:nvSpPr>
        <p:spPr>
          <a:xfrm>
            <a:off x="640080" y="1353312"/>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5</a:t>
            </a:r>
          </a:p>
        </p:txBody>
      </p:sp>
      <p:sp>
        <p:nvSpPr>
          <p:cNvPr id="8" name="TextBox 7"/>
          <p:cNvSpPr txBox="1"/>
          <p:nvPr/>
        </p:nvSpPr>
        <p:spPr>
          <a:xfrm>
            <a:off x="1325880" y="1289304"/>
            <a:ext cx="10271455" cy="1088136"/>
          </a:xfrm>
          <a:prstGeom prst="rect">
            <a:avLst/>
          </a:prstGeom>
          <a:noFill/>
        </p:spPr>
        <p:txBody>
          <a:bodyPr wrap="square" anchor="ctr" lIns="73152" rIns="73152" tIns="36576" bIns="36576">
            <a:noAutofit/>
          </a:bodyPr>
          <a:lstStyle/>
          <a:p>
            <a:pPr algn="l">
              <a:spcBef>
                <a:spcPts val="0"/>
              </a:spcBef>
              <a:spcAft>
                <a:spcPts val="0"/>
              </a:spcAft>
            </a:pPr>
            <a:r>
              <a:rPr lang="tr-TR" sz="2700" b="1" i="0">
                <a:solidFill>
                  <a:srgbClr val="262626"/>
                </a:solidFill>
                <a:latin typeface="Calibri"/>
              </a:rPr>
              <a:t>Çay üretiminin neden her yerde yapılamayacağına yönelik elde ettiğiniz sonuçlar nelerdir?</a:t>
            </a:r>
          </a:p>
        </p:txBody>
      </p:sp>
      <p:sp>
        <p:nvSpPr>
          <p:cNvPr id="9" name="Rounded Rectangle 8"/>
          <p:cNvSpPr/>
          <p:nvPr/>
        </p:nvSpPr>
        <p:spPr>
          <a:xfrm>
            <a:off x="502920" y="2633472"/>
            <a:ext cx="5455767" cy="365760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2633472"/>
            <a:ext cx="5455767" cy="566928"/>
          </a:xfrm>
          <a:prstGeom prst="roundRect">
            <a:avLst>
              <a:gd name="adj" fmla="val 25000"/>
            </a:avLst>
          </a:prstGeom>
          <a:solidFill>
            <a:srgbClr val="3E8E41"/>
          </a:solidFill>
          <a:ln>
            <a:noFill/>
          </a:ln>
          <a:effectLst/>
        </p:spPr>
        <p:txBody>
          <a:bodyPr rtlCol="0" anchor="ctr"/>
          <a:lstStyle/>
          <a:p/>
        </p:txBody>
      </p:sp>
      <p:sp>
        <p:nvSpPr>
          <p:cNvPr id="11" name="Rectangle 10"/>
          <p:cNvSpPr/>
          <p:nvPr/>
        </p:nvSpPr>
        <p:spPr>
          <a:xfrm>
            <a:off x="502920" y="2916936"/>
            <a:ext cx="5455767" cy="283464"/>
          </a:xfrm>
          <a:prstGeom prst="rect">
            <a:avLst/>
          </a:prstGeom>
          <a:solidFill>
            <a:srgbClr val="3E8E41"/>
          </a:solidFill>
          <a:ln>
            <a:noFill/>
          </a:ln>
          <a:effectLst/>
        </p:spPr>
        <p:txBody>
          <a:bodyPr rtlCol="0" anchor="ctr"/>
          <a:lstStyle/>
          <a:p/>
        </p:txBody>
      </p:sp>
      <p:sp>
        <p:nvSpPr>
          <p:cNvPr id="12" name="TextBox 11"/>
          <p:cNvSpPr txBox="1"/>
          <p:nvPr/>
        </p:nvSpPr>
        <p:spPr>
          <a:xfrm>
            <a:off x="594360" y="2633472"/>
            <a:ext cx="5272887" cy="56692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Doğal koşullar</a:t>
            </a:r>
          </a:p>
        </p:txBody>
      </p:sp>
      <p:sp>
        <p:nvSpPr>
          <p:cNvPr id="13" name="TextBox 12"/>
          <p:cNvSpPr txBox="1"/>
          <p:nvPr/>
        </p:nvSpPr>
        <p:spPr>
          <a:xfrm>
            <a:off x="612648" y="3273552"/>
            <a:ext cx="5236311" cy="2944368"/>
          </a:xfrm>
          <a:prstGeom prst="rect">
            <a:avLst/>
          </a:prstGeom>
          <a:noFill/>
        </p:spPr>
        <p:txBody>
          <a:bodyPr wrap="square" anchor="t" lIns="73152" rIns="73152" tIns="36576" bIns="36576">
            <a:noAutofit/>
          </a:bodyPr>
          <a:lstStyle/>
          <a:p>
            <a:pPr algn="l" marL="285913" indent="-285913">
              <a:spcBef>
                <a:spcPts val="0"/>
              </a:spcBef>
              <a:spcAft>
                <a:spcPts val="600"/>
              </a:spcAft>
            </a:pPr>
            <a:r>
              <a:rPr lang="tr-TR" sz="2300" b="1" i="0">
                <a:solidFill>
                  <a:srgbClr val="2C6696"/>
                </a:solidFill>
                <a:latin typeface="Calibri"/>
              </a:rPr>
              <a:t>•  </a:t>
            </a:r>
            <a:r>
              <a:rPr lang="tr-TR" sz="2300" b="0" i="0">
                <a:solidFill>
                  <a:srgbClr val="262626"/>
                </a:solidFill>
                <a:latin typeface="Calibri"/>
              </a:rPr>
              <a:t>Çay hangi yükseltilerde ve enlemlerde yetişir?</a:t>
            </a:r>
          </a:p>
          <a:p>
            <a:pPr algn="l" marL="285913" indent="-285913">
              <a:spcBef>
                <a:spcPts val="0"/>
              </a:spcBef>
              <a:spcAft>
                <a:spcPts val="0"/>
              </a:spcAft>
            </a:pPr>
            <a:r>
              <a:rPr lang="tr-TR" sz="2300" b="1" i="0">
                <a:solidFill>
                  <a:srgbClr val="2C6696"/>
                </a:solidFill>
                <a:latin typeface="Calibri"/>
              </a:rPr>
              <a:t>•  </a:t>
            </a:r>
            <a:r>
              <a:rPr lang="tr-TR" sz="2300" b="0" i="0">
                <a:solidFill>
                  <a:srgbClr val="262626"/>
                </a:solidFill>
                <a:latin typeface="Calibri"/>
              </a:rPr>
              <a:t>Nasıl bir yağış, nem, toprak ve sıcaklık ister?</a:t>
            </a:r>
          </a:p>
        </p:txBody>
      </p:sp>
      <p:sp>
        <p:nvSpPr>
          <p:cNvPr id="14" name="Rounded Rectangle 13"/>
          <p:cNvSpPr/>
          <p:nvPr/>
        </p:nvSpPr>
        <p:spPr>
          <a:xfrm>
            <a:off x="6233007" y="2633472"/>
            <a:ext cx="5455767" cy="365760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6233007" y="2633472"/>
            <a:ext cx="5455767" cy="566928"/>
          </a:xfrm>
          <a:prstGeom prst="roundRect">
            <a:avLst>
              <a:gd name="adj" fmla="val 25000"/>
            </a:avLst>
          </a:prstGeom>
          <a:solidFill>
            <a:srgbClr val="2C6696"/>
          </a:solidFill>
          <a:ln>
            <a:noFill/>
          </a:ln>
          <a:effectLst/>
        </p:spPr>
        <p:txBody>
          <a:bodyPr rtlCol="0" anchor="ctr"/>
          <a:lstStyle/>
          <a:p/>
        </p:txBody>
      </p:sp>
      <p:sp>
        <p:nvSpPr>
          <p:cNvPr id="16" name="Rectangle 15"/>
          <p:cNvSpPr/>
          <p:nvPr/>
        </p:nvSpPr>
        <p:spPr>
          <a:xfrm>
            <a:off x="6233007" y="2916936"/>
            <a:ext cx="5455767" cy="283464"/>
          </a:xfrm>
          <a:prstGeom prst="rect">
            <a:avLst/>
          </a:prstGeom>
          <a:solidFill>
            <a:srgbClr val="2C6696"/>
          </a:solidFill>
          <a:ln>
            <a:noFill/>
          </a:ln>
          <a:effectLst/>
        </p:spPr>
        <p:txBody>
          <a:bodyPr rtlCol="0" anchor="ctr"/>
          <a:lstStyle/>
          <a:p/>
        </p:txBody>
      </p:sp>
      <p:sp>
        <p:nvSpPr>
          <p:cNvPr id="17" name="TextBox 16"/>
          <p:cNvSpPr txBox="1"/>
          <p:nvPr/>
        </p:nvSpPr>
        <p:spPr>
          <a:xfrm>
            <a:off x="6324447" y="2633472"/>
            <a:ext cx="5272887" cy="56692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Beşerî koşullar</a:t>
            </a:r>
          </a:p>
        </p:txBody>
      </p:sp>
      <p:sp>
        <p:nvSpPr>
          <p:cNvPr id="18" name="TextBox 17"/>
          <p:cNvSpPr txBox="1"/>
          <p:nvPr/>
        </p:nvSpPr>
        <p:spPr>
          <a:xfrm>
            <a:off x="6342735" y="3273552"/>
            <a:ext cx="5236311" cy="2944368"/>
          </a:xfrm>
          <a:prstGeom prst="rect">
            <a:avLst/>
          </a:prstGeom>
          <a:noFill/>
        </p:spPr>
        <p:txBody>
          <a:bodyPr wrap="square" anchor="t" lIns="73152" rIns="73152" tIns="36576" bIns="36576">
            <a:noAutofit/>
          </a:bodyPr>
          <a:lstStyle/>
          <a:p>
            <a:pPr algn="l" marL="285913" indent="-285913">
              <a:spcBef>
                <a:spcPts val="0"/>
              </a:spcBef>
              <a:spcAft>
                <a:spcPts val="600"/>
              </a:spcAft>
            </a:pPr>
            <a:r>
              <a:rPr lang="tr-TR" sz="2300" b="1" i="0">
                <a:solidFill>
                  <a:srgbClr val="2C6696"/>
                </a:solidFill>
                <a:latin typeface="Calibri"/>
              </a:rPr>
              <a:t>•  </a:t>
            </a:r>
            <a:r>
              <a:rPr lang="tr-TR" sz="2300" b="0" i="0">
                <a:solidFill>
                  <a:srgbClr val="262626"/>
                </a:solidFill>
                <a:latin typeface="Calibri"/>
              </a:rPr>
              <a:t>Çay tarımı ne kadar iş gücü ister?</a:t>
            </a:r>
          </a:p>
          <a:p>
            <a:pPr algn="l" marL="285913" indent="-285913">
              <a:spcBef>
                <a:spcPts val="0"/>
              </a:spcBef>
              <a:spcAft>
                <a:spcPts val="0"/>
              </a:spcAft>
            </a:pPr>
            <a:r>
              <a:rPr lang="tr-TR" sz="2300" b="1" i="0">
                <a:solidFill>
                  <a:srgbClr val="2C6696"/>
                </a:solidFill>
                <a:latin typeface="Calibri"/>
              </a:rPr>
              <a:t>•  </a:t>
            </a:r>
            <a:r>
              <a:rPr lang="tr-TR" sz="2300" b="0" i="0">
                <a:solidFill>
                  <a:srgbClr val="262626"/>
                </a:solidFill>
                <a:latin typeface="Calibri"/>
              </a:rPr>
              <a:t>Fabrikalar neden üretim alanının yakınında?</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184-185</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139 / 166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5.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5</a:t>
            </a:r>
          </a:p>
        </p:txBody>
      </p:sp>
      <p:sp>
        <p:nvSpPr>
          <p:cNvPr id="6" name="Rounded Rectangle 5"/>
          <p:cNvSpPr/>
          <p:nvPr/>
        </p:nvSpPr>
        <p:spPr>
          <a:xfrm>
            <a:off x="502920" y="1216152"/>
            <a:ext cx="11185855" cy="731520"/>
          </a:xfrm>
          <a:prstGeom prst="roundRect">
            <a:avLst>
              <a:gd name="adj" fmla="val 12000"/>
            </a:avLst>
          </a:prstGeom>
          <a:solidFill>
            <a:srgbClr val="F0F0F0"/>
          </a:solidFill>
          <a:ln>
            <a:noFill/>
          </a:ln>
          <a:effectLst/>
        </p:spPr>
        <p:txBody>
          <a:bodyPr rtlCol="0" anchor="ctr"/>
          <a:lstStyle/>
          <a:p/>
        </p:txBody>
      </p:sp>
      <p:sp>
        <p:nvSpPr>
          <p:cNvPr id="7" name="Oval 6"/>
          <p:cNvSpPr/>
          <p:nvPr/>
        </p:nvSpPr>
        <p:spPr>
          <a:xfrm>
            <a:off x="612648" y="130759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5</a:t>
            </a:r>
          </a:p>
        </p:txBody>
      </p:sp>
      <p:sp>
        <p:nvSpPr>
          <p:cNvPr id="8" name="TextBox 7"/>
          <p:cNvSpPr txBox="1"/>
          <p:nvPr/>
        </p:nvSpPr>
        <p:spPr>
          <a:xfrm>
            <a:off x="1280160" y="1216152"/>
            <a:ext cx="10317175" cy="7315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Çay üretiminin neden her yerde yapılamayacağına yönelik elde ettiğiniz sonuçlar nelerdir?</a:t>
            </a:r>
          </a:p>
        </p:txBody>
      </p:sp>
      <p:sp>
        <p:nvSpPr>
          <p:cNvPr id="9" name="Rounded Rectangle 8"/>
          <p:cNvSpPr/>
          <p:nvPr/>
        </p:nvSpPr>
        <p:spPr>
          <a:xfrm>
            <a:off x="502920" y="2084832"/>
            <a:ext cx="5510631" cy="2240280"/>
          </a:xfrm>
          <a:prstGeom prst="roundRect">
            <a:avLst>
              <a:gd name="adj" fmla="val 5000"/>
            </a:avLst>
          </a:prstGeom>
          <a:solidFill>
            <a:srgbClr val="E3F1E4"/>
          </a:solidFill>
          <a:ln>
            <a:noFill/>
          </a:ln>
          <a:effectLst/>
        </p:spPr>
        <p:txBody>
          <a:bodyPr rtlCol="0" anchor="ctr"/>
          <a:lstStyle/>
          <a:p/>
        </p:txBody>
      </p:sp>
      <p:sp>
        <p:nvSpPr>
          <p:cNvPr id="10" name="Rounded Rectangle 9"/>
          <p:cNvSpPr/>
          <p:nvPr/>
        </p:nvSpPr>
        <p:spPr>
          <a:xfrm>
            <a:off x="502920" y="2084832"/>
            <a:ext cx="5510631" cy="457200"/>
          </a:xfrm>
          <a:prstGeom prst="roundRect">
            <a:avLst>
              <a:gd name="adj" fmla="val 25000"/>
            </a:avLst>
          </a:prstGeom>
          <a:solidFill>
            <a:srgbClr val="2E7D32"/>
          </a:solidFill>
          <a:ln>
            <a:noFill/>
          </a:ln>
          <a:effectLst/>
        </p:spPr>
        <p:txBody>
          <a:bodyPr rtlCol="0" anchor="ctr"/>
          <a:lstStyle/>
          <a:p/>
        </p:txBody>
      </p:sp>
      <p:sp>
        <p:nvSpPr>
          <p:cNvPr id="11" name="Rectangle 10"/>
          <p:cNvSpPr/>
          <p:nvPr/>
        </p:nvSpPr>
        <p:spPr>
          <a:xfrm>
            <a:off x="502920" y="2313432"/>
            <a:ext cx="5510631" cy="228600"/>
          </a:xfrm>
          <a:prstGeom prst="rect">
            <a:avLst/>
          </a:prstGeom>
          <a:solidFill>
            <a:srgbClr val="2E7D32"/>
          </a:solidFill>
          <a:ln>
            <a:noFill/>
          </a:ln>
          <a:effectLst/>
        </p:spPr>
        <p:txBody>
          <a:bodyPr rtlCol="0" anchor="ctr"/>
          <a:lstStyle/>
          <a:p/>
        </p:txBody>
      </p:sp>
      <p:sp>
        <p:nvSpPr>
          <p:cNvPr id="12" name="TextBox 11"/>
          <p:cNvSpPr txBox="1"/>
          <p:nvPr/>
        </p:nvSpPr>
        <p:spPr>
          <a:xfrm>
            <a:off x="594360" y="2084832"/>
            <a:ext cx="5327751" cy="45720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Doğal koşullar bir arada olmalı</a:t>
            </a:r>
          </a:p>
        </p:txBody>
      </p:sp>
      <p:sp>
        <p:nvSpPr>
          <p:cNvPr id="13" name="TextBox 12"/>
          <p:cNvSpPr txBox="1"/>
          <p:nvPr/>
        </p:nvSpPr>
        <p:spPr>
          <a:xfrm>
            <a:off x="612648" y="2615184"/>
            <a:ext cx="5291175" cy="1636776"/>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Nemli ve bol yağışlı alan</a:t>
            </a:r>
          </a:p>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Kireçsiz toprak</a:t>
            </a:r>
          </a:p>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Yıllık ortalama 14 °C'tan düşük değil</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42° K - 30° G arası · 2200 m'ye kadar</a:t>
            </a:r>
          </a:p>
        </p:txBody>
      </p:sp>
      <p:sp>
        <p:nvSpPr>
          <p:cNvPr id="14" name="Rounded Rectangle 13"/>
          <p:cNvSpPr/>
          <p:nvPr/>
        </p:nvSpPr>
        <p:spPr>
          <a:xfrm>
            <a:off x="6178143" y="2084832"/>
            <a:ext cx="5510631" cy="2240280"/>
          </a:xfrm>
          <a:prstGeom prst="roundRect">
            <a:avLst>
              <a:gd name="adj" fmla="val 5000"/>
            </a:avLst>
          </a:prstGeom>
          <a:solidFill>
            <a:srgbClr val="E3F1E4"/>
          </a:solidFill>
          <a:ln>
            <a:noFill/>
          </a:ln>
          <a:effectLst/>
        </p:spPr>
        <p:txBody>
          <a:bodyPr rtlCol="0" anchor="ctr"/>
          <a:lstStyle/>
          <a:p/>
        </p:txBody>
      </p:sp>
      <p:sp>
        <p:nvSpPr>
          <p:cNvPr id="15" name="Rounded Rectangle 14"/>
          <p:cNvSpPr/>
          <p:nvPr/>
        </p:nvSpPr>
        <p:spPr>
          <a:xfrm>
            <a:off x="6178143" y="2084832"/>
            <a:ext cx="5510631" cy="457200"/>
          </a:xfrm>
          <a:prstGeom prst="roundRect">
            <a:avLst>
              <a:gd name="adj" fmla="val 25000"/>
            </a:avLst>
          </a:prstGeom>
          <a:solidFill>
            <a:srgbClr val="2E7D32"/>
          </a:solidFill>
          <a:ln>
            <a:noFill/>
          </a:ln>
          <a:effectLst/>
        </p:spPr>
        <p:txBody>
          <a:bodyPr rtlCol="0" anchor="ctr"/>
          <a:lstStyle/>
          <a:p/>
        </p:txBody>
      </p:sp>
      <p:sp>
        <p:nvSpPr>
          <p:cNvPr id="16" name="Rectangle 15"/>
          <p:cNvSpPr/>
          <p:nvPr/>
        </p:nvSpPr>
        <p:spPr>
          <a:xfrm>
            <a:off x="6178143" y="2313432"/>
            <a:ext cx="5510631" cy="228600"/>
          </a:xfrm>
          <a:prstGeom prst="rect">
            <a:avLst/>
          </a:prstGeom>
          <a:solidFill>
            <a:srgbClr val="2E7D32"/>
          </a:solidFill>
          <a:ln>
            <a:noFill/>
          </a:ln>
          <a:effectLst/>
        </p:spPr>
        <p:txBody>
          <a:bodyPr rtlCol="0" anchor="ctr"/>
          <a:lstStyle/>
          <a:p/>
        </p:txBody>
      </p:sp>
      <p:sp>
        <p:nvSpPr>
          <p:cNvPr id="17" name="TextBox 16"/>
          <p:cNvSpPr txBox="1"/>
          <p:nvPr/>
        </p:nvSpPr>
        <p:spPr>
          <a:xfrm>
            <a:off x="6269583" y="2084832"/>
            <a:ext cx="5327751" cy="45720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Beşerî koşullar</a:t>
            </a:r>
          </a:p>
        </p:txBody>
      </p:sp>
      <p:sp>
        <p:nvSpPr>
          <p:cNvPr id="18" name="TextBox 17"/>
          <p:cNvSpPr txBox="1"/>
          <p:nvPr/>
        </p:nvSpPr>
        <p:spPr>
          <a:xfrm>
            <a:off x="6287871" y="2615184"/>
            <a:ext cx="5291175" cy="1636776"/>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Çok iş gücü (insan emeği) gerekir</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Hasattan hemen sonra işlenmeli: fabrika yakında olmalı</a:t>
            </a:r>
          </a:p>
        </p:txBody>
      </p:sp>
      <p:sp>
        <p:nvSpPr>
          <p:cNvPr id="19" name="Rounded Rectangle 18"/>
          <p:cNvSpPr/>
          <p:nvPr/>
        </p:nvSpPr>
        <p:spPr>
          <a:xfrm>
            <a:off x="502920" y="4462272"/>
            <a:ext cx="11185855" cy="1828800"/>
          </a:xfrm>
          <a:prstGeom prst="roundRect">
            <a:avLst>
              <a:gd name="adj" fmla="val 6000"/>
            </a:avLst>
          </a:prstGeom>
          <a:solidFill>
            <a:srgbClr val="E3F1E4"/>
          </a:solidFill>
          <a:ln>
            <a:noFill/>
          </a:ln>
          <a:effectLst/>
        </p:spPr>
        <p:txBody>
          <a:bodyPr rtlCol="0" anchor="ctr"/>
          <a:lstStyle/>
          <a:p/>
        </p:txBody>
      </p:sp>
      <p:sp>
        <p:nvSpPr>
          <p:cNvPr id="20" name="Rectangle 19"/>
          <p:cNvSpPr/>
          <p:nvPr/>
        </p:nvSpPr>
        <p:spPr>
          <a:xfrm>
            <a:off x="502920" y="4462272"/>
            <a:ext cx="109728" cy="1828800"/>
          </a:xfrm>
          <a:prstGeom prst="rect">
            <a:avLst/>
          </a:prstGeom>
          <a:solidFill>
            <a:srgbClr val="2E7D32"/>
          </a:solidFill>
          <a:ln>
            <a:noFill/>
          </a:ln>
          <a:effectLst/>
        </p:spPr>
        <p:txBody>
          <a:bodyPr rtlCol="0" anchor="ctr"/>
          <a:lstStyle/>
          <a:p/>
        </p:txBody>
      </p:sp>
      <p:sp>
        <p:nvSpPr>
          <p:cNvPr id="21" name="TextBox 20"/>
          <p:cNvSpPr txBox="1"/>
          <p:nvPr/>
        </p:nvSpPr>
        <p:spPr>
          <a:xfrm>
            <a:off x="731520" y="4517136"/>
            <a:ext cx="10865815" cy="171907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Sonuç</a:t>
            </a:r>
          </a:p>
          <a:p>
            <a:pPr algn="l">
              <a:spcBef>
                <a:spcPts val="0"/>
              </a:spcBef>
              <a:spcAft>
                <a:spcPts val="500"/>
              </a:spcAft>
            </a:pPr>
            <a:r>
              <a:rPr lang="tr-TR" sz="1900" b="0" i="0">
                <a:solidFill>
                  <a:srgbClr val="262626"/>
                </a:solidFill>
                <a:latin typeface="Calibri"/>
              </a:rPr>
              <a:t>Bu koşulların hepsinin bulunduğu yer azdır: çay belirli ülke ve illerde yoğunlaşır. Ürünün nerede üretileceğini doğal ve beşerî faktörler birlikte belirler.</a:t>
            </a:r>
          </a:p>
          <a:p>
            <a:pPr algn="l">
              <a:spcBef>
                <a:spcPts val="0"/>
              </a:spcBef>
              <a:spcAft>
                <a:spcPts val="0"/>
              </a:spcAft>
            </a:pPr>
            <a:r>
              <a:rPr lang="tr-TR" sz="1600" b="0" i="1">
                <a:solidFill>
                  <a:srgbClr val="767676"/>
                </a:solidFill>
                <a:latin typeface="Calibri"/>
              </a:rPr>
              <a:t>Kitap s. 174: “Doğal faktörler, ekonomik faaliyetler için kimi zaman avantaj sağlarken kimi zaman da bu faaliyetlerin sınırlarının belirlenmesinde temel oluşturmaktadır.”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 184</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140 / 166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6.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6</a:t>
            </a:r>
          </a:p>
        </p:txBody>
      </p:sp>
      <p:pic>
        <p:nvPicPr>
          <p:cNvPr id="6" name="Picture 5" descr="sonu_cay_turkiye_s184.jpg"/>
          <p:cNvPicPr>
            <a:picLocks noChangeAspect="1"/>
          </p:cNvPicPr>
          <p:nvPr/>
        </p:nvPicPr>
        <p:blipFill>
          <a:blip r:embed="rId3"/>
          <a:stretch>
            <a:fillRect/>
          </a:stretch>
        </p:blipFill>
        <p:spPr>
          <a:xfrm>
            <a:off x="502920" y="1216152"/>
            <a:ext cx="11185855" cy="3573259"/>
          </a:xfrm>
          <a:prstGeom prst="rect">
            <a:avLst/>
          </a:prstGeom>
          <a:ln w="9525">
            <a:solidFill>
              <a:srgbClr val="D9D9D9"/>
            </a:solidFill>
          </a:ln>
        </p:spPr>
      </p:pic>
      <p:sp>
        <p:nvSpPr>
          <p:cNvPr id="7" name="TextBox 6"/>
          <p:cNvSpPr txBox="1"/>
          <p:nvPr/>
        </p:nvSpPr>
        <p:spPr>
          <a:xfrm>
            <a:off x="502920" y="4807699"/>
            <a:ext cx="11185855"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Harita: Ders kitabı s. 184</a:t>
            </a:r>
          </a:p>
        </p:txBody>
      </p:sp>
      <p:sp>
        <p:nvSpPr>
          <p:cNvPr id="8" name="Rounded Rectangle 7"/>
          <p:cNvSpPr/>
          <p:nvPr/>
        </p:nvSpPr>
        <p:spPr>
          <a:xfrm>
            <a:off x="502920" y="5136883"/>
            <a:ext cx="11185855" cy="1154189"/>
          </a:xfrm>
          <a:prstGeom prst="roundRect">
            <a:avLst>
              <a:gd name="adj" fmla="val 6000"/>
            </a:avLst>
          </a:prstGeom>
          <a:solidFill>
            <a:srgbClr val="FFF3D1"/>
          </a:solidFill>
          <a:ln>
            <a:noFill/>
          </a:ln>
          <a:effectLst/>
        </p:spPr>
        <p:txBody>
          <a:bodyPr rtlCol="0" anchor="ctr"/>
          <a:lstStyle/>
          <a:p/>
        </p:txBody>
      </p:sp>
      <p:sp>
        <p:nvSpPr>
          <p:cNvPr id="9" name="Oval 8"/>
          <p:cNvSpPr/>
          <p:nvPr/>
        </p:nvSpPr>
        <p:spPr>
          <a:xfrm>
            <a:off x="640080" y="5274043"/>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6</a:t>
            </a:r>
          </a:p>
        </p:txBody>
      </p:sp>
      <p:sp>
        <p:nvSpPr>
          <p:cNvPr id="10" name="TextBox 9"/>
          <p:cNvSpPr txBox="1"/>
          <p:nvPr/>
        </p:nvSpPr>
        <p:spPr>
          <a:xfrm>
            <a:off x="1325880" y="5210035"/>
            <a:ext cx="10271455" cy="1007885"/>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262626"/>
                </a:solidFill>
                <a:latin typeface="Calibri"/>
              </a:rPr>
              <a:t>Ordu, Giresun, Trabzon ve Artvin’de çay üretimini artırmak için neler yapılabilir?</a:t>
            </a:r>
          </a:p>
        </p:txBody>
      </p:sp>
      <p:sp>
        <p:nvSpPr>
          <p:cNvPr id="11" name="TextBox 1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2" name="Rounded Rectangle 1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184-185</a:t>
            </a:r>
          </a:p>
        </p:txBody>
      </p:sp>
      <p:sp>
        <p:nvSpPr>
          <p:cNvPr id="13" name="TextBox 1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141 / 166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6.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6</a:t>
            </a:r>
          </a:p>
        </p:txBody>
      </p:sp>
      <p:sp>
        <p:nvSpPr>
          <p:cNvPr id="6" name="Rounded Rectangle 5"/>
          <p:cNvSpPr/>
          <p:nvPr/>
        </p:nvSpPr>
        <p:spPr>
          <a:xfrm>
            <a:off x="502920" y="1216152"/>
            <a:ext cx="11185855" cy="685800"/>
          </a:xfrm>
          <a:prstGeom prst="roundRect">
            <a:avLst>
              <a:gd name="adj" fmla="val 12000"/>
            </a:avLst>
          </a:prstGeom>
          <a:solidFill>
            <a:srgbClr val="F0F0F0"/>
          </a:solidFill>
          <a:ln>
            <a:noFill/>
          </a:ln>
          <a:effectLst/>
        </p:spPr>
        <p:txBody>
          <a:bodyPr rtlCol="0" anchor="ctr"/>
          <a:lstStyle/>
          <a:p/>
        </p:txBody>
      </p:sp>
      <p:sp>
        <p:nvSpPr>
          <p:cNvPr id="7" name="Oval 6"/>
          <p:cNvSpPr/>
          <p:nvPr/>
        </p:nvSpPr>
        <p:spPr>
          <a:xfrm>
            <a:off x="612648" y="128473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6</a:t>
            </a:r>
          </a:p>
        </p:txBody>
      </p:sp>
      <p:sp>
        <p:nvSpPr>
          <p:cNvPr id="8" name="TextBox 7"/>
          <p:cNvSpPr txBox="1"/>
          <p:nvPr/>
        </p:nvSpPr>
        <p:spPr>
          <a:xfrm>
            <a:off x="1280160" y="1216152"/>
            <a:ext cx="10317175" cy="68580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Ordu, Giresun, Trabzon ve Artvin’de çay üretimini artırmak için neler yapılabilir?</a:t>
            </a:r>
          </a:p>
        </p:txBody>
      </p:sp>
      <p:sp>
        <p:nvSpPr>
          <p:cNvPr id="9" name="Rounded Rectangle 8"/>
          <p:cNvSpPr/>
          <p:nvPr/>
        </p:nvSpPr>
        <p:spPr>
          <a:xfrm>
            <a:off x="502920" y="2039112"/>
            <a:ext cx="5501487" cy="1659636"/>
          </a:xfrm>
          <a:prstGeom prst="roundRect">
            <a:avLst>
              <a:gd name="adj" fmla="val 5000"/>
            </a:avLst>
          </a:prstGeom>
          <a:solidFill>
            <a:srgbClr val="E3F1E4"/>
          </a:solidFill>
          <a:ln>
            <a:noFill/>
          </a:ln>
          <a:effectLst/>
        </p:spPr>
        <p:txBody>
          <a:bodyPr rtlCol="0" anchor="ctr"/>
          <a:lstStyle/>
          <a:p/>
        </p:txBody>
      </p:sp>
      <p:sp>
        <p:nvSpPr>
          <p:cNvPr id="10" name="Rounded Rectangle 9"/>
          <p:cNvSpPr/>
          <p:nvPr/>
        </p:nvSpPr>
        <p:spPr>
          <a:xfrm>
            <a:off x="502920" y="2039112"/>
            <a:ext cx="5501487" cy="457200"/>
          </a:xfrm>
          <a:prstGeom prst="roundRect">
            <a:avLst>
              <a:gd name="adj" fmla="val 25000"/>
            </a:avLst>
          </a:prstGeom>
          <a:solidFill>
            <a:srgbClr val="2E7D32"/>
          </a:solidFill>
          <a:ln>
            <a:noFill/>
          </a:ln>
          <a:effectLst/>
        </p:spPr>
        <p:txBody>
          <a:bodyPr rtlCol="0" anchor="ctr"/>
          <a:lstStyle/>
          <a:p/>
        </p:txBody>
      </p:sp>
      <p:sp>
        <p:nvSpPr>
          <p:cNvPr id="11" name="Rectangle 10"/>
          <p:cNvSpPr/>
          <p:nvPr/>
        </p:nvSpPr>
        <p:spPr>
          <a:xfrm>
            <a:off x="502920" y="2267712"/>
            <a:ext cx="5501487" cy="228600"/>
          </a:xfrm>
          <a:prstGeom prst="rect">
            <a:avLst/>
          </a:prstGeom>
          <a:solidFill>
            <a:srgbClr val="2E7D32"/>
          </a:solidFill>
          <a:ln>
            <a:noFill/>
          </a:ln>
          <a:effectLst/>
        </p:spPr>
        <p:txBody>
          <a:bodyPr rtlCol="0" anchor="ctr"/>
          <a:lstStyle/>
          <a:p/>
        </p:txBody>
      </p:sp>
      <p:sp>
        <p:nvSpPr>
          <p:cNvPr id="12" name="TextBox 11"/>
          <p:cNvSpPr txBox="1"/>
          <p:nvPr/>
        </p:nvSpPr>
        <p:spPr>
          <a:xfrm>
            <a:off x="594360" y="2039112"/>
            <a:ext cx="5318607" cy="45720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Verimi artırmak</a:t>
            </a:r>
          </a:p>
        </p:txBody>
      </p:sp>
      <p:sp>
        <p:nvSpPr>
          <p:cNvPr id="13" name="TextBox 12"/>
          <p:cNvSpPr txBox="1"/>
          <p:nvPr/>
        </p:nvSpPr>
        <p:spPr>
          <a:xfrm>
            <a:off x="612648" y="2569464"/>
            <a:ext cx="5282031" cy="1056132"/>
          </a:xfrm>
          <a:prstGeom prst="rect">
            <a:avLst/>
          </a:prstGeom>
          <a:noFill/>
        </p:spPr>
        <p:txBody>
          <a:bodyPr wrap="square" anchor="t" lIns="73152" rIns="73152" tIns="36576" bIns="36576">
            <a:noAutofit/>
          </a:bodyPr>
          <a:lstStyle/>
          <a:p>
            <a:pPr algn="l" marL="217543" indent="-217543">
              <a:spcBef>
                <a:spcPts val="0"/>
              </a:spcBef>
              <a:spcAft>
                <a:spcPts val="583"/>
              </a:spcAft>
            </a:pPr>
            <a:r>
              <a:rPr lang="tr-TR" sz="1750" b="1" i="0">
                <a:solidFill>
                  <a:srgbClr val="2C6696"/>
                </a:solidFill>
                <a:latin typeface="Calibri"/>
              </a:rPr>
              <a:t>•  </a:t>
            </a:r>
            <a:r>
              <a:rPr lang="tr-TR" sz="1750" b="0" i="0">
                <a:solidFill>
                  <a:srgbClr val="262626"/>
                </a:solidFill>
                <a:latin typeface="Calibri"/>
              </a:rPr>
              <a:t>Yaşlanmış bahçeleri budayarak gençleştirmek</a:t>
            </a:r>
          </a:p>
          <a:p>
            <a:pPr algn="l" marL="217543" indent="-217543">
              <a:spcBef>
                <a:spcPts val="0"/>
              </a:spcBef>
              <a:spcAft>
                <a:spcPts val="583"/>
              </a:spcAft>
            </a:pPr>
            <a:r>
              <a:rPr lang="tr-TR" sz="1750" b="1" i="0">
                <a:solidFill>
                  <a:srgbClr val="2C6696"/>
                </a:solidFill>
                <a:latin typeface="Calibri"/>
              </a:rPr>
              <a:t>•  </a:t>
            </a:r>
            <a:r>
              <a:rPr lang="tr-TR" sz="1750" b="0" i="0">
                <a:solidFill>
                  <a:srgbClr val="262626"/>
                </a:solidFill>
                <a:latin typeface="Calibri"/>
              </a:rPr>
              <a:t>Toprağa uygun, dengeli gübreleme</a:t>
            </a:r>
          </a:p>
          <a:p>
            <a:pPr algn="l" marL="217543" indent="-217543">
              <a:spcBef>
                <a:spcPts val="0"/>
              </a:spcBef>
              <a:spcAft>
                <a:spcPts val="0"/>
              </a:spcAft>
            </a:pPr>
            <a:r>
              <a:rPr lang="tr-TR" sz="1750" b="1" i="0">
                <a:solidFill>
                  <a:srgbClr val="2C6696"/>
                </a:solidFill>
                <a:latin typeface="Calibri"/>
              </a:rPr>
              <a:t>•  </a:t>
            </a:r>
            <a:r>
              <a:rPr lang="tr-TR" sz="1750" b="0" i="0">
                <a:solidFill>
                  <a:srgbClr val="262626"/>
                </a:solidFill>
                <a:latin typeface="Calibri"/>
              </a:rPr>
              <a:t>Kaliteli fidan, özenli bakım</a:t>
            </a:r>
          </a:p>
        </p:txBody>
      </p:sp>
      <p:sp>
        <p:nvSpPr>
          <p:cNvPr id="14" name="Rounded Rectangle 13"/>
          <p:cNvSpPr/>
          <p:nvPr/>
        </p:nvSpPr>
        <p:spPr>
          <a:xfrm>
            <a:off x="6187287" y="2039112"/>
            <a:ext cx="5501487" cy="1659636"/>
          </a:xfrm>
          <a:prstGeom prst="roundRect">
            <a:avLst>
              <a:gd name="adj" fmla="val 5000"/>
            </a:avLst>
          </a:prstGeom>
          <a:solidFill>
            <a:srgbClr val="E3F1E4"/>
          </a:solidFill>
          <a:ln>
            <a:noFill/>
          </a:ln>
          <a:effectLst/>
        </p:spPr>
        <p:txBody>
          <a:bodyPr rtlCol="0" anchor="ctr"/>
          <a:lstStyle/>
          <a:p/>
        </p:txBody>
      </p:sp>
      <p:sp>
        <p:nvSpPr>
          <p:cNvPr id="15" name="Rounded Rectangle 14"/>
          <p:cNvSpPr/>
          <p:nvPr/>
        </p:nvSpPr>
        <p:spPr>
          <a:xfrm>
            <a:off x="6187287" y="2039112"/>
            <a:ext cx="5501487" cy="457200"/>
          </a:xfrm>
          <a:prstGeom prst="roundRect">
            <a:avLst>
              <a:gd name="adj" fmla="val 25000"/>
            </a:avLst>
          </a:prstGeom>
          <a:solidFill>
            <a:srgbClr val="2E7D32"/>
          </a:solidFill>
          <a:ln>
            <a:noFill/>
          </a:ln>
          <a:effectLst/>
        </p:spPr>
        <p:txBody>
          <a:bodyPr rtlCol="0" anchor="ctr"/>
          <a:lstStyle/>
          <a:p/>
        </p:txBody>
      </p:sp>
      <p:sp>
        <p:nvSpPr>
          <p:cNvPr id="16" name="Rectangle 15"/>
          <p:cNvSpPr/>
          <p:nvPr/>
        </p:nvSpPr>
        <p:spPr>
          <a:xfrm>
            <a:off x="6187287" y="2267712"/>
            <a:ext cx="5501487" cy="228600"/>
          </a:xfrm>
          <a:prstGeom prst="rect">
            <a:avLst/>
          </a:prstGeom>
          <a:solidFill>
            <a:srgbClr val="2E7D32"/>
          </a:solidFill>
          <a:ln>
            <a:noFill/>
          </a:ln>
          <a:effectLst/>
        </p:spPr>
        <p:txBody>
          <a:bodyPr rtlCol="0" anchor="ctr"/>
          <a:lstStyle/>
          <a:p/>
        </p:txBody>
      </p:sp>
      <p:sp>
        <p:nvSpPr>
          <p:cNvPr id="17" name="TextBox 16"/>
          <p:cNvSpPr txBox="1"/>
          <p:nvPr/>
        </p:nvSpPr>
        <p:spPr>
          <a:xfrm>
            <a:off x="6278727" y="2039112"/>
            <a:ext cx="5318607" cy="45720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Hasat ve işleme</a:t>
            </a:r>
          </a:p>
        </p:txBody>
      </p:sp>
      <p:sp>
        <p:nvSpPr>
          <p:cNvPr id="18" name="TextBox 17"/>
          <p:cNvSpPr txBox="1"/>
          <p:nvPr/>
        </p:nvSpPr>
        <p:spPr>
          <a:xfrm>
            <a:off x="6297015" y="2569464"/>
            <a:ext cx="5282031" cy="1056132"/>
          </a:xfrm>
          <a:prstGeom prst="rect">
            <a:avLst/>
          </a:prstGeom>
          <a:noFill/>
        </p:spPr>
        <p:txBody>
          <a:bodyPr wrap="square" anchor="t" lIns="73152" rIns="73152" tIns="36576" bIns="36576">
            <a:noAutofit/>
          </a:bodyPr>
          <a:lstStyle/>
          <a:p>
            <a:pPr algn="l" marL="217543" indent="-217543">
              <a:spcBef>
                <a:spcPts val="0"/>
              </a:spcBef>
              <a:spcAft>
                <a:spcPts val="583"/>
              </a:spcAft>
            </a:pPr>
            <a:r>
              <a:rPr lang="tr-TR" sz="1750" b="1" i="0">
                <a:solidFill>
                  <a:srgbClr val="2C6696"/>
                </a:solidFill>
                <a:latin typeface="Calibri"/>
              </a:rPr>
              <a:t>•  </a:t>
            </a:r>
            <a:r>
              <a:rPr lang="tr-TR" sz="1750" b="0" i="0">
                <a:solidFill>
                  <a:srgbClr val="262626"/>
                </a:solidFill>
                <a:latin typeface="Calibri"/>
              </a:rPr>
              <a:t>Filizleri zamanında, özenle toplamak</a:t>
            </a:r>
          </a:p>
          <a:p>
            <a:pPr algn="l" marL="217543" indent="-217543">
              <a:spcBef>
                <a:spcPts val="0"/>
              </a:spcBef>
              <a:spcAft>
                <a:spcPts val="583"/>
              </a:spcAft>
            </a:pPr>
            <a:r>
              <a:rPr lang="tr-TR" sz="1750" b="1" i="0">
                <a:solidFill>
                  <a:srgbClr val="2C6696"/>
                </a:solidFill>
                <a:latin typeface="Calibri"/>
              </a:rPr>
              <a:t>•  </a:t>
            </a:r>
            <a:r>
              <a:rPr lang="tr-TR" sz="1750" b="0" i="0">
                <a:solidFill>
                  <a:srgbClr val="262626"/>
                </a:solidFill>
                <a:latin typeface="Calibri"/>
              </a:rPr>
              <a:t>Yakındaki fabrikaları büyütmek, yenilemek</a:t>
            </a:r>
          </a:p>
          <a:p>
            <a:pPr algn="l" marL="217543" indent="-217543">
              <a:spcBef>
                <a:spcPts val="0"/>
              </a:spcBef>
              <a:spcAft>
                <a:spcPts val="0"/>
              </a:spcAft>
            </a:pPr>
            <a:r>
              <a:rPr lang="tr-TR" sz="1750" b="1" i="0">
                <a:solidFill>
                  <a:srgbClr val="2C6696"/>
                </a:solidFill>
                <a:latin typeface="Calibri"/>
              </a:rPr>
              <a:t>•  </a:t>
            </a:r>
            <a:r>
              <a:rPr lang="tr-TR" sz="1750" b="0" i="0">
                <a:solidFill>
                  <a:srgbClr val="262626"/>
                </a:solidFill>
                <a:latin typeface="Calibri"/>
              </a:rPr>
              <a:t>Çayı hasattan hemen sonra işlemek</a:t>
            </a:r>
          </a:p>
        </p:txBody>
      </p:sp>
      <p:sp>
        <p:nvSpPr>
          <p:cNvPr id="19" name="Rounded Rectangle 18"/>
          <p:cNvSpPr/>
          <p:nvPr/>
        </p:nvSpPr>
        <p:spPr>
          <a:xfrm>
            <a:off x="502920" y="3835908"/>
            <a:ext cx="5501487" cy="1659636"/>
          </a:xfrm>
          <a:prstGeom prst="roundRect">
            <a:avLst>
              <a:gd name="adj" fmla="val 5000"/>
            </a:avLst>
          </a:prstGeom>
          <a:solidFill>
            <a:srgbClr val="E3F1E4"/>
          </a:solidFill>
          <a:ln>
            <a:noFill/>
          </a:ln>
          <a:effectLst/>
        </p:spPr>
        <p:txBody>
          <a:bodyPr rtlCol="0" anchor="ctr"/>
          <a:lstStyle/>
          <a:p/>
        </p:txBody>
      </p:sp>
      <p:sp>
        <p:nvSpPr>
          <p:cNvPr id="20" name="Rounded Rectangle 19"/>
          <p:cNvSpPr/>
          <p:nvPr/>
        </p:nvSpPr>
        <p:spPr>
          <a:xfrm>
            <a:off x="502920" y="3835908"/>
            <a:ext cx="5501487" cy="457200"/>
          </a:xfrm>
          <a:prstGeom prst="roundRect">
            <a:avLst>
              <a:gd name="adj" fmla="val 25000"/>
            </a:avLst>
          </a:prstGeom>
          <a:solidFill>
            <a:srgbClr val="2E7D32"/>
          </a:solidFill>
          <a:ln>
            <a:noFill/>
          </a:ln>
          <a:effectLst/>
        </p:spPr>
        <p:txBody>
          <a:bodyPr rtlCol="0" anchor="ctr"/>
          <a:lstStyle/>
          <a:p/>
        </p:txBody>
      </p:sp>
      <p:sp>
        <p:nvSpPr>
          <p:cNvPr id="21" name="Rectangle 20"/>
          <p:cNvSpPr/>
          <p:nvPr/>
        </p:nvSpPr>
        <p:spPr>
          <a:xfrm>
            <a:off x="502920" y="4064508"/>
            <a:ext cx="5501487" cy="228600"/>
          </a:xfrm>
          <a:prstGeom prst="rect">
            <a:avLst/>
          </a:prstGeom>
          <a:solidFill>
            <a:srgbClr val="2E7D32"/>
          </a:solidFill>
          <a:ln>
            <a:noFill/>
          </a:ln>
          <a:effectLst/>
        </p:spPr>
        <p:txBody>
          <a:bodyPr rtlCol="0" anchor="ctr"/>
          <a:lstStyle/>
          <a:p/>
        </p:txBody>
      </p:sp>
      <p:sp>
        <p:nvSpPr>
          <p:cNvPr id="22" name="TextBox 21"/>
          <p:cNvSpPr txBox="1"/>
          <p:nvPr/>
        </p:nvSpPr>
        <p:spPr>
          <a:xfrm>
            <a:off x="594360" y="3835908"/>
            <a:ext cx="5318607" cy="45720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Ulaşım</a:t>
            </a:r>
          </a:p>
        </p:txBody>
      </p:sp>
      <p:sp>
        <p:nvSpPr>
          <p:cNvPr id="23" name="TextBox 22"/>
          <p:cNvSpPr txBox="1"/>
          <p:nvPr/>
        </p:nvSpPr>
        <p:spPr>
          <a:xfrm>
            <a:off x="612648" y="4366260"/>
            <a:ext cx="5282031" cy="1056132"/>
          </a:xfrm>
          <a:prstGeom prst="rect">
            <a:avLst/>
          </a:prstGeom>
          <a:noFill/>
        </p:spPr>
        <p:txBody>
          <a:bodyPr wrap="square" anchor="t" lIns="73152" rIns="73152" tIns="36576" bIns="36576">
            <a:noAutofit/>
          </a:bodyPr>
          <a:lstStyle/>
          <a:p>
            <a:pPr algn="l" marL="223758" indent="-223758">
              <a:spcBef>
                <a:spcPts val="0"/>
              </a:spcBef>
              <a:spcAft>
                <a:spcPts val="600"/>
              </a:spcAft>
            </a:pPr>
            <a:r>
              <a:rPr lang="tr-TR" sz="1800" b="1" i="0">
                <a:solidFill>
                  <a:srgbClr val="2C6696"/>
                </a:solidFill>
                <a:latin typeface="Calibri"/>
              </a:rPr>
              <a:t>•  </a:t>
            </a:r>
            <a:r>
              <a:rPr lang="tr-TR" sz="1800" b="0" i="0">
                <a:solidFill>
                  <a:srgbClr val="262626"/>
                </a:solidFill>
                <a:latin typeface="Calibri"/>
              </a:rPr>
              <a:t>Bahçe ile fabrika arasındaki yolları iyileştirmek</a:t>
            </a:r>
          </a:p>
          <a:p>
            <a:pPr algn="l" marL="223758" indent="-223758">
              <a:spcBef>
                <a:spcPts val="0"/>
              </a:spcBef>
              <a:spcAft>
                <a:spcPts val="0"/>
              </a:spcAft>
            </a:pPr>
            <a:r>
              <a:rPr lang="tr-TR" sz="1800" b="1" i="0">
                <a:solidFill>
                  <a:srgbClr val="2C6696"/>
                </a:solidFill>
                <a:latin typeface="Calibri"/>
              </a:rPr>
              <a:t>•  </a:t>
            </a:r>
            <a:r>
              <a:rPr lang="tr-TR" sz="1800" b="0" i="0">
                <a:solidFill>
                  <a:srgbClr val="262626"/>
                </a:solidFill>
                <a:latin typeface="Calibri"/>
              </a:rPr>
              <a:t>Yamaçlardan taşımayı kolaylaştırmak</a:t>
            </a:r>
          </a:p>
        </p:txBody>
      </p:sp>
      <p:sp>
        <p:nvSpPr>
          <p:cNvPr id="24" name="Rounded Rectangle 23"/>
          <p:cNvSpPr/>
          <p:nvPr/>
        </p:nvSpPr>
        <p:spPr>
          <a:xfrm>
            <a:off x="6187287" y="3835908"/>
            <a:ext cx="5501487" cy="1659636"/>
          </a:xfrm>
          <a:prstGeom prst="roundRect">
            <a:avLst>
              <a:gd name="adj" fmla="val 5000"/>
            </a:avLst>
          </a:prstGeom>
          <a:solidFill>
            <a:srgbClr val="E3F1E4"/>
          </a:solidFill>
          <a:ln>
            <a:noFill/>
          </a:ln>
          <a:effectLst/>
        </p:spPr>
        <p:txBody>
          <a:bodyPr rtlCol="0" anchor="ctr"/>
          <a:lstStyle/>
          <a:p/>
        </p:txBody>
      </p:sp>
      <p:sp>
        <p:nvSpPr>
          <p:cNvPr id="25" name="Rounded Rectangle 24"/>
          <p:cNvSpPr/>
          <p:nvPr/>
        </p:nvSpPr>
        <p:spPr>
          <a:xfrm>
            <a:off x="6187287" y="3835908"/>
            <a:ext cx="5501487" cy="457200"/>
          </a:xfrm>
          <a:prstGeom prst="roundRect">
            <a:avLst>
              <a:gd name="adj" fmla="val 25000"/>
            </a:avLst>
          </a:prstGeom>
          <a:solidFill>
            <a:srgbClr val="2E7D32"/>
          </a:solidFill>
          <a:ln>
            <a:noFill/>
          </a:ln>
          <a:effectLst/>
        </p:spPr>
        <p:txBody>
          <a:bodyPr rtlCol="0" anchor="ctr"/>
          <a:lstStyle/>
          <a:p/>
        </p:txBody>
      </p:sp>
      <p:sp>
        <p:nvSpPr>
          <p:cNvPr id="26" name="Rectangle 25"/>
          <p:cNvSpPr/>
          <p:nvPr/>
        </p:nvSpPr>
        <p:spPr>
          <a:xfrm>
            <a:off x="6187287" y="4064508"/>
            <a:ext cx="5501487" cy="228600"/>
          </a:xfrm>
          <a:prstGeom prst="rect">
            <a:avLst/>
          </a:prstGeom>
          <a:solidFill>
            <a:srgbClr val="2E7D32"/>
          </a:solidFill>
          <a:ln>
            <a:noFill/>
          </a:ln>
          <a:effectLst/>
        </p:spPr>
        <p:txBody>
          <a:bodyPr rtlCol="0" anchor="ctr"/>
          <a:lstStyle/>
          <a:p/>
        </p:txBody>
      </p:sp>
      <p:sp>
        <p:nvSpPr>
          <p:cNvPr id="27" name="TextBox 26"/>
          <p:cNvSpPr txBox="1"/>
          <p:nvPr/>
        </p:nvSpPr>
        <p:spPr>
          <a:xfrm>
            <a:off x="6278727" y="3835908"/>
            <a:ext cx="5318607" cy="45720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Örgütlenme ve eğitim</a:t>
            </a:r>
          </a:p>
        </p:txBody>
      </p:sp>
      <p:sp>
        <p:nvSpPr>
          <p:cNvPr id="28" name="TextBox 27"/>
          <p:cNvSpPr txBox="1"/>
          <p:nvPr/>
        </p:nvSpPr>
        <p:spPr>
          <a:xfrm>
            <a:off x="6297015" y="4366260"/>
            <a:ext cx="5282031" cy="1056132"/>
          </a:xfrm>
          <a:prstGeom prst="rect">
            <a:avLst/>
          </a:prstGeom>
          <a:noFill/>
        </p:spPr>
        <p:txBody>
          <a:bodyPr wrap="square" anchor="t" lIns="73152" rIns="73152" tIns="36576" bIns="36576">
            <a:noAutofit/>
          </a:bodyPr>
          <a:lstStyle/>
          <a:p>
            <a:pPr algn="l" marL="217543" indent="-217543">
              <a:spcBef>
                <a:spcPts val="0"/>
              </a:spcBef>
              <a:spcAft>
                <a:spcPts val="583"/>
              </a:spcAft>
            </a:pPr>
            <a:r>
              <a:rPr lang="tr-TR" sz="1750" b="1" i="0">
                <a:solidFill>
                  <a:srgbClr val="2C6696"/>
                </a:solidFill>
                <a:latin typeface="Calibri"/>
              </a:rPr>
              <a:t>•  </a:t>
            </a:r>
            <a:r>
              <a:rPr lang="tr-TR" sz="1750" b="0" i="0">
                <a:solidFill>
                  <a:srgbClr val="262626"/>
                </a:solidFill>
                <a:latin typeface="Calibri"/>
              </a:rPr>
              <a:t>Kooperatif gibi üretici birlikleri</a:t>
            </a:r>
          </a:p>
          <a:p>
            <a:pPr algn="l" marL="217543" indent="-217543">
              <a:spcBef>
                <a:spcPts val="0"/>
              </a:spcBef>
              <a:spcAft>
                <a:spcPts val="583"/>
              </a:spcAft>
            </a:pPr>
            <a:r>
              <a:rPr lang="tr-TR" sz="1750" b="1" i="0">
                <a:solidFill>
                  <a:srgbClr val="2C6696"/>
                </a:solidFill>
                <a:latin typeface="Calibri"/>
              </a:rPr>
              <a:t>•  </a:t>
            </a:r>
            <a:r>
              <a:rPr lang="tr-TR" sz="1750" b="0" i="0">
                <a:solidFill>
                  <a:srgbClr val="262626"/>
                </a:solidFill>
                <a:latin typeface="Calibri"/>
              </a:rPr>
              <a:t>Üreticiye eğitim ve danışmanlık</a:t>
            </a:r>
          </a:p>
          <a:p>
            <a:pPr algn="l" marL="217543" indent="-217543">
              <a:spcBef>
                <a:spcPts val="0"/>
              </a:spcBef>
              <a:spcAft>
                <a:spcPts val="0"/>
              </a:spcAft>
            </a:pPr>
            <a:r>
              <a:rPr lang="tr-TR" sz="1750" b="1" i="0">
                <a:solidFill>
                  <a:srgbClr val="2C6696"/>
                </a:solidFill>
                <a:latin typeface="Calibri"/>
              </a:rPr>
              <a:t>•  </a:t>
            </a:r>
            <a:r>
              <a:rPr lang="tr-TR" sz="1750" b="0" i="0">
                <a:solidFill>
                  <a:srgbClr val="262626"/>
                </a:solidFill>
                <a:latin typeface="Calibri"/>
              </a:rPr>
              <a:t>Markalaşma ve pazarlama</a:t>
            </a:r>
          </a:p>
        </p:txBody>
      </p:sp>
      <p:sp>
        <p:nvSpPr>
          <p:cNvPr id="29" name="Rounded Rectangle 28"/>
          <p:cNvSpPr/>
          <p:nvPr/>
        </p:nvSpPr>
        <p:spPr>
          <a:xfrm>
            <a:off x="502920" y="5632704"/>
            <a:ext cx="11185855" cy="658368"/>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550" b="1" i="0">
                <a:solidFill>
                  <a:srgbClr val="262626"/>
                </a:solidFill>
                <a:latin typeface="Calibri"/>
              </a:rPr>
              <a:t>Ölçüt: öneri doğaya zarar vermeden üretimi artırmalı — yeni alan açmak yerine mevcut bahçelerin verimi, işleme, ulaşım ve örgütlenme.</a:t>
            </a:r>
          </a:p>
        </p:txBody>
      </p: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1" name="Rounded Rectangle 3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184-185</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142 / 166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Daha fazla soru: karekod (EBA)</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KAREKOD</a:t>
            </a:r>
          </a:p>
        </p:txBody>
      </p:sp>
      <p:sp>
        <p:nvSpPr>
          <p:cNvPr id="6" name="Rounded Rectangle 5"/>
          <p:cNvSpPr/>
          <p:nvPr/>
        </p:nvSpPr>
        <p:spPr>
          <a:xfrm>
            <a:off x="502920" y="1216152"/>
            <a:ext cx="4572000" cy="237744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18872" cy="2377440"/>
          </a:xfrm>
          <a:prstGeom prst="rect">
            <a:avLst/>
          </a:prstGeom>
          <a:solidFill>
            <a:srgbClr val="2C6696"/>
          </a:solidFill>
          <a:ln>
            <a:noFill/>
          </a:ln>
          <a:effectLst/>
        </p:spPr>
        <p:txBody>
          <a:bodyPr rtlCol="0" anchor="ctr"/>
          <a:lstStyle/>
          <a:p/>
        </p:txBody>
      </p:sp>
      <p:sp>
        <p:nvSpPr>
          <p:cNvPr id="8" name="TextBox 7"/>
          <p:cNvSpPr txBox="1"/>
          <p:nvPr/>
        </p:nvSpPr>
        <p:spPr>
          <a:xfrm>
            <a:off x="777240" y="1216152"/>
            <a:ext cx="4160520" cy="2377440"/>
          </a:xfrm>
          <a:prstGeom prst="rect">
            <a:avLst/>
          </a:prstGeom>
          <a:noFill/>
        </p:spPr>
        <p:txBody>
          <a:bodyPr wrap="square" anchor="ctr" lIns="73152" rIns="73152" tIns="36576" bIns="36576">
            <a:noAutofit/>
          </a:bodyPr>
          <a:lstStyle/>
          <a:p>
            <a:pPr algn="l">
              <a:spcBef>
                <a:spcPts val="0"/>
              </a:spcBef>
              <a:spcAft>
                <a:spcPts val="600"/>
              </a:spcAft>
            </a:pPr>
            <a:r>
              <a:rPr lang="tr-TR" sz="1600" b="0" i="0">
                <a:solidFill>
                  <a:srgbClr val="767676"/>
                </a:solidFill>
                <a:latin typeface="Calibri"/>
              </a:rPr>
              <a:t>Kitap s. 185:</a:t>
            </a:r>
          </a:p>
          <a:p>
            <a:pPr algn="l">
              <a:spcBef>
                <a:spcPts val="0"/>
              </a:spcBef>
              <a:spcAft>
                <a:spcPts val="600"/>
              </a:spcAft>
            </a:pPr>
            <a:r>
              <a:rPr lang="tr-TR" sz="2400" b="1" i="0">
                <a:solidFill>
                  <a:srgbClr val="262626"/>
                </a:solidFill>
                <a:latin typeface="Calibri"/>
              </a:rPr>
              <a:t>“Daha fazla soruya ulaşmak için karekodu okutunuz.”</a:t>
            </a:r>
          </a:p>
          <a:p>
            <a:pPr algn="l">
              <a:spcBef>
                <a:spcPts val="0"/>
              </a:spcBef>
              <a:spcAft>
                <a:spcPts val="0"/>
              </a:spcAft>
            </a:pPr>
            <a:r>
              <a:rPr lang="tr-TR" sz="1800" b="0" i="0">
                <a:solidFill>
                  <a:srgbClr val="262626"/>
                </a:solidFill>
                <a:latin typeface="Calibri"/>
              </a:rPr>
              <a:t>Karekod EBA'da 8 soruluk bir test açar.</a:t>
            </a:r>
          </a:p>
        </p:txBody>
      </p:sp>
      <p:sp>
        <p:nvSpPr>
          <p:cNvPr id="9" name="Rounded Rectangle 8"/>
          <p:cNvSpPr/>
          <p:nvPr/>
        </p:nvSpPr>
        <p:spPr>
          <a:xfrm>
            <a:off x="502920" y="3776472"/>
            <a:ext cx="4572000" cy="2514600"/>
          </a:xfrm>
          <a:prstGeom prst="roundRect">
            <a:avLst>
              <a:gd name="adj" fmla="val 8000"/>
            </a:avLst>
          </a:prstGeom>
          <a:solidFill>
            <a:srgbClr val="E3ECF5"/>
          </a:solidFill>
          <a:ln>
            <a:noFill/>
          </a:ln>
          <a:effectLst/>
        </p:spPr>
        <p:txBody>
          <a:bodyPr rtlCol="0" anchor="ctr" wrap="square" lIns="228600" rIns="228600" tIns="73152" bIns="73152">
            <a:noAutofit/>
          </a:bodyPr>
          <a:lstStyle/>
          <a:p>
            <a:pPr algn="l">
              <a:spcBef>
                <a:spcPts val="0"/>
              </a:spcBef>
              <a:spcAft>
                <a:spcPts val="800"/>
              </a:spcAft>
            </a:pPr>
            <a:r>
              <a:rPr lang="tr-TR" sz="1900" b="0" i="1">
                <a:solidFill>
                  <a:srgbClr val="262626"/>
                </a:solidFill>
                <a:latin typeface="Calibri"/>
              </a:rPr>
              <a:t>“Bu testte cevaplamanız için farklı soru çeşitlerinden toplam 8 soru verilmiştir.”</a:t>
            </a:r>
          </a:p>
          <a:p>
            <a:pPr algn="l">
              <a:spcBef>
                <a:spcPts val="0"/>
              </a:spcBef>
              <a:spcAft>
                <a:spcPts val="0"/>
              </a:spcAft>
            </a:pPr>
            <a:r>
              <a:rPr lang="tr-TR" sz="1900" b="1" i="0">
                <a:solidFill>
                  <a:srgbClr val="262626"/>
                </a:solidFill>
                <a:latin typeface="Calibri"/>
              </a:rPr>
              <a:t>Karekodu öğretmen tahtada açar; telefonunuzu çıkarmayın.</a:t>
            </a:r>
          </a:p>
        </p:txBody>
      </p:sp>
      <p:sp>
        <p:nvSpPr>
          <p:cNvPr id="10" name="Rounded Rectangle 9"/>
          <p:cNvSpPr/>
          <p:nvPr/>
        </p:nvSpPr>
        <p:spPr>
          <a:xfrm>
            <a:off x="5303520" y="1216152"/>
            <a:ext cx="6385255" cy="1165860"/>
          </a:xfrm>
          <a:prstGeom prst="roundRect">
            <a:avLst>
              <a:gd name="adj" fmla="val 8000"/>
            </a:avLst>
          </a:prstGeom>
          <a:solidFill>
            <a:srgbClr val="F0F0F0"/>
          </a:solidFill>
          <a:ln>
            <a:noFill/>
          </a:ln>
          <a:effectLst/>
        </p:spPr>
        <p:txBody>
          <a:bodyPr rtlCol="0" anchor="ctr"/>
          <a:lstStyle/>
          <a:p/>
        </p:txBody>
      </p:sp>
      <p:sp>
        <p:nvSpPr>
          <p:cNvPr id="11" name="Rounded Rectangle 10"/>
          <p:cNvSpPr/>
          <p:nvPr/>
        </p:nvSpPr>
        <p:spPr>
          <a:xfrm>
            <a:off x="5303520" y="1216152"/>
            <a:ext cx="1234440" cy="1165860"/>
          </a:xfrm>
          <a:prstGeom prst="roundRect">
            <a:avLst>
              <a:gd name="adj" fmla="val 10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3000" b="1" i="0">
                <a:solidFill>
                  <a:srgbClr val="FFFFFF"/>
                </a:solidFill>
                <a:latin typeface="Calibri"/>
              </a:rPr>
              <a:t>1</a:t>
            </a:r>
          </a:p>
        </p:txBody>
      </p:sp>
      <p:sp>
        <p:nvSpPr>
          <p:cNvPr id="12" name="TextBox 11"/>
          <p:cNvSpPr txBox="1"/>
          <p:nvPr/>
        </p:nvSpPr>
        <p:spPr>
          <a:xfrm>
            <a:off x="6675120" y="1261872"/>
            <a:ext cx="4922215" cy="1074420"/>
          </a:xfrm>
          <a:prstGeom prst="rect">
            <a:avLst/>
          </a:prstGeom>
          <a:noFill/>
        </p:spPr>
        <p:txBody>
          <a:bodyPr wrap="square" anchor="ctr" lIns="73152" rIns="73152" tIns="36576" bIns="36576">
            <a:noAutofit/>
          </a:bodyPr>
          <a:lstStyle/>
          <a:p>
            <a:pPr algn="l">
              <a:spcBef>
                <a:spcPts val="0"/>
              </a:spcBef>
              <a:spcAft>
                <a:spcPts val="200"/>
              </a:spcAft>
            </a:pPr>
            <a:r>
              <a:rPr lang="tr-TR" sz="2100" b="1" i="0">
                <a:solidFill>
                  <a:srgbClr val="262626"/>
                </a:solidFill>
                <a:latin typeface="Calibri"/>
              </a:rPr>
              <a:t>Tanılayıcı dallanmış ağaç</a:t>
            </a:r>
          </a:p>
          <a:p>
            <a:pPr algn="l">
              <a:spcBef>
                <a:spcPts val="0"/>
              </a:spcBef>
              <a:spcAft>
                <a:spcPts val="0"/>
              </a:spcAft>
            </a:pPr>
            <a:r>
              <a:rPr lang="tr-TR" sz="1700" b="0" i="0">
                <a:solidFill>
                  <a:srgbClr val="767676"/>
                </a:solidFill>
                <a:latin typeface="Calibri"/>
              </a:rPr>
              <a:t>Doğru (D) / Yanlış (Y) önermeler · 16 çıkış</a:t>
            </a:r>
          </a:p>
        </p:txBody>
      </p:sp>
      <p:sp>
        <p:nvSpPr>
          <p:cNvPr id="13" name="Rounded Rectangle 12"/>
          <p:cNvSpPr/>
          <p:nvPr/>
        </p:nvSpPr>
        <p:spPr>
          <a:xfrm>
            <a:off x="5303520" y="2519172"/>
            <a:ext cx="6385255" cy="1165860"/>
          </a:xfrm>
          <a:prstGeom prst="roundRect">
            <a:avLst>
              <a:gd name="adj" fmla="val 8000"/>
            </a:avLst>
          </a:prstGeom>
          <a:solidFill>
            <a:srgbClr val="F0F0F0"/>
          </a:solidFill>
          <a:ln>
            <a:noFill/>
          </a:ln>
          <a:effectLst/>
        </p:spPr>
        <p:txBody>
          <a:bodyPr rtlCol="0" anchor="ctr"/>
          <a:lstStyle/>
          <a:p/>
        </p:txBody>
      </p:sp>
      <p:sp>
        <p:nvSpPr>
          <p:cNvPr id="14" name="Rounded Rectangle 13"/>
          <p:cNvSpPr/>
          <p:nvPr/>
        </p:nvSpPr>
        <p:spPr>
          <a:xfrm>
            <a:off x="5303520" y="2519172"/>
            <a:ext cx="1234440" cy="1165860"/>
          </a:xfrm>
          <a:prstGeom prst="roundRect">
            <a:avLst>
              <a:gd name="adj" fmla="val 10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3000" b="1" i="0">
                <a:solidFill>
                  <a:srgbClr val="FFFFFF"/>
                </a:solidFill>
                <a:latin typeface="Calibri"/>
              </a:rPr>
              <a:t>2-5</a:t>
            </a:r>
          </a:p>
        </p:txBody>
      </p:sp>
      <p:sp>
        <p:nvSpPr>
          <p:cNvPr id="15" name="TextBox 14"/>
          <p:cNvSpPr txBox="1"/>
          <p:nvPr/>
        </p:nvSpPr>
        <p:spPr>
          <a:xfrm>
            <a:off x="6675120" y="2564892"/>
            <a:ext cx="4922215" cy="1074420"/>
          </a:xfrm>
          <a:prstGeom prst="rect">
            <a:avLst/>
          </a:prstGeom>
          <a:noFill/>
        </p:spPr>
        <p:txBody>
          <a:bodyPr wrap="square" anchor="ctr" lIns="73152" rIns="73152" tIns="36576" bIns="36576">
            <a:noAutofit/>
          </a:bodyPr>
          <a:lstStyle/>
          <a:p>
            <a:pPr algn="l">
              <a:spcBef>
                <a:spcPts val="0"/>
              </a:spcBef>
              <a:spcAft>
                <a:spcPts val="200"/>
              </a:spcAft>
            </a:pPr>
            <a:r>
              <a:rPr lang="tr-TR" sz="2100" b="1" i="0">
                <a:solidFill>
                  <a:srgbClr val="262626"/>
                </a:solidFill>
                <a:latin typeface="Calibri"/>
              </a:rPr>
              <a:t>Çoktan seçmeli</a:t>
            </a:r>
          </a:p>
          <a:p>
            <a:pPr algn="l">
              <a:spcBef>
                <a:spcPts val="0"/>
              </a:spcBef>
              <a:spcAft>
                <a:spcPts val="0"/>
              </a:spcAft>
            </a:pPr>
            <a:r>
              <a:rPr lang="tr-TR" sz="1700" b="0" i="0">
                <a:solidFill>
                  <a:srgbClr val="767676"/>
                </a:solidFill>
                <a:latin typeface="Calibri"/>
              </a:rPr>
              <a:t>Alpullu Şeker Fabrikası · tavuk eti · Akkuyu Nükleer Güç Santrali</a:t>
            </a:r>
          </a:p>
        </p:txBody>
      </p:sp>
      <p:sp>
        <p:nvSpPr>
          <p:cNvPr id="16" name="Rounded Rectangle 15"/>
          <p:cNvSpPr/>
          <p:nvPr/>
        </p:nvSpPr>
        <p:spPr>
          <a:xfrm>
            <a:off x="5303520" y="3822192"/>
            <a:ext cx="6385255" cy="1165860"/>
          </a:xfrm>
          <a:prstGeom prst="roundRect">
            <a:avLst>
              <a:gd name="adj" fmla="val 8000"/>
            </a:avLst>
          </a:prstGeom>
          <a:solidFill>
            <a:srgbClr val="F0F0F0"/>
          </a:solidFill>
          <a:ln>
            <a:noFill/>
          </a:ln>
          <a:effectLst/>
        </p:spPr>
        <p:txBody>
          <a:bodyPr rtlCol="0" anchor="ctr"/>
          <a:lstStyle/>
          <a:p/>
        </p:txBody>
      </p:sp>
      <p:sp>
        <p:nvSpPr>
          <p:cNvPr id="17" name="Rounded Rectangle 16"/>
          <p:cNvSpPr/>
          <p:nvPr/>
        </p:nvSpPr>
        <p:spPr>
          <a:xfrm>
            <a:off x="5303520" y="3822192"/>
            <a:ext cx="1234440" cy="1165860"/>
          </a:xfrm>
          <a:prstGeom prst="roundRect">
            <a:avLst>
              <a:gd name="adj" fmla="val 10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3000" b="1" i="0">
                <a:solidFill>
                  <a:srgbClr val="FFFFFF"/>
                </a:solidFill>
                <a:latin typeface="Calibri"/>
              </a:rPr>
              <a:t>6</a:t>
            </a:r>
          </a:p>
        </p:txBody>
      </p:sp>
      <p:sp>
        <p:nvSpPr>
          <p:cNvPr id="18" name="TextBox 17"/>
          <p:cNvSpPr txBox="1"/>
          <p:nvPr/>
        </p:nvSpPr>
        <p:spPr>
          <a:xfrm>
            <a:off x="6675120" y="3867912"/>
            <a:ext cx="4922215" cy="1074420"/>
          </a:xfrm>
          <a:prstGeom prst="rect">
            <a:avLst/>
          </a:prstGeom>
          <a:noFill/>
        </p:spPr>
        <p:txBody>
          <a:bodyPr wrap="square" anchor="ctr" lIns="73152" rIns="73152" tIns="36576" bIns="36576">
            <a:noAutofit/>
          </a:bodyPr>
          <a:lstStyle/>
          <a:p>
            <a:pPr algn="l">
              <a:spcBef>
                <a:spcPts val="0"/>
              </a:spcBef>
              <a:spcAft>
                <a:spcPts val="200"/>
              </a:spcAft>
            </a:pPr>
            <a:r>
              <a:rPr lang="tr-TR" sz="2100" b="1" i="0">
                <a:solidFill>
                  <a:srgbClr val="262626"/>
                </a:solidFill>
                <a:latin typeface="Calibri"/>
              </a:rPr>
              <a:t>Çoklu işaretleme</a:t>
            </a:r>
          </a:p>
          <a:p>
            <a:pPr algn="l">
              <a:spcBef>
                <a:spcPts val="0"/>
              </a:spcBef>
              <a:spcAft>
                <a:spcPts val="0"/>
              </a:spcAft>
            </a:pPr>
            <a:r>
              <a:rPr lang="tr-TR" sz="1700" b="0" i="0">
                <a:solidFill>
                  <a:srgbClr val="767676"/>
                </a:solidFill>
                <a:latin typeface="Calibri"/>
              </a:rPr>
              <a:t>Kahvenin ekvatoral kuşakta yoğunlaşması</a:t>
            </a:r>
          </a:p>
        </p:txBody>
      </p:sp>
      <p:sp>
        <p:nvSpPr>
          <p:cNvPr id="19" name="Rounded Rectangle 18"/>
          <p:cNvSpPr/>
          <p:nvPr/>
        </p:nvSpPr>
        <p:spPr>
          <a:xfrm>
            <a:off x="5303520" y="5125212"/>
            <a:ext cx="6385255" cy="1165860"/>
          </a:xfrm>
          <a:prstGeom prst="roundRect">
            <a:avLst>
              <a:gd name="adj" fmla="val 8000"/>
            </a:avLst>
          </a:prstGeom>
          <a:solidFill>
            <a:srgbClr val="F0F0F0"/>
          </a:solidFill>
          <a:ln>
            <a:noFill/>
          </a:ln>
          <a:effectLst/>
        </p:spPr>
        <p:txBody>
          <a:bodyPr rtlCol="0" anchor="ctr"/>
          <a:lstStyle/>
          <a:p/>
        </p:txBody>
      </p:sp>
      <p:sp>
        <p:nvSpPr>
          <p:cNvPr id="20" name="Rounded Rectangle 19"/>
          <p:cNvSpPr/>
          <p:nvPr/>
        </p:nvSpPr>
        <p:spPr>
          <a:xfrm>
            <a:off x="5303520" y="5125212"/>
            <a:ext cx="1234440" cy="1165860"/>
          </a:xfrm>
          <a:prstGeom prst="roundRect">
            <a:avLst>
              <a:gd name="adj" fmla="val 10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3000" b="1" i="0">
                <a:solidFill>
                  <a:srgbClr val="FFFFFF"/>
                </a:solidFill>
                <a:latin typeface="Calibri"/>
              </a:rPr>
              <a:t>7-8</a:t>
            </a:r>
          </a:p>
        </p:txBody>
      </p:sp>
      <p:sp>
        <p:nvSpPr>
          <p:cNvPr id="21" name="TextBox 20"/>
          <p:cNvSpPr txBox="1"/>
          <p:nvPr/>
        </p:nvSpPr>
        <p:spPr>
          <a:xfrm>
            <a:off x="6675120" y="5170932"/>
            <a:ext cx="4922215" cy="1074420"/>
          </a:xfrm>
          <a:prstGeom prst="rect">
            <a:avLst/>
          </a:prstGeom>
          <a:noFill/>
        </p:spPr>
        <p:txBody>
          <a:bodyPr wrap="square" anchor="ctr" lIns="73152" rIns="73152" tIns="36576" bIns="36576">
            <a:noAutofit/>
          </a:bodyPr>
          <a:lstStyle/>
          <a:p>
            <a:pPr algn="l">
              <a:spcBef>
                <a:spcPts val="0"/>
              </a:spcBef>
              <a:spcAft>
                <a:spcPts val="200"/>
              </a:spcAft>
            </a:pPr>
            <a:r>
              <a:rPr lang="tr-TR" sz="2100" b="1" i="0">
                <a:solidFill>
                  <a:srgbClr val="262626"/>
                </a:solidFill>
                <a:latin typeface="Calibri"/>
              </a:rPr>
              <a:t>Açık uçlu</a:t>
            </a:r>
          </a:p>
          <a:p>
            <a:pPr algn="l">
              <a:spcBef>
                <a:spcPts val="0"/>
              </a:spcBef>
              <a:spcAft>
                <a:spcPts val="0"/>
              </a:spcAft>
            </a:pPr>
            <a:r>
              <a:rPr lang="tr-TR" sz="1700" b="0" i="0">
                <a:solidFill>
                  <a:srgbClr val="767676"/>
                </a:solidFill>
                <a:latin typeface="Calibri"/>
              </a:rPr>
              <a:t>Kahve üretiminin değişimi ve tüketim</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143 / 166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1: tanılayıcı dallanmış ağaç</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1</a:t>
            </a:r>
          </a:p>
        </p:txBody>
      </p:sp>
      <p:pic>
        <p:nvPicPr>
          <p:cNvPr id="6" name="Picture 5" descr="sonu_eba_agac.jpg"/>
          <p:cNvPicPr>
            <a:picLocks noChangeAspect="1"/>
          </p:cNvPicPr>
          <p:nvPr/>
        </p:nvPicPr>
        <p:blipFill>
          <a:blip r:embed="rId3"/>
          <a:stretch>
            <a:fillRect/>
          </a:stretch>
        </p:blipFill>
        <p:spPr>
          <a:xfrm>
            <a:off x="502920" y="1216152"/>
            <a:ext cx="4342401" cy="4736592"/>
          </a:xfrm>
          <a:prstGeom prst="rect">
            <a:avLst/>
          </a:prstGeom>
          <a:ln w="9525">
            <a:solidFill>
              <a:srgbClr val="D9D9D9"/>
            </a:solidFill>
          </a:ln>
        </p:spPr>
      </p:pic>
      <p:sp>
        <p:nvSpPr>
          <p:cNvPr id="7" name="TextBox 6"/>
          <p:cNvSpPr txBox="1"/>
          <p:nvPr/>
        </p:nvSpPr>
        <p:spPr>
          <a:xfrm>
            <a:off x="502920" y="6016752"/>
            <a:ext cx="11185855"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Kitabın karekod içeriği (EBA): 9.5-Tema Sonu E-Ölçme ve Değerlendirme Soruları (kitap s. 185 karekodu)</a:t>
            </a:r>
          </a:p>
        </p:txBody>
      </p:sp>
      <p:sp>
        <p:nvSpPr>
          <p:cNvPr id="8" name="Rounded Rectangle 7"/>
          <p:cNvSpPr/>
          <p:nvPr/>
        </p:nvSpPr>
        <p:spPr>
          <a:xfrm>
            <a:off x="5073921" y="1216152"/>
            <a:ext cx="6614854" cy="251460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900" b="0" i="0">
                <a:solidFill>
                  <a:srgbClr val="262626"/>
                </a:solidFill>
                <a:latin typeface="Calibri"/>
              </a:rPr>
              <a:t>Aşağıda “Ekonomik faaliyetleri etkileyen coğrafi faktörler” ile ilgili Doğru (D)/Yanlış (Y) önermeleri içeren tanılayıcı dallanmış ağaç verilmiştir. Verilen önermenin doğru olduğunu düşünüyorsanız (D) yanlış olduğunu düşünüyorsanız (Y) seçeneğini seçmeniz gerekmektedir. İlk önermeden başlayarak yapacağınız seçimlerle oklar yönünde ilerleyerek on altı farklı çıkış noktasından birine ulaşınız.</a:t>
            </a:r>
          </a:p>
        </p:txBody>
      </p:sp>
      <p:sp>
        <p:nvSpPr>
          <p:cNvPr id="9" name="Rounded Rectangle 8"/>
          <p:cNvSpPr/>
          <p:nvPr/>
        </p:nvSpPr>
        <p:spPr>
          <a:xfrm>
            <a:off x="5073921" y="3867912"/>
            <a:ext cx="6614854" cy="452628"/>
          </a:xfrm>
          <a:prstGeom prst="roundRect">
            <a:avLst>
              <a:gd name="adj" fmla="val 10000"/>
            </a:avLst>
          </a:prstGeom>
          <a:solidFill>
            <a:srgbClr val="F0F0F0"/>
          </a:solidFill>
          <a:ln>
            <a:noFill/>
          </a:ln>
          <a:effectLst/>
        </p:spPr>
        <p:txBody>
          <a:bodyPr rtlCol="0" anchor="ctr"/>
          <a:lstStyle/>
          <a:p/>
        </p:txBody>
      </p:sp>
      <p:sp>
        <p:nvSpPr>
          <p:cNvPr id="10" name="Oval 9"/>
          <p:cNvSpPr/>
          <p:nvPr/>
        </p:nvSpPr>
        <p:spPr>
          <a:xfrm>
            <a:off x="5165361" y="3902202"/>
            <a:ext cx="384048" cy="384048"/>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11" name="TextBox 10"/>
          <p:cNvSpPr txBox="1"/>
          <p:nvPr/>
        </p:nvSpPr>
        <p:spPr>
          <a:xfrm>
            <a:off x="5640849" y="3867912"/>
            <a:ext cx="5974774" cy="452628"/>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1 numaralı önermeyi oku.</a:t>
            </a:r>
          </a:p>
        </p:txBody>
      </p:sp>
      <p:sp>
        <p:nvSpPr>
          <p:cNvPr id="12" name="Rounded Rectangle 11"/>
          <p:cNvSpPr/>
          <p:nvPr/>
        </p:nvSpPr>
        <p:spPr>
          <a:xfrm>
            <a:off x="5073921" y="4411980"/>
            <a:ext cx="6614854" cy="452628"/>
          </a:xfrm>
          <a:prstGeom prst="roundRect">
            <a:avLst>
              <a:gd name="adj" fmla="val 10000"/>
            </a:avLst>
          </a:prstGeom>
          <a:solidFill>
            <a:srgbClr val="F0F0F0"/>
          </a:solidFill>
          <a:ln>
            <a:noFill/>
          </a:ln>
          <a:effectLst/>
        </p:spPr>
        <p:txBody>
          <a:bodyPr rtlCol="0" anchor="ctr"/>
          <a:lstStyle/>
          <a:p/>
        </p:txBody>
      </p:sp>
      <p:sp>
        <p:nvSpPr>
          <p:cNvPr id="13" name="Oval 12"/>
          <p:cNvSpPr/>
          <p:nvPr/>
        </p:nvSpPr>
        <p:spPr>
          <a:xfrm>
            <a:off x="5165361" y="4446270"/>
            <a:ext cx="384048" cy="384048"/>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4" name="TextBox 13"/>
          <p:cNvSpPr txBox="1"/>
          <p:nvPr/>
        </p:nvSpPr>
        <p:spPr>
          <a:xfrm>
            <a:off x="5640849" y="4411980"/>
            <a:ext cx="5974774" cy="452628"/>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Doğruysa D okunu, yanlışsa Y okunu izle.</a:t>
            </a:r>
          </a:p>
        </p:txBody>
      </p:sp>
      <p:sp>
        <p:nvSpPr>
          <p:cNvPr id="15" name="Rounded Rectangle 14"/>
          <p:cNvSpPr/>
          <p:nvPr/>
        </p:nvSpPr>
        <p:spPr>
          <a:xfrm>
            <a:off x="5073921" y="4956048"/>
            <a:ext cx="6614854" cy="452628"/>
          </a:xfrm>
          <a:prstGeom prst="roundRect">
            <a:avLst>
              <a:gd name="adj" fmla="val 10000"/>
            </a:avLst>
          </a:prstGeom>
          <a:solidFill>
            <a:srgbClr val="F0F0F0"/>
          </a:solidFill>
          <a:ln>
            <a:noFill/>
          </a:ln>
          <a:effectLst/>
        </p:spPr>
        <p:txBody>
          <a:bodyPr rtlCol="0" anchor="ctr"/>
          <a:lstStyle/>
          <a:p/>
        </p:txBody>
      </p:sp>
      <p:sp>
        <p:nvSpPr>
          <p:cNvPr id="16" name="Oval 15"/>
          <p:cNvSpPr/>
          <p:nvPr/>
        </p:nvSpPr>
        <p:spPr>
          <a:xfrm>
            <a:off x="5165361" y="4990338"/>
            <a:ext cx="384048" cy="384048"/>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17" name="TextBox 16"/>
          <p:cNvSpPr txBox="1"/>
          <p:nvPr/>
        </p:nvSpPr>
        <p:spPr>
          <a:xfrm>
            <a:off x="5640849" y="4956048"/>
            <a:ext cx="5974774" cy="452628"/>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Dört önermeden sonra bir çıkışa ulaşırsın.</a:t>
            </a:r>
          </a:p>
        </p:txBody>
      </p:sp>
      <p:sp>
        <p:nvSpPr>
          <p:cNvPr id="18" name="Rounded Rectangle 17"/>
          <p:cNvSpPr/>
          <p:nvPr/>
        </p:nvSpPr>
        <p:spPr>
          <a:xfrm>
            <a:off x="5073921" y="5500116"/>
            <a:ext cx="6614854" cy="452628"/>
          </a:xfrm>
          <a:prstGeom prst="roundRect">
            <a:avLst>
              <a:gd name="adj" fmla="val 10000"/>
            </a:avLst>
          </a:prstGeom>
          <a:solidFill>
            <a:srgbClr val="F0F0F0"/>
          </a:solidFill>
          <a:ln>
            <a:noFill/>
          </a:ln>
          <a:effectLst/>
        </p:spPr>
        <p:txBody>
          <a:bodyPr rtlCol="0" anchor="ctr"/>
          <a:lstStyle/>
          <a:p/>
        </p:txBody>
      </p:sp>
      <p:sp>
        <p:nvSpPr>
          <p:cNvPr id="19" name="Oval 18"/>
          <p:cNvSpPr/>
          <p:nvPr/>
        </p:nvSpPr>
        <p:spPr>
          <a:xfrm>
            <a:off x="5165361" y="5534406"/>
            <a:ext cx="384048" cy="384048"/>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4</a:t>
            </a:r>
          </a:p>
        </p:txBody>
      </p:sp>
      <p:sp>
        <p:nvSpPr>
          <p:cNvPr id="20" name="TextBox 19"/>
          <p:cNvSpPr txBox="1"/>
          <p:nvPr/>
        </p:nvSpPr>
        <p:spPr>
          <a:xfrm>
            <a:off x="5640849" y="5500116"/>
            <a:ext cx="5974774" cy="452628"/>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Ulaştığın çıkışın numarasını yaz.</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144 / 166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1: ağaçtaki önermeler (büyük yazı)</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1</a:t>
            </a:r>
          </a:p>
        </p:txBody>
      </p:sp>
      <p:sp>
        <p:nvSpPr>
          <p:cNvPr id="6" name="TextBox 5"/>
          <p:cNvSpPr txBox="1"/>
          <p:nvPr/>
        </p:nvSpPr>
        <p:spPr>
          <a:xfrm>
            <a:off x="502920" y="1170432"/>
            <a:ext cx="11185855" cy="310896"/>
          </a:xfrm>
          <a:prstGeom prst="rect">
            <a:avLst/>
          </a:prstGeom>
          <a:noFill/>
        </p:spPr>
        <p:txBody>
          <a:bodyPr wrap="square" anchor="t" lIns="73152" rIns="73152" tIns="36576" bIns="36576">
            <a:noAutofit/>
          </a:bodyPr>
          <a:lstStyle/>
          <a:p>
            <a:pPr algn="ctr">
              <a:spcBef>
                <a:spcPts val="0"/>
              </a:spcBef>
              <a:spcAft>
                <a:spcPts val="0"/>
              </a:spcAft>
            </a:pPr>
            <a:r>
              <a:rPr lang="tr-TR" sz="1500" b="0" i="1">
                <a:solidFill>
                  <a:srgbClr val="767676"/>
                </a:solidFill>
                <a:latin typeface="Calibri"/>
              </a:rPr>
              <a:t>Doğruysa D (sol dal), yanlışsa Y (sağ dal) · en alttaki çipler çıkışlardır</a:t>
            </a:r>
          </a:p>
        </p:txBody>
      </p:sp>
      <p:cxnSp>
        <p:nvCxnSpPr>
          <p:cNvPr id="7" name="Connector 6"/>
          <p:cNvCxnSpPr/>
          <p:nvPr/>
        </p:nvCxnSpPr>
        <p:spPr>
          <a:xfrm>
            <a:off x="6095847" y="2157984"/>
            <a:ext cx="0" cy="132588"/>
          </a:xfrm>
          <a:prstGeom prst="line">
            <a:avLst/>
          </a:prstGeom>
          <a:ln w="22225">
            <a:solidFill>
              <a:srgbClr val="D9D9D9"/>
            </a:solidFill>
          </a:ln>
        </p:spPr>
      </p:cxnSp>
      <p:cxnSp>
        <p:nvCxnSpPr>
          <p:cNvPr id="8" name="Connector 7"/>
          <p:cNvCxnSpPr/>
          <p:nvPr/>
        </p:nvCxnSpPr>
        <p:spPr>
          <a:xfrm flipH="1">
            <a:off x="3299383" y="2290572"/>
            <a:ext cx="2796464" cy="0"/>
          </a:xfrm>
          <a:prstGeom prst="line">
            <a:avLst/>
          </a:prstGeom>
          <a:ln w="22225">
            <a:solidFill>
              <a:srgbClr val="D9D9D9"/>
            </a:solidFill>
          </a:ln>
        </p:spPr>
      </p:cxnSp>
      <p:cxnSp>
        <p:nvCxnSpPr>
          <p:cNvPr id="9" name="Connector 8"/>
          <p:cNvCxnSpPr/>
          <p:nvPr/>
        </p:nvCxnSpPr>
        <p:spPr>
          <a:xfrm>
            <a:off x="3299383" y="2290572"/>
            <a:ext cx="0" cy="132588"/>
          </a:xfrm>
          <a:prstGeom prst="line">
            <a:avLst/>
          </a:prstGeom>
          <a:ln w="22225">
            <a:solidFill>
              <a:srgbClr val="D9D9D9"/>
            </a:solidFill>
          </a:ln>
        </p:spPr>
      </p:cxnSp>
      <p:sp>
        <p:nvSpPr>
          <p:cNvPr id="10" name="Oval 9"/>
          <p:cNvSpPr/>
          <p:nvPr/>
        </p:nvSpPr>
        <p:spPr>
          <a:xfrm>
            <a:off x="3162223" y="2153412"/>
            <a:ext cx="274320" cy="274320"/>
          </a:xfrm>
          <a:prstGeom prst="ellipse">
            <a:avLst/>
          </a:prstGeom>
          <a:solidFill>
            <a:srgbClr val="5B8C2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D</a:t>
            </a:r>
          </a:p>
        </p:txBody>
      </p:sp>
      <p:cxnSp>
        <p:nvCxnSpPr>
          <p:cNvPr id="11" name="Connector 10"/>
          <p:cNvCxnSpPr/>
          <p:nvPr/>
        </p:nvCxnSpPr>
        <p:spPr>
          <a:xfrm>
            <a:off x="6095847" y="2157984"/>
            <a:ext cx="0" cy="132588"/>
          </a:xfrm>
          <a:prstGeom prst="line">
            <a:avLst/>
          </a:prstGeom>
          <a:ln w="22225">
            <a:solidFill>
              <a:srgbClr val="D9D9D9"/>
            </a:solidFill>
          </a:ln>
        </p:spPr>
      </p:cxnSp>
      <p:cxnSp>
        <p:nvCxnSpPr>
          <p:cNvPr id="12" name="Connector 11"/>
          <p:cNvCxnSpPr/>
          <p:nvPr/>
        </p:nvCxnSpPr>
        <p:spPr>
          <a:xfrm>
            <a:off x="6095847" y="2290572"/>
            <a:ext cx="2796464" cy="0"/>
          </a:xfrm>
          <a:prstGeom prst="line">
            <a:avLst/>
          </a:prstGeom>
          <a:ln w="22225">
            <a:solidFill>
              <a:srgbClr val="D9D9D9"/>
            </a:solidFill>
          </a:ln>
        </p:spPr>
      </p:cxnSp>
      <p:cxnSp>
        <p:nvCxnSpPr>
          <p:cNvPr id="13" name="Connector 12"/>
          <p:cNvCxnSpPr/>
          <p:nvPr/>
        </p:nvCxnSpPr>
        <p:spPr>
          <a:xfrm>
            <a:off x="8892311" y="2290572"/>
            <a:ext cx="0" cy="132588"/>
          </a:xfrm>
          <a:prstGeom prst="line">
            <a:avLst/>
          </a:prstGeom>
          <a:ln w="22225">
            <a:solidFill>
              <a:srgbClr val="D9D9D9"/>
            </a:solidFill>
          </a:ln>
        </p:spPr>
      </p:cxnSp>
      <p:sp>
        <p:nvSpPr>
          <p:cNvPr id="14" name="Oval 13"/>
          <p:cNvSpPr/>
          <p:nvPr/>
        </p:nvSpPr>
        <p:spPr>
          <a:xfrm>
            <a:off x="8755151" y="2153412"/>
            <a:ext cx="274320" cy="274320"/>
          </a:xfrm>
          <a:prstGeom prst="ellipse">
            <a:avLst/>
          </a:prstGeom>
          <a:solidFill>
            <a:srgbClr val="9B3A55"/>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Y</a:t>
            </a:r>
          </a:p>
        </p:txBody>
      </p:sp>
      <p:cxnSp>
        <p:nvCxnSpPr>
          <p:cNvPr id="15" name="Connector 14"/>
          <p:cNvCxnSpPr/>
          <p:nvPr/>
        </p:nvCxnSpPr>
        <p:spPr>
          <a:xfrm>
            <a:off x="3299383" y="3063240"/>
            <a:ext cx="0" cy="132588"/>
          </a:xfrm>
          <a:prstGeom prst="line">
            <a:avLst/>
          </a:prstGeom>
          <a:ln w="22225">
            <a:solidFill>
              <a:srgbClr val="D9D9D9"/>
            </a:solidFill>
          </a:ln>
        </p:spPr>
      </p:cxnSp>
      <p:cxnSp>
        <p:nvCxnSpPr>
          <p:cNvPr id="16" name="Connector 15"/>
          <p:cNvCxnSpPr/>
          <p:nvPr/>
        </p:nvCxnSpPr>
        <p:spPr>
          <a:xfrm flipH="1">
            <a:off x="1901151" y="3195828"/>
            <a:ext cx="1398232" cy="0"/>
          </a:xfrm>
          <a:prstGeom prst="line">
            <a:avLst/>
          </a:prstGeom>
          <a:ln w="22225">
            <a:solidFill>
              <a:srgbClr val="D9D9D9"/>
            </a:solidFill>
          </a:ln>
        </p:spPr>
      </p:cxnSp>
      <p:cxnSp>
        <p:nvCxnSpPr>
          <p:cNvPr id="17" name="Connector 16"/>
          <p:cNvCxnSpPr/>
          <p:nvPr/>
        </p:nvCxnSpPr>
        <p:spPr>
          <a:xfrm>
            <a:off x="1901151" y="3195828"/>
            <a:ext cx="0" cy="132588"/>
          </a:xfrm>
          <a:prstGeom prst="line">
            <a:avLst/>
          </a:prstGeom>
          <a:ln w="22225">
            <a:solidFill>
              <a:srgbClr val="D9D9D9"/>
            </a:solidFill>
          </a:ln>
        </p:spPr>
      </p:cxnSp>
      <p:sp>
        <p:nvSpPr>
          <p:cNvPr id="18" name="Oval 17"/>
          <p:cNvSpPr/>
          <p:nvPr/>
        </p:nvSpPr>
        <p:spPr>
          <a:xfrm>
            <a:off x="1763991" y="3058668"/>
            <a:ext cx="274320" cy="274320"/>
          </a:xfrm>
          <a:prstGeom prst="ellipse">
            <a:avLst/>
          </a:prstGeom>
          <a:solidFill>
            <a:srgbClr val="5B8C2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D</a:t>
            </a:r>
          </a:p>
        </p:txBody>
      </p:sp>
      <p:cxnSp>
        <p:nvCxnSpPr>
          <p:cNvPr id="19" name="Connector 18"/>
          <p:cNvCxnSpPr/>
          <p:nvPr/>
        </p:nvCxnSpPr>
        <p:spPr>
          <a:xfrm>
            <a:off x="3299383" y="3063240"/>
            <a:ext cx="0" cy="132588"/>
          </a:xfrm>
          <a:prstGeom prst="line">
            <a:avLst/>
          </a:prstGeom>
          <a:ln w="22225">
            <a:solidFill>
              <a:srgbClr val="D9D9D9"/>
            </a:solidFill>
          </a:ln>
        </p:spPr>
      </p:cxnSp>
      <p:cxnSp>
        <p:nvCxnSpPr>
          <p:cNvPr id="20" name="Connector 19"/>
          <p:cNvCxnSpPr/>
          <p:nvPr/>
        </p:nvCxnSpPr>
        <p:spPr>
          <a:xfrm>
            <a:off x="3299383" y="3195828"/>
            <a:ext cx="1398232" cy="0"/>
          </a:xfrm>
          <a:prstGeom prst="line">
            <a:avLst/>
          </a:prstGeom>
          <a:ln w="22225">
            <a:solidFill>
              <a:srgbClr val="D9D9D9"/>
            </a:solidFill>
          </a:ln>
        </p:spPr>
      </p:cxnSp>
      <p:cxnSp>
        <p:nvCxnSpPr>
          <p:cNvPr id="21" name="Connector 20"/>
          <p:cNvCxnSpPr/>
          <p:nvPr/>
        </p:nvCxnSpPr>
        <p:spPr>
          <a:xfrm>
            <a:off x="4697615" y="3195828"/>
            <a:ext cx="0" cy="132588"/>
          </a:xfrm>
          <a:prstGeom prst="line">
            <a:avLst/>
          </a:prstGeom>
          <a:ln w="22225">
            <a:solidFill>
              <a:srgbClr val="D9D9D9"/>
            </a:solidFill>
          </a:ln>
        </p:spPr>
      </p:cxnSp>
      <p:sp>
        <p:nvSpPr>
          <p:cNvPr id="22" name="Oval 21"/>
          <p:cNvSpPr/>
          <p:nvPr/>
        </p:nvSpPr>
        <p:spPr>
          <a:xfrm>
            <a:off x="4560455" y="3058668"/>
            <a:ext cx="274320" cy="274320"/>
          </a:xfrm>
          <a:prstGeom prst="ellipse">
            <a:avLst/>
          </a:prstGeom>
          <a:solidFill>
            <a:srgbClr val="9B3A55"/>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Y</a:t>
            </a:r>
          </a:p>
        </p:txBody>
      </p:sp>
      <p:cxnSp>
        <p:nvCxnSpPr>
          <p:cNvPr id="23" name="Connector 22"/>
          <p:cNvCxnSpPr/>
          <p:nvPr/>
        </p:nvCxnSpPr>
        <p:spPr>
          <a:xfrm>
            <a:off x="8892311" y="3063240"/>
            <a:ext cx="0" cy="132588"/>
          </a:xfrm>
          <a:prstGeom prst="line">
            <a:avLst/>
          </a:prstGeom>
          <a:ln w="22225">
            <a:solidFill>
              <a:srgbClr val="D9D9D9"/>
            </a:solidFill>
          </a:ln>
        </p:spPr>
      </p:cxnSp>
      <p:cxnSp>
        <p:nvCxnSpPr>
          <p:cNvPr id="24" name="Connector 23"/>
          <p:cNvCxnSpPr/>
          <p:nvPr/>
        </p:nvCxnSpPr>
        <p:spPr>
          <a:xfrm flipH="1">
            <a:off x="7494079" y="3195828"/>
            <a:ext cx="1398232" cy="0"/>
          </a:xfrm>
          <a:prstGeom prst="line">
            <a:avLst/>
          </a:prstGeom>
          <a:ln w="22225">
            <a:solidFill>
              <a:srgbClr val="D9D9D9"/>
            </a:solidFill>
          </a:ln>
        </p:spPr>
      </p:cxnSp>
      <p:cxnSp>
        <p:nvCxnSpPr>
          <p:cNvPr id="25" name="Connector 24"/>
          <p:cNvCxnSpPr/>
          <p:nvPr/>
        </p:nvCxnSpPr>
        <p:spPr>
          <a:xfrm>
            <a:off x="7494079" y="3195828"/>
            <a:ext cx="0" cy="132588"/>
          </a:xfrm>
          <a:prstGeom prst="line">
            <a:avLst/>
          </a:prstGeom>
          <a:ln w="22225">
            <a:solidFill>
              <a:srgbClr val="D9D9D9"/>
            </a:solidFill>
          </a:ln>
        </p:spPr>
      </p:cxnSp>
      <p:sp>
        <p:nvSpPr>
          <p:cNvPr id="26" name="Oval 25"/>
          <p:cNvSpPr/>
          <p:nvPr/>
        </p:nvSpPr>
        <p:spPr>
          <a:xfrm>
            <a:off x="7356919" y="3058668"/>
            <a:ext cx="274320" cy="274320"/>
          </a:xfrm>
          <a:prstGeom prst="ellipse">
            <a:avLst/>
          </a:prstGeom>
          <a:solidFill>
            <a:srgbClr val="5B8C2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D</a:t>
            </a:r>
          </a:p>
        </p:txBody>
      </p:sp>
      <p:cxnSp>
        <p:nvCxnSpPr>
          <p:cNvPr id="27" name="Connector 26"/>
          <p:cNvCxnSpPr/>
          <p:nvPr/>
        </p:nvCxnSpPr>
        <p:spPr>
          <a:xfrm>
            <a:off x="8892311" y="3063240"/>
            <a:ext cx="0" cy="132588"/>
          </a:xfrm>
          <a:prstGeom prst="line">
            <a:avLst/>
          </a:prstGeom>
          <a:ln w="22225">
            <a:solidFill>
              <a:srgbClr val="D9D9D9"/>
            </a:solidFill>
          </a:ln>
        </p:spPr>
      </p:cxnSp>
      <p:cxnSp>
        <p:nvCxnSpPr>
          <p:cNvPr id="28" name="Connector 27"/>
          <p:cNvCxnSpPr/>
          <p:nvPr/>
        </p:nvCxnSpPr>
        <p:spPr>
          <a:xfrm>
            <a:off x="8892311" y="3195828"/>
            <a:ext cx="1398232" cy="0"/>
          </a:xfrm>
          <a:prstGeom prst="line">
            <a:avLst/>
          </a:prstGeom>
          <a:ln w="22225">
            <a:solidFill>
              <a:srgbClr val="D9D9D9"/>
            </a:solidFill>
          </a:ln>
        </p:spPr>
      </p:cxnSp>
      <p:cxnSp>
        <p:nvCxnSpPr>
          <p:cNvPr id="29" name="Connector 28"/>
          <p:cNvCxnSpPr/>
          <p:nvPr/>
        </p:nvCxnSpPr>
        <p:spPr>
          <a:xfrm>
            <a:off x="10290543" y="3195828"/>
            <a:ext cx="0" cy="132588"/>
          </a:xfrm>
          <a:prstGeom prst="line">
            <a:avLst/>
          </a:prstGeom>
          <a:ln w="22225">
            <a:solidFill>
              <a:srgbClr val="D9D9D9"/>
            </a:solidFill>
          </a:ln>
        </p:spPr>
      </p:cxnSp>
      <p:sp>
        <p:nvSpPr>
          <p:cNvPr id="30" name="Oval 29"/>
          <p:cNvSpPr/>
          <p:nvPr/>
        </p:nvSpPr>
        <p:spPr>
          <a:xfrm>
            <a:off x="10153383" y="3058668"/>
            <a:ext cx="274320" cy="274320"/>
          </a:xfrm>
          <a:prstGeom prst="ellipse">
            <a:avLst/>
          </a:prstGeom>
          <a:solidFill>
            <a:srgbClr val="9B3A55"/>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Y</a:t>
            </a:r>
          </a:p>
        </p:txBody>
      </p:sp>
      <p:cxnSp>
        <p:nvCxnSpPr>
          <p:cNvPr id="31" name="Connector 30"/>
          <p:cNvCxnSpPr/>
          <p:nvPr/>
        </p:nvCxnSpPr>
        <p:spPr>
          <a:xfrm>
            <a:off x="1901151" y="4169664"/>
            <a:ext cx="0" cy="132588"/>
          </a:xfrm>
          <a:prstGeom prst="line">
            <a:avLst/>
          </a:prstGeom>
          <a:ln w="22225">
            <a:solidFill>
              <a:srgbClr val="D9D9D9"/>
            </a:solidFill>
          </a:ln>
        </p:spPr>
      </p:cxnSp>
      <p:cxnSp>
        <p:nvCxnSpPr>
          <p:cNvPr id="32" name="Connector 31"/>
          <p:cNvCxnSpPr/>
          <p:nvPr/>
        </p:nvCxnSpPr>
        <p:spPr>
          <a:xfrm flipH="1">
            <a:off x="1202035" y="4302252"/>
            <a:ext cx="699116" cy="0"/>
          </a:xfrm>
          <a:prstGeom prst="line">
            <a:avLst/>
          </a:prstGeom>
          <a:ln w="22225">
            <a:solidFill>
              <a:srgbClr val="D9D9D9"/>
            </a:solidFill>
          </a:ln>
        </p:spPr>
      </p:cxnSp>
      <p:cxnSp>
        <p:nvCxnSpPr>
          <p:cNvPr id="33" name="Connector 32"/>
          <p:cNvCxnSpPr/>
          <p:nvPr/>
        </p:nvCxnSpPr>
        <p:spPr>
          <a:xfrm>
            <a:off x="1202035" y="4302252"/>
            <a:ext cx="0" cy="132588"/>
          </a:xfrm>
          <a:prstGeom prst="line">
            <a:avLst/>
          </a:prstGeom>
          <a:ln w="22225">
            <a:solidFill>
              <a:srgbClr val="D9D9D9"/>
            </a:solidFill>
          </a:ln>
        </p:spPr>
      </p:cxnSp>
      <p:sp>
        <p:nvSpPr>
          <p:cNvPr id="34" name="Oval 33"/>
          <p:cNvSpPr/>
          <p:nvPr/>
        </p:nvSpPr>
        <p:spPr>
          <a:xfrm>
            <a:off x="1064875" y="4165092"/>
            <a:ext cx="274320" cy="274320"/>
          </a:xfrm>
          <a:prstGeom prst="ellipse">
            <a:avLst/>
          </a:prstGeom>
          <a:solidFill>
            <a:srgbClr val="5B8C2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D</a:t>
            </a:r>
          </a:p>
        </p:txBody>
      </p:sp>
      <p:cxnSp>
        <p:nvCxnSpPr>
          <p:cNvPr id="35" name="Connector 34"/>
          <p:cNvCxnSpPr/>
          <p:nvPr/>
        </p:nvCxnSpPr>
        <p:spPr>
          <a:xfrm>
            <a:off x="1901151" y="4169664"/>
            <a:ext cx="0" cy="132588"/>
          </a:xfrm>
          <a:prstGeom prst="line">
            <a:avLst/>
          </a:prstGeom>
          <a:ln w="22225">
            <a:solidFill>
              <a:srgbClr val="D9D9D9"/>
            </a:solidFill>
          </a:ln>
        </p:spPr>
      </p:cxnSp>
      <p:cxnSp>
        <p:nvCxnSpPr>
          <p:cNvPr id="36" name="Connector 35"/>
          <p:cNvCxnSpPr/>
          <p:nvPr/>
        </p:nvCxnSpPr>
        <p:spPr>
          <a:xfrm>
            <a:off x="1901151" y="4302252"/>
            <a:ext cx="699116" cy="0"/>
          </a:xfrm>
          <a:prstGeom prst="line">
            <a:avLst/>
          </a:prstGeom>
          <a:ln w="22225">
            <a:solidFill>
              <a:srgbClr val="D9D9D9"/>
            </a:solidFill>
          </a:ln>
        </p:spPr>
      </p:cxnSp>
      <p:cxnSp>
        <p:nvCxnSpPr>
          <p:cNvPr id="37" name="Connector 36"/>
          <p:cNvCxnSpPr/>
          <p:nvPr/>
        </p:nvCxnSpPr>
        <p:spPr>
          <a:xfrm>
            <a:off x="2600267" y="4302252"/>
            <a:ext cx="0" cy="132588"/>
          </a:xfrm>
          <a:prstGeom prst="line">
            <a:avLst/>
          </a:prstGeom>
          <a:ln w="22225">
            <a:solidFill>
              <a:srgbClr val="D9D9D9"/>
            </a:solidFill>
          </a:ln>
        </p:spPr>
      </p:cxnSp>
      <p:sp>
        <p:nvSpPr>
          <p:cNvPr id="38" name="Oval 37"/>
          <p:cNvSpPr/>
          <p:nvPr/>
        </p:nvSpPr>
        <p:spPr>
          <a:xfrm>
            <a:off x="2463107" y="4165092"/>
            <a:ext cx="274320" cy="274320"/>
          </a:xfrm>
          <a:prstGeom prst="ellipse">
            <a:avLst/>
          </a:prstGeom>
          <a:solidFill>
            <a:srgbClr val="9B3A55"/>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Y</a:t>
            </a:r>
          </a:p>
        </p:txBody>
      </p:sp>
      <p:cxnSp>
        <p:nvCxnSpPr>
          <p:cNvPr id="39" name="Connector 38"/>
          <p:cNvCxnSpPr/>
          <p:nvPr/>
        </p:nvCxnSpPr>
        <p:spPr>
          <a:xfrm>
            <a:off x="4697615" y="4169664"/>
            <a:ext cx="0" cy="132588"/>
          </a:xfrm>
          <a:prstGeom prst="line">
            <a:avLst/>
          </a:prstGeom>
          <a:ln w="22225">
            <a:solidFill>
              <a:srgbClr val="D9D9D9"/>
            </a:solidFill>
          </a:ln>
        </p:spPr>
      </p:cxnSp>
      <p:cxnSp>
        <p:nvCxnSpPr>
          <p:cNvPr id="40" name="Connector 39"/>
          <p:cNvCxnSpPr/>
          <p:nvPr/>
        </p:nvCxnSpPr>
        <p:spPr>
          <a:xfrm flipH="1">
            <a:off x="3998499" y="4302252"/>
            <a:ext cx="699116" cy="0"/>
          </a:xfrm>
          <a:prstGeom prst="line">
            <a:avLst/>
          </a:prstGeom>
          <a:ln w="22225">
            <a:solidFill>
              <a:srgbClr val="D9D9D9"/>
            </a:solidFill>
          </a:ln>
        </p:spPr>
      </p:cxnSp>
      <p:cxnSp>
        <p:nvCxnSpPr>
          <p:cNvPr id="41" name="Connector 40"/>
          <p:cNvCxnSpPr/>
          <p:nvPr/>
        </p:nvCxnSpPr>
        <p:spPr>
          <a:xfrm>
            <a:off x="3998499" y="4302252"/>
            <a:ext cx="0" cy="132588"/>
          </a:xfrm>
          <a:prstGeom prst="line">
            <a:avLst/>
          </a:prstGeom>
          <a:ln w="22225">
            <a:solidFill>
              <a:srgbClr val="D9D9D9"/>
            </a:solidFill>
          </a:ln>
        </p:spPr>
      </p:cxnSp>
      <p:sp>
        <p:nvSpPr>
          <p:cNvPr id="42" name="Oval 41"/>
          <p:cNvSpPr/>
          <p:nvPr/>
        </p:nvSpPr>
        <p:spPr>
          <a:xfrm>
            <a:off x="3861339" y="4165092"/>
            <a:ext cx="274320" cy="274320"/>
          </a:xfrm>
          <a:prstGeom prst="ellipse">
            <a:avLst/>
          </a:prstGeom>
          <a:solidFill>
            <a:srgbClr val="5B8C2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D</a:t>
            </a:r>
          </a:p>
        </p:txBody>
      </p:sp>
      <p:cxnSp>
        <p:nvCxnSpPr>
          <p:cNvPr id="43" name="Connector 42"/>
          <p:cNvCxnSpPr/>
          <p:nvPr/>
        </p:nvCxnSpPr>
        <p:spPr>
          <a:xfrm>
            <a:off x="4697615" y="4169664"/>
            <a:ext cx="0" cy="132588"/>
          </a:xfrm>
          <a:prstGeom prst="line">
            <a:avLst/>
          </a:prstGeom>
          <a:ln w="22225">
            <a:solidFill>
              <a:srgbClr val="D9D9D9"/>
            </a:solidFill>
          </a:ln>
        </p:spPr>
      </p:cxnSp>
      <p:cxnSp>
        <p:nvCxnSpPr>
          <p:cNvPr id="44" name="Connector 43"/>
          <p:cNvCxnSpPr/>
          <p:nvPr/>
        </p:nvCxnSpPr>
        <p:spPr>
          <a:xfrm>
            <a:off x="4697615" y="4302252"/>
            <a:ext cx="699116" cy="0"/>
          </a:xfrm>
          <a:prstGeom prst="line">
            <a:avLst/>
          </a:prstGeom>
          <a:ln w="22225">
            <a:solidFill>
              <a:srgbClr val="D9D9D9"/>
            </a:solidFill>
          </a:ln>
        </p:spPr>
      </p:cxnSp>
      <p:cxnSp>
        <p:nvCxnSpPr>
          <p:cNvPr id="45" name="Connector 44"/>
          <p:cNvCxnSpPr/>
          <p:nvPr/>
        </p:nvCxnSpPr>
        <p:spPr>
          <a:xfrm>
            <a:off x="5396731" y="4302252"/>
            <a:ext cx="0" cy="132588"/>
          </a:xfrm>
          <a:prstGeom prst="line">
            <a:avLst/>
          </a:prstGeom>
          <a:ln w="22225">
            <a:solidFill>
              <a:srgbClr val="D9D9D9"/>
            </a:solidFill>
          </a:ln>
        </p:spPr>
      </p:cxnSp>
      <p:sp>
        <p:nvSpPr>
          <p:cNvPr id="46" name="Oval 45"/>
          <p:cNvSpPr/>
          <p:nvPr/>
        </p:nvSpPr>
        <p:spPr>
          <a:xfrm>
            <a:off x="5259571" y="4165092"/>
            <a:ext cx="274320" cy="274320"/>
          </a:xfrm>
          <a:prstGeom prst="ellipse">
            <a:avLst/>
          </a:prstGeom>
          <a:solidFill>
            <a:srgbClr val="9B3A55"/>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Y</a:t>
            </a:r>
          </a:p>
        </p:txBody>
      </p:sp>
      <p:cxnSp>
        <p:nvCxnSpPr>
          <p:cNvPr id="47" name="Connector 46"/>
          <p:cNvCxnSpPr/>
          <p:nvPr/>
        </p:nvCxnSpPr>
        <p:spPr>
          <a:xfrm>
            <a:off x="7494079" y="4169664"/>
            <a:ext cx="0" cy="132588"/>
          </a:xfrm>
          <a:prstGeom prst="line">
            <a:avLst/>
          </a:prstGeom>
          <a:ln w="22225">
            <a:solidFill>
              <a:srgbClr val="D9D9D9"/>
            </a:solidFill>
          </a:ln>
        </p:spPr>
      </p:cxnSp>
      <p:cxnSp>
        <p:nvCxnSpPr>
          <p:cNvPr id="48" name="Connector 47"/>
          <p:cNvCxnSpPr/>
          <p:nvPr/>
        </p:nvCxnSpPr>
        <p:spPr>
          <a:xfrm flipH="1">
            <a:off x="6794963" y="4302252"/>
            <a:ext cx="699116" cy="0"/>
          </a:xfrm>
          <a:prstGeom prst="line">
            <a:avLst/>
          </a:prstGeom>
          <a:ln w="22225">
            <a:solidFill>
              <a:srgbClr val="D9D9D9"/>
            </a:solidFill>
          </a:ln>
        </p:spPr>
      </p:cxnSp>
      <p:cxnSp>
        <p:nvCxnSpPr>
          <p:cNvPr id="49" name="Connector 48"/>
          <p:cNvCxnSpPr/>
          <p:nvPr/>
        </p:nvCxnSpPr>
        <p:spPr>
          <a:xfrm>
            <a:off x="6794963" y="4302252"/>
            <a:ext cx="0" cy="132588"/>
          </a:xfrm>
          <a:prstGeom prst="line">
            <a:avLst/>
          </a:prstGeom>
          <a:ln w="22225">
            <a:solidFill>
              <a:srgbClr val="D9D9D9"/>
            </a:solidFill>
          </a:ln>
        </p:spPr>
      </p:cxnSp>
      <p:sp>
        <p:nvSpPr>
          <p:cNvPr id="50" name="Oval 49"/>
          <p:cNvSpPr/>
          <p:nvPr/>
        </p:nvSpPr>
        <p:spPr>
          <a:xfrm>
            <a:off x="6657803" y="4165092"/>
            <a:ext cx="274320" cy="274320"/>
          </a:xfrm>
          <a:prstGeom prst="ellipse">
            <a:avLst/>
          </a:prstGeom>
          <a:solidFill>
            <a:srgbClr val="5B8C2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D</a:t>
            </a:r>
          </a:p>
        </p:txBody>
      </p:sp>
      <p:cxnSp>
        <p:nvCxnSpPr>
          <p:cNvPr id="51" name="Connector 50"/>
          <p:cNvCxnSpPr/>
          <p:nvPr/>
        </p:nvCxnSpPr>
        <p:spPr>
          <a:xfrm>
            <a:off x="7494079" y="4169664"/>
            <a:ext cx="0" cy="132588"/>
          </a:xfrm>
          <a:prstGeom prst="line">
            <a:avLst/>
          </a:prstGeom>
          <a:ln w="22225">
            <a:solidFill>
              <a:srgbClr val="D9D9D9"/>
            </a:solidFill>
          </a:ln>
        </p:spPr>
      </p:cxnSp>
      <p:cxnSp>
        <p:nvCxnSpPr>
          <p:cNvPr id="52" name="Connector 51"/>
          <p:cNvCxnSpPr/>
          <p:nvPr/>
        </p:nvCxnSpPr>
        <p:spPr>
          <a:xfrm>
            <a:off x="7494079" y="4302252"/>
            <a:ext cx="699116" cy="0"/>
          </a:xfrm>
          <a:prstGeom prst="line">
            <a:avLst/>
          </a:prstGeom>
          <a:ln w="22225">
            <a:solidFill>
              <a:srgbClr val="D9D9D9"/>
            </a:solidFill>
          </a:ln>
        </p:spPr>
      </p:cxnSp>
      <p:cxnSp>
        <p:nvCxnSpPr>
          <p:cNvPr id="53" name="Connector 52"/>
          <p:cNvCxnSpPr/>
          <p:nvPr/>
        </p:nvCxnSpPr>
        <p:spPr>
          <a:xfrm>
            <a:off x="8193195" y="4302252"/>
            <a:ext cx="0" cy="132588"/>
          </a:xfrm>
          <a:prstGeom prst="line">
            <a:avLst/>
          </a:prstGeom>
          <a:ln w="22225">
            <a:solidFill>
              <a:srgbClr val="D9D9D9"/>
            </a:solidFill>
          </a:ln>
        </p:spPr>
      </p:cxnSp>
      <p:sp>
        <p:nvSpPr>
          <p:cNvPr id="54" name="Oval 53"/>
          <p:cNvSpPr/>
          <p:nvPr/>
        </p:nvSpPr>
        <p:spPr>
          <a:xfrm>
            <a:off x="8056035" y="4165092"/>
            <a:ext cx="274320" cy="274320"/>
          </a:xfrm>
          <a:prstGeom prst="ellipse">
            <a:avLst/>
          </a:prstGeom>
          <a:solidFill>
            <a:srgbClr val="9B3A55"/>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Y</a:t>
            </a:r>
          </a:p>
        </p:txBody>
      </p:sp>
      <p:cxnSp>
        <p:nvCxnSpPr>
          <p:cNvPr id="55" name="Connector 54"/>
          <p:cNvCxnSpPr/>
          <p:nvPr/>
        </p:nvCxnSpPr>
        <p:spPr>
          <a:xfrm>
            <a:off x="10290543" y="4169664"/>
            <a:ext cx="0" cy="132588"/>
          </a:xfrm>
          <a:prstGeom prst="line">
            <a:avLst/>
          </a:prstGeom>
          <a:ln w="22225">
            <a:solidFill>
              <a:srgbClr val="D9D9D9"/>
            </a:solidFill>
          </a:ln>
        </p:spPr>
      </p:cxnSp>
      <p:cxnSp>
        <p:nvCxnSpPr>
          <p:cNvPr id="56" name="Connector 55"/>
          <p:cNvCxnSpPr/>
          <p:nvPr/>
        </p:nvCxnSpPr>
        <p:spPr>
          <a:xfrm flipH="1">
            <a:off x="9591427" y="4302252"/>
            <a:ext cx="699116" cy="0"/>
          </a:xfrm>
          <a:prstGeom prst="line">
            <a:avLst/>
          </a:prstGeom>
          <a:ln w="22225">
            <a:solidFill>
              <a:srgbClr val="D9D9D9"/>
            </a:solidFill>
          </a:ln>
        </p:spPr>
      </p:cxnSp>
      <p:cxnSp>
        <p:nvCxnSpPr>
          <p:cNvPr id="57" name="Connector 56"/>
          <p:cNvCxnSpPr/>
          <p:nvPr/>
        </p:nvCxnSpPr>
        <p:spPr>
          <a:xfrm>
            <a:off x="9591427" y="4302252"/>
            <a:ext cx="0" cy="132588"/>
          </a:xfrm>
          <a:prstGeom prst="line">
            <a:avLst/>
          </a:prstGeom>
          <a:ln w="22225">
            <a:solidFill>
              <a:srgbClr val="D9D9D9"/>
            </a:solidFill>
          </a:ln>
        </p:spPr>
      </p:cxnSp>
      <p:sp>
        <p:nvSpPr>
          <p:cNvPr id="58" name="Oval 57"/>
          <p:cNvSpPr/>
          <p:nvPr/>
        </p:nvSpPr>
        <p:spPr>
          <a:xfrm>
            <a:off x="9454267" y="4165092"/>
            <a:ext cx="274320" cy="274320"/>
          </a:xfrm>
          <a:prstGeom prst="ellipse">
            <a:avLst/>
          </a:prstGeom>
          <a:solidFill>
            <a:srgbClr val="5B8C2A"/>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D</a:t>
            </a:r>
          </a:p>
        </p:txBody>
      </p:sp>
      <p:cxnSp>
        <p:nvCxnSpPr>
          <p:cNvPr id="59" name="Connector 58"/>
          <p:cNvCxnSpPr/>
          <p:nvPr/>
        </p:nvCxnSpPr>
        <p:spPr>
          <a:xfrm>
            <a:off x="10290543" y="4169664"/>
            <a:ext cx="0" cy="132588"/>
          </a:xfrm>
          <a:prstGeom prst="line">
            <a:avLst/>
          </a:prstGeom>
          <a:ln w="22225">
            <a:solidFill>
              <a:srgbClr val="D9D9D9"/>
            </a:solidFill>
          </a:ln>
        </p:spPr>
      </p:cxnSp>
      <p:cxnSp>
        <p:nvCxnSpPr>
          <p:cNvPr id="60" name="Connector 59"/>
          <p:cNvCxnSpPr/>
          <p:nvPr/>
        </p:nvCxnSpPr>
        <p:spPr>
          <a:xfrm>
            <a:off x="10290543" y="4302252"/>
            <a:ext cx="699116" cy="0"/>
          </a:xfrm>
          <a:prstGeom prst="line">
            <a:avLst/>
          </a:prstGeom>
          <a:ln w="22225">
            <a:solidFill>
              <a:srgbClr val="D9D9D9"/>
            </a:solidFill>
          </a:ln>
        </p:spPr>
      </p:cxnSp>
      <p:cxnSp>
        <p:nvCxnSpPr>
          <p:cNvPr id="61" name="Connector 60"/>
          <p:cNvCxnSpPr/>
          <p:nvPr/>
        </p:nvCxnSpPr>
        <p:spPr>
          <a:xfrm>
            <a:off x="10989659" y="4302252"/>
            <a:ext cx="0" cy="132588"/>
          </a:xfrm>
          <a:prstGeom prst="line">
            <a:avLst/>
          </a:prstGeom>
          <a:ln w="22225">
            <a:solidFill>
              <a:srgbClr val="D9D9D9"/>
            </a:solidFill>
          </a:ln>
        </p:spPr>
      </p:cxnSp>
      <p:sp>
        <p:nvSpPr>
          <p:cNvPr id="62" name="Oval 61"/>
          <p:cNvSpPr/>
          <p:nvPr/>
        </p:nvSpPr>
        <p:spPr>
          <a:xfrm>
            <a:off x="10852499" y="4165092"/>
            <a:ext cx="274320" cy="274320"/>
          </a:xfrm>
          <a:prstGeom prst="ellipse">
            <a:avLst/>
          </a:prstGeom>
          <a:solidFill>
            <a:srgbClr val="9B3A55"/>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Y</a:t>
            </a:r>
          </a:p>
        </p:txBody>
      </p:sp>
      <p:sp>
        <p:nvSpPr>
          <p:cNvPr id="63" name="Rounded Rectangle 62"/>
          <p:cNvSpPr/>
          <p:nvPr/>
        </p:nvSpPr>
        <p:spPr>
          <a:xfrm>
            <a:off x="2712567" y="1517904"/>
            <a:ext cx="6766560" cy="640080"/>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750" b="1" i="0">
                <a:solidFill>
                  <a:srgbClr val="262626"/>
                </a:solidFill>
                <a:latin typeface="Calibri"/>
              </a:rPr>
              <a:t>1.</a:t>
            </a:r>
            <a:r>
              <a:rPr lang="tr-TR" sz="1750" b="0" i="0">
                <a:solidFill>
                  <a:srgbClr val="262626"/>
                </a:solidFill>
                <a:latin typeface="Calibri"/>
              </a:rPr>
              <a:t> Ekonomik faaliyetlerde üretim, dağıtım ve tüketim önemli süreçlerdir.</a:t>
            </a:r>
          </a:p>
        </p:txBody>
      </p:sp>
      <p:sp>
        <p:nvSpPr>
          <p:cNvPr id="64" name="Rounded Rectangle 63"/>
          <p:cNvSpPr/>
          <p:nvPr/>
        </p:nvSpPr>
        <p:spPr>
          <a:xfrm>
            <a:off x="731520" y="2423160"/>
            <a:ext cx="5135727" cy="640080"/>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750" b="1" i="0">
                <a:solidFill>
                  <a:srgbClr val="262626"/>
                </a:solidFill>
                <a:latin typeface="Calibri"/>
              </a:rPr>
              <a:t>2.</a:t>
            </a:r>
            <a:r>
              <a:rPr lang="tr-TR" sz="1750" b="0" i="0">
                <a:solidFill>
                  <a:srgbClr val="262626"/>
                </a:solidFill>
                <a:latin typeface="Calibri"/>
              </a:rPr>
              <a:t> İklim ekonomik faaliyetleri etkileyen doğal faktördür.</a:t>
            </a:r>
          </a:p>
        </p:txBody>
      </p:sp>
      <p:sp>
        <p:nvSpPr>
          <p:cNvPr id="65" name="Rounded Rectangle 64"/>
          <p:cNvSpPr/>
          <p:nvPr/>
        </p:nvSpPr>
        <p:spPr>
          <a:xfrm>
            <a:off x="6324447" y="2423160"/>
            <a:ext cx="5135727" cy="640080"/>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750" b="1" i="0">
                <a:solidFill>
                  <a:srgbClr val="262626"/>
                </a:solidFill>
                <a:latin typeface="Calibri"/>
              </a:rPr>
              <a:t>3.</a:t>
            </a:r>
            <a:r>
              <a:rPr lang="tr-TR" sz="1750" b="0" i="0">
                <a:solidFill>
                  <a:srgbClr val="262626"/>
                </a:solidFill>
                <a:latin typeface="Calibri"/>
              </a:rPr>
              <a:t> Teknolojinin geliştiği alanlarda insan gücü ihtiyacı fazladır.</a:t>
            </a:r>
          </a:p>
        </p:txBody>
      </p:sp>
      <p:sp>
        <p:nvSpPr>
          <p:cNvPr id="66" name="Rounded Rectangle 65"/>
          <p:cNvSpPr/>
          <p:nvPr/>
        </p:nvSpPr>
        <p:spPr>
          <a:xfrm>
            <a:off x="612648" y="3328416"/>
            <a:ext cx="2577007" cy="841248"/>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600" b="1" i="0">
                <a:solidFill>
                  <a:srgbClr val="262626"/>
                </a:solidFill>
                <a:latin typeface="Calibri"/>
              </a:rPr>
              <a:t>4.</a:t>
            </a:r>
            <a:r>
              <a:rPr lang="tr-TR" sz="1600" b="0" i="0">
                <a:solidFill>
                  <a:srgbClr val="262626"/>
                </a:solidFill>
                <a:latin typeface="Calibri"/>
              </a:rPr>
              <a:t> Aşırı yağışlar tarımsal verimi arttırır.</a:t>
            </a:r>
          </a:p>
        </p:txBody>
      </p:sp>
      <p:sp>
        <p:nvSpPr>
          <p:cNvPr id="67" name="Rounded Rectangle 66"/>
          <p:cNvSpPr/>
          <p:nvPr/>
        </p:nvSpPr>
        <p:spPr>
          <a:xfrm>
            <a:off x="3409111" y="3328416"/>
            <a:ext cx="2577007" cy="841248"/>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600" b="1" i="0">
                <a:solidFill>
                  <a:srgbClr val="262626"/>
                </a:solidFill>
                <a:latin typeface="Calibri"/>
              </a:rPr>
              <a:t>5.</a:t>
            </a:r>
            <a:r>
              <a:rPr lang="tr-TR" sz="1600" b="0" i="0">
                <a:solidFill>
                  <a:srgbClr val="262626"/>
                </a:solidFill>
                <a:latin typeface="Calibri"/>
              </a:rPr>
              <a:t> Aşırı yağışlar ulaşımı olumsuz etkiler.</a:t>
            </a:r>
          </a:p>
        </p:txBody>
      </p:sp>
      <p:sp>
        <p:nvSpPr>
          <p:cNvPr id="68" name="Rounded Rectangle 67"/>
          <p:cNvSpPr/>
          <p:nvPr/>
        </p:nvSpPr>
        <p:spPr>
          <a:xfrm>
            <a:off x="6205575" y="3328416"/>
            <a:ext cx="2577007" cy="841248"/>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600" b="1" i="0">
                <a:solidFill>
                  <a:srgbClr val="262626"/>
                </a:solidFill>
                <a:latin typeface="Calibri"/>
              </a:rPr>
              <a:t>6.</a:t>
            </a:r>
            <a:r>
              <a:rPr lang="tr-TR" sz="1600" b="0" i="0">
                <a:solidFill>
                  <a:srgbClr val="262626"/>
                </a:solidFill>
                <a:latin typeface="Calibri"/>
              </a:rPr>
              <a:t> Teknolojinin geliştiği ülkelerde üretim fazladır.</a:t>
            </a:r>
          </a:p>
        </p:txBody>
      </p:sp>
      <p:sp>
        <p:nvSpPr>
          <p:cNvPr id="69" name="Rounded Rectangle 68"/>
          <p:cNvSpPr/>
          <p:nvPr/>
        </p:nvSpPr>
        <p:spPr>
          <a:xfrm>
            <a:off x="9002039" y="3328416"/>
            <a:ext cx="2577007" cy="841248"/>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600" b="1" i="0">
                <a:solidFill>
                  <a:srgbClr val="262626"/>
                </a:solidFill>
                <a:latin typeface="Calibri"/>
              </a:rPr>
              <a:t>7.</a:t>
            </a:r>
            <a:r>
              <a:rPr lang="tr-TR" sz="1600" b="0" i="0">
                <a:solidFill>
                  <a:srgbClr val="262626"/>
                </a:solidFill>
                <a:latin typeface="Calibri"/>
              </a:rPr>
              <a:t> Teknolojinin geliştiği alanlarda ürün maliyeti azalır.</a:t>
            </a:r>
          </a:p>
        </p:txBody>
      </p:sp>
      <p:sp>
        <p:nvSpPr>
          <p:cNvPr id="70" name="Rounded Rectangle 69"/>
          <p:cNvSpPr/>
          <p:nvPr/>
        </p:nvSpPr>
        <p:spPr>
          <a:xfrm>
            <a:off x="548640" y="4434840"/>
            <a:ext cx="1306791" cy="1389888"/>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400" b="1" i="0">
                <a:solidFill>
                  <a:srgbClr val="262626"/>
                </a:solidFill>
                <a:latin typeface="Calibri"/>
              </a:rPr>
              <a:t>8.</a:t>
            </a:r>
            <a:r>
              <a:rPr lang="tr-TR" sz="1400" b="0" i="0">
                <a:solidFill>
                  <a:srgbClr val="262626"/>
                </a:solidFill>
                <a:latin typeface="Calibri"/>
              </a:rPr>
              <a:t> Her mevsimi yağışlı yerlerde buğday tarımı zordur.</a:t>
            </a:r>
          </a:p>
        </p:txBody>
      </p:sp>
      <p:sp>
        <p:nvSpPr>
          <p:cNvPr id="71" name="Rounded Rectangle 70"/>
          <p:cNvSpPr/>
          <p:nvPr/>
        </p:nvSpPr>
        <p:spPr>
          <a:xfrm>
            <a:off x="1946871" y="4434840"/>
            <a:ext cx="1306791" cy="1389888"/>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400" b="1" i="0">
                <a:solidFill>
                  <a:srgbClr val="262626"/>
                </a:solidFill>
                <a:latin typeface="Calibri"/>
              </a:rPr>
              <a:t>9.</a:t>
            </a:r>
            <a:r>
              <a:rPr lang="tr-TR" sz="1400" b="0" i="0">
                <a:solidFill>
                  <a:srgbClr val="262626"/>
                </a:solidFill>
                <a:latin typeface="Calibri"/>
              </a:rPr>
              <a:t> Su kaynakları üretim için önemlidir.</a:t>
            </a:r>
          </a:p>
        </p:txBody>
      </p:sp>
      <p:sp>
        <p:nvSpPr>
          <p:cNvPr id="72" name="Rounded Rectangle 71"/>
          <p:cNvSpPr/>
          <p:nvPr/>
        </p:nvSpPr>
        <p:spPr>
          <a:xfrm>
            <a:off x="3345103" y="4434840"/>
            <a:ext cx="1306791" cy="1389888"/>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400" b="1" i="0">
                <a:solidFill>
                  <a:srgbClr val="262626"/>
                </a:solidFill>
                <a:latin typeface="Calibri"/>
              </a:rPr>
              <a:t>10.</a:t>
            </a:r>
            <a:r>
              <a:rPr lang="tr-TR" sz="1400" b="0" i="0">
                <a:solidFill>
                  <a:srgbClr val="262626"/>
                </a:solidFill>
                <a:latin typeface="Calibri"/>
              </a:rPr>
              <a:t> Ekstrem sıcaklıklar üretimi olumsuz etkiler.</a:t>
            </a:r>
          </a:p>
        </p:txBody>
      </p:sp>
      <p:sp>
        <p:nvSpPr>
          <p:cNvPr id="73" name="Rounded Rectangle 72"/>
          <p:cNvSpPr/>
          <p:nvPr/>
        </p:nvSpPr>
        <p:spPr>
          <a:xfrm>
            <a:off x="4743335" y="4434840"/>
            <a:ext cx="1306791" cy="1389888"/>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400" b="1" i="0">
                <a:solidFill>
                  <a:srgbClr val="262626"/>
                </a:solidFill>
                <a:latin typeface="Calibri"/>
              </a:rPr>
              <a:t>11.</a:t>
            </a:r>
            <a:r>
              <a:rPr lang="tr-TR" sz="1400" b="0" i="0">
                <a:solidFill>
                  <a:srgbClr val="262626"/>
                </a:solidFill>
                <a:latin typeface="Calibri"/>
              </a:rPr>
              <a:t> Olumsuz hava şartları dağıtımı etkilemez.</a:t>
            </a:r>
          </a:p>
        </p:txBody>
      </p:sp>
      <p:sp>
        <p:nvSpPr>
          <p:cNvPr id="74" name="Rounded Rectangle 73"/>
          <p:cNvSpPr/>
          <p:nvPr/>
        </p:nvSpPr>
        <p:spPr>
          <a:xfrm>
            <a:off x="6141567" y="4434840"/>
            <a:ext cx="1306791" cy="1389888"/>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400" b="1" i="0">
                <a:solidFill>
                  <a:srgbClr val="262626"/>
                </a:solidFill>
                <a:latin typeface="Calibri"/>
              </a:rPr>
              <a:t>12.</a:t>
            </a:r>
            <a:r>
              <a:rPr lang="tr-TR" sz="1400" b="0" i="0">
                <a:solidFill>
                  <a:srgbClr val="262626"/>
                </a:solidFill>
                <a:latin typeface="Calibri"/>
              </a:rPr>
              <a:t> Teknolojinin gelişmesiyle ulaşım süresi uzamıştır.</a:t>
            </a:r>
          </a:p>
        </p:txBody>
      </p:sp>
      <p:sp>
        <p:nvSpPr>
          <p:cNvPr id="75" name="Rounded Rectangle 74"/>
          <p:cNvSpPr/>
          <p:nvPr/>
        </p:nvSpPr>
        <p:spPr>
          <a:xfrm>
            <a:off x="7539799" y="4434840"/>
            <a:ext cx="1306791" cy="1389888"/>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400" b="1" i="0">
                <a:solidFill>
                  <a:srgbClr val="262626"/>
                </a:solidFill>
                <a:latin typeface="Calibri"/>
              </a:rPr>
              <a:t>13.</a:t>
            </a:r>
            <a:r>
              <a:rPr lang="tr-TR" sz="1400" b="0" i="0">
                <a:solidFill>
                  <a:srgbClr val="262626"/>
                </a:solidFill>
                <a:latin typeface="Calibri"/>
              </a:rPr>
              <a:t> Sanayi devrimleri sonrası en az etkili faktör teknolojidir.</a:t>
            </a:r>
          </a:p>
        </p:txBody>
      </p:sp>
      <p:sp>
        <p:nvSpPr>
          <p:cNvPr id="76" name="Rounded Rectangle 75"/>
          <p:cNvSpPr/>
          <p:nvPr/>
        </p:nvSpPr>
        <p:spPr>
          <a:xfrm>
            <a:off x="8938031" y="4434840"/>
            <a:ext cx="1306791" cy="1389888"/>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400" b="1" i="0">
                <a:solidFill>
                  <a:srgbClr val="262626"/>
                </a:solidFill>
                <a:latin typeface="Calibri"/>
              </a:rPr>
              <a:t>14.</a:t>
            </a:r>
            <a:r>
              <a:rPr lang="tr-TR" sz="1400" b="0" i="0">
                <a:solidFill>
                  <a:srgbClr val="262626"/>
                </a:solidFill>
                <a:latin typeface="Calibri"/>
              </a:rPr>
              <a:t> Teknolojik gelişmeler ürünlere olan talebi azaltır.</a:t>
            </a:r>
          </a:p>
        </p:txBody>
      </p:sp>
      <p:sp>
        <p:nvSpPr>
          <p:cNvPr id="77" name="Rounded Rectangle 76"/>
          <p:cNvSpPr/>
          <p:nvPr/>
        </p:nvSpPr>
        <p:spPr>
          <a:xfrm>
            <a:off x="10336263" y="4434840"/>
            <a:ext cx="1306791" cy="1389888"/>
          </a:xfrm>
          <a:prstGeom prst="roundRect">
            <a:avLst>
              <a:gd name="adj" fmla="val 8000"/>
            </a:avLst>
          </a:prstGeom>
          <a:solidFill>
            <a:srgbClr val="FFFFFF"/>
          </a:solidFill>
          <a:ln w="15875">
            <a:solidFill>
              <a:srgbClr val="0A6E7D"/>
            </a:solidFill>
          </a:ln>
          <a:effectLst/>
        </p:spPr>
        <p:txBody>
          <a:bodyPr rtlCol="0" anchor="ctr" wrap="square" lIns="54864" rIns="54864" tIns="27432" bIns="27432">
            <a:noAutofit/>
          </a:bodyPr>
          <a:lstStyle/>
          <a:p>
            <a:pPr algn="ctr">
              <a:spcBef>
                <a:spcPts val="0"/>
              </a:spcBef>
              <a:spcAft>
                <a:spcPts val="0"/>
              </a:spcAft>
            </a:pPr>
            <a:r>
              <a:rPr lang="tr-TR" sz="1400" b="1" i="0">
                <a:solidFill>
                  <a:srgbClr val="262626"/>
                </a:solidFill>
                <a:latin typeface="Calibri"/>
              </a:rPr>
              <a:t>15.</a:t>
            </a:r>
            <a:r>
              <a:rPr lang="tr-TR" sz="1400" b="0" i="0">
                <a:solidFill>
                  <a:srgbClr val="262626"/>
                </a:solidFill>
                <a:latin typeface="Calibri"/>
              </a:rPr>
              <a:t> Teknoloji ile sermaye birbirinden bağımsızdır.</a:t>
            </a:r>
          </a:p>
        </p:txBody>
      </p:sp>
      <p:sp>
        <p:nvSpPr>
          <p:cNvPr id="78" name="Rectangle 77"/>
          <p:cNvSpPr/>
          <p:nvPr/>
        </p:nvSpPr>
        <p:spPr>
          <a:xfrm>
            <a:off x="539496"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D → 1</a:t>
            </a:r>
          </a:p>
        </p:txBody>
      </p:sp>
      <p:sp>
        <p:nvSpPr>
          <p:cNvPr id="79" name="Rectangle 78"/>
          <p:cNvSpPr/>
          <p:nvPr/>
        </p:nvSpPr>
        <p:spPr>
          <a:xfrm>
            <a:off x="1238611"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Y → 2</a:t>
            </a:r>
          </a:p>
        </p:txBody>
      </p:sp>
      <p:sp>
        <p:nvSpPr>
          <p:cNvPr id="80" name="Rectangle 79"/>
          <p:cNvSpPr/>
          <p:nvPr/>
        </p:nvSpPr>
        <p:spPr>
          <a:xfrm>
            <a:off x="1937727"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D → 3</a:t>
            </a:r>
          </a:p>
        </p:txBody>
      </p:sp>
      <p:sp>
        <p:nvSpPr>
          <p:cNvPr id="81" name="Rectangle 80"/>
          <p:cNvSpPr/>
          <p:nvPr/>
        </p:nvSpPr>
        <p:spPr>
          <a:xfrm>
            <a:off x="2636843"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Y → 4</a:t>
            </a:r>
          </a:p>
        </p:txBody>
      </p:sp>
      <p:sp>
        <p:nvSpPr>
          <p:cNvPr id="82" name="Rectangle 81"/>
          <p:cNvSpPr/>
          <p:nvPr/>
        </p:nvSpPr>
        <p:spPr>
          <a:xfrm>
            <a:off x="3335959"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D → 5</a:t>
            </a:r>
          </a:p>
        </p:txBody>
      </p:sp>
      <p:sp>
        <p:nvSpPr>
          <p:cNvPr id="83" name="Rectangle 82"/>
          <p:cNvSpPr/>
          <p:nvPr/>
        </p:nvSpPr>
        <p:spPr>
          <a:xfrm>
            <a:off x="4035075"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Y → 6</a:t>
            </a:r>
          </a:p>
        </p:txBody>
      </p:sp>
      <p:sp>
        <p:nvSpPr>
          <p:cNvPr id="84" name="Rectangle 83"/>
          <p:cNvSpPr/>
          <p:nvPr/>
        </p:nvSpPr>
        <p:spPr>
          <a:xfrm>
            <a:off x="4734191"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D → 7</a:t>
            </a:r>
          </a:p>
        </p:txBody>
      </p:sp>
      <p:sp>
        <p:nvSpPr>
          <p:cNvPr id="85" name="Rectangle 84"/>
          <p:cNvSpPr/>
          <p:nvPr/>
        </p:nvSpPr>
        <p:spPr>
          <a:xfrm>
            <a:off x="5433307"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Y → 8</a:t>
            </a:r>
          </a:p>
        </p:txBody>
      </p:sp>
      <p:sp>
        <p:nvSpPr>
          <p:cNvPr id="86" name="Rectangle 85"/>
          <p:cNvSpPr/>
          <p:nvPr/>
        </p:nvSpPr>
        <p:spPr>
          <a:xfrm>
            <a:off x="6132423"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D → 9</a:t>
            </a:r>
          </a:p>
        </p:txBody>
      </p:sp>
      <p:sp>
        <p:nvSpPr>
          <p:cNvPr id="87" name="Rectangle 86"/>
          <p:cNvSpPr/>
          <p:nvPr/>
        </p:nvSpPr>
        <p:spPr>
          <a:xfrm>
            <a:off x="6831539"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Y → 10</a:t>
            </a:r>
          </a:p>
        </p:txBody>
      </p:sp>
      <p:sp>
        <p:nvSpPr>
          <p:cNvPr id="88" name="Rectangle 87"/>
          <p:cNvSpPr/>
          <p:nvPr/>
        </p:nvSpPr>
        <p:spPr>
          <a:xfrm>
            <a:off x="7530655"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D → 11</a:t>
            </a:r>
          </a:p>
        </p:txBody>
      </p:sp>
      <p:sp>
        <p:nvSpPr>
          <p:cNvPr id="89" name="Rectangle 88"/>
          <p:cNvSpPr/>
          <p:nvPr/>
        </p:nvSpPr>
        <p:spPr>
          <a:xfrm>
            <a:off x="8229771"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Y → 12</a:t>
            </a:r>
          </a:p>
        </p:txBody>
      </p:sp>
      <p:sp>
        <p:nvSpPr>
          <p:cNvPr id="90" name="Rectangle 89"/>
          <p:cNvSpPr/>
          <p:nvPr/>
        </p:nvSpPr>
        <p:spPr>
          <a:xfrm>
            <a:off x="8928887"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D → 13</a:t>
            </a:r>
          </a:p>
        </p:txBody>
      </p:sp>
      <p:sp>
        <p:nvSpPr>
          <p:cNvPr id="91" name="Rectangle 90"/>
          <p:cNvSpPr/>
          <p:nvPr/>
        </p:nvSpPr>
        <p:spPr>
          <a:xfrm>
            <a:off x="9628003"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Y → 14</a:t>
            </a:r>
          </a:p>
        </p:txBody>
      </p:sp>
      <p:sp>
        <p:nvSpPr>
          <p:cNvPr id="92" name="Rectangle 91"/>
          <p:cNvSpPr/>
          <p:nvPr/>
        </p:nvSpPr>
        <p:spPr>
          <a:xfrm>
            <a:off x="10327119"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D → 15</a:t>
            </a:r>
          </a:p>
        </p:txBody>
      </p:sp>
      <p:sp>
        <p:nvSpPr>
          <p:cNvPr id="93" name="Rectangle 92"/>
          <p:cNvSpPr/>
          <p:nvPr/>
        </p:nvSpPr>
        <p:spPr>
          <a:xfrm>
            <a:off x="11026235" y="5916168"/>
            <a:ext cx="625963" cy="310896"/>
          </a:xfrm>
          <a:prstGeom prst="rect">
            <a:avLst/>
          </a:prstGeom>
          <a:solidFill>
            <a:srgbClr val="0A6E7D"/>
          </a:solidFill>
          <a:ln>
            <a:noFill/>
          </a:ln>
          <a:effectLst/>
        </p:spPr>
        <p:txBody>
          <a:bodyPr rtlCol="0" anchor="ctr" wrap="square" lIns="18288" rIns="18288" tIns="0" bIns="0">
            <a:noAutofit/>
          </a:bodyPr>
          <a:lstStyle/>
          <a:p>
            <a:pPr algn="ctr">
              <a:spcBef>
                <a:spcPts val="0"/>
              </a:spcBef>
              <a:spcAft>
                <a:spcPts val="0"/>
              </a:spcAft>
            </a:pPr>
            <a:r>
              <a:rPr lang="tr-TR" sz="1200" b="1" i="0">
                <a:solidFill>
                  <a:srgbClr val="FFFFFF"/>
                </a:solidFill>
                <a:latin typeface="Calibri"/>
              </a:rPr>
              <a:t>Y → 16</a:t>
            </a:r>
          </a:p>
        </p:txBody>
      </p:sp>
      <p:sp>
        <p:nvSpPr>
          <p:cNvPr id="94" name="TextBox 9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95" name="Rounded Rectangle 9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96" name="TextBox 9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145 / 166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1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1</a:t>
            </a:r>
          </a:p>
        </p:txBody>
      </p:sp>
      <p:pic>
        <p:nvPicPr>
          <p:cNvPr id="6" name="Picture 5" descr="sonu_eba_agac.jpg"/>
          <p:cNvPicPr>
            <a:picLocks noChangeAspect="1"/>
          </p:cNvPicPr>
          <p:nvPr/>
        </p:nvPicPr>
        <p:blipFill>
          <a:blip r:embed="rId3"/>
          <a:stretch>
            <a:fillRect/>
          </a:stretch>
        </p:blipFill>
        <p:spPr>
          <a:xfrm>
            <a:off x="502920" y="1216152"/>
            <a:ext cx="4342401" cy="4736592"/>
          </a:xfrm>
          <a:prstGeom prst="rect">
            <a:avLst/>
          </a:prstGeom>
          <a:ln w="9525">
            <a:solidFill>
              <a:srgbClr val="D9D9D9"/>
            </a:solidFill>
          </a:ln>
        </p:spPr>
      </p:pic>
      <p:sp>
        <p:nvSpPr>
          <p:cNvPr id="7" name="TextBox 6"/>
          <p:cNvSpPr txBox="1"/>
          <p:nvPr/>
        </p:nvSpPr>
        <p:spPr>
          <a:xfrm>
            <a:off x="502920" y="6016752"/>
            <a:ext cx="11185855"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Kitabın karekod içeriği (EBA): 9.5-Tema Sonu E-Ölçme ve Değerlendirme Soruları (kitap s. 185 karekodu) · işaretler sunuma aittir</a:t>
            </a:r>
          </a:p>
        </p:txBody>
      </p:sp>
      <p:sp>
        <p:nvSpPr>
          <p:cNvPr id="8" name="Rounded Rectangle 7"/>
          <p:cNvSpPr/>
          <p:nvPr/>
        </p:nvSpPr>
        <p:spPr>
          <a:xfrm>
            <a:off x="1515471" y="1442667"/>
            <a:ext cx="2297047" cy="412549"/>
          </a:xfrm>
          <a:prstGeom prst="roundRect">
            <a:avLst>
              <a:gd name="adj" fmla="val 18000"/>
            </a:avLst>
          </a:prstGeom>
          <a:noFill/>
          <a:ln w="44450">
            <a:solidFill>
              <a:srgbClr val="2E7D32"/>
            </a:solidFill>
          </a:ln>
          <a:effectLst/>
        </p:spPr>
        <p:txBody>
          <a:bodyPr rtlCol="0" anchor="ctr"/>
          <a:lstStyle/>
          <a:p/>
        </p:txBody>
      </p:sp>
      <p:sp>
        <p:nvSpPr>
          <p:cNvPr id="9" name="Rounded Rectangle 8"/>
          <p:cNvSpPr/>
          <p:nvPr/>
        </p:nvSpPr>
        <p:spPr>
          <a:xfrm>
            <a:off x="1020767" y="2351623"/>
            <a:ext cx="1192883" cy="440501"/>
          </a:xfrm>
          <a:prstGeom prst="roundRect">
            <a:avLst>
              <a:gd name="adj" fmla="val 18000"/>
            </a:avLst>
          </a:prstGeom>
          <a:noFill/>
          <a:ln w="44450">
            <a:solidFill>
              <a:srgbClr val="2E7D32"/>
            </a:solidFill>
          </a:ln>
          <a:effectLst/>
        </p:spPr>
        <p:txBody>
          <a:bodyPr rtlCol="0" anchor="ctr"/>
          <a:lstStyle/>
          <a:p/>
        </p:txBody>
      </p:sp>
      <p:sp>
        <p:nvSpPr>
          <p:cNvPr id="10" name="Rounded Rectangle 9"/>
          <p:cNvSpPr/>
          <p:nvPr/>
        </p:nvSpPr>
        <p:spPr>
          <a:xfrm>
            <a:off x="557887" y="3261542"/>
            <a:ext cx="1063661" cy="443393"/>
          </a:xfrm>
          <a:prstGeom prst="roundRect">
            <a:avLst>
              <a:gd name="adj" fmla="val 18000"/>
            </a:avLst>
          </a:prstGeom>
          <a:noFill/>
          <a:ln w="44450">
            <a:solidFill>
              <a:srgbClr val="2E7D32"/>
            </a:solidFill>
          </a:ln>
          <a:effectLst/>
        </p:spPr>
        <p:txBody>
          <a:bodyPr rtlCol="0" anchor="ctr"/>
          <a:lstStyle/>
          <a:p/>
        </p:txBody>
      </p:sp>
      <p:sp>
        <p:nvSpPr>
          <p:cNvPr id="11" name="Rounded Rectangle 10"/>
          <p:cNvSpPr/>
          <p:nvPr/>
        </p:nvSpPr>
        <p:spPr>
          <a:xfrm>
            <a:off x="1078628" y="4177244"/>
            <a:ext cx="511097" cy="783649"/>
          </a:xfrm>
          <a:prstGeom prst="roundRect">
            <a:avLst>
              <a:gd name="adj" fmla="val 18000"/>
            </a:avLst>
          </a:prstGeom>
          <a:noFill/>
          <a:ln w="44450">
            <a:solidFill>
              <a:srgbClr val="2E7D32"/>
            </a:solidFill>
          </a:ln>
          <a:effectLst/>
        </p:spPr>
        <p:txBody>
          <a:bodyPr rtlCol="0" anchor="ctr"/>
          <a:lstStyle/>
          <a:p/>
        </p:txBody>
      </p:sp>
      <p:sp>
        <p:nvSpPr>
          <p:cNvPr id="12" name="Rounded Rectangle 11"/>
          <p:cNvSpPr/>
          <p:nvPr/>
        </p:nvSpPr>
        <p:spPr>
          <a:xfrm>
            <a:off x="1067056" y="5300185"/>
            <a:ext cx="273871" cy="279530"/>
          </a:xfrm>
          <a:prstGeom prst="roundRect">
            <a:avLst>
              <a:gd name="adj" fmla="val 18000"/>
            </a:avLst>
          </a:prstGeom>
          <a:noFill/>
          <a:ln w="44450">
            <a:solidFill>
              <a:srgbClr val="2E7D32"/>
            </a:solidFill>
          </a:ln>
          <a:effectLst/>
        </p:spPr>
        <p:txBody>
          <a:bodyPr rtlCol="0" anchor="ctr"/>
          <a:lstStyle/>
          <a:p/>
        </p:txBody>
      </p:sp>
      <p:sp>
        <p:nvSpPr>
          <p:cNvPr id="13" name="Oval 12"/>
          <p:cNvSpPr/>
          <p:nvPr/>
        </p:nvSpPr>
        <p:spPr>
          <a:xfrm>
            <a:off x="1476898" y="2037392"/>
            <a:ext cx="286407" cy="260252"/>
          </a:xfrm>
          <a:prstGeom prst="ellipse">
            <a:avLst/>
          </a:prstGeom>
          <a:noFill/>
          <a:ln w="38100">
            <a:solidFill>
              <a:srgbClr val="2E7D32"/>
            </a:solidFill>
          </a:ln>
          <a:effectLst/>
        </p:spPr>
        <p:txBody>
          <a:bodyPr rtlCol="0" anchor="ctr"/>
          <a:lstStyle/>
          <a:p/>
        </p:txBody>
      </p:sp>
      <p:sp>
        <p:nvSpPr>
          <p:cNvPr id="14" name="Oval 13"/>
          <p:cNvSpPr/>
          <p:nvPr/>
        </p:nvSpPr>
        <p:spPr>
          <a:xfrm>
            <a:off x="946514" y="2955986"/>
            <a:ext cx="286407" cy="260253"/>
          </a:xfrm>
          <a:prstGeom prst="ellipse">
            <a:avLst/>
          </a:prstGeom>
          <a:noFill/>
          <a:ln w="38100">
            <a:solidFill>
              <a:srgbClr val="2E7D32"/>
            </a:solidFill>
          </a:ln>
          <a:effectLst/>
        </p:spPr>
        <p:txBody>
          <a:bodyPr rtlCol="0" anchor="ctr"/>
          <a:lstStyle/>
          <a:p/>
        </p:txBody>
      </p:sp>
      <p:sp>
        <p:nvSpPr>
          <p:cNvPr id="15" name="Oval 14"/>
          <p:cNvSpPr/>
          <p:nvPr/>
        </p:nvSpPr>
        <p:spPr>
          <a:xfrm>
            <a:off x="1210741" y="3868797"/>
            <a:ext cx="266157" cy="260253"/>
          </a:xfrm>
          <a:prstGeom prst="ellipse">
            <a:avLst/>
          </a:prstGeom>
          <a:noFill/>
          <a:ln w="38100">
            <a:solidFill>
              <a:srgbClr val="2E7D32"/>
            </a:solidFill>
          </a:ln>
          <a:effectLst/>
        </p:spPr>
        <p:txBody>
          <a:bodyPr rtlCol="0" anchor="ctr"/>
          <a:lstStyle/>
          <a:p/>
        </p:txBody>
      </p:sp>
      <p:sp>
        <p:nvSpPr>
          <p:cNvPr id="16" name="Oval 15"/>
          <p:cNvSpPr/>
          <p:nvPr/>
        </p:nvSpPr>
        <p:spPr>
          <a:xfrm>
            <a:off x="1068984" y="5040897"/>
            <a:ext cx="272907" cy="260252"/>
          </a:xfrm>
          <a:prstGeom prst="ellipse">
            <a:avLst/>
          </a:prstGeom>
          <a:noFill/>
          <a:ln w="38100">
            <a:solidFill>
              <a:srgbClr val="2E7D32"/>
            </a:solidFill>
          </a:ln>
          <a:effectLst/>
        </p:spPr>
        <p:txBody>
          <a:bodyPr rtlCol="0" anchor="ctr"/>
          <a:lstStyle/>
          <a:p/>
        </p:txBody>
      </p:sp>
      <p:sp>
        <p:nvSpPr>
          <p:cNvPr id="17" name="Rounded Rectangle 16"/>
          <p:cNvSpPr/>
          <p:nvPr/>
        </p:nvSpPr>
        <p:spPr>
          <a:xfrm>
            <a:off x="5073921" y="1216152"/>
            <a:ext cx="6614854" cy="804672"/>
          </a:xfrm>
          <a:prstGeom prst="roundRect">
            <a:avLst>
              <a:gd name="adj" fmla="val 10000"/>
            </a:avLst>
          </a:prstGeom>
          <a:solidFill>
            <a:srgbClr val="E3F1E4"/>
          </a:solidFill>
          <a:ln w="15875">
            <a:solidFill>
              <a:srgbClr val="2E7D32"/>
            </a:solidFill>
          </a:ln>
          <a:effectLst/>
        </p:spPr>
        <p:txBody>
          <a:bodyPr rtlCol="0" anchor="ctr"/>
          <a:lstStyle/>
          <a:p/>
        </p:txBody>
      </p:sp>
      <p:sp>
        <p:nvSpPr>
          <p:cNvPr id="18" name="Oval 17"/>
          <p:cNvSpPr/>
          <p:nvPr/>
        </p:nvSpPr>
        <p:spPr>
          <a:xfrm>
            <a:off x="5165361" y="1389888"/>
            <a:ext cx="457200" cy="457200"/>
          </a:xfrm>
          <a:prstGeom prst="ellipse">
            <a:avLst/>
          </a:prstGeom>
          <a:solidFill>
            <a:srgbClr val="0A6E7D"/>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1</a:t>
            </a:r>
          </a:p>
        </p:txBody>
      </p:sp>
      <p:sp>
        <p:nvSpPr>
          <p:cNvPr id="19" name="TextBox 18"/>
          <p:cNvSpPr txBox="1"/>
          <p:nvPr/>
        </p:nvSpPr>
        <p:spPr>
          <a:xfrm>
            <a:off x="5714001" y="1216152"/>
            <a:ext cx="5197534" cy="804672"/>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Ekonomik faaliyetlerde üretim, dağıtım ve tüketim önemli süreçlerdir.</a:t>
            </a:r>
          </a:p>
        </p:txBody>
      </p:sp>
      <p:sp>
        <p:nvSpPr>
          <p:cNvPr id="20" name="Rounded Rectangle 19"/>
          <p:cNvSpPr/>
          <p:nvPr/>
        </p:nvSpPr>
        <p:spPr>
          <a:xfrm>
            <a:off x="10957255" y="1367028"/>
            <a:ext cx="621792" cy="502920"/>
          </a:xfrm>
          <a:prstGeom prst="roundRect">
            <a:avLst>
              <a:gd name="adj" fmla="val 20000"/>
            </a:avLst>
          </a:prstGeom>
          <a:solidFill>
            <a:srgbClr val="5B8C2A"/>
          </a:solidFill>
          <a:ln>
            <a:noFill/>
          </a:ln>
          <a:effectLst/>
        </p:spPr>
        <p:txBody>
          <a:bodyPr rtlCol="0" anchor="ctr" wrap="square" lIns="0" rIns="0" tIns="0" bIns="0">
            <a:noAutofit/>
          </a:bodyPr>
          <a:lstStyle/>
          <a:p>
            <a:pPr algn="ctr">
              <a:spcBef>
                <a:spcPts val="0"/>
              </a:spcBef>
              <a:spcAft>
                <a:spcPts val="0"/>
              </a:spcAft>
            </a:pPr>
            <a:r>
              <a:rPr lang="tr-TR" sz="2200" b="1" i="0">
                <a:solidFill>
                  <a:srgbClr val="FFFFFF"/>
                </a:solidFill>
                <a:latin typeface="Calibri"/>
              </a:rPr>
              <a:t>D</a:t>
            </a:r>
          </a:p>
        </p:txBody>
      </p:sp>
      <p:sp>
        <p:nvSpPr>
          <p:cNvPr id="21" name="Rounded Rectangle 20"/>
          <p:cNvSpPr/>
          <p:nvPr/>
        </p:nvSpPr>
        <p:spPr>
          <a:xfrm>
            <a:off x="5073921" y="2112264"/>
            <a:ext cx="6614854" cy="804672"/>
          </a:xfrm>
          <a:prstGeom prst="roundRect">
            <a:avLst>
              <a:gd name="adj" fmla="val 10000"/>
            </a:avLst>
          </a:prstGeom>
          <a:solidFill>
            <a:srgbClr val="E3F1E4"/>
          </a:solidFill>
          <a:ln w="15875">
            <a:solidFill>
              <a:srgbClr val="2E7D32"/>
            </a:solidFill>
          </a:ln>
          <a:effectLst/>
        </p:spPr>
        <p:txBody>
          <a:bodyPr rtlCol="0" anchor="ctr"/>
          <a:lstStyle/>
          <a:p/>
        </p:txBody>
      </p:sp>
      <p:sp>
        <p:nvSpPr>
          <p:cNvPr id="22" name="Oval 21"/>
          <p:cNvSpPr/>
          <p:nvPr/>
        </p:nvSpPr>
        <p:spPr>
          <a:xfrm>
            <a:off x="5165361" y="2286000"/>
            <a:ext cx="457200" cy="457200"/>
          </a:xfrm>
          <a:prstGeom prst="ellipse">
            <a:avLst/>
          </a:prstGeom>
          <a:solidFill>
            <a:srgbClr val="0A6E7D"/>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2</a:t>
            </a:r>
          </a:p>
        </p:txBody>
      </p:sp>
      <p:sp>
        <p:nvSpPr>
          <p:cNvPr id="23" name="TextBox 22"/>
          <p:cNvSpPr txBox="1"/>
          <p:nvPr/>
        </p:nvSpPr>
        <p:spPr>
          <a:xfrm>
            <a:off x="5714001" y="2112264"/>
            <a:ext cx="5197534" cy="804672"/>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İklim ekonomik faaliyetleri etkileyen doğal faktördür.</a:t>
            </a:r>
          </a:p>
        </p:txBody>
      </p:sp>
      <p:sp>
        <p:nvSpPr>
          <p:cNvPr id="24" name="Rounded Rectangle 23"/>
          <p:cNvSpPr/>
          <p:nvPr/>
        </p:nvSpPr>
        <p:spPr>
          <a:xfrm>
            <a:off x="10957255" y="2263140"/>
            <a:ext cx="621792" cy="502920"/>
          </a:xfrm>
          <a:prstGeom prst="roundRect">
            <a:avLst>
              <a:gd name="adj" fmla="val 20000"/>
            </a:avLst>
          </a:prstGeom>
          <a:solidFill>
            <a:srgbClr val="5B8C2A"/>
          </a:solidFill>
          <a:ln>
            <a:noFill/>
          </a:ln>
          <a:effectLst/>
        </p:spPr>
        <p:txBody>
          <a:bodyPr rtlCol="0" anchor="ctr" wrap="square" lIns="0" rIns="0" tIns="0" bIns="0">
            <a:noAutofit/>
          </a:bodyPr>
          <a:lstStyle/>
          <a:p>
            <a:pPr algn="ctr">
              <a:spcBef>
                <a:spcPts val="0"/>
              </a:spcBef>
              <a:spcAft>
                <a:spcPts val="0"/>
              </a:spcAft>
            </a:pPr>
            <a:r>
              <a:rPr lang="tr-TR" sz="2200" b="1" i="0">
                <a:solidFill>
                  <a:srgbClr val="FFFFFF"/>
                </a:solidFill>
                <a:latin typeface="Calibri"/>
              </a:rPr>
              <a:t>D</a:t>
            </a:r>
          </a:p>
        </p:txBody>
      </p:sp>
      <p:sp>
        <p:nvSpPr>
          <p:cNvPr id="25" name="Rounded Rectangle 24"/>
          <p:cNvSpPr/>
          <p:nvPr/>
        </p:nvSpPr>
        <p:spPr>
          <a:xfrm>
            <a:off x="5073921" y="3008376"/>
            <a:ext cx="6614854" cy="804672"/>
          </a:xfrm>
          <a:prstGeom prst="roundRect">
            <a:avLst>
              <a:gd name="adj" fmla="val 10000"/>
            </a:avLst>
          </a:prstGeom>
          <a:solidFill>
            <a:srgbClr val="E3F1E4"/>
          </a:solidFill>
          <a:ln w="15875">
            <a:solidFill>
              <a:srgbClr val="2E7D32"/>
            </a:solidFill>
          </a:ln>
          <a:effectLst/>
        </p:spPr>
        <p:txBody>
          <a:bodyPr rtlCol="0" anchor="ctr"/>
          <a:lstStyle/>
          <a:p/>
        </p:txBody>
      </p:sp>
      <p:sp>
        <p:nvSpPr>
          <p:cNvPr id="26" name="Oval 25"/>
          <p:cNvSpPr/>
          <p:nvPr/>
        </p:nvSpPr>
        <p:spPr>
          <a:xfrm>
            <a:off x="5165361" y="3182112"/>
            <a:ext cx="457200" cy="457200"/>
          </a:xfrm>
          <a:prstGeom prst="ellipse">
            <a:avLst/>
          </a:prstGeom>
          <a:solidFill>
            <a:srgbClr val="0A6E7D"/>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4</a:t>
            </a:r>
          </a:p>
        </p:txBody>
      </p:sp>
      <p:sp>
        <p:nvSpPr>
          <p:cNvPr id="27" name="TextBox 26"/>
          <p:cNvSpPr txBox="1"/>
          <p:nvPr/>
        </p:nvSpPr>
        <p:spPr>
          <a:xfrm>
            <a:off x="5714001" y="3008376"/>
            <a:ext cx="5197534" cy="804672"/>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Aşırı yağışlar tarımsal verimi arttırır.</a:t>
            </a:r>
          </a:p>
        </p:txBody>
      </p:sp>
      <p:sp>
        <p:nvSpPr>
          <p:cNvPr id="28" name="Rounded Rectangle 27"/>
          <p:cNvSpPr/>
          <p:nvPr/>
        </p:nvSpPr>
        <p:spPr>
          <a:xfrm>
            <a:off x="10957255" y="3159252"/>
            <a:ext cx="621792" cy="502920"/>
          </a:xfrm>
          <a:prstGeom prst="roundRect">
            <a:avLst>
              <a:gd name="adj" fmla="val 20000"/>
            </a:avLst>
          </a:prstGeom>
          <a:solidFill>
            <a:srgbClr val="9B3A55"/>
          </a:solidFill>
          <a:ln>
            <a:noFill/>
          </a:ln>
          <a:effectLst/>
        </p:spPr>
        <p:txBody>
          <a:bodyPr rtlCol="0" anchor="ctr" wrap="square" lIns="0" rIns="0" tIns="0" bIns="0">
            <a:noAutofit/>
          </a:bodyPr>
          <a:lstStyle/>
          <a:p>
            <a:pPr algn="ctr">
              <a:spcBef>
                <a:spcPts val="0"/>
              </a:spcBef>
              <a:spcAft>
                <a:spcPts val="0"/>
              </a:spcAft>
            </a:pPr>
            <a:r>
              <a:rPr lang="tr-TR" sz="2200" b="1" i="0">
                <a:solidFill>
                  <a:srgbClr val="FFFFFF"/>
                </a:solidFill>
                <a:latin typeface="Calibri"/>
              </a:rPr>
              <a:t>Y</a:t>
            </a:r>
          </a:p>
        </p:txBody>
      </p:sp>
      <p:sp>
        <p:nvSpPr>
          <p:cNvPr id="29" name="Rounded Rectangle 28"/>
          <p:cNvSpPr/>
          <p:nvPr/>
        </p:nvSpPr>
        <p:spPr>
          <a:xfrm>
            <a:off x="5073921" y="3904488"/>
            <a:ext cx="6614854" cy="804672"/>
          </a:xfrm>
          <a:prstGeom prst="roundRect">
            <a:avLst>
              <a:gd name="adj" fmla="val 10000"/>
            </a:avLst>
          </a:prstGeom>
          <a:solidFill>
            <a:srgbClr val="E3F1E4"/>
          </a:solidFill>
          <a:ln w="15875">
            <a:solidFill>
              <a:srgbClr val="2E7D32"/>
            </a:solidFill>
          </a:ln>
          <a:effectLst/>
        </p:spPr>
        <p:txBody>
          <a:bodyPr rtlCol="0" anchor="ctr"/>
          <a:lstStyle/>
          <a:p/>
        </p:txBody>
      </p:sp>
      <p:sp>
        <p:nvSpPr>
          <p:cNvPr id="30" name="Oval 29"/>
          <p:cNvSpPr/>
          <p:nvPr/>
        </p:nvSpPr>
        <p:spPr>
          <a:xfrm>
            <a:off x="5165361" y="4078224"/>
            <a:ext cx="457200" cy="457200"/>
          </a:xfrm>
          <a:prstGeom prst="ellipse">
            <a:avLst/>
          </a:prstGeom>
          <a:solidFill>
            <a:srgbClr val="0A6E7D"/>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9</a:t>
            </a:r>
          </a:p>
        </p:txBody>
      </p:sp>
      <p:sp>
        <p:nvSpPr>
          <p:cNvPr id="31" name="TextBox 30"/>
          <p:cNvSpPr txBox="1"/>
          <p:nvPr/>
        </p:nvSpPr>
        <p:spPr>
          <a:xfrm>
            <a:off x="5714001" y="3904488"/>
            <a:ext cx="5197534" cy="804672"/>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Su kaynakları üretim için önemlidir.</a:t>
            </a:r>
          </a:p>
        </p:txBody>
      </p:sp>
      <p:sp>
        <p:nvSpPr>
          <p:cNvPr id="32" name="Rounded Rectangle 31"/>
          <p:cNvSpPr/>
          <p:nvPr/>
        </p:nvSpPr>
        <p:spPr>
          <a:xfrm>
            <a:off x="10957255" y="4055364"/>
            <a:ext cx="621792" cy="502920"/>
          </a:xfrm>
          <a:prstGeom prst="roundRect">
            <a:avLst>
              <a:gd name="adj" fmla="val 20000"/>
            </a:avLst>
          </a:prstGeom>
          <a:solidFill>
            <a:srgbClr val="5B8C2A"/>
          </a:solidFill>
          <a:ln>
            <a:noFill/>
          </a:ln>
          <a:effectLst/>
        </p:spPr>
        <p:txBody>
          <a:bodyPr rtlCol="0" anchor="ctr" wrap="square" lIns="0" rIns="0" tIns="0" bIns="0">
            <a:noAutofit/>
          </a:bodyPr>
          <a:lstStyle/>
          <a:p>
            <a:pPr algn="ctr">
              <a:spcBef>
                <a:spcPts val="0"/>
              </a:spcBef>
              <a:spcAft>
                <a:spcPts val="0"/>
              </a:spcAft>
            </a:pPr>
            <a:r>
              <a:rPr lang="tr-TR" sz="2200" b="1" i="0">
                <a:solidFill>
                  <a:srgbClr val="FFFFFF"/>
                </a:solidFill>
                <a:latin typeface="Calibri"/>
              </a:rPr>
              <a:t>D</a:t>
            </a:r>
          </a:p>
        </p:txBody>
      </p:sp>
      <p:sp>
        <p:nvSpPr>
          <p:cNvPr id="33" name="Rounded Rectangle 32"/>
          <p:cNvSpPr/>
          <p:nvPr/>
        </p:nvSpPr>
        <p:spPr>
          <a:xfrm>
            <a:off x="5073921" y="4846320"/>
            <a:ext cx="6614854" cy="1106424"/>
          </a:xfrm>
          <a:prstGeom prst="roundRect">
            <a:avLst>
              <a:gd name="adj" fmla="val 6000"/>
            </a:avLst>
          </a:prstGeom>
          <a:solidFill>
            <a:srgbClr val="E3F1E4"/>
          </a:solidFill>
          <a:ln>
            <a:noFill/>
          </a:ln>
          <a:effectLst/>
        </p:spPr>
        <p:txBody>
          <a:bodyPr rtlCol="0" anchor="ctr"/>
          <a:lstStyle/>
          <a:p/>
        </p:txBody>
      </p:sp>
      <p:sp>
        <p:nvSpPr>
          <p:cNvPr id="34" name="Rectangle 33"/>
          <p:cNvSpPr/>
          <p:nvPr/>
        </p:nvSpPr>
        <p:spPr>
          <a:xfrm>
            <a:off x="5073921" y="4846320"/>
            <a:ext cx="109728" cy="1106424"/>
          </a:xfrm>
          <a:prstGeom prst="rect">
            <a:avLst/>
          </a:prstGeom>
          <a:solidFill>
            <a:srgbClr val="2E7D32"/>
          </a:solidFill>
          <a:ln>
            <a:noFill/>
          </a:ln>
          <a:effectLst/>
        </p:spPr>
        <p:txBody>
          <a:bodyPr rtlCol="0" anchor="ctr"/>
          <a:lstStyle/>
          <a:p/>
        </p:txBody>
      </p:sp>
      <p:sp>
        <p:nvSpPr>
          <p:cNvPr id="35" name="TextBox 34"/>
          <p:cNvSpPr txBox="1"/>
          <p:nvPr/>
        </p:nvSpPr>
        <p:spPr>
          <a:xfrm>
            <a:off x="5302521" y="4901184"/>
            <a:ext cx="6294814" cy="996696"/>
          </a:xfrm>
          <a:prstGeom prst="rect">
            <a:avLst/>
          </a:prstGeom>
          <a:noFill/>
        </p:spPr>
        <p:txBody>
          <a:bodyPr wrap="square" anchor="ctr" lIns="73152" rIns="73152" tIns="36576" bIns="36576">
            <a:noAutofit/>
          </a:bodyPr>
          <a:lstStyle/>
          <a:p>
            <a:pPr algn="l">
              <a:spcBef>
                <a:spcPts val="0"/>
              </a:spcBef>
              <a:spcAft>
                <a:spcPts val="350"/>
              </a:spcAft>
            </a:pPr>
            <a:r>
              <a:rPr lang="tr-TR" sz="1750" b="1" i="0">
                <a:solidFill>
                  <a:srgbClr val="2E7D32"/>
                </a:solidFill>
                <a:latin typeface="Calibri"/>
              </a:rPr>
              <a:t>Doğru sonuç (EBA cevap anahtarı)</a:t>
            </a:r>
          </a:p>
          <a:p>
            <a:pPr algn="ctr">
              <a:spcBef>
                <a:spcPts val="0"/>
              </a:spcBef>
              <a:spcAft>
                <a:spcPts val="0"/>
              </a:spcAft>
            </a:pPr>
            <a:r>
              <a:rPr lang="tr-TR" sz="3850" b="1" i="0">
                <a:solidFill>
                  <a:srgbClr val="2E7D32"/>
                </a:solidFill>
                <a:latin typeface="Calibri"/>
              </a:rPr>
              <a:t>3. çıkış</a:t>
            </a:r>
          </a:p>
        </p:txBody>
      </p:sp>
      <p:sp>
        <p:nvSpPr>
          <p:cNvPr id="36" name="TextBox 3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7" name="Rounded Rectangle 3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38" name="TextBox 3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146 / 166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1 — cevap: dört önerme neden öyle?</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1</a:t>
            </a:r>
          </a:p>
        </p:txBody>
      </p:sp>
      <p:sp>
        <p:nvSpPr>
          <p:cNvPr id="6" name="Rounded Rectangle 5"/>
          <p:cNvSpPr/>
          <p:nvPr/>
        </p:nvSpPr>
        <p:spPr>
          <a:xfrm>
            <a:off x="502920" y="1216152"/>
            <a:ext cx="5501487" cy="244602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501487" cy="914400"/>
          </a:xfrm>
          <a:prstGeom prst="roundRect">
            <a:avLst>
              <a:gd name="adj" fmla="val 12000"/>
            </a:avLst>
          </a:prstGeom>
          <a:solidFill>
            <a:srgbClr val="FFFFFF"/>
          </a:solidFill>
          <a:ln w="25400">
            <a:solidFill>
              <a:srgbClr val="5B8C2A"/>
            </a:solidFill>
          </a:ln>
          <a:effectLst/>
        </p:spPr>
        <p:txBody>
          <a:bodyPr rtlCol="0" anchor="ctr"/>
          <a:lstStyle/>
          <a:p/>
        </p:txBody>
      </p:sp>
      <p:sp>
        <p:nvSpPr>
          <p:cNvPr id="8" name="Oval 7"/>
          <p:cNvSpPr/>
          <p:nvPr/>
        </p:nvSpPr>
        <p:spPr>
          <a:xfrm>
            <a:off x="612648" y="1421892"/>
            <a:ext cx="502920" cy="502920"/>
          </a:xfrm>
          <a:prstGeom prst="ellipse">
            <a:avLst/>
          </a:prstGeom>
          <a:solidFill>
            <a:srgbClr val="0A6E7D"/>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a:t>
            </a:r>
          </a:p>
        </p:txBody>
      </p:sp>
      <p:sp>
        <p:nvSpPr>
          <p:cNvPr id="9" name="TextBox 8"/>
          <p:cNvSpPr txBox="1"/>
          <p:nvPr/>
        </p:nvSpPr>
        <p:spPr>
          <a:xfrm>
            <a:off x="1216152" y="1261872"/>
            <a:ext cx="2986887" cy="82296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Ekonomik faaliyetlerde üretim, dağıtım ve tüketim önemli süreçlerdir.</a:t>
            </a:r>
          </a:p>
        </p:txBody>
      </p:sp>
      <p:sp>
        <p:nvSpPr>
          <p:cNvPr id="10" name="Rounded Rectangle 9"/>
          <p:cNvSpPr/>
          <p:nvPr/>
        </p:nvSpPr>
        <p:spPr>
          <a:xfrm>
            <a:off x="4267047" y="1463040"/>
            <a:ext cx="1627632" cy="420624"/>
          </a:xfrm>
          <a:prstGeom prst="roundRect">
            <a:avLst>
              <a:gd name="adj" fmla="val 40000"/>
            </a:avLst>
          </a:prstGeom>
          <a:solidFill>
            <a:srgbClr val="5B8C2A"/>
          </a:solidFill>
          <a:ln>
            <a:noFill/>
          </a:ln>
          <a:effectLst/>
        </p:spPr>
        <p:txBody>
          <a:bodyPr rtlCol="0" anchor="ctr" wrap="square" lIns="27432" rIns="27432" tIns="0" bIns="0">
            <a:noAutofit/>
          </a:bodyPr>
          <a:lstStyle/>
          <a:p>
            <a:pPr algn="ctr">
              <a:spcBef>
                <a:spcPts val="0"/>
              </a:spcBef>
              <a:spcAft>
                <a:spcPts val="0"/>
              </a:spcAft>
            </a:pPr>
            <a:r>
              <a:rPr lang="tr-TR" sz="1600" b="1" i="0">
                <a:solidFill>
                  <a:srgbClr val="FFFFFF"/>
                </a:solidFill>
                <a:latin typeface="Calibri"/>
              </a:rPr>
              <a:t>DOĞRU (D)</a:t>
            </a:r>
          </a:p>
        </p:txBody>
      </p:sp>
      <p:sp>
        <p:nvSpPr>
          <p:cNvPr id="11" name="TextBox 10"/>
          <p:cNvSpPr txBox="1"/>
          <p:nvPr/>
        </p:nvSpPr>
        <p:spPr>
          <a:xfrm>
            <a:off x="685800" y="2203704"/>
            <a:ext cx="5135727" cy="1394460"/>
          </a:xfrm>
          <a:prstGeom prst="rect">
            <a:avLst/>
          </a:prstGeom>
          <a:noFill/>
        </p:spPr>
        <p:txBody>
          <a:bodyPr wrap="square" anchor="ctr" lIns="73152" rIns="73152" tIns="36576" bIns="36576">
            <a:noAutofit/>
          </a:bodyPr>
          <a:lstStyle/>
          <a:p>
            <a:pPr algn="l">
              <a:spcBef>
                <a:spcPts val="0"/>
              </a:spcBef>
              <a:spcAft>
                <a:spcPts val="0"/>
              </a:spcAft>
            </a:pPr>
            <a:r>
              <a:rPr lang="tr-TR" sz="1550" b="0" i="1">
                <a:solidFill>
                  <a:srgbClr val="262626"/>
                </a:solidFill>
                <a:latin typeface="Calibri"/>
              </a:rPr>
              <a:t>Kitap s. 174: “Ekonomik faaliyetler; üretim, dağıtım ve tüketim süreçlerini kapsar.”</a:t>
            </a:r>
          </a:p>
        </p:txBody>
      </p:sp>
      <p:sp>
        <p:nvSpPr>
          <p:cNvPr id="12" name="Rounded Rectangle 11"/>
          <p:cNvSpPr/>
          <p:nvPr/>
        </p:nvSpPr>
        <p:spPr>
          <a:xfrm>
            <a:off x="6187287" y="1216152"/>
            <a:ext cx="5501487" cy="244602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6187287" y="1216152"/>
            <a:ext cx="5501487" cy="914400"/>
          </a:xfrm>
          <a:prstGeom prst="roundRect">
            <a:avLst>
              <a:gd name="adj" fmla="val 12000"/>
            </a:avLst>
          </a:prstGeom>
          <a:solidFill>
            <a:srgbClr val="FFFFFF"/>
          </a:solidFill>
          <a:ln w="25400">
            <a:solidFill>
              <a:srgbClr val="5B8C2A"/>
            </a:solidFill>
          </a:ln>
          <a:effectLst/>
        </p:spPr>
        <p:txBody>
          <a:bodyPr rtlCol="0" anchor="ctr"/>
          <a:lstStyle/>
          <a:p/>
        </p:txBody>
      </p:sp>
      <p:sp>
        <p:nvSpPr>
          <p:cNvPr id="14" name="Oval 13"/>
          <p:cNvSpPr/>
          <p:nvPr/>
        </p:nvSpPr>
        <p:spPr>
          <a:xfrm>
            <a:off x="6297015" y="1421892"/>
            <a:ext cx="502920" cy="502920"/>
          </a:xfrm>
          <a:prstGeom prst="ellipse">
            <a:avLst/>
          </a:prstGeom>
          <a:solidFill>
            <a:srgbClr val="0A6E7D"/>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2</a:t>
            </a:r>
          </a:p>
        </p:txBody>
      </p:sp>
      <p:sp>
        <p:nvSpPr>
          <p:cNvPr id="15" name="TextBox 14"/>
          <p:cNvSpPr txBox="1"/>
          <p:nvPr/>
        </p:nvSpPr>
        <p:spPr>
          <a:xfrm>
            <a:off x="6900519" y="1261872"/>
            <a:ext cx="2986887" cy="82296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İklim ekonomik faaliyetleri etkileyen doğal faktördür.</a:t>
            </a:r>
          </a:p>
        </p:txBody>
      </p:sp>
      <p:sp>
        <p:nvSpPr>
          <p:cNvPr id="16" name="Rounded Rectangle 15"/>
          <p:cNvSpPr/>
          <p:nvPr/>
        </p:nvSpPr>
        <p:spPr>
          <a:xfrm>
            <a:off x="9951415" y="1463040"/>
            <a:ext cx="1627632" cy="420624"/>
          </a:xfrm>
          <a:prstGeom prst="roundRect">
            <a:avLst>
              <a:gd name="adj" fmla="val 40000"/>
            </a:avLst>
          </a:prstGeom>
          <a:solidFill>
            <a:srgbClr val="5B8C2A"/>
          </a:solidFill>
          <a:ln>
            <a:noFill/>
          </a:ln>
          <a:effectLst/>
        </p:spPr>
        <p:txBody>
          <a:bodyPr rtlCol="0" anchor="ctr" wrap="square" lIns="27432" rIns="27432" tIns="0" bIns="0">
            <a:noAutofit/>
          </a:bodyPr>
          <a:lstStyle/>
          <a:p>
            <a:pPr algn="ctr">
              <a:spcBef>
                <a:spcPts val="0"/>
              </a:spcBef>
              <a:spcAft>
                <a:spcPts val="0"/>
              </a:spcAft>
            </a:pPr>
            <a:r>
              <a:rPr lang="tr-TR" sz="1600" b="1" i="0">
                <a:solidFill>
                  <a:srgbClr val="FFFFFF"/>
                </a:solidFill>
                <a:latin typeface="Calibri"/>
              </a:rPr>
              <a:t>DOĞRU (D)</a:t>
            </a:r>
          </a:p>
        </p:txBody>
      </p:sp>
      <p:sp>
        <p:nvSpPr>
          <p:cNvPr id="17" name="TextBox 16"/>
          <p:cNvSpPr txBox="1"/>
          <p:nvPr/>
        </p:nvSpPr>
        <p:spPr>
          <a:xfrm>
            <a:off x="6370167" y="2203704"/>
            <a:ext cx="5135727" cy="1394460"/>
          </a:xfrm>
          <a:prstGeom prst="rect">
            <a:avLst/>
          </a:prstGeom>
          <a:noFill/>
        </p:spPr>
        <p:txBody>
          <a:bodyPr wrap="square" anchor="ctr" lIns="73152" rIns="73152" tIns="36576" bIns="36576">
            <a:noAutofit/>
          </a:bodyPr>
          <a:lstStyle/>
          <a:p>
            <a:pPr algn="l">
              <a:spcBef>
                <a:spcPts val="0"/>
              </a:spcBef>
              <a:spcAft>
                <a:spcPts val="400"/>
              </a:spcAft>
            </a:pPr>
            <a:r>
              <a:rPr lang="tr-TR" sz="1550" b="0" i="1">
                <a:solidFill>
                  <a:srgbClr val="262626"/>
                </a:solidFill>
                <a:latin typeface="Calibri"/>
              </a:rPr>
              <a:t>Kitap s. 174: “Bir yerin iklim koşulları; tarımsal faaliyetler başta olmak üzere sanayi, enerji üretimi, ulaşım, turizm gibi diğer ekonomik faaliyetleri de etkilemektedir.”</a:t>
            </a:r>
          </a:p>
          <a:p>
            <a:pPr algn="l">
              <a:spcBef>
                <a:spcPts val="0"/>
              </a:spcBef>
              <a:spcAft>
                <a:spcPts val="0"/>
              </a:spcAft>
            </a:pPr>
            <a:r>
              <a:rPr lang="tr-TR" sz="1550" b="1" i="0">
                <a:solidFill>
                  <a:srgbClr val="262626"/>
                </a:solidFill>
                <a:latin typeface="Calibri"/>
              </a:rPr>
              <a:t>İklim, kitapta doğal faktörler arasında işlenir.</a:t>
            </a:r>
          </a:p>
        </p:txBody>
      </p:sp>
      <p:sp>
        <p:nvSpPr>
          <p:cNvPr id="18" name="Rounded Rectangle 17"/>
          <p:cNvSpPr/>
          <p:nvPr/>
        </p:nvSpPr>
        <p:spPr>
          <a:xfrm>
            <a:off x="502920" y="3845052"/>
            <a:ext cx="5501487" cy="244602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502920" y="3845052"/>
            <a:ext cx="5501487" cy="914400"/>
          </a:xfrm>
          <a:prstGeom prst="roundRect">
            <a:avLst>
              <a:gd name="adj" fmla="val 12000"/>
            </a:avLst>
          </a:prstGeom>
          <a:solidFill>
            <a:srgbClr val="FFFFFF"/>
          </a:solidFill>
          <a:ln w="25400">
            <a:solidFill>
              <a:srgbClr val="9B3A55"/>
            </a:solidFill>
          </a:ln>
          <a:effectLst/>
        </p:spPr>
        <p:txBody>
          <a:bodyPr rtlCol="0" anchor="ctr"/>
          <a:lstStyle/>
          <a:p/>
        </p:txBody>
      </p:sp>
      <p:sp>
        <p:nvSpPr>
          <p:cNvPr id="20" name="Oval 19"/>
          <p:cNvSpPr/>
          <p:nvPr/>
        </p:nvSpPr>
        <p:spPr>
          <a:xfrm>
            <a:off x="612648" y="4050792"/>
            <a:ext cx="502920" cy="502920"/>
          </a:xfrm>
          <a:prstGeom prst="ellipse">
            <a:avLst/>
          </a:prstGeom>
          <a:solidFill>
            <a:srgbClr val="0A6E7D"/>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4</a:t>
            </a:r>
          </a:p>
        </p:txBody>
      </p:sp>
      <p:sp>
        <p:nvSpPr>
          <p:cNvPr id="21" name="TextBox 20"/>
          <p:cNvSpPr txBox="1"/>
          <p:nvPr/>
        </p:nvSpPr>
        <p:spPr>
          <a:xfrm>
            <a:off x="1216152" y="3890772"/>
            <a:ext cx="2986887" cy="82296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Aşırı yağışlar tarımsal verimi arttırır.</a:t>
            </a:r>
          </a:p>
        </p:txBody>
      </p:sp>
      <p:sp>
        <p:nvSpPr>
          <p:cNvPr id="22" name="Rounded Rectangle 21"/>
          <p:cNvSpPr/>
          <p:nvPr/>
        </p:nvSpPr>
        <p:spPr>
          <a:xfrm>
            <a:off x="4267047" y="4091940"/>
            <a:ext cx="1627632" cy="420624"/>
          </a:xfrm>
          <a:prstGeom prst="roundRect">
            <a:avLst>
              <a:gd name="adj" fmla="val 40000"/>
            </a:avLst>
          </a:prstGeom>
          <a:solidFill>
            <a:srgbClr val="9B3A55"/>
          </a:solidFill>
          <a:ln>
            <a:noFill/>
          </a:ln>
          <a:effectLst/>
        </p:spPr>
        <p:txBody>
          <a:bodyPr rtlCol="0" anchor="ctr" wrap="square" lIns="27432" rIns="27432" tIns="0" bIns="0">
            <a:noAutofit/>
          </a:bodyPr>
          <a:lstStyle/>
          <a:p>
            <a:pPr algn="ctr">
              <a:spcBef>
                <a:spcPts val="0"/>
              </a:spcBef>
              <a:spcAft>
                <a:spcPts val="0"/>
              </a:spcAft>
            </a:pPr>
            <a:r>
              <a:rPr lang="tr-TR" sz="1600" b="1" i="0">
                <a:solidFill>
                  <a:srgbClr val="FFFFFF"/>
                </a:solidFill>
                <a:latin typeface="Calibri"/>
              </a:rPr>
              <a:t>YANLIŞ (Y)</a:t>
            </a:r>
          </a:p>
        </p:txBody>
      </p:sp>
      <p:sp>
        <p:nvSpPr>
          <p:cNvPr id="23" name="TextBox 22"/>
          <p:cNvSpPr txBox="1"/>
          <p:nvPr/>
        </p:nvSpPr>
        <p:spPr>
          <a:xfrm>
            <a:off x="685800" y="4832604"/>
            <a:ext cx="5135727" cy="1394460"/>
          </a:xfrm>
          <a:prstGeom prst="rect">
            <a:avLst/>
          </a:prstGeom>
          <a:noFill/>
        </p:spPr>
        <p:txBody>
          <a:bodyPr wrap="square" anchor="ctr" lIns="73152" rIns="73152" tIns="36576" bIns="36576">
            <a:noAutofit/>
          </a:bodyPr>
          <a:lstStyle/>
          <a:p>
            <a:pPr algn="l">
              <a:spcBef>
                <a:spcPts val="0"/>
              </a:spcBef>
              <a:spcAft>
                <a:spcPts val="400"/>
              </a:spcAft>
            </a:pPr>
            <a:r>
              <a:rPr lang="tr-TR" sz="1550" b="0" i="1">
                <a:solidFill>
                  <a:srgbClr val="262626"/>
                </a:solidFill>
                <a:latin typeface="Calibri"/>
              </a:rPr>
              <a:t>Kitap s. 174: “Doğal faktörler, ekonomik faaliyetler için kimi zaman avantaj sağlarken kimi zaman da bu faaliyetlerin sınırlarının belirlenmesinde temel oluşturmaktadır.”</a:t>
            </a:r>
          </a:p>
          <a:p>
            <a:pPr algn="l">
              <a:spcBef>
                <a:spcPts val="0"/>
              </a:spcBef>
              <a:spcAft>
                <a:spcPts val="0"/>
              </a:spcAft>
            </a:pPr>
            <a:r>
              <a:rPr lang="tr-TR" sz="1550" b="1" i="0">
                <a:solidFill>
                  <a:srgbClr val="262626"/>
                </a:solidFill>
                <a:latin typeface="Calibri"/>
              </a:rPr>
              <a:t>Aşırı yağış sel ve taşkınla tarıma zarar verir; verimi artırmaz.</a:t>
            </a:r>
          </a:p>
        </p:txBody>
      </p:sp>
      <p:sp>
        <p:nvSpPr>
          <p:cNvPr id="24" name="Rounded Rectangle 23"/>
          <p:cNvSpPr/>
          <p:nvPr/>
        </p:nvSpPr>
        <p:spPr>
          <a:xfrm>
            <a:off x="6187287" y="3845052"/>
            <a:ext cx="5501487" cy="2446020"/>
          </a:xfrm>
          <a:prstGeom prst="roundRect">
            <a:avLst>
              <a:gd name="adj" fmla="val 5000"/>
            </a:avLst>
          </a:prstGeom>
          <a:solidFill>
            <a:srgbClr val="F0F0F0"/>
          </a:solidFill>
          <a:ln>
            <a:noFill/>
          </a:ln>
          <a:effectLst/>
        </p:spPr>
        <p:txBody>
          <a:bodyPr rtlCol="0" anchor="ctr"/>
          <a:lstStyle/>
          <a:p/>
        </p:txBody>
      </p:sp>
      <p:sp>
        <p:nvSpPr>
          <p:cNvPr id="25" name="Rounded Rectangle 24"/>
          <p:cNvSpPr/>
          <p:nvPr/>
        </p:nvSpPr>
        <p:spPr>
          <a:xfrm>
            <a:off x="6187287" y="3845052"/>
            <a:ext cx="5501487" cy="914400"/>
          </a:xfrm>
          <a:prstGeom prst="roundRect">
            <a:avLst>
              <a:gd name="adj" fmla="val 12000"/>
            </a:avLst>
          </a:prstGeom>
          <a:solidFill>
            <a:srgbClr val="FFFFFF"/>
          </a:solidFill>
          <a:ln w="25400">
            <a:solidFill>
              <a:srgbClr val="5B8C2A"/>
            </a:solidFill>
          </a:ln>
          <a:effectLst/>
        </p:spPr>
        <p:txBody>
          <a:bodyPr rtlCol="0" anchor="ctr"/>
          <a:lstStyle/>
          <a:p/>
        </p:txBody>
      </p:sp>
      <p:sp>
        <p:nvSpPr>
          <p:cNvPr id="26" name="Oval 25"/>
          <p:cNvSpPr/>
          <p:nvPr/>
        </p:nvSpPr>
        <p:spPr>
          <a:xfrm>
            <a:off x="6297015" y="4050792"/>
            <a:ext cx="502920" cy="502920"/>
          </a:xfrm>
          <a:prstGeom prst="ellipse">
            <a:avLst/>
          </a:prstGeom>
          <a:solidFill>
            <a:srgbClr val="0A6E7D"/>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9</a:t>
            </a:r>
          </a:p>
        </p:txBody>
      </p:sp>
      <p:sp>
        <p:nvSpPr>
          <p:cNvPr id="27" name="TextBox 26"/>
          <p:cNvSpPr txBox="1"/>
          <p:nvPr/>
        </p:nvSpPr>
        <p:spPr>
          <a:xfrm>
            <a:off x="6900519" y="3890772"/>
            <a:ext cx="2986887" cy="82296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Su kaynakları üretim için önemlidir.</a:t>
            </a:r>
          </a:p>
        </p:txBody>
      </p:sp>
      <p:sp>
        <p:nvSpPr>
          <p:cNvPr id="28" name="Rounded Rectangle 27"/>
          <p:cNvSpPr/>
          <p:nvPr/>
        </p:nvSpPr>
        <p:spPr>
          <a:xfrm>
            <a:off x="9951415" y="4091940"/>
            <a:ext cx="1627632" cy="420624"/>
          </a:xfrm>
          <a:prstGeom prst="roundRect">
            <a:avLst>
              <a:gd name="adj" fmla="val 40000"/>
            </a:avLst>
          </a:prstGeom>
          <a:solidFill>
            <a:srgbClr val="5B8C2A"/>
          </a:solidFill>
          <a:ln>
            <a:noFill/>
          </a:ln>
          <a:effectLst/>
        </p:spPr>
        <p:txBody>
          <a:bodyPr rtlCol="0" anchor="ctr" wrap="square" lIns="27432" rIns="27432" tIns="0" bIns="0">
            <a:noAutofit/>
          </a:bodyPr>
          <a:lstStyle/>
          <a:p>
            <a:pPr algn="ctr">
              <a:spcBef>
                <a:spcPts val="0"/>
              </a:spcBef>
              <a:spcAft>
                <a:spcPts val="0"/>
              </a:spcAft>
            </a:pPr>
            <a:r>
              <a:rPr lang="tr-TR" sz="1600" b="1" i="0">
                <a:solidFill>
                  <a:srgbClr val="FFFFFF"/>
                </a:solidFill>
                <a:latin typeface="Calibri"/>
              </a:rPr>
              <a:t>DOĞRU (D)</a:t>
            </a:r>
          </a:p>
        </p:txBody>
      </p:sp>
      <p:sp>
        <p:nvSpPr>
          <p:cNvPr id="29" name="TextBox 28"/>
          <p:cNvSpPr txBox="1"/>
          <p:nvPr/>
        </p:nvSpPr>
        <p:spPr>
          <a:xfrm>
            <a:off x="6370167" y="4832604"/>
            <a:ext cx="5135727" cy="1394460"/>
          </a:xfrm>
          <a:prstGeom prst="rect">
            <a:avLst/>
          </a:prstGeom>
          <a:noFill/>
        </p:spPr>
        <p:txBody>
          <a:bodyPr wrap="square" anchor="ctr" lIns="73152" rIns="73152" tIns="36576" bIns="36576">
            <a:noAutofit/>
          </a:bodyPr>
          <a:lstStyle/>
          <a:p>
            <a:pPr algn="l">
              <a:spcBef>
                <a:spcPts val="0"/>
              </a:spcBef>
              <a:spcAft>
                <a:spcPts val="400"/>
              </a:spcAft>
            </a:pPr>
            <a:r>
              <a:rPr lang="tr-TR" sz="1550" b="0" i="1">
                <a:solidFill>
                  <a:srgbClr val="262626"/>
                </a:solidFill>
                <a:latin typeface="Calibri"/>
              </a:rPr>
              <a:t>Kitap s. 175: “Bir yerdeki su kaynakları, balıkçılık faaliyetlerinin ve hidroelektrik enerji üretiminin olmazsa olmazıdır.”</a:t>
            </a:r>
          </a:p>
          <a:p>
            <a:pPr algn="l">
              <a:spcBef>
                <a:spcPts val="0"/>
              </a:spcBef>
              <a:spcAft>
                <a:spcPts val="0"/>
              </a:spcAft>
            </a:pPr>
            <a:r>
              <a:rPr lang="tr-TR" sz="1550" b="1" i="0">
                <a:solidFill>
                  <a:srgbClr val="262626"/>
                </a:solidFill>
                <a:latin typeface="Calibri"/>
              </a:rPr>
              <a:t>Tarımsal sulama ve sanayi tesisleri için de gereklidir.</a:t>
            </a:r>
          </a:p>
        </p:txBody>
      </p: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1" name="Rounded Rectangle 3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174-176</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147 / 166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1 — başka bir çıkışa ulaştıysanız</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1</a:t>
            </a:r>
          </a:p>
        </p:txBody>
      </p:sp>
      <p:sp>
        <p:nvSpPr>
          <p:cNvPr id="6" name="Rectangle 5"/>
          <p:cNvSpPr/>
          <p:nvPr/>
        </p:nvSpPr>
        <p:spPr>
          <a:xfrm>
            <a:off x="502920" y="1216152"/>
            <a:ext cx="466344" cy="365760"/>
          </a:xfrm>
          <a:prstGeom prst="rect">
            <a:avLst/>
          </a:prstGeom>
          <a:solidFill>
            <a:srgbClr val="2E7D32"/>
          </a:solidFill>
          <a:ln>
            <a:noFill/>
          </a:ln>
          <a:effectLst/>
        </p:spPr>
        <p:txBody>
          <a:bodyPr rtlCol="0" anchor="ctr" wrap="square" lIns="27432" rIns="27432" tIns="0" bIns="0">
            <a:noAutofit/>
          </a:bodyPr>
          <a:lstStyle/>
          <a:p>
            <a:pPr algn="ctr">
              <a:spcBef>
                <a:spcPts val="0"/>
              </a:spcBef>
              <a:spcAft>
                <a:spcPts val="0"/>
              </a:spcAft>
            </a:pPr>
            <a:r>
              <a:rPr lang="tr-TR" sz="1500" b="1" i="0">
                <a:solidFill>
                  <a:srgbClr val="FFFFFF"/>
                </a:solidFill>
                <a:latin typeface="Calibri"/>
              </a:rPr>
              <a:t>No</a:t>
            </a:r>
          </a:p>
        </p:txBody>
      </p:sp>
      <p:sp>
        <p:nvSpPr>
          <p:cNvPr id="7" name="Rectangle 6"/>
          <p:cNvSpPr/>
          <p:nvPr/>
        </p:nvSpPr>
        <p:spPr>
          <a:xfrm>
            <a:off x="1005840" y="1216152"/>
            <a:ext cx="5952744" cy="365760"/>
          </a:xfrm>
          <a:prstGeom prst="rect">
            <a:avLst/>
          </a:prstGeom>
          <a:solidFill>
            <a:srgbClr val="2E7D32"/>
          </a:solidFill>
          <a:ln>
            <a:noFill/>
          </a:ln>
          <a:effectLst/>
        </p:spPr>
        <p:txBody>
          <a:bodyPr rtlCol="0" anchor="ctr" wrap="square" lIns="27432" rIns="27432" tIns="0" bIns="0">
            <a:noAutofit/>
          </a:bodyPr>
          <a:lstStyle/>
          <a:p>
            <a:pPr algn="ctr">
              <a:spcBef>
                <a:spcPts val="0"/>
              </a:spcBef>
              <a:spcAft>
                <a:spcPts val="0"/>
              </a:spcAft>
            </a:pPr>
            <a:r>
              <a:rPr lang="tr-TR" sz="1500" b="1" i="0">
                <a:solidFill>
                  <a:srgbClr val="FFFFFF"/>
                </a:solidFill>
                <a:latin typeface="Calibri"/>
              </a:rPr>
              <a:t>Önerme</a:t>
            </a:r>
          </a:p>
        </p:txBody>
      </p:sp>
      <p:sp>
        <p:nvSpPr>
          <p:cNvPr id="8" name="Rectangle 7"/>
          <p:cNvSpPr/>
          <p:nvPr/>
        </p:nvSpPr>
        <p:spPr>
          <a:xfrm>
            <a:off x="6995160" y="1216152"/>
            <a:ext cx="649224" cy="365760"/>
          </a:xfrm>
          <a:prstGeom prst="rect">
            <a:avLst/>
          </a:prstGeom>
          <a:solidFill>
            <a:srgbClr val="2E7D32"/>
          </a:solidFill>
          <a:ln>
            <a:noFill/>
          </a:ln>
          <a:effectLst/>
        </p:spPr>
        <p:txBody>
          <a:bodyPr rtlCol="0" anchor="ctr" wrap="square" lIns="27432" rIns="27432" tIns="0" bIns="0">
            <a:noAutofit/>
          </a:bodyPr>
          <a:lstStyle/>
          <a:p>
            <a:pPr algn="ctr">
              <a:spcBef>
                <a:spcPts val="0"/>
              </a:spcBef>
              <a:spcAft>
                <a:spcPts val="0"/>
              </a:spcAft>
            </a:pPr>
            <a:r>
              <a:rPr lang="tr-TR" sz="1500" b="1" i="0">
                <a:solidFill>
                  <a:srgbClr val="FFFFFF"/>
                </a:solidFill>
                <a:latin typeface="Calibri"/>
              </a:rPr>
              <a:t>D/Y</a:t>
            </a:r>
          </a:p>
        </p:txBody>
      </p:sp>
      <p:sp>
        <p:nvSpPr>
          <p:cNvPr id="9" name="Rectangle 8"/>
          <p:cNvSpPr/>
          <p:nvPr/>
        </p:nvSpPr>
        <p:spPr>
          <a:xfrm>
            <a:off x="7680960" y="1216152"/>
            <a:ext cx="3971239" cy="365760"/>
          </a:xfrm>
          <a:prstGeom prst="rect">
            <a:avLst/>
          </a:prstGeom>
          <a:solidFill>
            <a:srgbClr val="2E7D32"/>
          </a:solidFill>
          <a:ln>
            <a:noFill/>
          </a:ln>
          <a:effectLst/>
        </p:spPr>
        <p:txBody>
          <a:bodyPr rtlCol="0" anchor="ctr" wrap="square" lIns="27432" rIns="27432" tIns="0" bIns="0">
            <a:noAutofit/>
          </a:bodyPr>
          <a:lstStyle/>
          <a:p>
            <a:pPr algn="ctr">
              <a:spcBef>
                <a:spcPts val="0"/>
              </a:spcBef>
              <a:spcAft>
                <a:spcPts val="0"/>
              </a:spcAft>
            </a:pPr>
            <a:r>
              <a:rPr lang="tr-TR" sz="1500" b="1" i="0">
                <a:solidFill>
                  <a:srgbClr val="FFFFFF"/>
                </a:solidFill>
                <a:latin typeface="Calibri"/>
              </a:rPr>
              <a:t>Neden? (kitap)</a:t>
            </a:r>
          </a:p>
        </p:txBody>
      </p:sp>
      <p:sp>
        <p:nvSpPr>
          <p:cNvPr id="10" name="Rectangle 9"/>
          <p:cNvSpPr/>
          <p:nvPr/>
        </p:nvSpPr>
        <p:spPr>
          <a:xfrm>
            <a:off x="502920" y="1618488"/>
            <a:ext cx="11149279" cy="391529"/>
          </a:xfrm>
          <a:prstGeom prst="rect">
            <a:avLst/>
          </a:prstGeom>
          <a:solidFill>
            <a:srgbClr val="F0F0F0"/>
          </a:solidFill>
          <a:ln w="6350">
            <a:solidFill>
              <a:srgbClr val="D9D9D9"/>
            </a:solidFill>
          </a:ln>
          <a:effectLst/>
        </p:spPr>
        <p:txBody>
          <a:bodyPr rtlCol="0" anchor="ctr"/>
          <a:lstStyle/>
          <a:p/>
        </p:txBody>
      </p:sp>
      <p:sp>
        <p:nvSpPr>
          <p:cNvPr id="11" name="TextBox 10"/>
          <p:cNvSpPr txBox="1"/>
          <p:nvPr/>
        </p:nvSpPr>
        <p:spPr>
          <a:xfrm>
            <a:off x="502920" y="1618488"/>
            <a:ext cx="466344" cy="391529"/>
          </a:xfrm>
          <a:prstGeom prst="rect">
            <a:avLst/>
          </a:prstGeom>
          <a:noFill/>
        </p:spPr>
        <p:txBody>
          <a:bodyPr wrap="square" anchor="ctr" lIns="18288" rIns="18288" tIns="0" bIns="0">
            <a:noAutofit/>
          </a:bodyPr>
          <a:lstStyle/>
          <a:p>
            <a:pPr algn="ctr">
              <a:spcBef>
                <a:spcPts val="0"/>
              </a:spcBef>
              <a:spcAft>
                <a:spcPts val="0"/>
              </a:spcAft>
            </a:pPr>
            <a:r>
              <a:rPr lang="tr-TR" sz="1600" b="1" i="0">
                <a:solidFill>
                  <a:srgbClr val="262626"/>
                </a:solidFill>
                <a:latin typeface="Calibri"/>
              </a:rPr>
              <a:t>3</a:t>
            </a:r>
          </a:p>
        </p:txBody>
      </p:sp>
      <p:sp>
        <p:nvSpPr>
          <p:cNvPr id="12" name="TextBox 11"/>
          <p:cNvSpPr txBox="1"/>
          <p:nvPr/>
        </p:nvSpPr>
        <p:spPr>
          <a:xfrm>
            <a:off x="1005840" y="1618488"/>
            <a:ext cx="5934456"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Teknolojinin geliştiği alanlarda insan gücü ihtiyacı fazladır.</a:t>
            </a:r>
          </a:p>
        </p:txBody>
      </p:sp>
      <p:sp>
        <p:nvSpPr>
          <p:cNvPr id="13" name="Rounded Rectangle 12"/>
          <p:cNvSpPr/>
          <p:nvPr/>
        </p:nvSpPr>
        <p:spPr>
          <a:xfrm>
            <a:off x="7104888" y="1655064"/>
            <a:ext cx="429768" cy="318377"/>
          </a:xfrm>
          <a:prstGeom prst="roundRect">
            <a:avLst>
              <a:gd name="adj" fmla="val 20000"/>
            </a:avLst>
          </a:prstGeom>
          <a:solidFill>
            <a:srgbClr val="9B3A55"/>
          </a:solidFill>
          <a:ln>
            <a:noFill/>
          </a:ln>
          <a:effectLst/>
        </p:spPr>
        <p:txBody>
          <a:bodyPr rtlCol="0" anchor="ctr" wrap="square" lIns="0" rIns="0" tIns="0" bIns="0">
            <a:noAutofit/>
          </a:bodyPr>
          <a:lstStyle/>
          <a:p>
            <a:pPr algn="ctr">
              <a:spcBef>
                <a:spcPts val="0"/>
              </a:spcBef>
              <a:spcAft>
                <a:spcPts val="0"/>
              </a:spcAft>
            </a:pPr>
            <a:r>
              <a:rPr lang="tr-TR" sz="1500" b="1" i="0">
                <a:solidFill>
                  <a:srgbClr val="FFFFFF"/>
                </a:solidFill>
                <a:latin typeface="Calibri"/>
              </a:rPr>
              <a:t>Y</a:t>
            </a:r>
          </a:p>
        </p:txBody>
      </p:sp>
      <p:sp>
        <p:nvSpPr>
          <p:cNvPr id="14" name="TextBox 13"/>
          <p:cNvSpPr txBox="1"/>
          <p:nvPr/>
        </p:nvSpPr>
        <p:spPr>
          <a:xfrm>
            <a:off x="7680960" y="1618488"/>
            <a:ext cx="3916375"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Tartışmalı: vasıflı iş gücü gerekir (s. 177)</a:t>
            </a:r>
          </a:p>
        </p:txBody>
      </p:sp>
      <p:sp>
        <p:nvSpPr>
          <p:cNvPr id="15" name="Rectangle 14"/>
          <p:cNvSpPr/>
          <p:nvPr/>
        </p:nvSpPr>
        <p:spPr>
          <a:xfrm>
            <a:off x="502920" y="2046593"/>
            <a:ext cx="11149279" cy="391529"/>
          </a:xfrm>
          <a:prstGeom prst="rect">
            <a:avLst/>
          </a:prstGeom>
          <a:solidFill>
            <a:srgbClr val="FFFFFF"/>
          </a:solidFill>
          <a:ln w="6350">
            <a:solidFill>
              <a:srgbClr val="D9D9D9"/>
            </a:solidFill>
          </a:ln>
          <a:effectLst/>
        </p:spPr>
        <p:txBody>
          <a:bodyPr rtlCol="0" anchor="ctr"/>
          <a:lstStyle/>
          <a:p/>
        </p:txBody>
      </p:sp>
      <p:sp>
        <p:nvSpPr>
          <p:cNvPr id="16" name="TextBox 15"/>
          <p:cNvSpPr txBox="1"/>
          <p:nvPr/>
        </p:nvSpPr>
        <p:spPr>
          <a:xfrm>
            <a:off x="502920" y="2046593"/>
            <a:ext cx="466344" cy="391529"/>
          </a:xfrm>
          <a:prstGeom prst="rect">
            <a:avLst/>
          </a:prstGeom>
          <a:noFill/>
        </p:spPr>
        <p:txBody>
          <a:bodyPr wrap="square" anchor="ctr" lIns="18288" rIns="18288" tIns="0" bIns="0">
            <a:noAutofit/>
          </a:bodyPr>
          <a:lstStyle/>
          <a:p>
            <a:pPr algn="ctr">
              <a:spcBef>
                <a:spcPts val="0"/>
              </a:spcBef>
              <a:spcAft>
                <a:spcPts val="0"/>
              </a:spcAft>
            </a:pPr>
            <a:r>
              <a:rPr lang="tr-TR" sz="1600" b="1" i="0">
                <a:solidFill>
                  <a:srgbClr val="262626"/>
                </a:solidFill>
                <a:latin typeface="Calibri"/>
              </a:rPr>
              <a:t>5</a:t>
            </a:r>
          </a:p>
        </p:txBody>
      </p:sp>
      <p:sp>
        <p:nvSpPr>
          <p:cNvPr id="17" name="TextBox 16"/>
          <p:cNvSpPr txBox="1"/>
          <p:nvPr/>
        </p:nvSpPr>
        <p:spPr>
          <a:xfrm>
            <a:off x="1005840" y="2046593"/>
            <a:ext cx="5934456"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Aşırı yağışlar ulaşımı olumsuz etkiler.</a:t>
            </a:r>
          </a:p>
        </p:txBody>
      </p:sp>
      <p:sp>
        <p:nvSpPr>
          <p:cNvPr id="18" name="Rounded Rectangle 17"/>
          <p:cNvSpPr/>
          <p:nvPr/>
        </p:nvSpPr>
        <p:spPr>
          <a:xfrm>
            <a:off x="7104888" y="2083169"/>
            <a:ext cx="429768" cy="318377"/>
          </a:xfrm>
          <a:prstGeom prst="roundRect">
            <a:avLst>
              <a:gd name="adj" fmla="val 20000"/>
            </a:avLst>
          </a:prstGeom>
          <a:solidFill>
            <a:srgbClr val="5B8C2A"/>
          </a:solidFill>
          <a:ln>
            <a:noFill/>
          </a:ln>
          <a:effectLst/>
        </p:spPr>
        <p:txBody>
          <a:bodyPr rtlCol="0" anchor="ctr" wrap="square" lIns="0" rIns="0" tIns="0" bIns="0">
            <a:noAutofit/>
          </a:bodyPr>
          <a:lstStyle/>
          <a:p>
            <a:pPr algn="ctr">
              <a:spcBef>
                <a:spcPts val="0"/>
              </a:spcBef>
              <a:spcAft>
                <a:spcPts val="0"/>
              </a:spcAft>
            </a:pPr>
            <a:r>
              <a:rPr lang="tr-TR" sz="1500" b="1" i="0">
                <a:solidFill>
                  <a:srgbClr val="FFFFFF"/>
                </a:solidFill>
                <a:latin typeface="Calibri"/>
              </a:rPr>
              <a:t>D</a:t>
            </a:r>
          </a:p>
        </p:txBody>
      </p:sp>
      <p:sp>
        <p:nvSpPr>
          <p:cNvPr id="19" name="TextBox 18"/>
          <p:cNvSpPr txBox="1"/>
          <p:nvPr/>
        </p:nvSpPr>
        <p:spPr>
          <a:xfrm>
            <a:off x="7680960" y="2046593"/>
            <a:ext cx="3916375"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İklim ulaşımı da etkiler (s. 174)</a:t>
            </a:r>
          </a:p>
        </p:txBody>
      </p:sp>
      <p:sp>
        <p:nvSpPr>
          <p:cNvPr id="20" name="Rectangle 19"/>
          <p:cNvSpPr/>
          <p:nvPr/>
        </p:nvSpPr>
        <p:spPr>
          <a:xfrm>
            <a:off x="502920" y="2474698"/>
            <a:ext cx="11149279" cy="391529"/>
          </a:xfrm>
          <a:prstGeom prst="rect">
            <a:avLst/>
          </a:prstGeom>
          <a:solidFill>
            <a:srgbClr val="F0F0F0"/>
          </a:solidFill>
          <a:ln w="6350">
            <a:solidFill>
              <a:srgbClr val="D9D9D9"/>
            </a:solidFill>
          </a:ln>
          <a:effectLst/>
        </p:spPr>
        <p:txBody>
          <a:bodyPr rtlCol="0" anchor="ctr"/>
          <a:lstStyle/>
          <a:p/>
        </p:txBody>
      </p:sp>
      <p:sp>
        <p:nvSpPr>
          <p:cNvPr id="21" name="TextBox 20"/>
          <p:cNvSpPr txBox="1"/>
          <p:nvPr/>
        </p:nvSpPr>
        <p:spPr>
          <a:xfrm>
            <a:off x="502920" y="2474698"/>
            <a:ext cx="466344" cy="391529"/>
          </a:xfrm>
          <a:prstGeom prst="rect">
            <a:avLst/>
          </a:prstGeom>
          <a:noFill/>
        </p:spPr>
        <p:txBody>
          <a:bodyPr wrap="square" anchor="ctr" lIns="18288" rIns="18288" tIns="0" bIns="0">
            <a:noAutofit/>
          </a:bodyPr>
          <a:lstStyle/>
          <a:p>
            <a:pPr algn="ctr">
              <a:spcBef>
                <a:spcPts val="0"/>
              </a:spcBef>
              <a:spcAft>
                <a:spcPts val="0"/>
              </a:spcAft>
            </a:pPr>
            <a:r>
              <a:rPr lang="tr-TR" sz="1600" b="1" i="0">
                <a:solidFill>
                  <a:srgbClr val="262626"/>
                </a:solidFill>
                <a:latin typeface="Calibri"/>
              </a:rPr>
              <a:t>6</a:t>
            </a:r>
          </a:p>
        </p:txBody>
      </p:sp>
      <p:sp>
        <p:nvSpPr>
          <p:cNvPr id="22" name="TextBox 21"/>
          <p:cNvSpPr txBox="1"/>
          <p:nvPr/>
        </p:nvSpPr>
        <p:spPr>
          <a:xfrm>
            <a:off x="1005840" y="2474698"/>
            <a:ext cx="5934456"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Teknolojinin geliştiği ülkelerde üretim fazladır.</a:t>
            </a:r>
          </a:p>
        </p:txBody>
      </p:sp>
      <p:sp>
        <p:nvSpPr>
          <p:cNvPr id="23" name="Rounded Rectangle 22"/>
          <p:cNvSpPr/>
          <p:nvPr/>
        </p:nvSpPr>
        <p:spPr>
          <a:xfrm>
            <a:off x="7104888" y="2511274"/>
            <a:ext cx="429768" cy="318377"/>
          </a:xfrm>
          <a:prstGeom prst="roundRect">
            <a:avLst>
              <a:gd name="adj" fmla="val 20000"/>
            </a:avLst>
          </a:prstGeom>
          <a:solidFill>
            <a:srgbClr val="5B8C2A"/>
          </a:solidFill>
          <a:ln>
            <a:noFill/>
          </a:ln>
          <a:effectLst/>
        </p:spPr>
        <p:txBody>
          <a:bodyPr rtlCol="0" anchor="ctr" wrap="square" lIns="0" rIns="0" tIns="0" bIns="0">
            <a:noAutofit/>
          </a:bodyPr>
          <a:lstStyle/>
          <a:p>
            <a:pPr algn="ctr">
              <a:spcBef>
                <a:spcPts val="0"/>
              </a:spcBef>
              <a:spcAft>
                <a:spcPts val="0"/>
              </a:spcAft>
            </a:pPr>
            <a:r>
              <a:rPr lang="tr-TR" sz="1500" b="1" i="0">
                <a:solidFill>
                  <a:srgbClr val="FFFFFF"/>
                </a:solidFill>
                <a:latin typeface="Calibri"/>
              </a:rPr>
              <a:t>D</a:t>
            </a:r>
          </a:p>
        </p:txBody>
      </p:sp>
      <p:sp>
        <p:nvSpPr>
          <p:cNvPr id="24" name="TextBox 23"/>
          <p:cNvSpPr txBox="1"/>
          <p:nvPr/>
        </p:nvSpPr>
        <p:spPr>
          <a:xfrm>
            <a:off x="7680960" y="2474698"/>
            <a:ext cx="3916375"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Teknoloji üretimi artırır (s. 178)</a:t>
            </a:r>
          </a:p>
        </p:txBody>
      </p:sp>
      <p:sp>
        <p:nvSpPr>
          <p:cNvPr id="25" name="Rectangle 24"/>
          <p:cNvSpPr/>
          <p:nvPr/>
        </p:nvSpPr>
        <p:spPr>
          <a:xfrm>
            <a:off x="502920" y="2902804"/>
            <a:ext cx="11149279" cy="391529"/>
          </a:xfrm>
          <a:prstGeom prst="rect">
            <a:avLst/>
          </a:prstGeom>
          <a:solidFill>
            <a:srgbClr val="FFFFFF"/>
          </a:solidFill>
          <a:ln w="6350">
            <a:solidFill>
              <a:srgbClr val="D9D9D9"/>
            </a:solidFill>
          </a:ln>
          <a:effectLst/>
        </p:spPr>
        <p:txBody>
          <a:bodyPr rtlCol="0" anchor="ctr"/>
          <a:lstStyle/>
          <a:p/>
        </p:txBody>
      </p:sp>
      <p:sp>
        <p:nvSpPr>
          <p:cNvPr id="26" name="TextBox 25"/>
          <p:cNvSpPr txBox="1"/>
          <p:nvPr/>
        </p:nvSpPr>
        <p:spPr>
          <a:xfrm>
            <a:off x="502920" y="2902804"/>
            <a:ext cx="466344" cy="391529"/>
          </a:xfrm>
          <a:prstGeom prst="rect">
            <a:avLst/>
          </a:prstGeom>
          <a:noFill/>
        </p:spPr>
        <p:txBody>
          <a:bodyPr wrap="square" anchor="ctr" lIns="18288" rIns="18288" tIns="0" bIns="0">
            <a:noAutofit/>
          </a:bodyPr>
          <a:lstStyle/>
          <a:p>
            <a:pPr algn="ctr">
              <a:spcBef>
                <a:spcPts val="0"/>
              </a:spcBef>
              <a:spcAft>
                <a:spcPts val="0"/>
              </a:spcAft>
            </a:pPr>
            <a:r>
              <a:rPr lang="tr-TR" sz="1600" b="1" i="0">
                <a:solidFill>
                  <a:srgbClr val="262626"/>
                </a:solidFill>
                <a:latin typeface="Calibri"/>
              </a:rPr>
              <a:t>7</a:t>
            </a:r>
          </a:p>
        </p:txBody>
      </p:sp>
      <p:sp>
        <p:nvSpPr>
          <p:cNvPr id="27" name="TextBox 26"/>
          <p:cNvSpPr txBox="1"/>
          <p:nvPr/>
        </p:nvSpPr>
        <p:spPr>
          <a:xfrm>
            <a:off x="1005840" y="2902804"/>
            <a:ext cx="5934456"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Teknolojinin geliştiği alanlarda ürün maliyeti azalır.</a:t>
            </a:r>
          </a:p>
        </p:txBody>
      </p:sp>
      <p:sp>
        <p:nvSpPr>
          <p:cNvPr id="28" name="Rounded Rectangle 27"/>
          <p:cNvSpPr/>
          <p:nvPr/>
        </p:nvSpPr>
        <p:spPr>
          <a:xfrm>
            <a:off x="7104888" y="2939380"/>
            <a:ext cx="429768" cy="318377"/>
          </a:xfrm>
          <a:prstGeom prst="roundRect">
            <a:avLst>
              <a:gd name="adj" fmla="val 20000"/>
            </a:avLst>
          </a:prstGeom>
          <a:solidFill>
            <a:srgbClr val="5B8C2A"/>
          </a:solidFill>
          <a:ln>
            <a:noFill/>
          </a:ln>
          <a:effectLst/>
        </p:spPr>
        <p:txBody>
          <a:bodyPr rtlCol="0" anchor="ctr" wrap="square" lIns="0" rIns="0" tIns="0" bIns="0">
            <a:noAutofit/>
          </a:bodyPr>
          <a:lstStyle/>
          <a:p>
            <a:pPr algn="ctr">
              <a:spcBef>
                <a:spcPts val="0"/>
              </a:spcBef>
              <a:spcAft>
                <a:spcPts val="0"/>
              </a:spcAft>
            </a:pPr>
            <a:r>
              <a:rPr lang="tr-TR" sz="1500" b="1" i="0">
                <a:solidFill>
                  <a:srgbClr val="FFFFFF"/>
                </a:solidFill>
                <a:latin typeface="Calibri"/>
              </a:rPr>
              <a:t>D</a:t>
            </a:r>
          </a:p>
        </p:txBody>
      </p:sp>
      <p:sp>
        <p:nvSpPr>
          <p:cNvPr id="29" name="TextBox 28"/>
          <p:cNvSpPr txBox="1"/>
          <p:nvPr/>
        </p:nvSpPr>
        <p:spPr>
          <a:xfrm>
            <a:off x="7680960" y="2902804"/>
            <a:ext cx="3916375"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Üretim maliyetleri düşer (s. 178)</a:t>
            </a:r>
          </a:p>
        </p:txBody>
      </p:sp>
      <p:sp>
        <p:nvSpPr>
          <p:cNvPr id="30" name="Rectangle 29"/>
          <p:cNvSpPr/>
          <p:nvPr/>
        </p:nvSpPr>
        <p:spPr>
          <a:xfrm>
            <a:off x="502920" y="3330909"/>
            <a:ext cx="11149279" cy="391529"/>
          </a:xfrm>
          <a:prstGeom prst="rect">
            <a:avLst/>
          </a:prstGeom>
          <a:solidFill>
            <a:srgbClr val="F0F0F0"/>
          </a:solidFill>
          <a:ln w="6350">
            <a:solidFill>
              <a:srgbClr val="D9D9D9"/>
            </a:solidFill>
          </a:ln>
          <a:effectLst/>
        </p:spPr>
        <p:txBody>
          <a:bodyPr rtlCol="0" anchor="ctr"/>
          <a:lstStyle/>
          <a:p/>
        </p:txBody>
      </p:sp>
      <p:sp>
        <p:nvSpPr>
          <p:cNvPr id="31" name="TextBox 30"/>
          <p:cNvSpPr txBox="1"/>
          <p:nvPr/>
        </p:nvSpPr>
        <p:spPr>
          <a:xfrm>
            <a:off x="502920" y="3330909"/>
            <a:ext cx="466344" cy="391529"/>
          </a:xfrm>
          <a:prstGeom prst="rect">
            <a:avLst/>
          </a:prstGeom>
          <a:noFill/>
        </p:spPr>
        <p:txBody>
          <a:bodyPr wrap="square" anchor="ctr" lIns="18288" rIns="18288" tIns="0" bIns="0">
            <a:noAutofit/>
          </a:bodyPr>
          <a:lstStyle/>
          <a:p>
            <a:pPr algn="ctr">
              <a:spcBef>
                <a:spcPts val="0"/>
              </a:spcBef>
              <a:spcAft>
                <a:spcPts val="0"/>
              </a:spcAft>
            </a:pPr>
            <a:r>
              <a:rPr lang="tr-TR" sz="1600" b="1" i="0">
                <a:solidFill>
                  <a:srgbClr val="262626"/>
                </a:solidFill>
                <a:latin typeface="Calibri"/>
              </a:rPr>
              <a:t>8</a:t>
            </a:r>
          </a:p>
        </p:txBody>
      </p:sp>
      <p:sp>
        <p:nvSpPr>
          <p:cNvPr id="32" name="TextBox 31"/>
          <p:cNvSpPr txBox="1"/>
          <p:nvPr/>
        </p:nvSpPr>
        <p:spPr>
          <a:xfrm>
            <a:off x="1005840" y="3330909"/>
            <a:ext cx="5934456"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Her mevsimi yağışlı yerlerde buğday tarımı zordur.</a:t>
            </a:r>
          </a:p>
        </p:txBody>
      </p:sp>
      <p:sp>
        <p:nvSpPr>
          <p:cNvPr id="33" name="Rounded Rectangle 32"/>
          <p:cNvSpPr/>
          <p:nvPr/>
        </p:nvSpPr>
        <p:spPr>
          <a:xfrm>
            <a:off x="7104888" y="3367485"/>
            <a:ext cx="429768" cy="318377"/>
          </a:xfrm>
          <a:prstGeom prst="roundRect">
            <a:avLst>
              <a:gd name="adj" fmla="val 20000"/>
            </a:avLst>
          </a:prstGeom>
          <a:solidFill>
            <a:srgbClr val="5B8C2A"/>
          </a:solidFill>
          <a:ln>
            <a:noFill/>
          </a:ln>
          <a:effectLst/>
        </p:spPr>
        <p:txBody>
          <a:bodyPr rtlCol="0" anchor="ctr" wrap="square" lIns="0" rIns="0" tIns="0" bIns="0">
            <a:noAutofit/>
          </a:bodyPr>
          <a:lstStyle/>
          <a:p>
            <a:pPr algn="ctr">
              <a:spcBef>
                <a:spcPts val="0"/>
              </a:spcBef>
              <a:spcAft>
                <a:spcPts val="0"/>
              </a:spcAft>
            </a:pPr>
            <a:r>
              <a:rPr lang="tr-TR" sz="1500" b="1" i="0">
                <a:solidFill>
                  <a:srgbClr val="FFFFFF"/>
                </a:solidFill>
                <a:latin typeface="Calibri"/>
              </a:rPr>
              <a:t>D</a:t>
            </a:r>
          </a:p>
        </p:txBody>
      </p:sp>
      <p:sp>
        <p:nvSpPr>
          <p:cNvPr id="34" name="TextBox 33"/>
          <p:cNvSpPr txBox="1"/>
          <p:nvPr/>
        </p:nvSpPr>
        <p:spPr>
          <a:xfrm>
            <a:off x="7680960" y="3330909"/>
            <a:ext cx="3916375"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Buğday yağışı azalan yerde yetişir (s. 174)</a:t>
            </a:r>
          </a:p>
        </p:txBody>
      </p:sp>
      <p:sp>
        <p:nvSpPr>
          <p:cNvPr id="35" name="Rectangle 34"/>
          <p:cNvSpPr/>
          <p:nvPr/>
        </p:nvSpPr>
        <p:spPr>
          <a:xfrm>
            <a:off x="502920" y="3759015"/>
            <a:ext cx="11149279" cy="391529"/>
          </a:xfrm>
          <a:prstGeom prst="rect">
            <a:avLst/>
          </a:prstGeom>
          <a:solidFill>
            <a:srgbClr val="FFFFFF"/>
          </a:solidFill>
          <a:ln w="6350">
            <a:solidFill>
              <a:srgbClr val="D9D9D9"/>
            </a:solidFill>
          </a:ln>
          <a:effectLst/>
        </p:spPr>
        <p:txBody>
          <a:bodyPr rtlCol="0" anchor="ctr"/>
          <a:lstStyle/>
          <a:p/>
        </p:txBody>
      </p:sp>
      <p:sp>
        <p:nvSpPr>
          <p:cNvPr id="36" name="TextBox 35"/>
          <p:cNvSpPr txBox="1"/>
          <p:nvPr/>
        </p:nvSpPr>
        <p:spPr>
          <a:xfrm>
            <a:off x="502920" y="3759015"/>
            <a:ext cx="466344" cy="391529"/>
          </a:xfrm>
          <a:prstGeom prst="rect">
            <a:avLst/>
          </a:prstGeom>
          <a:noFill/>
        </p:spPr>
        <p:txBody>
          <a:bodyPr wrap="square" anchor="ctr" lIns="18288" rIns="18288" tIns="0" bIns="0">
            <a:noAutofit/>
          </a:bodyPr>
          <a:lstStyle/>
          <a:p>
            <a:pPr algn="ctr">
              <a:spcBef>
                <a:spcPts val="0"/>
              </a:spcBef>
              <a:spcAft>
                <a:spcPts val="0"/>
              </a:spcAft>
            </a:pPr>
            <a:r>
              <a:rPr lang="tr-TR" sz="1600" b="1" i="0">
                <a:solidFill>
                  <a:srgbClr val="262626"/>
                </a:solidFill>
                <a:latin typeface="Calibri"/>
              </a:rPr>
              <a:t>10</a:t>
            </a:r>
          </a:p>
        </p:txBody>
      </p:sp>
      <p:sp>
        <p:nvSpPr>
          <p:cNvPr id="37" name="TextBox 36"/>
          <p:cNvSpPr txBox="1"/>
          <p:nvPr/>
        </p:nvSpPr>
        <p:spPr>
          <a:xfrm>
            <a:off x="1005840" y="3759015"/>
            <a:ext cx="5934456"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Ekstrem sıcaklıklar üretimi olumsuz etkiler.</a:t>
            </a:r>
          </a:p>
        </p:txBody>
      </p:sp>
      <p:sp>
        <p:nvSpPr>
          <p:cNvPr id="38" name="Rounded Rectangle 37"/>
          <p:cNvSpPr/>
          <p:nvPr/>
        </p:nvSpPr>
        <p:spPr>
          <a:xfrm>
            <a:off x="7104888" y="3795591"/>
            <a:ext cx="429768" cy="318377"/>
          </a:xfrm>
          <a:prstGeom prst="roundRect">
            <a:avLst>
              <a:gd name="adj" fmla="val 20000"/>
            </a:avLst>
          </a:prstGeom>
          <a:solidFill>
            <a:srgbClr val="5B8C2A"/>
          </a:solidFill>
          <a:ln>
            <a:noFill/>
          </a:ln>
          <a:effectLst/>
        </p:spPr>
        <p:txBody>
          <a:bodyPr rtlCol="0" anchor="ctr" wrap="square" lIns="0" rIns="0" tIns="0" bIns="0">
            <a:noAutofit/>
          </a:bodyPr>
          <a:lstStyle/>
          <a:p>
            <a:pPr algn="ctr">
              <a:spcBef>
                <a:spcPts val="0"/>
              </a:spcBef>
              <a:spcAft>
                <a:spcPts val="0"/>
              </a:spcAft>
            </a:pPr>
            <a:r>
              <a:rPr lang="tr-TR" sz="1500" b="1" i="0">
                <a:solidFill>
                  <a:srgbClr val="FFFFFF"/>
                </a:solidFill>
                <a:latin typeface="Calibri"/>
              </a:rPr>
              <a:t>D</a:t>
            </a:r>
          </a:p>
        </p:txBody>
      </p:sp>
      <p:sp>
        <p:nvSpPr>
          <p:cNvPr id="39" name="TextBox 38"/>
          <p:cNvSpPr txBox="1"/>
          <p:nvPr/>
        </p:nvSpPr>
        <p:spPr>
          <a:xfrm>
            <a:off x="7680960" y="3759015"/>
            <a:ext cx="3916375"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Doğal faktörler sınır belirler (s. 174)</a:t>
            </a:r>
          </a:p>
        </p:txBody>
      </p:sp>
      <p:sp>
        <p:nvSpPr>
          <p:cNvPr id="40" name="Rectangle 39"/>
          <p:cNvSpPr/>
          <p:nvPr/>
        </p:nvSpPr>
        <p:spPr>
          <a:xfrm>
            <a:off x="502920" y="4187120"/>
            <a:ext cx="11149279" cy="391529"/>
          </a:xfrm>
          <a:prstGeom prst="rect">
            <a:avLst/>
          </a:prstGeom>
          <a:solidFill>
            <a:srgbClr val="F0F0F0"/>
          </a:solidFill>
          <a:ln w="6350">
            <a:solidFill>
              <a:srgbClr val="D9D9D9"/>
            </a:solidFill>
          </a:ln>
          <a:effectLst/>
        </p:spPr>
        <p:txBody>
          <a:bodyPr rtlCol="0" anchor="ctr"/>
          <a:lstStyle/>
          <a:p/>
        </p:txBody>
      </p:sp>
      <p:sp>
        <p:nvSpPr>
          <p:cNvPr id="41" name="TextBox 40"/>
          <p:cNvSpPr txBox="1"/>
          <p:nvPr/>
        </p:nvSpPr>
        <p:spPr>
          <a:xfrm>
            <a:off x="502920" y="4187120"/>
            <a:ext cx="466344" cy="391529"/>
          </a:xfrm>
          <a:prstGeom prst="rect">
            <a:avLst/>
          </a:prstGeom>
          <a:noFill/>
        </p:spPr>
        <p:txBody>
          <a:bodyPr wrap="square" anchor="ctr" lIns="18288" rIns="18288" tIns="0" bIns="0">
            <a:noAutofit/>
          </a:bodyPr>
          <a:lstStyle/>
          <a:p>
            <a:pPr algn="ctr">
              <a:spcBef>
                <a:spcPts val="0"/>
              </a:spcBef>
              <a:spcAft>
                <a:spcPts val="0"/>
              </a:spcAft>
            </a:pPr>
            <a:r>
              <a:rPr lang="tr-TR" sz="1600" b="1" i="0">
                <a:solidFill>
                  <a:srgbClr val="262626"/>
                </a:solidFill>
                <a:latin typeface="Calibri"/>
              </a:rPr>
              <a:t>11</a:t>
            </a:r>
          </a:p>
        </p:txBody>
      </p:sp>
      <p:sp>
        <p:nvSpPr>
          <p:cNvPr id="42" name="TextBox 41"/>
          <p:cNvSpPr txBox="1"/>
          <p:nvPr/>
        </p:nvSpPr>
        <p:spPr>
          <a:xfrm>
            <a:off x="1005840" y="4187120"/>
            <a:ext cx="5934456"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Olumsuz hava şartları dağıtımı etkilemez.</a:t>
            </a:r>
          </a:p>
        </p:txBody>
      </p:sp>
      <p:sp>
        <p:nvSpPr>
          <p:cNvPr id="43" name="Rounded Rectangle 42"/>
          <p:cNvSpPr/>
          <p:nvPr/>
        </p:nvSpPr>
        <p:spPr>
          <a:xfrm>
            <a:off x="7104888" y="4223696"/>
            <a:ext cx="429768" cy="318377"/>
          </a:xfrm>
          <a:prstGeom prst="roundRect">
            <a:avLst>
              <a:gd name="adj" fmla="val 20000"/>
            </a:avLst>
          </a:prstGeom>
          <a:solidFill>
            <a:srgbClr val="9B3A55"/>
          </a:solidFill>
          <a:ln>
            <a:noFill/>
          </a:ln>
          <a:effectLst/>
        </p:spPr>
        <p:txBody>
          <a:bodyPr rtlCol="0" anchor="ctr" wrap="square" lIns="0" rIns="0" tIns="0" bIns="0">
            <a:noAutofit/>
          </a:bodyPr>
          <a:lstStyle/>
          <a:p>
            <a:pPr algn="ctr">
              <a:spcBef>
                <a:spcPts val="0"/>
              </a:spcBef>
              <a:spcAft>
                <a:spcPts val="0"/>
              </a:spcAft>
            </a:pPr>
            <a:r>
              <a:rPr lang="tr-TR" sz="1500" b="1" i="0">
                <a:solidFill>
                  <a:srgbClr val="FFFFFF"/>
                </a:solidFill>
                <a:latin typeface="Calibri"/>
              </a:rPr>
              <a:t>Y</a:t>
            </a:r>
          </a:p>
        </p:txBody>
      </p:sp>
      <p:sp>
        <p:nvSpPr>
          <p:cNvPr id="44" name="TextBox 43"/>
          <p:cNvSpPr txBox="1"/>
          <p:nvPr/>
        </p:nvSpPr>
        <p:spPr>
          <a:xfrm>
            <a:off x="7680960" y="4187120"/>
            <a:ext cx="3916375"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Hava şartları ulaşımı etkiler (s. 174)</a:t>
            </a:r>
          </a:p>
        </p:txBody>
      </p:sp>
      <p:sp>
        <p:nvSpPr>
          <p:cNvPr id="45" name="Rectangle 44"/>
          <p:cNvSpPr/>
          <p:nvPr/>
        </p:nvSpPr>
        <p:spPr>
          <a:xfrm>
            <a:off x="502920" y="4615226"/>
            <a:ext cx="11149279" cy="391529"/>
          </a:xfrm>
          <a:prstGeom prst="rect">
            <a:avLst/>
          </a:prstGeom>
          <a:solidFill>
            <a:srgbClr val="FFFFFF"/>
          </a:solidFill>
          <a:ln w="6350">
            <a:solidFill>
              <a:srgbClr val="D9D9D9"/>
            </a:solidFill>
          </a:ln>
          <a:effectLst/>
        </p:spPr>
        <p:txBody>
          <a:bodyPr rtlCol="0" anchor="ctr"/>
          <a:lstStyle/>
          <a:p/>
        </p:txBody>
      </p:sp>
      <p:sp>
        <p:nvSpPr>
          <p:cNvPr id="46" name="TextBox 45"/>
          <p:cNvSpPr txBox="1"/>
          <p:nvPr/>
        </p:nvSpPr>
        <p:spPr>
          <a:xfrm>
            <a:off x="502920" y="4615226"/>
            <a:ext cx="466344" cy="391529"/>
          </a:xfrm>
          <a:prstGeom prst="rect">
            <a:avLst/>
          </a:prstGeom>
          <a:noFill/>
        </p:spPr>
        <p:txBody>
          <a:bodyPr wrap="square" anchor="ctr" lIns="18288" rIns="18288" tIns="0" bIns="0">
            <a:noAutofit/>
          </a:bodyPr>
          <a:lstStyle/>
          <a:p>
            <a:pPr algn="ctr">
              <a:spcBef>
                <a:spcPts val="0"/>
              </a:spcBef>
              <a:spcAft>
                <a:spcPts val="0"/>
              </a:spcAft>
            </a:pPr>
            <a:r>
              <a:rPr lang="tr-TR" sz="1600" b="1" i="0">
                <a:solidFill>
                  <a:srgbClr val="262626"/>
                </a:solidFill>
                <a:latin typeface="Calibri"/>
              </a:rPr>
              <a:t>12</a:t>
            </a:r>
          </a:p>
        </p:txBody>
      </p:sp>
      <p:sp>
        <p:nvSpPr>
          <p:cNvPr id="47" name="TextBox 46"/>
          <p:cNvSpPr txBox="1"/>
          <p:nvPr/>
        </p:nvSpPr>
        <p:spPr>
          <a:xfrm>
            <a:off x="1005840" y="4615226"/>
            <a:ext cx="5934456"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Teknolojinin gelişmesiyle ulaşım süresi uzamıştır.</a:t>
            </a:r>
          </a:p>
        </p:txBody>
      </p:sp>
      <p:sp>
        <p:nvSpPr>
          <p:cNvPr id="48" name="Rounded Rectangle 47"/>
          <p:cNvSpPr/>
          <p:nvPr/>
        </p:nvSpPr>
        <p:spPr>
          <a:xfrm>
            <a:off x="7104888" y="4651802"/>
            <a:ext cx="429768" cy="318377"/>
          </a:xfrm>
          <a:prstGeom prst="roundRect">
            <a:avLst>
              <a:gd name="adj" fmla="val 20000"/>
            </a:avLst>
          </a:prstGeom>
          <a:solidFill>
            <a:srgbClr val="9B3A55"/>
          </a:solidFill>
          <a:ln>
            <a:noFill/>
          </a:ln>
          <a:effectLst/>
        </p:spPr>
        <p:txBody>
          <a:bodyPr rtlCol="0" anchor="ctr" wrap="square" lIns="0" rIns="0" tIns="0" bIns="0">
            <a:noAutofit/>
          </a:bodyPr>
          <a:lstStyle/>
          <a:p>
            <a:pPr algn="ctr">
              <a:spcBef>
                <a:spcPts val="0"/>
              </a:spcBef>
              <a:spcAft>
                <a:spcPts val="0"/>
              </a:spcAft>
            </a:pPr>
            <a:r>
              <a:rPr lang="tr-TR" sz="1500" b="1" i="0">
                <a:solidFill>
                  <a:srgbClr val="FFFFFF"/>
                </a:solidFill>
                <a:latin typeface="Calibri"/>
              </a:rPr>
              <a:t>Y</a:t>
            </a:r>
          </a:p>
        </p:txBody>
      </p:sp>
      <p:sp>
        <p:nvSpPr>
          <p:cNvPr id="49" name="TextBox 48"/>
          <p:cNvSpPr txBox="1"/>
          <p:nvPr/>
        </p:nvSpPr>
        <p:spPr>
          <a:xfrm>
            <a:off x="7680960" y="4615226"/>
            <a:ext cx="3916375"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Teknoloji dağıtımı hızlandırır (s. 178)</a:t>
            </a:r>
          </a:p>
        </p:txBody>
      </p:sp>
      <p:sp>
        <p:nvSpPr>
          <p:cNvPr id="50" name="Rectangle 49"/>
          <p:cNvSpPr/>
          <p:nvPr/>
        </p:nvSpPr>
        <p:spPr>
          <a:xfrm>
            <a:off x="502920" y="5043331"/>
            <a:ext cx="11149279" cy="391529"/>
          </a:xfrm>
          <a:prstGeom prst="rect">
            <a:avLst/>
          </a:prstGeom>
          <a:solidFill>
            <a:srgbClr val="F0F0F0"/>
          </a:solidFill>
          <a:ln w="6350">
            <a:solidFill>
              <a:srgbClr val="D9D9D9"/>
            </a:solidFill>
          </a:ln>
          <a:effectLst/>
        </p:spPr>
        <p:txBody>
          <a:bodyPr rtlCol="0" anchor="ctr"/>
          <a:lstStyle/>
          <a:p/>
        </p:txBody>
      </p:sp>
      <p:sp>
        <p:nvSpPr>
          <p:cNvPr id="51" name="TextBox 50"/>
          <p:cNvSpPr txBox="1"/>
          <p:nvPr/>
        </p:nvSpPr>
        <p:spPr>
          <a:xfrm>
            <a:off x="502920" y="5043331"/>
            <a:ext cx="466344" cy="391529"/>
          </a:xfrm>
          <a:prstGeom prst="rect">
            <a:avLst/>
          </a:prstGeom>
          <a:noFill/>
        </p:spPr>
        <p:txBody>
          <a:bodyPr wrap="square" anchor="ctr" lIns="18288" rIns="18288" tIns="0" bIns="0">
            <a:noAutofit/>
          </a:bodyPr>
          <a:lstStyle/>
          <a:p>
            <a:pPr algn="ctr">
              <a:spcBef>
                <a:spcPts val="0"/>
              </a:spcBef>
              <a:spcAft>
                <a:spcPts val="0"/>
              </a:spcAft>
            </a:pPr>
            <a:r>
              <a:rPr lang="tr-TR" sz="1600" b="1" i="0">
                <a:solidFill>
                  <a:srgbClr val="262626"/>
                </a:solidFill>
                <a:latin typeface="Calibri"/>
              </a:rPr>
              <a:t>13</a:t>
            </a:r>
          </a:p>
        </p:txBody>
      </p:sp>
      <p:sp>
        <p:nvSpPr>
          <p:cNvPr id="52" name="TextBox 51"/>
          <p:cNvSpPr txBox="1"/>
          <p:nvPr/>
        </p:nvSpPr>
        <p:spPr>
          <a:xfrm>
            <a:off x="1005840" y="5043331"/>
            <a:ext cx="5934456"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Sanayi devrimleri sonrası en az etkili faktör teknolojidir.</a:t>
            </a:r>
          </a:p>
        </p:txBody>
      </p:sp>
      <p:sp>
        <p:nvSpPr>
          <p:cNvPr id="53" name="Rounded Rectangle 52"/>
          <p:cNvSpPr/>
          <p:nvPr/>
        </p:nvSpPr>
        <p:spPr>
          <a:xfrm>
            <a:off x="7104888" y="5079907"/>
            <a:ext cx="429768" cy="318377"/>
          </a:xfrm>
          <a:prstGeom prst="roundRect">
            <a:avLst>
              <a:gd name="adj" fmla="val 20000"/>
            </a:avLst>
          </a:prstGeom>
          <a:solidFill>
            <a:srgbClr val="9B3A55"/>
          </a:solidFill>
          <a:ln>
            <a:noFill/>
          </a:ln>
          <a:effectLst/>
        </p:spPr>
        <p:txBody>
          <a:bodyPr rtlCol="0" anchor="ctr" wrap="square" lIns="0" rIns="0" tIns="0" bIns="0">
            <a:noAutofit/>
          </a:bodyPr>
          <a:lstStyle/>
          <a:p>
            <a:pPr algn="ctr">
              <a:spcBef>
                <a:spcPts val="0"/>
              </a:spcBef>
              <a:spcAft>
                <a:spcPts val="0"/>
              </a:spcAft>
            </a:pPr>
            <a:r>
              <a:rPr lang="tr-TR" sz="1500" b="1" i="0">
                <a:solidFill>
                  <a:srgbClr val="FFFFFF"/>
                </a:solidFill>
                <a:latin typeface="Calibri"/>
              </a:rPr>
              <a:t>Y</a:t>
            </a:r>
          </a:p>
        </p:txBody>
      </p:sp>
      <p:sp>
        <p:nvSpPr>
          <p:cNvPr id="54" name="TextBox 53"/>
          <p:cNvSpPr txBox="1"/>
          <p:nvPr/>
        </p:nvSpPr>
        <p:spPr>
          <a:xfrm>
            <a:off x="7680960" y="5043331"/>
            <a:ext cx="3916375"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Devrimleri teknoloji sağladı (s. 178)</a:t>
            </a:r>
          </a:p>
        </p:txBody>
      </p:sp>
      <p:sp>
        <p:nvSpPr>
          <p:cNvPr id="55" name="Rectangle 54"/>
          <p:cNvSpPr/>
          <p:nvPr/>
        </p:nvSpPr>
        <p:spPr>
          <a:xfrm>
            <a:off x="502920" y="5471437"/>
            <a:ext cx="11149279" cy="391529"/>
          </a:xfrm>
          <a:prstGeom prst="rect">
            <a:avLst/>
          </a:prstGeom>
          <a:solidFill>
            <a:srgbClr val="FFFFFF"/>
          </a:solidFill>
          <a:ln w="6350">
            <a:solidFill>
              <a:srgbClr val="D9D9D9"/>
            </a:solidFill>
          </a:ln>
          <a:effectLst/>
        </p:spPr>
        <p:txBody>
          <a:bodyPr rtlCol="0" anchor="ctr"/>
          <a:lstStyle/>
          <a:p/>
        </p:txBody>
      </p:sp>
      <p:sp>
        <p:nvSpPr>
          <p:cNvPr id="56" name="TextBox 55"/>
          <p:cNvSpPr txBox="1"/>
          <p:nvPr/>
        </p:nvSpPr>
        <p:spPr>
          <a:xfrm>
            <a:off x="502920" y="5471437"/>
            <a:ext cx="466344" cy="391529"/>
          </a:xfrm>
          <a:prstGeom prst="rect">
            <a:avLst/>
          </a:prstGeom>
          <a:noFill/>
        </p:spPr>
        <p:txBody>
          <a:bodyPr wrap="square" anchor="ctr" lIns="18288" rIns="18288" tIns="0" bIns="0">
            <a:noAutofit/>
          </a:bodyPr>
          <a:lstStyle/>
          <a:p>
            <a:pPr algn="ctr">
              <a:spcBef>
                <a:spcPts val="0"/>
              </a:spcBef>
              <a:spcAft>
                <a:spcPts val="0"/>
              </a:spcAft>
            </a:pPr>
            <a:r>
              <a:rPr lang="tr-TR" sz="1600" b="1" i="0">
                <a:solidFill>
                  <a:srgbClr val="262626"/>
                </a:solidFill>
                <a:latin typeface="Calibri"/>
              </a:rPr>
              <a:t>14</a:t>
            </a:r>
          </a:p>
        </p:txBody>
      </p:sp>
      <p:sp>
        <p:nvSpPr>
          <p:cNvPr id="57" name="TextBox 56"/>
          <p:cNvSpPr txBox="1"/>
          <p:nvPr/>
        </p:nvSpPr>
        <p:spPr>
          <a:xfrm>
            <a:off x="1005840" y="5471437"/>
            <a:ext cx="5934456"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Teknolojik gelişmeler ürünlere olan talebi azaltır.</a:t>
            </a:r>
          </a:p>
        </p:txBody>
      </p:sp>
      <p:sp>
        <p:nvSpPr>
          <p:cNvPr id="58" name="Rounded Rectangle 57"/>
          <p:cNvSpPr/>
          <p:nvPr/>
        </p:nvSpPr>
        <p:spPr>
          <a:xfrm>
            <a:off x="7104888" y="5508013"/>
            <a:ext cx="429768" cy="318377"/>
          </a:xfrm>
          <a:prstGeom prst="roundRect">
            <a:avLst>
              <a:gd name="adj" fmla="val 20000"/>
            </a:avLst>
          </a:prstGeom>
          <a:solidFill>
            <a:srgbClr val="9B3A55"/>
          </a:solidFill>
          <a:ln>
            <a:noFill/>
          </a:ln>
          <a:effectLst/>
        </p:spPr>
        <p:txBody>
          <a:bodyPr rtlCol="0" anchor="ctr" wrap="square" lIns="0" rIns="0" tIns="0" bIns="0">
            <a:noAutofit/>
          </a:bodyPr>
          <a:lstStyle/>
          <a:p>
            <a:pPr algn="ctr">
              <a:spcBef>
                <a:spcPts val="0"/>
              </a:spcBef>
              <a:spcAft>
                <a:spcPts val="0"/>
              </a:spcAft>
            </a:pPr>
            <a:r>
              <a:rPr lang="tr-TR" sz="1500" b="1" i="0">
                <a:solidFill>
                  <a:srgbClr val="FFFFFF"/>
                </a:solidFill>
                <a:latin typeface="Calibri"/>
              </a:rPr>
              <a:t>Y</a:t>
            </a:r>
          </a:p>
        </p:txBody>
      </p:sp>
      <p:sp>
        <p:nvSpPr>
          <p:cNvPr id="59" name="TextBox 58"/>
          <p:cNvSpPr txBox="1"/>
          <p:nvPr/>
        </p:nvSpPr>
        <p:spPr>
          <a:xfrm>
            <a:off x="7680960" y="5471437"/>
            <a:ext cx="3916375"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Teknoloji tüketimi kolaylaştırır (s. 178)</a:t>
            </a:r>
          </a:p>
        </p:txBody>
      </p:sp>
      <p:sp>
        <p:nvSpPr>
          <p:cNvPr id="60" name="Rectangle 59"/>
          <p:cNvSpPr/>
          <p:nvPr/>
        </p:nvSpPr>
        <p:spPr>
          <a:xfrm>
            <a:off x="502920" y="5899542"/>
            <a:ext cx="11149279" cy="391529"/>
          </a:xfrm>
          <a:prstGeom prst="rect">
            <a:avLst/>
          </a:prstGeom>
          <a:solidFill>
            <a:srgbClr val="F0F0F0"/>
          </a:solidFill>
          <a:ln w="6350">
            <a:solidFill>
              <a:srgbClr val="D9D9D9"/>
            </a:solidFill>
          </a:ln>
          <a:effectLst/>
        </p:spPr>
        <p:txBody>
          <a:bodyPr rtlCol="0" anchor="ctr"/>
          <a:lstStyle/>
          <a:p/>
        </p:txBody>
      </p:sp>
      <p:sp>
        <p:nvSpPr>
          <p:cNvPr id="61" name="TextBox 60"/>
          <p:cNvSpPr txBox="1"/>
          <p:nvPr/>
        </p:nvSpPr>
        <p:spPr>
          <a:xfrm>
            <a:off x="502920" y="5899542"/>
            <a:ext cx="466344" cy="391529"/>
          </a:xfrm>
          <a:prstGeom prst="rect">
            <a:avLst/>
          </a:prstGeom>
          <a:noFill/>
        </p:spPr>
        <p:txBody>
          <a:bodyPr wrap="square" anchor="ctr" lIns="18288" rIns="18288" tIns="0" bIns="0">
            <a:noAutofit/>
          </a:bodyPr>
          <a:lstStyle/>
          <a:p>
            <a:pPr algn="ctr">
              <a:spcBef>
                <a:spcPts val="0"/>
              </a:spcBef>
              <a:spcAft>
                <a:spcPts val="0"/>
              </a:spcAft>
            </a:pPr>
            <a:r>
              <a:rPr lang="tr-TR" sz="1600" b="1" i="0">
                <a:solidFill>
                  <a:srgbClr val="262626"/>
                </a:solidFill>
                <a:latin typeface="Calibri"/>
              </a:rPr>
              <a:t>15</a:t>
            </a:r>
          </a:p>
        </p:txBody>
      </p:sp>
      <p:sp>
        <p:nvSpPr>
          <p:cNvPr id="62" name="TextBox 61"/>
          <p:cNvSpPr txBox="1"/>
          <p:nvPr/>
        </p:nvSpPr>
        <p:spPr>
          <a:xfrm>
            <a:off x="1005840" y="5899542"/>
            <a:ext cx="5934456"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Teknoloji ile sermaye birbirinden bağımsızdır.</a:t>
            </a:r>
          </a:p>
        </p:txBody>
      </p:sp>
      <p:sp>
        <p:nvSpPr>
          <p:cNvPr id="63" name="Rounded Rectangle 62"/>
          <p:cNvSpPr/>
          <p:nvPr/>
        </p:nvSpPr>
        <p:spPr>
          <a:xfrm>
            <a:off x="7104888" y="5936118"/>
            <a:ext cx="429768" cy="318377"/>
          </a:xfrm>
          <a:prstGeom prst="roundRect">
            <a:avLst>
              <a:gd name="adj" fmla="val 20000"/>
            </a:avLst>
          </a:prstGeom>
          <a:solidFill>
            <a:srgbClr val="9B3A55"/>
          </a:solidFill>
          <a:ln>
            <a:noFill/>
          </a:ln>
          <a:effectLst/>
        </p:spPr>
        <p:txBody>
          <a:bodyPr rtlCol="0" anchor="ctr" wrap="square" lIns="0" rIns="0" tIns="0" bIns="0">
            <a:noAutofit/>
          </a:bodyPr>
          <a:lstStyle/>
          <a:p>
            <a:pPr algn="ctr">
              <a:spcBef>
                <a:spcPts val="0"/>
              </a:spcBef>
              <a:spcAft>
                <a:spcPts val="0"/>
              </a:spcAft>
            </a:pPr>
            <a:r>
              <a:rPr lang="tr-TR" sz="1500" b="1" i="0">
                <a:solidFill>
                  <a:srgbClr val="FFFFFF"/>
                </a:solidFill>
                <a:latin typeface="Calibri"/>
              </a:rPr>
              <a:t>Y</a:t>
            </a:r>
          </a:p>
        </p:txBody>
      </p:sp>
      <p:sp>
        <p:nvSpPr>
          <p:cNvPr id="64" name="TextBox 63"/>
          <p:cNvSpPr txBox="1"/>
          <p:nvPr/>
        </p:nvSpPr>
        <p:spPr>
          <a:xfrm>
            <a:off x="7680960" y="5899542"/>
            <a:ext cx="3916375" cy="391529"/>
          </a:xfrm>
          <a:prstGeom prst="rect">
            <a:avLst/>
          </a:prstGeom>
          <a:noFill/>
        </p:spPr>
        <p:txBody>
          <a:bodyPr wrap="square" anchor="ctr" lIns="54864" rIns="54864" tIns="9144" bIns="9144">
            <a:noAutofit/>
          </a:bodyPr>
          <a:lstStyle/>
          <a:p>
            <a:pPr algn="l">
              <a:spcBef>
                <a:spcPts val="0"/>
              </a:spcBef>
              <a:spcAft>
                <a:spcPts val="0"/>
              </a:spcAft>
            </a:pPr>
            <a:r>
              <a:rPr lang="tr-TR" sz="1700" b="0" i="0">
                <a:solidFill>
                  <a:srgbClr val="262626"/>
                </a:solidFill>
                <a:latin typeface="Calibri"/>
              </a:rPr>
              <a:t>Tesisler sermaye ister (s. 177)</a:t>
            </a:r>
          </a:p>
        </p:txBody>
      </p:sp>
      <p:sp>
        <p:nvSpPr>
          <p:cNvPr id="65" name="TextBox 6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66" name="Rounded Rectangle 6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174-178</a:t>
            </a:r>
          </a:p>
        </p:txBody>
      </p:sp>
      <p:sp>
        <p:nvSpPr>
          <p:cNvPr id="67" name="TextBox 6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148 / 166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2: Alpullu Şeker Fabrikası</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2</a:t>
            </a:r>
          </a:p>
        </p:txBody>
      </p:sp>
      <p:sp>
        <p:nvSpPr>
          <p:cNvPr id="6" name="Rounded Rectangle 5"/>
          <p:cNvSpPr/>
          <p:nvPr/>
        </p:nvSpPr>
        <p:spPr>
          <a:xfrm>
            <a:off x="502920" y="1216152"/>
            <a:ext cx="5120640" cy="50292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18872" cy="5029200"/>
          </a:xfrm>
          <a:prstGeom prst="rect">
            <a:avLst/>
          </a:prstGeom>
          <a:solidFill>
            <a:srgbClr val="B85C12"/>
          </a:solidFill>
          <a:ln>
            <a:noFill/>
          </a:ln>
          <a:effectLst/>
        </p:spPr>
        <p:txBody>
          <a:bodyPr rtlCol="0" anchor="ctr"/>
          <a:lstStyle/>
          <a:p/>
        </p:txBody>
      </p:sp>
      <p:sp>
        <p:nvSpPr>
          <p:cNvPr id="8" name="TextBox 7"/>
          <p:cNvSpPr txBox="1"/>
          <p:nvPr/>
        </p:nvSpPr>
        <p:spPr>
          <a:xfrm>
            <a:off x="777240" y="1216152"/>
            <a:ext cx="4709160" cy="502920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Alpullu Şeker Fabrikası, Türkiye’de şeker üretimi yapan ilk fabrikadır. Fabrika, Ergene Nehri kıyısında ve Alpullu kasabasının girişine Gazi Mustafa Kemal Atatürk’ün talimatıyla 1925 yılında kurulmuştur. Alpullu’nun Edirne-İstanbul tren yolu ve kara yolunun geçiş noktasında olması, fabrikanın burada kurulmasında önemli rol oynamıştır. Alpullu’nun Ergene Nehri kıyısında yer almasının yanı sıra İstanbul’a yakın olması da yer seçiminde etkili olmuştur.</a:t>
            </a:r>
          </a:p>
        </p:txBody>
      </p:sp>
      <p:sp>
        <p:nvSpPr>
          <p:cNvPr id="9" name="Rounded Rectangle 8"/>
          <p:cNvSpPr/>
          <p:nvPr/>
        </p:nvSpPr>
        <p:spPr>
          <a:xfrm>
            <a:off x="5824728" y="1216152"/>
            <a:ext cx="5864047" cy="1508760"/>
          </a:xfrm>
          <a:prstGeom prst="roundRect">
            <a:avLst>
              <a:gd name="adj" fmla="val 8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2100" b="0" i="0">
                <a:solidFill>
                  <a:srgbClr val="262626"/>
                </a:solidFill>
                <a:latin typeface="Calibri"/>
              </a:rPr>
              <a:t>Yukarıda verilen bilgilere göre Alpullu Şeker Fabrikasının kurulmasında, aşağıdaki doğal ve beşerî faktörlerden hangisi etkili </a:t>
            </a:r>
            <a:r>
              <a:rPr lang="tr-TR" sz="2100" b="1" i="0">
                <a:solidFill>
                  <a:srgbClr val="262626"/>
                </a:solidFill>
                <a:latin typeface="Calibri"/>
              </a:rPr>
              <a:t>olmamıştır?</a:t>
            </a:r>
          </a:p>
        </p:txBody>
      </p:sp>
      <p:sp>
        <p:nvSpPr>
          <p:cNvPr id="10" name="Rounded Rectangle 9"/>
          <p:cNvSpPr/>
          <p:nvPr/>
        </p:nvSpPr>
        <p:spPr>
          <a:xfrm>
            <a:off x="5824728" y="2852928"/>
            <a:ext cx="586404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11" name="Oval 10"/>
          <p:cNvSpPr/>
          <p:nvPr/>
        </p:nvSpPr>
        <p:spPr>
          <a:xfrm>
            <a:off x="5925312" y="2931566"/>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2" name="TextBox 11"/>
          <p:cNvSpPr txBox="1"/>
          <p:nvPr/>
        </p:nvSpPr>
        <p:spPr>
          <a:xfrm>
            <a:off x="6483096" y="2852928"/>
            <a:ext cx="511423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Alüvyon toprakların varlığı</a:t>
            </a:r>
          </a:p>
        </p:txBody>
      </p:sp>
      <p:sp>
        <p:nvSpPr>
          <p:cNvPr id="13" name="Rounded Rectangle 12"/>
          <p:cNvSpPr/>
          <p:nvPr/>
        </p:nvSpPr>
        <p:spPr>
          <a:xfrm>
            <a:off x="5824728" y="3558844"/>
            <a:ext cx="586404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14" name="Oval 13"/>
          <p:cNvSpPr/>
          <p:nvPr/>
        </p:nvSpPr>
        <p:spPr>
          <a:xfrm>
            <a:off x="5925312" y="3637483"/>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5" name="TextBox 14"/>
          <p:cNvSpPr txBox="1"/>
          <p:nvPr/>
        </p:nvSpPr>
        <p:spPr>
          <a:xfrm>
            <a:off x="6483096" y="3558844"/>
            <a:ext cx="511423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Ulaşımın kolay olması</a:t>
            </a:r>
          </a:p>
        </p:txBody>
      </p:sp>
      <p:sp>
        <p:nvSpPr>
          <p:cNvPr id="16" name="Rounded Rectangle 15"/>
          <p:cNvSpPr/>
          <p:nvPr/>
        </p:nvSpPr>
        <p:spPr>
          <a:xfrm>
            <a:off x="5824728" y="4264761"/>
            <a:ext cx="586404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17" name="Oval 16"/>
          <p:cNvSpPr/>
          <p:nvPr/>
        </p:nvSpPr>
        <p:spPr>
          <a:xfrm>
            <a:off x="5925312" y="4343400"/>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8" name="TextBox 17"/>
          <p:cNvSpPr txBox="1"/>
          <p:nvPr/>
        </p:nvSpPr>
        <p:spPr>
          <a:xfrm>
            <a:off x="6483096" y="4264761"/>
            <a:ext cx="511423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Pazara yakınlığı</a:t>
            </a:r>
          </a:p>
        </p:txBody>
      </p:sp>
      <p:sp>
        <p:nvSpPr>
          <p:cNvPr id="19" name="Rounded Rectangle 18"/>
          <p:cNvSpPr/>
          <p:nvPr/>
        </p:nvSpPr>
        <p:spPr>
          <a:xfrm>
            <a:off x="5824728" y="4970678"/>
            <a:ext cx="586404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20" name="Oval 19"/>
          <p:cNvSpPr/>
          <p:nvPr/>
        </p:nvSpPr>
        <p:spPr>
          <a:xfrm>
            <a:off x="5925312" y="5049316"/>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1" name="TextBox 20"/>
          <p:cNvSpPr txBox="1"/>
          <p:nvPr/>
        </p:nvSpPr>
        <p:spPr>
          <a:xfrm>
            <a:off x="6483096" y="4970678"/>
            <a:ext cx="511423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Su kaynaklarının varlığı</a:t>
            </a:r>
          </a:p>
        </p:txBody>
      </p:sp>
      <p:sp>
        <p:nvSpPr>
          <p:cNvPr id="22" name="Rounded Rectangle 21"/>
          <p:cNvSpPr/>
          <p:nvPr/>
        </p:nvSpPr>
        <p:spPr>
          <a:xfrm>
            <a:off x="5824728" y="5676595"/>
            <a:ext cx="586404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23" name="Oval 22"/>
          <p:cNvSpPr/>
          <p:nvPr/>
        </p:nvSpPr>
        <p:spPr>
          <a:xfrm>
            <a:off x="5925312" y="5755233"/>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4" name="TextBox 23"/>
          <p:cNvSpPr txBox="1"/>
          <p:nvPr/>
        </p:nvSpPr>
        <p:spPr>
          <a:xfrm>
            <a:off x="6483096" y="5676595"/>
            <a:ext cx="511423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Maden rezervlerinin fazla olması</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149 / 166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2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2</a:t>
            </a:r>
          </a:p>
        </p:txBody>
      </p:sp>
      <p:sp>
        <p:nvSpPr>
          <p:cNvPr id="6" name="Rounded Rectangle 5"/>
          <p:cNvSpPr/>
          <p:nvPr/>
        </p:nvSpPr>
        <p:spPr>
          <a:xfrm>
            <a:off x="502920" y="1216152"/>
            <a:ext cx="4663440" cy="50292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18872" cy="5029200"/>
          </a:xfrm>
          <a:prstGeom prst="rect">
            <a:avLst/>
          </a:prstGeom>
          <a:solidFill>
            <a:srgbClr val="2E7D32"/>
          </a:solidFill>
          <a:ln>
            <a:noFill/>
          </a:ln>
          <a:effectLst/>
        </p:spPr>
        <p:txBody>
          <a:bodyPr rtlCol="0" anchor="ctr"/>
          <a:lstStyle/>
          <a:p/>
        </p:txBody>
      </p:sp>
      <p:sp>
        <p:nvSpPr>
          <p:cNvPr id="8" name="TextBox 7"/>
          <p:cNvSpPr txBox="1"/>
          <p:nvPr/>
        </p:nvSpPr>
        <p:spPr>
          <a:xfrm>
            <a:off x="777240" y="1216152"/>
            <a:ext cx="4251960" cy="5029200"/>
          </a:xfrm>
          <a:prstGeom prst="rect">
            <a:avLst/>
          </a:prstGeom>
          <a:noFill/>
        </p:spPr>
        <p:txBody>
          <a:bodyPr wrap="square" anchor="ctr" lIns="73152" rIns="73152" tIns="36576" bIns="36576">
            <a:noAutofit/>
          </a:bodyPr>
          <a:lstStyle/>
          <a:p>
            <a:pPr algn="l">
              <a:spcBef>
                <a:spcPts val="0"/>
              </a:spcBef>
              <a:spcAft>
                <a:spcPts val="800"/>
              </a:spcAft>
            </a:pPr>
            <a:r>
              <a:rPr lang="tr-TR" sz="1600" b="1" i="0">
                <a:solidFill>
                  <a:srgbClr val="2E7D32"/>
                </a:solidFill>
                <a:latin typeface="Calibri"/>
              </a:rPr>
              <a:t>Metindeki kanıtlar</a:t>
            </a:r>
          </a:p>
          <a:p>
            <a:pPr algn="l">
              <a:spcBef>
                <a:spcPts val="0"/>
              </a:spcBef>
              <a:spcAft>
                <a:spcPts val="800"/>
              </a:spcAft>
            </a:pPr>
            <a:r>
              <a:rPr lang="tr-TR" sz="2000" b="0" i="0">
                <a:solidFill>
                  <a:srgbClr val="262626"/>
                </a:solidFill>
                <a:latin typeface="Calibri"/>
              </a:rPr>
              <a:t>… Fabrika, </a:t>
            </a:r>
            <a:r>
              <a:rPr lang="tr-TR" sz="2000" b="1" i="0">
                <a:solidFill>
                  <a:srgbClr val="262626"/>
                </a:solidFill>
                <a:latin typeface="Calibri"/>
              </a:rPr>
              <a:t>Ergene Nehri kıyısında</a:t>
            </a:r>
            <a:r>
              <a:rPr lang="tr-TR" sz="2000" b="0" i="0">
                <a:solidFill>
                  <a:srgbClr val="262626"/>
                </a:solidFill>
                <a:latin typeface="Calibri"/>
              </a:rPr>
              <a:t> ve Alpullu kasabasının girişine Gazi Mustafa Kemal Atatürk’ün talimatıyla 1925 yılında kurulmuştur.</a:t>
            </a:r>
          </a:p>
          <a:p>
            <a:pPr algn="l">
              <a:spcBef>
                <a:spcPts val="0"/>
              </a:spcBef>
              <a:spcAft>
                <a:spcPts val="800"/>
              </a:spcAft>
            </a:pPr>
            <a:r>
              <a:rPr lang="tr-TR" sz="2000" b="0" i="0">
                <a:solidFill>
                  <a:srgbClr val="262626"/>
                </a:solidFill>
                <a:latin typeface="Calibri"/>
              </a:rPr>
              <a:t>Alpullu’nun </a:t>
            </a:r>
            <a:r>
              <a:rPr lang="tr-TR" sz="2000" b="1" i="0">
                <a:solidFill>
                  <a:srgbClr val="262626"/>
                </a:solidFill>
                <a:latin typeface="Calibri"/>
              </a:rPr>
              <a:t>Edirne-İstanbul tren yolu ve kara yolunun geçiş noktasında</a:t>
            </a:r>
            <a:r>
              <a:rPr lang="tr-TR" sz="2000" b="0" i="0">
                <a:solidFill>
                  <a:srgbClr val="262626"/>
                </a:solidFill>
                <a:latin typeface="Calibri"/>
              </a:rPr>
              <a:t> olması, fabrikanın burada kurulmasında önemli rol oynamıştır.</a:t>
            </a:r>
          </a:p>
          <a:p>
            <a:pPr algn="l">
              <a:spcBef>
                <a:spcPts val="0"/>
              </a:spcBef>
              <a:spcAft>
                <a:spcPts val="0"/>
              </a:spcAft>
            </a:pPr>
            <a:r>
              <a:rPr lang="tr-TR" sz="2000" b="0" i="0">
                <a:solidFill>
                  <a:srgbClr val="262626"/>
                </a:solidFill>
                <a:latin typeface="Calibri"/>
              </a:rPr>
              <a:t>Alpullu’nun </a:t>
            </a:r>
            <a:r>
              <a:rPr lang="tr-TR" sz="2000" b="1" i="0">
                <a:solidFill>
                  <a:srgbClr val="262626"/>
                </a:solidFill>
                <a:latin typeface="Calibri"/>
              </a:rPr>
              <a:t>Ergene Nehri kıyısında</a:t>
            </a:r>
            <a:r>
              <a:rPr lang="tr-TR" sz="2000" b="0" i="0">
                <a:solidFill>
                  <a:srgbClr val="262626"/>
                </a:solidFill>
                <a:latin typeface="Calibri"/>
              </a:rPr>
              <a:t> yer almasının yanı sıra </a:t>
            </a:r>
            <a:r>
              <a:rPr lang="tr-TR" sz="2000" b="1" i="0">
                <a:solidFill>
                  <a:srgbClr val="262626"/>
                </a:solidFill>
                <a:latin typeface="Calibri"/>
              </a:rPr>
              <a:t>İstanbul’a yakın olması</a:t>
            </a:r>
            <a:r>
              <a:rPr lang="tr-TR" sz="2000" b="0" i="0">
                <a:solidFill>
                  <a:srgbClr val="262626"/>
                </a:solidFill>
                <a:latin typeface="Calibri"/>
              </a:rPr>
              <a:t> da yer seçiminde etkili olmuştur.</a:t>
            </a:r>
          </a:p>
        </p:txBody>
      </p:sp>
      <p:sp>
        <p:nvSpPr>
          <p:cNvPr id="9" name="Rounded Rectangle 8"/>
          <p:cNvSpPr/>
          <p:nvPr/>
        </p:nvSpPr>
        <p:spPr>
          <a:xfrm>
            <a:off x="5367528" y="1216152"/>
            <a:ext cx="6321247" cy="1051560"/>
          </a:xfrm>
          <a:prstGeom prst="roundRect">
            <a:avLst>
              <a:gd name="adj" fmla="val 8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1800" b="0" i="0">
                <a:solidFill>
                  <a:srgbClr val="262626"/>
                </a:solidFill>
                <a:latin typeface="Calibri"/>
              </a:rPr>
              <a:t>Yukarıda verilen bilgilere göre Alpullu Şeker Fabrikasının kurulmasında, aşağıdaki doğal ve beşerî faktörlerden hangisi etkili </a:t>
            </a:r>
            <a:r>
              <a:rPr lang="tr-TR" sz="1800" b="1" i="0">
                <a:solidFill>
                  <a:srgbClr val="262626"/>
                </a:solidFill>
                <a:latin typeface="Calibri"/>
              </a:rPr>
              <a:t>olmamıştır?</a:t>
            </a:r>
          </a:p>
        </p:txBody>
      </p:sp>
      <p:sp>
        <p:nvSpPr>
          <p:cNvPr id="10" name="Rounded Rectangle 9"/>
          <p:cNvSpPr/>
          <p:nvPr/>
        </p:nvSpPr>
        <p:spPr>
          <a:xfrm>
            <a:off x="5367528" y="2395728"/>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11" name="Oval 10"/>
          <p:cNvSpPr/>
          <p:nvPr/>
        </p:nvSpPr>
        <p:spPr>
          <a:xfrm>
            <a:off x="5468112" y="2520086"/>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2" name="TextBox 11"/>
          <p:cNvSpPr txBox="1"/>
          <p:nvPr/>
        </p:nvSpPr>
        <p:spPr>
          <a:xfrm>
            <a:off x="6025896" y="2395728"/>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Alüvyon toprakların varlığı</a:t>
            </a:r>
          </a:p>
          <a:p>
            <a:pPr algn="l">
              <a:spcBef>
                <a:spcPts val="0"/>
              </a:spcBef>
              <a:spcAft>
                <a:spcPts val="0"/>
              </a:spcAft>
            </a:pPr>
            <a:r>
              <a:rPr lang="tr-TR" sz="1600" b="0" i="0">
                <a:solidFill>
                  <a:srgbClr val="767676"/>
                </a:solidFill>
                <a:latin typeface="Calibri"/>
              </a:rPr>
              <a:t>→ Etkili: Ergene kıyısında verimli alüvyonlu toprak (çıkarım)</a:t>
            </a:r>
          </a:p>
        </p:txBody>
      </p:sp>
      <p:sp>
        <p:nvSpPr>
          <p:cNvPr id="13" name="Rounded Rectangle 12"/>
          <p:cNvSpPr/>
          <p:nvPr/>
        </p:nvSpPr>
        <p:spPr>
          <a:xfrm>
            <a:off x="5367528" y="3193084"/>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14" name="Oval 13"/>
          <p:cNvSpPr/>
          <p:nvPr/>
        </p:nvSpPr>
        <p:spPr>
          <a:xfrm>
            <a:off x="5468112" y="3317443"/>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5" name="TextBox 14"/>
          <p:cNvSpPr txBox="1"/>
          <p:nvPr/>
        </p:nvSpPr>
        <p:spPr>
          <a:xfrm>
            <a:off x="6025896" y="3193084"/>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Ulaşımın kolay olması</a:t>
            </a:r>
          </a:p>
          <a:p>
            <a:pPr algn="l">
              <a:spcBef>
                <a:spcPts val="0"/>
              </a:spcBef>
              <a:spcAft>
                <a:spcPts val="0"/>
              </a:spcAft>
            </a:pPr>
            <a:r>
              <a:rPr lang="tr-TR" sz="1600" b="0" i="0">
                <a:solidFill>
                  <a:srgbClr val="767676"/>
                </a:solidFill>
                <a:latin typeface="Calibri"/>
              </a:rPr>
              <a:t>→ Etkili: Edirne-İstanbul tren yolu ve kara yolu</a:t>
            </a:r>
          </a:p>
        </p:txBody>
      </p:sp>
      <p:sp>
        <p:nvSpPr>
          <p:cNvPr id="16" name="Rounded Rectangle 15"/>
          <p:cNvSpPr/>
          <p:nvPr/>
        </p:nvSpPr>
        <p:spPr>
          <a:xfrm>
            <a:off x="5367528" y="3990441"/>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17" name="Oval 16"/>
          <p:cNvSpPr/>
          <p:nvPr/>
        </p:nvSpPr>
        <p:spPr>
          <a:xfrm>
            <a:off x="5468112" y="4114799"/>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8" name="TextBox 17"/>
          <p:cNvSpPr txBox="1"/>
          <p:nvPr/>
        </p:nvSpPr>
        <p:spPr>
          <a:xfrm>
            <a:off x="6025896" y="3990441"/>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Pazara yakınlığı</a:t>
            </a:r>
          </a:p>
          <a:p>
            <a:pPr algn="l">
              <a:spcBef>
                <a:spcPts val="0"/>
              </a:spcBef>
              <a:spcAft>
                <a:spcPts val="0"/>
              </a:spcAft>
            </a:pPr>
            <a:r>
              <a:rPr lang="tr-TR" sz="1600" b="0" i="0">
                <a:solidFill>
                  <a:srgbClr val="767676"/>
                </a:solidFill>
                <a:latin typeface="Calibri"/>
              </a:rPr>
              <a:t>→ Etkili: İstanbul'a yakın, büyük pazar</a:t>
            </a:r>
          </a:p>
        </p:txBody>
      </p:sp>
      <p:sp>
        <p:nvSpPr>
          <p:cNvPr id="19" name="Rounded Rectangle 18"/>
          <p:cNvSpPr/>
          <p:nvPr/>
        </p:nvSpPr>
        <p:spPr>
          <a:xfrm>
            <a:off x="5367528" y="4787798"/>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20" name="Oval 19"/>
          <p:cNvSpPr/>
          <p:nvPr/>
        </p:nvSpPr>
        <p:spPr>
          <a:xfrm>
            <a:off x="5468112" y="4912156"/>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1" name="TextBox 20"/>
          <p:cNvSpPr txBox="1"/>
          <p:nvPr/>
        </p:nvSpPr>
        <p:spPr>
          <a:xfrm>
            <a:off x="6025896" y="4787798"/>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Su kaynaklarının varlığı</a:t>
            </a:r>
          </a:p>
          <a:p>
            <a:pPr algn="l">
              <a:spcBef>
                <a:spcPts val="0"/>
              </a:spcBef>
              <a:spcAft>
                <a:spcPts val="0"/>
              </a:spcAft>
            </a:pPr>
            <a:r>
              <a:rPr lang="tr-TR" sz="1600" b="0" i="0">
                <a:solidFill>
                  <a:srgbClr val="767676"/>
                </a:solidFill>
                <a:latin typeface="Calibri"/>
              </a:rPr>
              <a:t>→ Etkili: Ergene Nehri kıyısında</a:t>
            </a:r>
          </a:p>
        </p:txBody>
      </p:sp>
      <p:sp>
        <p:nvSpPr>
          <p:cNvPr id="22" name="Rounded Rectangle 21"/>
          <p:cNvSpPr/>
          <p:nvPr/>
        </p:nvSpPr>
        <p:spPr>
          <a:xfrm>
            <a:off x="5367528" y="5585155"/>
            <a:ext cx="6321247" cy="705916"/>
          </a:xfrm>
          <a:prstGeom prst="roundRect">
            <a:avLst>
              <a:gd name="adj" fmla="val 15544"/>
            </a:avLst>
          </a:prstGeom>
          <a:solidFill>
            <a:srgbClr val="E3F1E4"/>
          </a:solidFill>
          <a:ln w="31750">
            <a:solidFill>
              <a:srgbClr val="2E7D32"/>
            </a:solidFill>
          </a:ln>
          <a:effectLst/>
        </p:spPr>
        <p:txBody>
          <a:bodyPr rtlCol="0" anchor="ctr"/>
          <a:lstStyle/>
          <a:p/>
        </p:txBody>
      </p:sp>
      <p:sp>
        <p:nvSpPr>
          <p:cNvPr id="23" name="Oval 22"/>
          <p:cNvSpPr/>
          <p:nvPr/>
        </p:nvSpPr>
        <p:spPr>
          <a:xfrm>
            <a:off x="5468112" y="5709513"/>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4" name="TextBox 23"/>
          <p:cNvSpPr txBox="1"/>
          <p:nvPr/>
        </p:nvSpPr>
        <p:spPr>
          <a:xfrm>
            <a:off x="6025896" y="5585155"/>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1" i="0">
                <a:solidFill>
                  <a:srgbClr val="262626"/>
                </a:solidFill>
                <a:latin typeface="Calibri"/>
              </a:rPr>
              <a:t>Maden rezervlerinin fazla olması</a:t>
            </a:r>
          </a:p>
          <a:p>
            <a:pPr algn="l">
              <a:spcBef>
                <a:spcPts val="0"/>
              </a:spcBef>
              <a:spcAft>
                <a:spcPts val="0"/>
              </a:spcAft>
            </a:pPr>
            <a:r>
              <a:rPr lang="tr-TR" sz="1600" b="0" i="0">
                <a:solidFill>
                  <a:srgbClr val="2E7D32"/>
                </a:solidFill>
                <a:latin typeface="Calibri"/>
              </a:rPr>
              <a:t>→ Metinde maden yok: etkili olmamıştır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150 / 166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3: tavuk eti üretimi ve ihracatı</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3</a:t>
            </a:r>
          </a:p>
        </p:txBody>
      </p:sp>
      <p:sp>
        <p:nvSpPr>
          <p:cNvPr id="6" name="Rounded Rectangle 5"/>
          <p:cNvSpPr/>
          <p:nvPr/>
        </p:nvSpPr>
        <p:spPr>
          <a:xfrm>
            <a:off x="502920" y="1216152"/>
            <a:ext cx="5486400" cy="50292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18872" cy="5029200"/>
          </a:xfrm>
          <a:prstGeom prst="rect">
            <a:avLst/>
          </a:prstGeom>
          <a:solidFill>
            <a:srgbClr val="B85C12"/>
          </a:solidFill>
          <a:ln>
            <a:noFill/>
          </a:ln>
          <a:effectLst/>
        </p:spPr>
        <p:txBody>
          <a:bodyPr rtlCol="0" anchor="ctr"/>
          <a:lstStyle/>
          <a:p/>
        </p:txBody>
      </p:sp>
      <p:sp>
        <p:nvSpPr>
          <p:cNvPr id="8" name="TextBox 7"/>
          <p:cNvSpPr txBox="1"/>
          <p:nvPr/>
        </p:nvSpPr>
        <p:spPr>
          <a:xfrm>
            <a:off x="777240" y="1216152"/>
            <a:ext cx="5074920" cy="502920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Son on yılda küresel ölçekte tavuk eti üretiminde artış meydana gelmiştir. Bu artışın özellikle Asya’da belirginleştiği gözlenmiştir. Çin, Hindistan, Endonezya, Pakistan ve Filipinler gibi ülkelerdeki tüketim artışı, bu durumun önemli nedenlerindendir. Diğer protein kaynaklarına göre ucuz ve ulaşılabilir olması, kanatlı hayvan etinin tercih sebebidir. 2022 yılı dünya tavuk eti üretiminde, ilk sırada ABD yer almaktadır. Bu hususta ABD’yi sırasıyla, Brezilya ve Çin izlemektedir. Buna karşılık dünya tavuk eti ihracatında Brezilya ilk sırada, ABD ikinci sırada, Çin ise beşinci sırada yer almaktadır (TEPGE 2023 raporuna göre yazılmıştır).</a:t>
            </a:r>
          </a:p>
        </p:txBody>
      </p:sp>
      <p:sp>
        <p:nvSpPr>
          <p:cNvPr id="9" name="Rounded Rectangle 8"/>
          <p:cNvSpPr/>
          <p:nvPr/>
        </p:nvSpPr>
        <p:spPr>
          <a:xfrm>
            <a:off x="6190488" y="1216152"/>
            <a:ext cx="5498287" cy="1508760"/>
          </a:xfrm>
          <a:prstGeom prst="roundRect">
            <a:avLst>
              <a:gd name="adj" fmla="val 8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2050" b="1" i="0">
                <a:solidFill>
                  <a:srgbClr val="262626"/>
                </a:solidFill>
                <a:latin typeface="Calibri"/>
              </a:rPr>
              <a:t>Bu bilgilere göre Çin’in dünya tavuk eti üretiminde üçüncü, ihracatında ise beşinci sırada yer almasının en önemli sebebi aşağıdakilerden hangisidir?</a:t>
            </a:r>
          </a:p>
        </p:txBody>
      </p:sp>
      <p:sp>
        <p:nvSpPr>
          <p:cNvPr id="10" name="Rounded Rectangle 9"/>
          <p:cNvSpPr/>
          <p:nvPr/>
        </p:nvSpPr>
        <p:spPr>
          <a:xfrm>
            <a:off x="6190488" y="2852928"/>
            <a:ext cx="549828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11" name="Oval 10"/>
          <p:cNvSpPr/>
          <p:nvPr/>
        </p:nvSpPr>
        <p:spPr>
          <a:xfrm>
            <a:off x="6291072" y="2931566"/>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2" name="TextBox 11"/>
          <p:cNvSpPr txBox="1"/>
          <p:nvPr/>
        </p:nvSpPr>
        <p:spPr>
          <a:xfrm>
            <a:off x="6848856" y="2852928"/>
            <a:ext cx="474847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Ülke içi tüketimin fazla olması</a:t>
            </a:r>
          </a:p>
        </p:txBody>
      </p:sp>
      <p:sp>
        <p:nvSpPr>
          <p:cNvPr id="13" name="Rounded Rectangle 12"/>
          <p:cNvSpPr/>
          <p:nvPr/>
        </p:nvSpPr>
        <p:spPr>
          <a:xfrm>
            <a:off x="6190488" y="3558844"/>
            <a:ext cx="549828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14" name="Oval 13"/>
          <p:cNvSpPr/>
          <p:nvPr/>
        </p:nvSpPr>
        <p:spPr>
          <a:xfrm>
            <a:off x="6291072" y="3637483"/>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5" name="TextBox 14"/>
          <p:cNvSpPr txBox="1"/>
          <p:nvPr/>
        </p:nvSpPr>
        <p:spPr>
          <a:xfrm>
            <a:off x="6848856" y="3558844"/>
            <a:ext cx="474847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Tavuk etinin pahalı olması</a:t>
            </a:r>
          </a:p>
        </p:txBody>
      </p:sp>
      <p:sp>
        <p:nvSpPr>
          <p:cNvPr id="16" name="Rounded Rectangle 15"/>
          <p:cNvSpPr/>
          <p:nvPr/>
        </p:nvSpPr>
        <p:spPr>
          <a:xfrm>
            <a:off x="6190488" y="4264761"/>
            <a:ext cx="549828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17" name="Oval 16"/>
          <p:cNvSpPr/>
          <p:nvPr/>
        </p:nvSpPr>
        <p:spPr>
          <a:xfrm>
            <a:off x="6291072" y="4343400"/>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8" name="TextBox 17"/>
          <p:cNvSpPr txBox="1"/>
          <p:nvPr/>
        </p:nvSpPr>
        <p:spPr>
          <a:xfrm>
            <a:off x="6848856" y="4264761"/>
            <a:ext cx="474847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Dağıtım araçlarının yetersiz olması</a:t>
            </a:r>
          </a:p>
        </p:txBody>
      </p:sp>
      <p:sp>
        <p:nvSpPr>
          <p:cNvPr id="19" name="Rounded Rectangle 18"/>
          <p:cNvSpPr/>
          <p:nvPr/>
        </p:nvSpPr>
        <p:spPr>
          <a:xfrm>
            <a:off x="6190488" y="4970678"/>
            <a:ext cx="549828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20" name="Oval 19"/>
          <p:cNvSpPr/>
          <p:nvPr/>
        </p:nvSpPr>
        <p:spPr>
          <a:xfrm>
            <a:off x="6291072" y="5049316"/>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1" name="TextBox 20"/>
          <p:cNvSpPr txBox="1"/>
          <p:nvPr/>
        </p:nvSpPr>
        <p:spPr>
          <a:xfrm>
            <a:off x="6848856" y="4970678"/>
            <a:ext cx="474847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Dış pazarlarda alıcı bulamaması</a:t>
            </a:r>
          </a:p>
        </p:txBody>
      </p:sp>
      <p:sp>
        <p:nvSpPr>
          <p:cNvPr id="22" name="Rounded Rectangle 21"/>
          <p:cNvSpPr/>
          <p:nvPr/>
        </p:nvSpPr>
        <p:spPr>
          <a:xfrm>
            <a:off x="6190488" y="5676595"/>
            <a:ext cx="549828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23" name="Oval 22"/>
          <p:cNvSpPr/>
          <p:nvPr/>
        </p:nvSpPr>
        <p:spPr>
          <a:xfrm>
            <a:off x="6291072" y="5755233"/>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4" name="TextBox 23"/>
          <p:cNvSpPr txBox="1"/>
          <p:nvPr/>
        </p:nvSpPr>
        <p:spPr>
          <a:xfrm>
            <a:off x="6848856" y="5676595"/>
            <a:ext cx="474847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Pazarlama tekniklerinin yetersiz olması</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151 / 166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3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3</a:t>
            </a:r>
          </a:p>
        </p:txBody>
      </p:sp>
      <p:sp>
        <p:nvSpPr>
          <p:cNvPr id="6" name="Rounded Rectangle 5"/>
          <p:cNvSpPr/>
          <p:nvPr/>
        </p:nvSpPr>
        <p:spPr>
          <a:xfrm>
            <a:off x="502920" y="1216152"/>
            <a:ext cx="4663440" cy="50292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18872" cy="5029200"/>
          </a:xfrm>
          <a:prstGeom prst="rect">
            <a:avLst/>
          </a:prstGeom>
          <a:solidFill>
            <a:srgbClr val="2E7D32"/>
          </a:solidFill>
          <a:ln>
            <a:noFill/>
          </a:ln>
          <a:effectLst/>
        </p:spPr>
        <p:txBody>
          <a:bodyPr rtlCol="0" anchor="ctr"/>
          <a:lstStyle/>
          <a:p/>
        </p:txBody>
      </p:sp>
      <p:sp>
        <p:nvSpPr>
          <p:cNvPr id="8" name="TextBox 7"/>
          <p:cNvSpPr txBox="1"/>
          <p:nvPr/>
        </p:nvSpPr>
        <p:spPr>
          <a:xfrm>
            <a:off x="777240" y="1216152"/>
            <a:ext cx="4251960" cy="5029200"/>
          </a:xfrm>
          <a:prstGeom prst="rect">
            <a:avLst/>
          </a:prstGeom>
          <a:noFill/>
        </p:spPr>
        <p:txBody>
          <a:bodyPr wrap="square" anchor="ctr" lIns="73152" rIns="73152" tIns="36576" bIns="36576">
            <a:noAutofit/>
          </a:bodyPr>
          <a:lstStyle/>
          <a:p>
            <a:pPr algn="l">
              <a:spcBef>
                <a:spcPts val="0"/>
              </a:spcBef>
              <a:spcAft>
                <a:spcPts val="800"/>
              </a:spcAft>
            </a:pPr>
            <a:r>
              <a:rPr lang="tr-TR" sz="1600" b="1" i="0">
                <a:solidFill>
                  <a:srgbClr val="2E7D32"/>
                </a:solidFill>
                <a:latin typeface="Calibri"/>
              </a:rPr>
              <a:t>Metindeki kanıtlar</a:t>
            </a:r>
          </a:p>
          <a:p>
            <a:pPr algn="l">
              <a:spcBef>
                <a:spcPts val="0"/>
              </a:spcBef>
              <a:spcAft>
                <a:spcPts val="800"/>
              </a:spcAft>
            </a:pPr>
            <a:r>
              <a:rPr lang="tr-TR" sz="2000" b="0" i="0">
                <a:solidFill>
                  <a:srgbClr val="262626"/>
                </a:solidFill>
                <a:latin typeface="Calibri"/>
              </a:rPr>
              <a:t>… </a:t>
            </a:r>
            <a:r>
              <a:rPr lang="tr-TR" sz="2000" b="1" i="0">
                <a:solidFill>
                  <a:srgbClr val="262626"/>
                </a:solidFill>
                <a:latin typeface="Calibri"/>
              </a:rPr>
              <a:t>Çin, Hindistan, Endonezya, Pakistan ve Filipinler gibi ülkelerdeki tüketim artışı, bu durumun önemli nedenlerindendir.</a:t>
            </a:r>
            <a:r>
              <a:rPr lang="tr-TR" sz="2000" b="0" i="0">
                <a:solidFill>
                  <a:srgbClr val="262626"/>
                </a:solidFill>
                <a:latin typeface="Calibri"/>
              </a:rPr>
              <a:t> Diğer protein kaynaklarına göre ucuz ve ulaşılabilir olması, kanatlı hayvan etinin tercih sebebidir.</a:t>
            </a:r>
          </a:p>
          <a:p>
            <a:pPr algn="l">
              <a:spcBef>
                <a:spcPts val="0"/>
              </a:spcBef>
              <a:spcAft>
                <a:spcPts val="0"/>
              </a:spcAft>
            </a:pPr>
            <a:r>
              <a:rPr lang="tr-TR" sz="2000" b="0" i="0">
                <a:solidFill>
                  <a:srgbClr val="262626"/>
                </a:solidFill>
                <a:latin typeface="Calibri"/>
              </a:rPr>
              <a:t>… Bu hususta ABD’yi sırasıyla, Brezilya ve </a:t>
            </a:r>
            <a:r>
              <a:rPr lang="tr-TR" sz="2000" b="1" i="0">
                <a:solidFill>
                  <a:srgbClr val="262626"/>
                </a:solidFill>
                <a:latin typeface="Calibri"/>
              </a:rPr>
              <a:t>Çin</a:t>
            </a:r>
            <a:r>
              <a:rPr lang="tr-TR" sz="2000" b="0" i="0">
                <a:solidFill>
                  <a:srgbClr val="262626"/>
                </a:solidFill>
                <a:latin typeface="Calibri"/>
              </a:rPr>
              <a:t> izlemektedir. Buna karşılık dünya tavuk eti ihracatında Brezilya ilk sırada, ABD ikinci sırada, </a:t>
            </a:r>
            <a:r>
              <a:rPr lang="tr-TR" sz="2000" b="1" i="0">
                <a:solidFill>
                  <a:srgbClr val="262626"/>
                </a:solidFill>
                <a:latin typeface="Calibri"/>
              </a:rPr>
              <a:t>Çin ise beşinci sırada</a:t>
            </a:r>
            <a:r>
              <a:rPr lang="tr-TR" sz="2000" b="0" i="0">
                <a:solidFill>
                  <a:srgbClr val="262626"/>
                </a:solidFill>
                <a:latin typeface="Calibri"/>
              </a:rPr>
              <a:t> yer almaktadır (TEPGE 2023 raporuna göre yazılmıştır).</a:t>
            </a:r>
          </a:p>
        </p:txBody>
      </p:sp>
      <p:sp>
        <p:nvSpPr>
          <p:cNvPr id="9" name="Rounded Rectangle 8"/>
          <p:cNvSpPr/>
          <p:nvPr/>
        </p:nvSpPr>
        <p:spPr>
          <a:xfrm>
            <a:off x="5367528" y="1216152"/>
            <a:ext cx="6321247" cy="1051560"/>
          </a:xfrm>
          <a:prstGeom prst="roundRect">
            <a:avLst>
              <a:gd name="adj" fmla="val 8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1800" b="1" i="0">
                <a:solidFill>
                  <a:srgbClr val="262626"/>
                </a:solidFill>
                <a:latin typeface="Calibri"/>
              </a:rPr>
              <a:t>Bu bilgilere göre Çin’in dünya tavuk eti üretiminde üçüncü, ihracatında ise beşinci sırada yer almasının en önemli sebebi aşağıdakilerden hangisidir?</a:t>
            </a:r>
          </a:p>
        </p:txBody>
      </p:sp>
      <p:sp>
        <p:nvSpPr>
          <p:cNvPr id="10" name="Rounded Rectangle 9"/>
          <p:cNvSpPr/>
          <p:nvPr/>
        </p:nvSpPr>
        <p:spPr>
          <a:xfrm>
            <a:off x="5367528" y="2395728"/>
            <a:ext cx="6321247" cy="705916"/>
          </a:xfrm>
          <a:prstGeom prst="roundRect">
            <a:avLst>
              <a:gd name="adj" fmla="val 15544"/>
            </a:avLst>
          </a:prstGeom>
          <a:solidFill>
            <a:srgbClr val="E3F1E4"/>
          </a:solidFill>
          <a:ln w="31750">
            <a:solidFill>
              <a:srgbClr val="2E7D32"/>
            </a:solidFill>
          </a:ln>
          <a:effectLst/>
        </p:spPr>
        <p:txBody>
          <a:bodyPr rtlCol="0" anchor="ctr"/>
          <a:lstStyle/>
          <a:p/>
        </p:txBody>
      </p:sp>
      <p:sp>
        <p:nvSpPr>
          <p:cNvPr id="11" name="Oval 10"/>
          <p:cNvSpPr/>
          <p:nvPr/>
        </p:nvSpPr>
        <p:spPr>
          <a:xfrm>
            <a:off x="5468112" y="2520086"/>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2" name="TextBox 11"/>
          <p:cNvSpPr txBox="1"/>
          <p:nvPr/>
        </p:nvSpPr>
        <p:spPr>
          <a:xfrm>
            <a:off x="6025896" y="2395728"/>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1" i="0">
                <a:solidFill>
                  <a:srgbClr val="262626"/>
                </a:solidFill>
                <a:latin typeface="Calibri"/>
              </a:rPr>
              <a:t>Ülke içi tüketimin fazla olması</a:t>
            </a:r>
          </a:p>
          <a:p>
            <a:pPr algn="l">
              <a:spcBef>
                <a:spcPts val="0"/>
              </a:spcBef>
              <a:spcAft>
                <a:spcPts val="0"/>
              </a:spcAft>
            </a:pPr>
            <a:r>
              <a:rPr lang="tr-TR" sz="1600" b="0" i="0">
                <a:solidFill>
                  <a:srgbClr val="2E7D32"/>
                </a:solidFill>
                <a:latin typeface="Calibri"/>
              </a:rPr>
              <a:t>→ Metin: Çin gibi ülkelerde tüketim artışı</a:t>
            </a:r>
          </a:p>
        </p:txBody>
      </p:sp>
      <p:sp>
        <p:nvSpPr>
          <p:cNvPr id="13" name="Rounded Rectangle 12"/>
          <p:cNvSpPr/>
          <p:nvPr/>
        </p:nvSpPr>
        <p:spPr>
          <a:xfrm>
            <a:off x="5367528" y="3193084"/>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14" name="Oval 13"/>
          <p:cNvSpPr/>
          <p:nvPr/>
        </p:nvSpPr>
        <p:spPr>
          <a:xfrm>
            <a:off x="5468112" y="3317443"/>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5" name="TextBox 14"/>
          <p:cNvSpPr txBox="1"/>
          <p:nvPr/>
        </p:nvSpPr>
        <p:spPr>
          <a:xfrm>
            <a:off x="6025896" y="3193084"/>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Tavuk etinin pahalı olması</a:t>
            </a:r>
          </a:p>
          <a:p>
            <a:pPr algn="l">
              <a:spcBef>
                <a:spcPts val="0"/>
              </a:spcBef>
              <a:spcAft>
                <a:spcPts val="0"/>
              </a:spcAft>
            </a:pPr>
            <a:r>
              <a:rPr lang="tr-TR" sz="1600" b="0" i="0">
                <a:solidFill>
                  <a:srgbClr val="767676"/>
                </a:solidFill>
                <a:latin typeface="Calibri"/>
              </a:rPr>
              <a:t>→ Metne ters: tavuk eti ucuz</a:t>
            </a:r>
          </a:p>
        </p:txBody>
      </p:sp>
      <p:sp>
        <p:nvSpPr>
          <p:cNvPr id="16" name="Rounded Rectangle 15"/>
          <p:cNvSpPr/>
          <p:nvPr/>
        </p:nvSpPr>
        <p:spPr>
          <a:xfrm>
            <a:off x="5367528" y="3990441"/>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17" name="Oval 16"/>
          <p:cNvSpPr/>
          <p:nvPr/>
        </p:nvSpPr>
        <p:spPr>
          <a:xfrm>
            <a:off x="5468112" y="4114799"/>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8" name="TextBox 17"/>
          <p:cNvSpPr txBox="1"/>
          <p:nvPr/>
        </p:nvSpPr>
        <p:spPr>
          <a:xfrm>
            <a:off x="6025896" y="3990441"/>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Dağıtım araçlarının yetersiz olması</a:t>
            </a:r>
          </a:p>
          <a:p>
            <a:pPr algn="l">
              <a:spcBef>
                <a:spcPts val="0"/>
              </a:spcBef>
              <a:spcAft>
                <a:spcPts val="0"/>
              </a:spcAft>
            </a:pPr>
            <a:r>
              <a:rPr lang="tr-TR" sz="1600" b="0" i="0">
                <a:solidFill>
                  <a:srgbClr val="767676"/>
                </a:solidFill>
                <a:latin typeface="Calibri"/>
              </a:rPr>
              <a:t>→ Metinde yok</a:t>
            </a:r>
          </a:p>
        </p:txBody>
      </p:sp>
      <p:sp>
        <p:nvSpPr>
          <p:cNvPr id="19" name="Rounded Rectangle 18"/>
          <p:cNvSpPr/>
          <p:nvPr/>
        </p:nvSpPr>
        <p:spPr>
          <a:xfrm>
            <a:off x="5367528" y="4787798"/>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20" name="Oval 19"/>
          <p:cNvSpPr/>
          <p:nvPr/>
        </p:nvSpPr>
        <p:spPr>
          <a:xfrm>
            <a:off x="5468112" y="4912156"/>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1" name="TextBox 20"/>
          <p:cNvSpPr txBox="1"/>
          <p:nvPr/>
        </p:nvSpPr>
        <p:spPr>
          <a:xfrm>
            <a:off x="6025896" y="4787798"/>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Dış pazarlarda alıcı bulamaması</a:t>
            </a:r>
          </a:p>
          <a:p>
            <a:pPr algn="l">
              <a:spcBef>
                <a:spcPts val="0"/>
              </a:spcBef>
              <a:spcAft>
                <a:spcPts val="0"/>
              </a:spcAft>
            </a:pPr>
            <a:r>
              <a:rPr lang="tr-TR" sz="1600" b="0" i="0">
                <a:solidFill>
                  <a:srgbClr val="767676"/>
                </a:solidFill>
                <a:latin typeface="Calibri"/>
              </a:rPr>
              <a:t>→ Metinde yok; dış pazar var (Brezilya, ABD)</a:t>
            </a:r>
          </a:p>
        </p:txBody>
      </p:sp>
      <p:sp>
        <p:nvSpPr>
          <p:cNvPr id="22" name="Rounded Rectangle 21"/>
          <p:cNvSpPr/>
          <p:nvPr/>
        </p:nvSpPr>
        <p:spPr>
          <a:xfrm>
            <a:off x="5367528" y="5585155"/>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23" name="Oval 22"/>
          <p:cNvSpPr/>
          <p:nvPr/>
        </p:nvSpPr>
        <p:spPr>
          <a:xfrm>
            <a:off x="5468112" y="5709513"/>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4" name="TextBox 23"/>
          <p:cNvSpPr txBox="1"/>
          <p:nvPr/>
        </p:nvSpPr>
        <p:spPr>
          <a:xfrm>
            <a:off x="6025896" y="5585155"/>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Pazarlama tekniklerinin yetersiz olması</a:t>
            </a:r>
          </a:p>
          <a:p>
            <a:pPr algn="l">
              <a:spcBef>
                <a:spcPts val="0"/>
              </a:spcBef>
              <a:spcAft>
                <a:spcPts val="0"/>
              </a:spcAft>
            </a:pPr>
            <a:r>
              <a:rPr lang="tr-TR" sz="1600" b="0" i="0">
                <a:solidFill>
                  <a:srgbClr val="767676"/>
                </a:solidFill>
                <a:latin typeface="Calibri"/>
              </a:rPr>
              <a:t>→ Metinde yok</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152 / 166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4-5: Akkuyu Nükleer Güç Santrali</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4-5</a:t>
            </a:r>
          </a:p>
        </p:txBody>
      </p:sp>
      <p:sp>
        <p:nvSpPr>
          <p:cNvPr id="6" name="TextBox 5"/>
          <p:cNvSpPr txBox="1"/>
          <p:nvPr/>
        </p:nvSpPr>
        <p:spPr>
          <a:xfrm>
            <a:off x="502920" y="1170432"/>
            <a:ext cx="11185855" cy="365760"/>
          </a:xfrm>
          <a:prstGeom prst="rect">
            <a:avLst/>
          </a:prstGeom>
          <a:noFill/>
        </p:spPr>
        <p:txBody>
          <a:bodyPr wrap="square" anchor="t" lIns="73152" rIns="73152" tIns="36576" bIns="36576">
            <a:noAutofit/>
          </a:bodyPr>
          <a:lstStyle/>
          <a:p>
            <a:pPr algn="l">
              <a:spcBef>
                <a:spcPts val="0"/>
              </a:spcBef>
              <a:spcAft>
                <a:spcPts val="0"/>
              </a:spcAft>
            </a:pPr>
            <a:r>
              <a:rPr lang="tr-TR" sz="1600" b="0" i="1">
                <a:solidFill>
                  <a:srgbClr val="767676"/>
                </a:solidFill>
                <a:latin typeface="Calibri"/>
              </a:rPr>
              <a:t>4 ve 5. soruları aşağıdaki metne göre cevaplayınız.</a:t>
            </a:r>
          </a:p>
        </p:txBody>
      </p:sp>
      <p:sp>
        <p:nvSpPr>
          <p:cNvPr id="7" name="Rounded Rectangle 6"/>
          <p:cNvSpPr/>
          <p:nvPr/>
        </p:nvSpPr>
        <p:spPr>
          <a:xfrm>
            <a:off x="502920" y="1627632"/>
            <a:ext cx="11185855" cy="4617720"/>
          </a:xfrm>
          <a:prstGeom prst="roundRect">
            <a:avLst>
              <a:gd name="adj" fmla="val 6000"/>
            </a:avLst>
          </a:prstGeom>
          <a:solidFill>
            <a:srgbClr val="F0F0F0"/>
          </a:solidFill>
          <a:ln>
            <a:noFill/>
          </a:ln>
          <a:effectLst/>
        </p:spPr>
        <p:txBody>
          <a:bodyPr rtlCol="0" anchor="ctr"/>
          <a:lstStyle/>
          <a:p/>
        </p:txBody>
      </p:sp>
      <p:sp>
        <p:nvSpPr>
          <p:cNvPr id="8" name="Rectangle 7"/>
          <p:cNvSpPr/>
          <p:nvPr/>
        </p:nvSpPr>
        <p:spPr>
          <a:xfrm>
            <a:off x="502920" y="1627632"/>
            <a:ext cx="118872" cy="4617720"/>
          </a:xfrm>
          <a:prstGeom prst="rect">
            <a:avLst/>
          </a:prstGeom>
          <a:solidFill>
            <a:srgbClr val="B85C12"/>
          </a:solidFill>
          <a:ln>
            <a:noFill/>
          </a:ln>
          <a:effectLst/>
        </p:spPr>
        <p:txBody>
          <a:bodyPr rtlCol="0" anchor="ctr"/>
          <a:lstStyle/>
          <a:p/>
        </p:txBody>
      </p:sp>
      <p:sp>
        <p:nvSpPr>
          <p:cNvPr id="9" name="TextBox 8"/>
          <p:cNvSpPr txBox="1"/>
          <p:nvPr/>
        </p:nvSpPr>
        <p:spPr>
          <a:xfrm>
            <a:off x="777240" y="1627632"/>
            <a:ext cx="10774375" cy="4617720"/>
          </a:xfrm>
          <a:prstGeom prst="rect">
            <a:avLst/>
          </a:prstGeom>
          <a:noFill/>
        </p:spPr>
        <p:txBody>
          <a:bodyPr wrap="square" anchor="ctr" lIns="73152" rIns="73152" tIns="36576" bIns="36576">
            <a:noAutofit/>
          </a:bodyPr>
          <a:lstStyle/>
          <a:p>
            <a:pPr algn="l">
              <a:spcBef>
                <a:spcPts val="0"/>
              </a:spcBef>
              <a:spcAft>
                <a:spcPts val="1125"/>
              </a:spcAft>
            </a:pPr>
            <a:r>
              <a:rPr lang="tr-TR" sz="2250" b="0" i="0">
                <a:solidFill>
                  <a:srgbClr val="262626"/>
                </a:solidFill>
                <a:latin typeface="Calibri"/>
              </a:rPr>
              <a:t>Akkuyu Nükleer Güç Santralinin (ANGS) inşaatına 2013 yılında Taşeli Platosu’nun Akdeniz’le buluştuğu Mersin ili Gülnar ilçesi sınırlarında başlanmıştır. Santral; 9 şiddetindeki bir depreme, saniyede 60 metre hızındaki fırtınalara, günlük 314 mm’ye kadar yağışlara, yüksekliği 10 metreye kadar olan dalgalara dayanabilecek durumda inşa edilmektedir.</a:t>
            </a:r>
          </a:p>
          <a:p>
            <a:pPr algn="l">
              <a:spcBef>
                <a:spcPts val="0"/>
              </a:spcBef>
              <a:spcAft>
                <a:spcPts val="1125"/>
              </a:spcAft>
            </a:pPr>
            <a:r>
              <a:rPr lang="tr-TR" sz="2250" b="0" i="0">
                <a:solidFill>
                  <a:srgbClr val="262626"/>
                </a:solidFill>
                <a:latin typeface="Calibri"/>
              </a:rPr>
              <a:t>ANGS’deki reaktörlerin soğutulmasında bol miktarda suya ihtiyaç vardır. Bu su, deniz suyunun türbin yoğuşturucuları ve ısı transfer ekipmanlarının soğutulmasında kullanılarak herhangi bir kirlenme olmadan denize geri verilecektir.</a:t>
            </a:r>
          </a:p>
          <a:p>
            <a:pPr algn="l">
              <a:spcBef>
                <a:spcPts val="0"/>
              </a:spcBef>
              <a:spcAft>
                <a:spcPts val="0"/>
              </a:spcAft>
            </a:pPr>
            <a:r>
              <a:rPr lang="tr-TR" sz="2250" b="0" i="0">
                <a:solidFill>
                  <a:srgbClr val="262626"/>
                </a:solidFill>
                <a:latin typeface="Calibri"/>
              </a:rPr>
              <a:t>Mersin ilinin Silifke ve Gülnar ilçesinde ulaşım ve liman altyapısı gelişmektedir. Bu kapsamda Mersin-Antalya kara yolunda ulaşımın iyileştirilmesi için köprü ve viyadük çalışmaları devam etmektedir. Proje için gerekli ekipmanların bir kısmı ise deniz yolu ile taşınmaktadır.</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153 / 166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4: santralin kuruluş yeri</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4</a:t>
            </a:r>
          </a:p>
        </p:txBody>
      </p:sp>
      <p:sp>
        <p:nvSpPr>
          <p:cNvPr id="6" name="Rounded Rectangle 5"/>
          <p:cNvSpPr/>
          <p:nvPr/>
        </p:nvSpPr>
        <p:spPr>
          <a:xfrm>
            <a:off x="502920" y="1216152"/>
            <a:ext cx="5760720" cy="50292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18872" cy="5029200"/>
          </a:xfrm>
          <a:prstGeom prst="rect">
            <a:avLst/>
          </a:prstGeom>
          <a:solidFill>
            <a:srgbClr val="B85C12"/>
          </a:solidFill>
          <a:ln>
            <a:noFill/>
          </a:ln>
          <a:effectLst/>
        </p:spPr>
        <p:txBody>
          <a:bodyPr rtlCol="0" anchor="ctr"/>
          <a:lstStyle/>
          <a:p/>
        </p:txBody>
      </p:sp>
      <p:sp>
        <p:nvSpPr>
          <p:cNvPr id="8" name="TextBox 7"/>
          <p:cNvSpPr txBox="1"/>
          <p:nvPr/>
        </p:nvSpPr>
        <p:spPr>
          <a:xfrm>
            <a:off x="777240" y="1216152"/>
            <a:ext cx="5349240" cy="5029200"/>
          </a:xfrm>
          <a:prstGeom prst="rect">
            <a:avLst/>
          </a:prstGeom>
          <a:noFill/>
        </p:spPr>
        <p:txBody>
          <a:bodyPr wrap="square" anchor="ctr" lIns="73152" rIns="73152" tIns="36576" bIns="36576">
            <a:noAutofit/>
          </a:bodyPr>
          <a:lstStyle/>
          <a:p>
            <a:pPr algn="l">
              <a:spcBef>
                <a:spcPts val="0"/>
              </a:spcBef>
              <a:spcAft>
                <a:spcPts val="800"/>
              </a:spcAft>
            </a:pPr>
            <a:r>
              <a:rPr lang="tr-TR" sz="1700" b="0" i="0">
                <a:solidFill>
                  <a:srgbClr val="262626"/>
                </a:solidFill>
                <a:latin typeface="Calibri"/>
              </a:rPr>
              <a:t>Akkuyu Nükleer Güç Santralinin (ANGS) inşaatına 2013 yılında Taşeli Platosu’nun Akdeniz’le buluştuğu Mersin ili Gülnar ilçesi sınırlarında başlanmıştır. Santral; 9 şiddetindeki bir depreme, saniyede 60 metre hızındaki fırtınalara, günlük 314 mm’ye kadar yağışlara, yüksekliği 10 metreye kadar olan dalgalara dayanabilecek durumda inşa edilmektedir.</a:t>
            </a:r>
          </a:p>
          <a:p>
            <a:pPr algn="l">
              <a:spcBef>
                <a:spcPts val="0"/>
              </a:spcBef>
              <a:spcAft>
                <a:spcPts val="800"/>
              </a:spcAft>
            </a:pPr>
            <a:r>
              <a:rPr lang="tr-TR" sz="1700" b="0" i="0">
                <a:solidFill>
                  <a:srgbClr val="262626"/>
                </a:solidFill>
                <a:latin typeface="Calibri"/>
              </a:rPr>
              <a:t>ANGS’deki reaktörlerin soğutulmasında bol miktarda suya ihtiyaç vardır. Bu su, deniz suyunun türbin yoğuşturucuları ve ısı transfer ekipmanlarının soğutulmasında kullanılarak herhangi bir kirlenme olmadan denize geri verilecektir.</a:t>
            </a:r>
          </a:p>
          <a:p>
            <a:pPr algn="l">
              <a:spcBef>
                <a:spcPts val="0"/>
              </a:spcBef>
              <a:spcAft>
                <a:spcPts val="0"/>
              </a:spcAft>
            </a:pPr>
            <a:r>
              <a:rPr lang="tr-TR" sz="1700" b="0" i="0">
                <a:solidFill>
                  <a:srgbClr val="262626"/>
                </a:solidFill>
                <a:latin typeface="Calibri"/>
              </a:rPr>
              <a:t>Mersin ilinin Silifke ve Gülnar ilçesinde ulaşım ve liman altyapısı gelişmektedir. Bu kapsamda Mersin-Antalya kara yolunda ulaşımın iyileştirilmesi için köprü ve viyadük çalışmaları devam etmektedir. Proje için gerekli ekipmanların bir kısmı ise deniz yolu ile taşınmaktadır.</a:t>
            </a:r>
          </a:p>
        </p:txBody>
      </p:sp>
      <p:sp>
        <p:nvSpPr>
          <p:cNvPr id="9" name="Rounded Rectangle 8"/>
          <p:cNvSpPr/>
          <p:nvPr/>
        </p:nvSpPr>
        <p:spPr>
          <a:xfrm>
            <a:off x="6464808" y="1216152"/>
            <a:ext cx="5223967" cy="1508760"/>
          </a:xfrm>
          <a:prstGeom prst="roundRect">
            <a:avLst>
              <a:gd name="adj" fmla="val 8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2100" b="1" i="0">
                <a:solidFill>
                  <a:srgbClr val="262626"/>
                </a:solidFill>
                <a:latin typeface="Calibri"/>
              </a:rPr>
              <a:t>Akkuyu Nükleer Güç Santralinin kuruluş yerinin seçiminde aşağıdakilerden hangisi etkili olmuştur?</a:t>
            </a:r>
          </a:p>
        </p:txBody>
      </p:sp>
      <p:sp>
        <p:nvSpPr>
          <p:cNvPr id="10" name="Rounded Rectangle 9"/>
          <p:cNvSpPr/>
          <p:nvPr/>
        </p:nvSpPr>
        <p:spPr>
          <a:xfrm>
            <a:off x="6464808" y="2852928"/>
            <a:ext cx="5223967" cy="492505"/>
          </a:xfrm>
          <a:prstGeom prst="roundRect">
            <a:avLst>
              <a:gd name="adj" fmla="val 22279"/>
            </a:avLst>
          </a:prstGeom>
          <a:solidFill>
            <a:srgbClr val="FFFFFF"/>
          </a:solidFill>
          <a:ln w="12700">
            <a:solidFill>
              <a:srgbClr val="D9D9D9"/>
            </a:solidFill>
          </a:ln>
          <a:effectLst/>
        </p:spPr>
        <p:txBody>
          <a:bodyPr rtlCol="0" anchor="ctr"/>
          <a:lstStyle/>
          <a:p/>
        </p:txBody>
      </p:sp>
      <p:sp>
        <p:nvSpPr>
          <p:cNvPr id="11" name="Oval 10"/>
          <p:cNvSpPr/>
          <p:nvPr/>
        </p:nvSpPr>
        <p:spPr>
          <a:xfrm>
            <a:off x="6565392" y="2898648"/>
            <a:ext cx="401065" cy="401065"/>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2" name="TextBox 11"/>
          <p:cNvSpPr txBox="1"/>
          <p:nvPr/>
        </p:nvSpPr>
        <p:spPr>
          <a:xfrm>
            <a:off x="7123176" y="2852928"/>
            <a:ext cx="4474159" cy="492505"/>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Verimli tarım topraklarının varlığı</a:t>
            </a:r>
          </a:p>
        </p:txBody>
      </p:sp>
      <p:sp>
        <p:nvSpPr>
          <p:cNvPr id="13" name="Rounded Rectangle 12"/>
          <p:cNvSpPr/>
          <p:nvPr/>
        </p:nvSpPr>
        <p:spPr>
          <a:xfrm>
            <a:off x="6464808" y="3436873"/>
            <a:ext cx="5223967" cy="492505"/>
          </a:xfrm>
          <a:prstGeom prst="roundRect">
            <a:avLst>
              <a:gd name="adj" fmla="val 22279"/>
            </a:avLst>
          </a:prstGeom>
          <a:solidFill>
            <a:srgbClr val="FFFFFF"/>
          </a:solidFill>
          <a:ln w="12700">
            <a:solidFill>
              <a:srgbClr val="D9D9D9"/>
            </a:solidFill>
          </a:ln>
          <a:effectLst/>
        </p:spPr>
        <p:txBody>
          <a:bodyPr rtlCol="0" anchor="ctr"/>
          <a:lstStyle/>
          <a:p/>
        </p:txBody>
      </p:sp>
      <p:sp>
        <p:nvSpPr>
          <p:cNvPr id="14" name="Oval 13"/>
          <p:cNvSpPr/>
          <p:nvPr/>
        </p:nvSpPr>
        <p:spPr>
          <a:xfrm>
            <a:off x="6565392" y="3482593"/>
            <a:ext cx="401065" cy="401065"/>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5" name="TextBox 14"/>
          <p:cNvSpPr txBox="1"/>
          <p:nvPr/>
        </p:nvSpPr>
        <p:spPr>
          <a:xfrm>
            <a:off x="7123176" y="3436873"/>
            <a:ext cx="4474159" cy="492505"/>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Dağlık ve engebeli bir arazi yapısı</a:t>
            </a:r>
          </a:p>
        </p:txBody>
      </p:sp>
      <p:sp>
        <p:nvSpPr>
          <p:cNvPr id="16" name="Rounded Rectangle 15"/>
          <p:cNvSpPr/>
          <p:nvPr/>
        </p:nvSpPr>
        <p:spPr>
          <a:xfrm>
            <a:off x="6464808" y="4020818"/>
            <a:ext cx="5223967" cy="492505"/>
          </a:xfrm>
          <a:prstGeom prst="roundRect">
            <a:avLst>
              <a:gd name="adj" fmla="val 22279"/>
            </a:avLst>
          </a:prstGeom>
          <a:solidFill>
            <a:srgbClr val="FFFFFF"/>
          </a:solidFill>
          <a:ln w="12700">
            <a:solidFill>
              <a:srgbClr val="D9D9D9"/>
            </a:solidFill>
          </a:ln>
          <a:effectLst/>
        </p:spPr>
        <p:txBody>
          <a:bodyPr rtlCol="0" anchor="ctr"/>
          <a:lstStyle/>
          <a:p/>
        </p:txBody>
      </p:sp>
      <p:sp>
        <p:nvSpPr>
          <p:cNvPr id="17" name="Oval 16"/>
          <p:cNvSpPr/>
          <p:nvPr/>
        </p:nvSpPr>
        <p:spPr>
          <a:xfrm>
            <a:off x="6565392" y="4066538"/>
            <a:ext cx="401065" cy="401065"/>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8" name="TextBox 17"/>
          <p:cNvSpPr txBox="1"/>
          <p:nvPr/>
        </p:nvSpPr>
        <p:spPr>
          <a:xfrm>
            <a:off x="7123176" y="4020818"/>
            <a:ext cx="4474159" cy="492505"/>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Gelişmiş ulaşım ağına sahip olması</a:t>
            </a:r>
          </a:p>
        </p:txBody>
      </p:sp>
      <p:sp>
        <p:nvSpPr>
          <p:cNvPr id="19" name="Rounded Rectangle 18"/>
          <p:cNvSpPr/>
          <p:nvPr/>
        </p:nvSpPr>
        <p:spPr>
          <a:xfrm>
            <a:off x="6464808" y="4604763"/>
            <a:ext cx="5223967"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20" name="Oval 19"/>
          <p:cNvSpPr/>
          <p:nvPr/>
        </p:nvSpPr>
        <p:spPr>
          <a:xfrm>
            <a:off x="6565392" y="4741923"/>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1" name="TextBox 20"/>
          <p:cNvSpPr txBox="1"/>
          <p:nvPr/>
        </p:nvSpPr>
        <p:spPr>
          <a:xfrm>
            <a:off x="7123176" y="4604763"/>
            <a:ext cx="4474159" cy="7315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Deniz suyunun soğutma amaçlı kullanılacak olması</a:t>
            </a:r>
          </a:p>
        </p:txBody>
      </p:sp>
      <p:sp>
        <p:nvSpPr>
          <p:cNvPr id="22" name="Rounded Rectangle 21"/>
          <p:cNvSpPr/>
          <p:nvPr/>
        </p:nvSpPr>
        <p:spPr>
          <a:xfrm>
            <a:off x="6464808" y="5427723"/>
            <a:ext cx="5223967"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23" name="Oval 22"/>
          <p:cNvSpPr/>
          <p:nvPr/>
        </p:nvSpPr>
        <p:spPr>
          <a:xfrm>
            <a:off x="6565392" y="5564883"/>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4" name="TextBox 23"/>
          <p:cNvSpPr txBox="1"/>
          <p:nvPr/>
        </p:nvSpPr>
        <p:spPr>
          <a:xfrm>
            <a:off x="7123176" y="5427723"/>
            <a:ext cx="4474159" cy="7315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Yer altı kaynakları bakımından zengin olması</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154 / 166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4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4</a:t>
            </a:r>
          </a:p>
        </p:txBody>
      </p:sp>
      <p:sp>
        <p:nvSpPr>
          <p:cNvPr id="6" name="Rounded Rectangle 5"/>
          <p:cNvSpPr/>
          <p:nvPr/>
        </p:nvSpPr>
        <p:spPr>
          <a:xfrm>
            <a:off x="502920" y="1216152"/>
            <a:ext cx="4663440" cy="50292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18872" cy="5029200"/>
          </a:xfrm>
          <a:prstGeom prst="rect">
            <a:avLst/>
          </a:prstGeom>
          <a:solidFill>
            <a:srgbClr val="2E7D32"/>
          </a:solidFill>
          <a:ln>
            <a:noFill/>
          </a:ln>
          <a:effectLst/>
        </p:spPr>
        <p:txBody>
          <a:bodyPr rtlCol="0" anchor="ctr"/>
          <a:lstStyle/>
          <a:p/>
        </p:txBody>
      </p:sp>
      <p:sp>
        <p:nvSpPr>
          <p:cNvPr id="8" name="TextBox 7"/>
          <p:cNvSpPr txBox="1"/>
          <p:nvPr/>
        </p:nvSpPr>
        <p:spPr>
          <a:xfrm>
            <a:off x="777240" y="1216152"/>
            <a:ext cx="4251960" cy="5029200"/>
          </a:xfrm>
          <a:prstGeom prst="rect">
            <a:avLst/>
          </a:prstGeom>
          <a:noFill/>
        </p:spPr>
        <p:txBody>
          <a:bodyPr wrap="square" anchor="ctr" lIns="73152" rIns="73152" tIns="36576" bIns="36576">
            <a:noAutofit/>
          </a:bodyPr>
          <a:lstStyle/>
          <a:p>
            <a:pPr algn="l">
              <a:spcBef>
                <a:spcPts val="0"/>
              </a:spcBef>
              <a:spcAft>
                <a:spcPts val="800"/>
              </a:spcAft>
            </a:pPr>
            <a:r>
              <a:rPr lang="tr-TR" sz="1600" b="1" i="0">
                <a:solidFill>
                  <a:srgbClr val="2E7D32"/>
                </a:solidFill>
                <a:latin typeface="Calibri"/>
              </a:rPr>
              <a:t>Metindeki kanıtlar</a:t>
            </a:r>
          </a:p>
          <a:p>
            <a:pPr algn="l">
              <a:spcBef>
                <a:spcPts val="0"/>
              </a:spcBef>
              <a:spcAft>
                <a:spcPts val="800"/>
              </a:spcAft>
            </a:pPr>
            <a:r>
              <a:rPr lang="tr-TR" sz="2000" b="0" i="0">
                <a:solidFill>
                  <a:srgbClr val="262626"/>
                </a:solidFill>
                <a:latin typeface="Calibri"/>
              </a:rPr>
              <a:t>… </a:t>
            </a:r>
            <a:r>
              <a:rPr lang="tr-TR" sz="2000" b="1" i="0">
                <a:solidFill>
                  <a:srgbClr val="262626"/>
                </a:solidFill>
                <a:latin typeface="Calibri"/>
              </a:rPr>
              <a:t>ANGS’deki reaktörlerin soğutulmasında bol miktarda suya ihtiyaç vardır. Bu su, deniz suyunun türbin yoğuşturucuları ve ısı transfer ekipmanlarının soğutulmasında kullanılarak herhangi bir kirlenme olmadan denize geri verilecektir.</a:t>
            </a:r>
          </a:p>
          <a:p>
            <a:pPr algn="l">
              <a:spcBef>
                <a:spcPts val="0"/>
              </a:spcBef>
              <a:spcAft>
                <a:spcPts val="0"/>
              </a:spcAft>
            </a:pPr>
            <a:r>
              <a:rPr lang="tr-TR" sz="2000" b="0" i="0">
                <a:solidFill>
                  <a:srgbClr val="262626"/>
                </a:solidFill>
                <a:latin typeface="Calibri"/>
              </a:rPr>
              <a:t>… Mersin ilinin Silifke ve Gülnar ilçesinde ulaşım ve liman altyapısı gelişmektedir. …</a:t>
            </a:r>
          </a:p>
        </p:txBody>
      </p:sp>
      <p:sp>
        <p:nvSpPr>
          <p:cNvPr id="9" name="Rounded Rectangle 8"/>
          <p:cNvSpPr/>
          <p:nvPr/>
        </p:nvSpPr>
        <p:spPr>
          <a:xfrm>
            <a:off x="5367528" y="1216152"/>
            <a:ext cx="6321247" cy="1051560"/>
          </a:xfrm>
          <a:prstGeom prst="roundRect">
            <a:avLst>
              <a:gd name="adj" fmla="val 8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1800" b="1" i="0">
                <a:solidFill>
                  <a:srgbClr val="262626"/>
                </a:solidFill>
                <a:latin typeface="Calibri"/>
              </a:rPr>
              <a:t>Akkuyu Nükleer Güç Santralinin kuruluş yerinin seçiminde aşağıdakilerden hangisi etkili olmuştur?</a:t>
            </a:r>
          </a:p>
        </p:txBody>
      </p:sp>
      <p:sp>
        <p:nvSpPr>
          <p:cNvPr id="10" name="Rounded Rectangle 9"/>
          <p:cNvSpPr/>
          <p:nvPr/>
        </p:nvSpPr>
        <p:spPr>
          <a:xfrm>
            <a:off x="5367528" y="2395728"/>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11" name="Oval 10"/>
          <p:cNvSpPr/>
          <p:nvPr/>
        </p:nvSpPr>
        <p:spPr>
          <a:xfrm>
            <a:off x="5468112" y="2520086"/>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2" name="TextBox 11"/>
          <p:cNvSpPr txBox="1"/>
          <p:nvPr/>
        </p:nvSpPr>
        <p:spPr>
          <a:xfrm>
            <a:off x="6025896" y="2395728"/>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1950" b="0" i="0">
                <a:solidFill>
                  <a:srgbClr val="767676"/>
                </a:solidFill>
                <a:latin typeface="Calibri"/>
              </a:rPr>
              <a:t>Verimli tarım topraklarının varlığı</a:t>
            </a:r>
          </a:p>
          <a:p>
            <a:pPr algn="l">
              <a:spcBef>
                <a:spcPts val="0"/>
              </a:spcBef>
              <a:spcAft>
                <a:spcPts val="0"/>
              </a:spcAft>
            </a:pPr>
            <a:r>
              <a:rPr lang="tr-TR" sz="1560" b="0" i="0">
                <a:solidFill>
                  <a:srgbClr val="767676"/>
                </a:solidFill>
                <a:latin typeface="Calibri"/>
              </a:rPr>
              <a:t>→ Metinde yok</a:t>
            </a:r>
          </a:p>
        </p:txBody>
      </p:sp>
      <p:sp>
        <p:nvSpPr>
          <p:cNvPr id="13" name="Rounded Rectangle 12"/>
          <p:cNvSpPr/>
          <p:nvPr/>
        </p:nvSpPr>
        <p:spPr>
          <a:xfrm>
            <a:off x="5367528" y="3193084"/>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14" name="Oval 13"/>
          <p:cNvSpPr/>
          <p:nvPr/>
        </p:nvSpPr>
        <p:spPr>
          <a:xfrm>
            <a:off x="5468112" y="3317443"/>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5" name="TextBox 14"/>
          <p:cNvSpPr txBox="1"/>
          <p:nvPr/>
        </p:nvSpPr>
        <p:spPr>
          <a:xfrm>
            <a:off x="6025896" y="3193084"/>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1950" b="0" i="0">
                <a:solidFill>
                  <a:srgbClr val="767676"/>
                </a:solidFill>
                <a:latin typeface="Calibri"/>
              </a:rPr>
              <a:t>Dağlık ve engebeli bir arazi yapısı</a:t>
            </a:r>
          </a:p>
          <a:p>
            <a:pPr algn="l">
              <a:spcBef>
                <a:spcPts val="0"/>
              </a:spcBef>
              <a:spcAft>
                <a:spcPts val="0"/>
              </a:spcAft>
            </a:pPr>
            <a:r>
              <a:rPr lang="tr-TR" sz="1560" b="0" i="0">
                <a:solidFill>
                  <a:srgbClr val="767676"/>
                </a:solidFill>
                <a:latin typeface="Calibri"/>
              </a:rPr>
              <a:t>→ Metinde yer seçiminin nedeni değil</a:t>
            </a:r>
          </a:p>
        </p:txBody>
      </p:sp>
      <p:sp>
        <p:nvSpPr>
          <p:cNvPr id="16" name="Rounded Rectangle 15"/>
          <p:cNvSpPr/>
          <p:nvPr/>
        </p:nvSpPr>
        <p:spPr>
          <a:xfrm>
            <a:off x="5367528" y="3990441"/>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17" name="Oval 16"/>
          <p:cNvSpPr/>
          <p:nvPr/>
        </p:nvSpPr>
        <p:spPr>
          <a:xfrm>
            <a:off x="5468112" y="4114799"/>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8" name="TextBox 17"/>
          <p:cNvSpPr txBox="1"/>
          <p:nvPr/>
        </p:nvSpPr>
        <p:spPr>
          <a:xfrm>
            <a:off x="6025896" y="3990441"/>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1950" b="0" i="0">
                <a:solidFill>
                  <a:srgbClr val="767676"/>
                </a:solidFill>
                <a:latin typeface="Calibri"/>
              </a:rPr>
              <a:t>Gelişmiş ulaşım ağına sahip olması</a:t>
            </a:r>
          </a:p>
          <a:p>
            <a:pPr algn="l">
              <a:spcBef>
                <a:spcPts val="0"/>
              </a:spcBef>
              <a:spcAft>
                <a:spcPts val="0"/>
              </a:spcAft>
            </a:pPr>
            <a:r>
              <a:rPr lang="tr-TR" sz="1560" b="0" i="0">
                <a:solidFill>
                  <a:srgbClr val="767676"/>
                </a:solidFill>
                <a:latin typeface="Calibri"/>
              </a:rPr>
              <a:t>→ Ulaşım 'gelişmektedir': santralle geliyor</a:t>
            </a:r>
          </a:p>
        </p:txBody>
      </p:sp>
      <p:sp>
        <p:nvSpPr>
          <p:cNvPr id="19" name="Rounded Rectangle 18"/>
          <p:cNvSpPr/>
          <p:nvPr/>
        </p:nvSpPr>
        <p:spPr>
          <a:xfrm>
            <a:off x="5367528" y="4787798"/>
            <a:ext cx="6321247" cy="705916"/>
          </a:xfrm>
          <a:prstGeom prst="roundRect">
            <a:avLst>
              <a:gd name="adj" fmla="val 15544"/>
            </a:avLst>
          </a:prstGeom>
          <a:solidFill>
            <a:srgbClr val="E3F1E4"/>
          </a:solidFill>
          <a:ln w="31750">
            <a:solidFill>
              <a:srgbClr val="2E7D32"/>
            </a:solidFill>
          </a:ln>
          <a:effectLst/>
        </p:spPr>
        <p:txBody>
          <a:bodyPr rtlCol="0" anchor="ctr"/>
          <a:lstStyle/>
          <a:p/>
        </p:txBody>
      </p:sp>
      <p:sp>
        <p:nvSpPr>
          <p:cNvPr id="20" name="Oval 19"/>
          <p:cNvSpPr/>
          <p:nvPr/>
        </p:nvSpPr>
        <p:spPr>
          <a:xfrm>
            <a:off x="5468112" y="4912156"/>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1" name="TextBox 20"/>
          <p:cNvSpPr txBox="1"/>
          <p:nvPr/>
        </p:nvSpPr>
        <p:spPr>
          <a:xfrm>
            <a:off x="6025896" y="4787798"/>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1950" b="1" i="0">
                <a:solidFill>
                  <a:srgbClr val="262626"/>
                </a:solidFill>
                <a:latin typeface="Calibri"/>
              </a:rPr>
              <a:t>Deniz suyunun soğutma amaçlı kullanılacak olması</a:t>
            </a:r>
          </a:p>
          <a:p>
            <a:pPr algn="l">
              <a:spcBef>
                <a:spcPts val="0"/>
              </a:spcBef>
              <a:spcAft>
                <a:spcPts val="0"/>
              </a:spcAft>
            </a:pPr>
            <a:r>
              <a:rPr lang="tr-TR" sz="1560" b="0" i="0">
                <a:solidFill>
                  <a:srgbClr val="2E7D32"/>
                </a:solidFill>
                <a:latin typeface="Calibri"/>
              </a:rPr>
              <a:t>→ Soğutma için bol su: deniz suyu</a:t>
            </a:r>
          </a:p>
        </p:txBody>
      </p:sp>
      <p:sp>
        <p:nvSpPr>
          <p:cNvPr id="22" name="Rounded Rectangle 21"/>
          <p:cNvSpPr/>
          <p:nvPr/>
        </p:nvSpPr>
        <p:spPr>
          <a:xfrm>
            <a:off x="5367528" y="5585155"/>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23" name="Oval 22"/>
          <p:cNvSpPr/>
          <p:nvPr/>
        </p:nvSpPr>
        <p:spPr>
          <a:xfrm>
            <a:off x="5468112" y="5709513"/>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4" name="TextBox 23"/>
          <p:cNvSpPr txBox="1"/>
          <p:nvPr/>
        </p:nvSpPr>
        <p:spPr>
          <a:xfrm>
            <a:off x="6025896" y="5585155"/>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1950" b="0" i="0">
                <a:solidFill>
                  <a:srgbClr val="767676"/>
                </a:solidFill>
                <a:latin typeface="Calibri"/>
              </a:rPr>
              <a:t>Yer altı kaynakları bakımından zengin olması</a:t>
            </a:r>
          </a:p>
          <a:p>
            <a:pPr algn="l">
              <a:spcBef>
                <a:spcPts val="0"/>
              </a:spcBef>
              <a:spcAft>
                <a:spcPts val="0"/>
              </a:spcAft>
            </a:pPr>
            <a:r>
              <a:rPr lang="tr-TR" sz="1560" b="0" i="0">
                <a:solidFill>
                  <a:srgbClr val="767676"/>
                </a:solidFill>
                <a:latin typeface="Calibri"/>
              </a:rPr>
              <a:t>→ Metinde yok</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155 / 166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5: santralin etkilediği beşerî faktör</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5</a:t>
            </a:r>
          </a:p>
        </p:txBody>
      </p:sp>
      <p:sp>
        <p:nvSpPr>
          <p:cNvPr id="6" name="Rounded Rectangle 5"/>
          <p:cNvSpPr/>
          <p:nvPr/>
        </p:nvSpPr>
        <p:spPr>
          <a:xfrm>
            <a:off x="502920" y="1216152"/>
            <a:ext cx="5760720" cy="50292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18872" cy="5029200"/>
          </a:xfrm>
          <a:prstGeom prst="rect">
            <a:avLst/>
          </a:prstGeom>
          <a:solidFill>
            <a:srgbClr val="B85C12"/>
          </a:solidFill>
          <a:ln>
            <a:noFill/>
          </a:ln>
          <a:effectLst/>
        </p:spPr>
        <p:txBody>
          <a:bodyPr rtlCol="0" anchor="ctr"/>
          <a:lstStyle/>
          <a:p/>
        </p:txBody>
      </p:sp>
      <p:sp>
        <p:nvSpPr>
          <p:cNvPr id="8" name="TextBox 7"/>
          <p:cNvSpPr txBox="1"/>
          <p:nvPr/>
        </p:nvSpPr>
        <p:spPr>
          <a:xfrm>
            <a:off x="777240" y="1216152"/>
            <a:ext cx="5349240" cy="5029200"/>
          </a:xfrm>
          <a:prstGeom prst="rect">
            <a:avLst/>
          </a:prstGeom>
          <a:noFill/>
        </p:spPr>
        <p:txBody>
          <a:bodyPr wrap="square" anchor="ctr" lIns="73152" rIns="73152" tIns="36576" bIns="36576">
            <a:noAutofit/>
          </a:bodyPr>
          <a:lstStyle/>
          <a:p>
            <a:pPr algn="l">
              <a:spcBef>
                <a:spcPts val="0"/>
              </a:spcBef>
              <a:spcAft>
                <a:spcPts val="800"/>
              </a:spcAft>
            </a:pPr>
            <a:r>
              <a:rPr lang="tr-TR" sz="1700" b="0" i="0">
                <a:solidFill>
                  <a:srgbClr val="262626"/>
                </a:solidFill>
                <a:latin typeface="Calibri"/>
              </a:rPr>
              <a:t>Akkuyu Nükleer Güç Santralinin (ANGS) inşaatına 2013 yılında Taşeli Platosu’nun Akdeniz’le buluştuğu Mersin ili Gülnar ilçesi sınırlarında başlanmıştır. Santral; 9 şiddetindeki bir depreme, saniyede 60 metre hızındaki fırtınalara, günlük 314 mm’ye kadar yağışlara, yüksekliği 10 metreye kadar olan dalgalara dayanabilecek durumda inşa edilmektedir.</a:t>
            </a:r>
          </a:p>
          <a:p>
            <a:pPr algn="l">
              <a:spcBef>
                <a:spcPts val="0"/>
              </a:spcBef>
              <a:spcAft>
                <a:spcPts val="800"/>
              </a:spcAft>
            </a:pPr>
            <a:r>
              <a:rPr lang="tr-TR" sz="1700" b="0" i="0">
                <a:solidFill>
                  <a:srgbClr val="262626"/>
                </a:solidFill>
                <a:latin typeface="Calibri"/>
              </a:rPr>
              <a:t>ANGS’deki reaktörlerin soğutulmasında bol miktarda suya ihtiyaç vardır. Bu su, deniz suyunun türbin yoğuşturucuları ve ısı transfer ekipmanlarının soğutulmasında kullanılarak herhangi bir kirlenme olmadan denize geri verilecektir.</a:t>
            </a:r>
          </a:p>
          <a:p>
            <a:pPr algn="l">
              <a:spcBef>
                <a:spcPts val="0"/>
              </a:spcBef>
              <a:spcAft>
                <a:spcPts val="0"/>
              </a:spcAft>
            </a:pPr>
            <a:r>
              <a:rPr lang="tr-TR" sz="1700" b="0" i="0">
                <a:solidFill>
                  <a:srgbClr val="262626"/>
                </a:solidFill>
                <a:latin typeface="Calibri"/>
              </a:rPr>
              <a:t>Mersin ilinin Silifke ve Gülnar ilçesinde ulaşım ve liman altyapısı gelişmektedir. Bu kapsamda Mersin-Antalya kara yolunda ulaşımın iyileştirilmesi için köprü ve viyadük çalışmaları devam etmektedir. Proje için gerekli ekipmanların bir kısmı ise deniz yolu ile taşınmaktadır.</a:t>
            </a:r>
          </a:p>
        </p:txBody>
      </p:sp>
      <p:sp>
        <p:nvSpPr>
          <p:cNvPr id="9" name="Rounded Rectangle 8"/>
          <p:cNvSpPr/>
          <p:nvPr/>
        </p:nvSpPr>
        <p:spPr>
          <a:xfrm>
            <a:off x="6464808" y="1216152"/>
            <a:ext cx="5223967" cy="1508760"/>
          </a:xfrm>
          <a:prstGeom prst="roundRect">
            <a:avLst>
              <a:gd name="adj" fmla="val 8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2100" b="1" i="0">
                <a:solidFill>
                  <a:srgbClr val="262626"/>
                </a:solidFill>
                <a:latin typeface="Calibri"/>
              </a:rPr>
              <a:t>Akkuyu NGS, aşağıda verilen beşerî faktörlerden öncelikli olarak hangisinin gelişmesini daha çok etkilemektedir?</a:t>
            </a:r>
          </a:p>
        </p:txBody>
      </p:sp>
      <p:sp>
        <p:nvSpPr>
          <p:cNvPr id="10" name="Rounded Rectangle 9"/>
          <p:cNvSpPr/>
          <p:nvPr/>
        </p:nvSpPr>
        <p:spPr>
          <a:xfrm>
            <a:off x="6464808" y="2852928"/>
            <a:ext cx="522396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11" name="Oval 10"/>
          <p:cNvSpPr/>
          <p:nvPr/>
        </p:nvSpPr>
        <p:spPr>
          <a:xfrm>
            <a:off x="6565392" y="2931566"/>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2" name="TextBox 11"/>
          <p:cNvSpPr txBox="1"/>
          <p:nvPr/>
        </p:nvSpPr>
        <p:spPr>
          <a:xfrm>
            <a:off x="7123176" y="2852928"/>
            <a:ext cx="447415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Sermayenin artması</a:t>
            </a:r>
          </a:p>
        </p:txBody>
      </p:sp>
      <p:sp>
        <p:nvSpPr>
          <p:cNvPr id="13" name="Rounded Rectangle 12"/>
          <p:cNvSpPr/>
          <p:nvPr/>
        </p:nvSpPr>
        <p:spPr>
          <a:xfrm>
            <a:off x="6464808" y="3558844"/>
            <a:ext cx="522396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14" name="Oval 13"/>
          <p:cNvSpPr/>
          <p:nvPr/>
        </p:nvSpPr>
        <p:spPr>
          <a:xfrm>
            <a:off x="6565392" y="3637483"/>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5" name="TextBox 14"/>
          <p:cNvSpPr txBox="1"/>
          <p:nvPr/>
        </p:nvSpPr>
        <p:spPr>
          <a:xfrm>
            <a:off x="7123176" y="3558844"/>
            <a:ext cx="447415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Bitki örtüsünün çeşitlenmesi</a:t>
            </a:r>
          </a:p>
        </p:txBody>
      </p:sp>
      <p:sp>
        <p:nvSpPr>
          <p:cNvPr id="16" name="Rounded Rectangle 15"/>
          <p:cNvSpPr/>
          <p:nvPr/>
        </p:nvSpPr>
        <p:spPr>
          <a:xfrm>
            <a:off x="6464808" y="4264761"/>
            <a:ext cx="522396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17" name="Oval 16"/>
          <p:cNvSpPr/>
          <p:nvPr/>
        </p:nvSpPr>
        <p:spPr>
          <a:xfrm>
            <a:off x="6565392" y="4343400"/>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8" name="TextBox 17"/>
          <p:cNvSpPr txBox="1"/>
          <p:nvPr/>
        </p:nvSpPr>
        <p:spPr>
          <a:xfrm>
            <a:off x="7123176" y="4264761"/>
            <a:ext cx="447415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Ulaşımın gelişmesi</a:t>
            </a:r>
          </a:p>
        </p:txBody>
      </p:sp>
      <p:sp>
        <p:nvSpPr>
          <p:cNvPr id="19" name="Rounded Rectangle 18"/>
          <p:cNvSpPr/>
          <p:nvPr/>
        </p:nvSpPr>
        <p:spPr>
          <a:xfrm>
            <a:off x="6464808" y="4970678"/>
            <a:ext cx="522396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20" name="Oval 19"/>
          <p:cNvSpPr/>
          <p:nvPr/>
        </p:nvSpPr>
        <p:spPr>
          <a:xfrm>
            <a:off x="6565392" y="5049316"/>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1" name="TextBox 20"/>
          <p:cNvSpPr txBox="1"/>
          <p:nvPr/>
        </p:nvSpPr>
        <p:spPr>
          <a:xfrm>
            <a:off x="7123176" y="4970678"/>
            <a:ext cx="447415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Tarımsal faaliyetlerin artması</a:t>
            </a:r>
          </a:p>
        </p:txBody>
      </p:sp>
      <p:sp>
        <p:nvSpPr>
          <p:cNvPr id="22" name="Rounded Rectangle 21"/>
          <p:cNvSpPr/>
          <p:nvPr/>
        </p:nvSpPr>
        <p:spPr>
          <a:xfrm>
            <a:off x="6464808" y="5676595"/>
            <a:ext cx="5223967" cy="614476"/>
          </a:xfrm>
          <a:prstGeom prst="roundRect">
            <a:avLst>
              <a:gd name="adj" fmla="val 17857"/>
            </a:avLst>
          </a:prstGeom>
          <a:solidFill>
            <a:srgbClr val="FFFFFF"/>
          </a:solidFill>
          <a:ln w="12700">
            <a:solidFill>
              <a:srgbClr val="D9D9D9"/>
            </a:solidFill>
          </a:ln>
          <a:effectLst/>
        </p:spPr>
        <p:txBody>
          <a:bodyPr rtlCol="0" anchor="ctr"/>
          <a:lstStyle/>
          <a:p/>
        </p:txBody>
      </p:sp>
      <p:sp>
        <p:nvSpPr>
          <p:cNvPr id="23" name="Oval 22"/>
          <p:cNvSpPr/>
          <p:nvPr/>
        </p:nvSpPr>
        <p:spPr>
          <a:xfrm>
            <a:off x="6565392" y="5755233"/>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4" name="TextBox 23"/>
          <p:cNvSpPr txBox="1"/>
          <p:nvPr/>
        </p:nvSpPr>
        <p:spPr>
          <a:xfrm>
            <a:off x="7123176" y="5676595"/>
            <a:ext cx="4474159" cy="6144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Teknolojik gelişmelerin artması</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156 / 166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5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5</a:t>
            </a:r>
          </a:p>
        </p:txBody>
      </p:sp>
      <p:sp>
        <p:nvSpPr>
          <p:cNvPr id="6" name="Rounded Rectangle 5"/>
          <p:cNvSpPr/>
          <p:nvPr/>
        </p:nvSpPr>
        <p:spPr>
          <a:xfrm>
            <a:off x="502920" y="1216152"/>
            <a:ext cx="4663440" cy="50292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18872" cy="5029200"/>
          </a:xfrm>
          <a:prstGeom prst="rect">
            <a:avLst/>
          </a:prstGeom>
          <a:solidFill>
            <a:srgbClr val="2E7D32"/>
          </a:solidFill>
          <a:ln>
            <a:noFill/>
          </a:ln>
          <a:effectLst/>
        </p:spPr>
        <p:txBody>
          <a:bodyPr rtlCol="0" anchor="ctr"/>
          <a:lstStyle/>
          <a:p/>
        </p:txBody>
      </p:sp>
      <p:sp>
        <p:nvSpPr>
          <p:cNvPr id="8" name="TextBox 7"/>
          <p:cNvSpPr txBox="1"/>
          <p:nvPr/>
        </p:nvSpPr>
        <p:spPr>
          <a:xfrm>
            <a:off x="777240" y="1216152"/>
            <a:ext cx="4251960" cy="5029200"/>
          </a:xfrm>
          <a:prstGeom prst="rect">
            <a:avLst/>
          </a:prstGeom>
          <a:noFill/>
        </p:spPr>
        <p:txBody>
          <a:bodyPr wrap="square" anchor="ctr" lIns="73152" rIns="73152" tIns="36576" bIns="36576">
            <a:noAutofit/>
          </a:bodyPr>
          <a:lstStyle/>
          <a:p>
            <a:pPr algn="l">
              <a:spcBef>
                <a:spcPts val="0"/>
              </a:spcBef>
              <a:spcAft>
                <a:spcPts val="800"/>
              </a:spcAft>
            </a:pPr>
            <a:r>
              <a:rPr lang="tr-TR" sz="1600" b="1" i="0">
                <a:solidFill>
                  <a:srgbClr val="2E7D32"/>
                </a:solidFill>
                <a:latin typeface="Calibri"/>
              </a:rPr>
              <a:t>Metindeki kanıtlar</a:t>
            </a:r>
          </a:p>
          <a:p>
            <a:pPr algn="l">
              <a:spcBef>
                <a:spcPts val="0"/>
              </a:spcBef>
              <a:spcAft>
                <a:spcPts val="0"/>
              </a:spcAft>
            </a:pPr>
            <a:r>
              <a:rPr lang="tr-TR" sz="2000" b="0" i="0">
                <a:solidFill>
                  <a:srgbClr val="262626"/>
                </a:solidFill>
                <a:latin typeface="Calibri"/>
              </a:rPr>
              <a:t>… </a:t>
            </a:r>
            <a:r>
              <a:rPr lang="tr-TR" sz="2000" b="1" i="0">
                <a:solidFill>
                  <a:srgbClr val="262626"/>
                </a:solidFill>
                <a:latin typeface="Calibri"/>
              </a:rPr>
              <a:t>Mersin ilinin Silifke ve Gülnar ilçesinde ulaşım ve liman altyapısı gelişmektedir. Bu kapsamda Mersin-Antalya kara yolunda ulaşımın iyileştirilmesi için köprü ve viyadük çalışmaları devam etmektedir. Proje için gerekli ekipmanların bir kısmı ise deniz yolu ile taşınmaktadır.</a:t>
            </a:r>
          </a:p>
        </p:txBody>
      </p:sp>
      <p:sp>
        <p:nvSpPr>
          <p:cNvPr id="9" name="Rounded Rectangle 8"/>
          <p:cNvSpPr/>
          <p:nvPr/>
        </p:nvSpPr>
        <p:spPr>
          <a:xfrm>
            <a:off x="5367528" y="1216152"/>
            <a:ext cx="6321247" cy="1051560"/>
          </a:xfrm>
          <a:prstGeom prst="roundRect">
            <a:avLst>
              <a:gd name="adj" fmla="val 8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1800" b="1" i="0">
                <a:solidFill>
                  <a:srgbClr val="262626"/>
                </a:solidFill>
                <a:latin typeface="Calibri"/>
              </a:rPr>
              <a:t>Akkuyu NGS, aşağıda verilen beşerî faktörlerden öncelikli olarak hangisinin gelişmesini daha çok etkilemektedir?</a:t>
            </a:r>
          </a:p>
        </p:txBody>
      </p:sp>
      <p:sp>
        <p:nvSpPr>
          <p:cNvPr id="10" name="Rounded Rectangle 9"/>
          <p:cNvSpPr/>
          <p:nvPr/>
        </p:nvSpPr>
        <p:spPr>
          <a:xfrm>
            <a:off x="5367528" y="2395728"/>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11" name="Oval 10"/>
          <p:cNvSpPr/>
          <p:nvPr/>
        </p:nvSpPr>
        <p:spPr>
          <a:xfrm>
            <a:off x="5468112" y="2520086"/>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2" name="TextBox 11"/>
          <p:cNvSpPr txBox="1"/>
          <p:nvPr/>
        </p:nvSpPr>
        <p:spPr>
          <a:xfrm>
            <a:off x="6025896" y="2395728"/>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Sermayenin artması</a:t>
            </a:r>
          </a:p>
          <a:p>
            <a:pPr algn="l">
              <a:spcBef>
                <a:spcPts val="0"/>
              </a:spcBef>
              <a:spcAft>
                <a:spcPts val="0"/>
              </a:spcAft>
            </a:pPr>
            <a:r>
              <a:rPr lang="tr-TR" sz="1600" b="0" i="0">
                <a:solidFill>
                  <a:srgbClr val="767676"/>
                </a:solidFill>
                <a:latin typeface="Calibri"/>
              </a:rPr>
              <a:t>→ Beşerî, ama metin ulaşımı anlatır</a:t>
            </a:r>
          </a:p>
        </p:txBody>
      </p:sp>
      <p:sp>
        <p:nvSpPr>
          <p:cNvPr id="13" name="Rounded Rectangle 12"/>
          <p:cNvSpPr/>
          <p:nvPr/>
        </p:nvSpPr>
        <p:spPr>
          <a:xfrm>
            <a:off x="5367528" y="3193084"/>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14" name="Oval 13"/>
          <p:cNvSpPr/>
          <p:nvPr/>
        </p:nvSpPr>
        <p:spPr>
          <a:xfrm>
            <a:off x="5468112" y="3317443"/>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5" name="TextBox 14"/>
          <p:cNvSpPr txBox="1"/>
          <p:nvPr/>
        </p:nvSpPr>
        <p:spPr>
          <a:xfrm>
            <a:off x="6025896" y="3193084"/>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Bitki örtüsünün çeşitlenmesi</a:t>
            </a:r>
          </a:p>
          <a:p>
            <a:pPr algn="l">
              <a:spcBef>
                <a:spcPts val="0"/>
              </a:spcBef>
              <a:spcAft>
                <a:spcPts val="0"/>
              </a:spcAft>
            </a:pPr>
            <a:r>
              <a:rPr lang="tr-TR" sz="1600" b="0" i="0">
                <a:solidFill>
                  <a:srgbClr val="767676"/>
                </a:solidFill>
                <a:latin typeface="Calibri"/>
              </a:rPr>
              <a:t>→ Bitki örtüsü doğal faktördür</a:t>
            </a:r>
          </a:p>
        </p:txBody>
      </p:sp>
      <p:sp>
        <p:nvSpPr>
          <p:cNvPr id="16" name="Rounded Rectangle 15"/>
          <p:cNvSpPr/>
          <p:nvPr/>
        </p:nvSpPr>
        <p:spPr>
          <a:xfrm>
            <a:off x="5367528" y="3990441"/>
            <a:ext cx="6321247" cy="705916"/>
          </a:xfrm>
          <a:prstGeom prst="roundRect">
            <a:avLst>
              <a:gd name="adj" fmla="val 15544"/>
            </a:avLst>
          </a:prstGeom>
          <a:solidFill>
            <a:srgbClr val="E3F1E4"/>
          </a:solidFill>
          <a:ln w="31750">
            <a:solidFill>
              <a:srgbClr val="2E7D32"/>
            </a:solidFill>
          </a:ln>
          <a:effectLst/>
        </p:spPr>
        <p:txBody>
          <a:bodyPr rtlCol="0" anchor="ctr"/>
          <a:lstStyle/>
          <a:p/>
        </p:txBody>
      </p:sp>
      <p:sp>
        <p:nvSpPr>
          <p:cNvPr id="17" name="Oval 16"/>
          <p:cNvSpPr/>
          <p:nvPr/>
        </p:nvSpPr>
        <p:spPr>
          <a:xfrm>
            <a:off x="5468112" y="4114799"/>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8" name="TextBox 17"/>
          <p:cNvSpPr txBox="1"/>
          <p:nvPr/>
        </p:nvSpPr>
        <p:spPr>
          <a:xfrm>
            <a:off x="6025896" y="3990441"/>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1" i="0">
                <a:solidFill>
                  <a:srgbClr val="262626"/>
                </a:solidFill>
                <a:latin typeface="Calibri"/>
              </a:rPr>
              <a:t>Ulaşımın gelişmesi</a:t>
            </a:r>
          </a:p>
          <a:p>
            <a:pPr algn="l">
              <a:spcBef>
                <a:spcPts val="0"/>
              </a:spcBef>
              <a:spcAft>
                <a:spcPts val="0"/>
              </a:spcAft>
            </a:pPr>
            <a:r>
              <a:rPr lang="tr-TR" sz="1600" b="0" i="0">
                <a:solidFill>
                  <a:srgbClr val="2E7D32"/>
                </a:solidFill>
                <a:latin typeface="Calibri"/>
              </a:rPr>
              <a:t>→ Ulaşım ve liman altyapısı gelişiyor</a:t>
            </a:r>
          </a:p>
        </p:txBody>
      </p:sp>
      <p:sp>
        <p:nvSpPr>
          <p:cNvPr id="19" name="Rounded Rectangle 18"/>
          <p:cNvSpPr/>
          <p:nvPr/>
        </p:nvSpPr>
        <p:spPr>
          <a:xfrm>
            <a:off x="5367528" y="4787798"/>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20" name="Oval 19"/>
          <p:cNvSpPr/>
          <p:nvPr/>
        </p:nvSpPr>
        <p:spPr>
          <a:xfrm>
            <a:off x="5468112" y="4912156"/>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1" name="TextBox 20"/>
          <p:cNvSpPr txBox="1"/>
          <p:nvPr/>
        </p:nvSpPr>
        <p:spPr>
          <a:xfrm>
            <a:off x="6025896" y="4787798"/>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Tarımsal faaliyetlerin artması</a:t>
            </a:r>
          </a:p>
          <a:p>
            <a:pPr algn="l">
              <a:spcBef>
                <a:spcPts val="0"/>
              </a:spcBef>
              <a:spcAft>
                <a:spcPts val="0"/>
              </a:spcAft>
            </a:pPr>
            <a:r>
              <a:rPr lang="tr-TR" sz="1600" b="0" i="0">
                <a:solidFill>
                  <a:srgbClr val="767676"/>
                </a:solidFill>
                <a:latin typeface="Calibri"/>
              </a:rPr>
              <a:t>→ Tarım bir ekonomik faaliyettir</a:t>
            </a:r>
          </a:p>
        </p:txBody>
      </p:sp>
      <p:sp>
        <p:nvSpPr>
          <p:cNvPr id="22" name="Rounded Rectangle 21"/>
          <p:cNvSpPr/>
          <p:nvPr/>
        </p:nvSpPr>
        <p:spPr>
          <a:xfrm>
            <a:off x="5367528" y="5585155"/>
            <a:ext cx="6321247" cy="705916"/>
          </a:xfrm>
          <a:prstGeom prst="roundRect">
            <a:avLst>
              <a:gd name="adj" fmla="val 15544"/>
            </a:avLst>
          </a:prstGeom>
          <a:solidFill>
            <a:srgbClr val="FFFFFF"/>
          </a:solidFill>
          <a:ln w="12700">
            <a:solidFill>
              <a:srgbClr val="D9D9D9"/>
            </a:solidFill>
          </a:ln>
          <a:effectLst/>
        </p:spPr>
        <p:txBody>
          <a:bodyPr rtlCol="0" anchor="ctr"/>
          <a:lstStyle/>
          <a:p/>
        </p:txBody>
      </p:sp>
      <p:sp>
        <p:nvSpPr>
          <p:cNvPr id="23" name="Oval 22"/>
          <p:cNvSpPr/>
          <p:nvPr/>
        </p:nvSpPr>
        <p:spPr>
          <a:xfrm>
            <a:off x="5468112" y="5709513"/>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4" name="TextBox 23"/>
          <p:cNvSpPr txBox="1"/>
          <p:nvPr/>
        </p:nvSpPr>
        <p:spPr>
          <a:xfrm>
            <a:off x="6025896" y="5585155"/>
            <a:ext cx="5571439" cy="705916"/>
          </a:xfrm>
          <a:prstGeom prst="rect">
            <a:avLst/>
          </a:prstGeom>
          <a:noFill/>
        </p:spPr>
        <p:txBody>
          <a:bodyPr wrap="square" anchor="ctr" lIns="73152" rIns="73152" tIns="36576" bIns="36576">
            <a:noAutofit/>
          </a:bodyPr>
          <a:lstStyle/>
          <a:p>
            <a:pPr algn="l">
              <a:spcBef>
                <a:spcPts val="0"/>
              </a:spcBef>
              <a:spcAft>
                <a:spcPts val="200"/>
              </a:spcAft>
            </a:pPr>
            <a:r>
              <a:rPr lang="tr-TR" sz="2000" b="0" i="0">
                <a:solidFill>
                  <a:srgbClr val="767676"/>
                </a:solidFill>
                <a:latin typeface="Calibri"/>
              </a:rPr>
              <a:t>Teknolojik gelişmelerin artması</a:t>
            </a:r>
          </a:p>
          <a:p>
            <a:pPr algn="l">
              <a:spcBef>
                <a:spcPts val="0"/>
              </a:spcBef>
              <a:spcAft>
                <a:spcPts val="0"/>
              </a:spcAft>
            </a:pPr>
            <a:r>
              <a:rPr lang="tr-TR" sz="1600" b="0" i="0">
                <a:solidFill>
                  <a:srgbClr val="767676"/>
                </a:solidFill>
                <a:latin typeface="Calibri"/>
              </a:rPr>
              <a:t>→ Beşerî, ama metin ulaşımı anlatır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157 / 166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6-8: kahve ve küresel ısınma</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6-8</a:t>
            </a:r>
          </a:p>
        </p:txBody>
      </p:sp>
      <p:sp>
        <p:nvSpPr>
          <p:cNvPr id="6" name="TextBox 5"/>
          <p:cNvSpPr txBox="1"/>
          <p:nvPr/>
        </p:nvSpPr>
        <p:spPr>
          <a:xfrm>
            <a:off x="502920" y="1170432"/>
            <a:ext cx="11185855" cy="365760"/>
          </a:xfrm>
          <a:prstGeom prst="rect">
            <a:avLst/>
          </a:prstGeom>
          <a:noFill/>
        </p:spPr>
        <p:txBody>
          <a:bodyPr wrap="square" anchor="t" lIns="73152" rIns="73152" tIns="36576" bIns="36576">
            <a:noAutofit/>
          </a:bodyPr>
          <a:lstStyle/>
          <a:p>
            <a:pPr algn="l">
              <a:spcBef>
                <a:spcPts val="0"/>
              </a:spcBef>
              <a:spcAft>
                <a:spcPts val="0"/>
              </a:spcAft>
            </a:pPr>
            <a:r>
              <a:rPr lang="tr-TR" sz="1600" b="0" i="1">
                <a:solidFill>
                  <a:srgbClr val="767676"/>
                </a:solidFill>
                <a:latin typeface="Calibri"/>
              </a:rPr>
              <a:t>6-8. soruları aşağıdaki metin ve görsele göre cevaplayınız.</a:t>
            </a:r>
          </a:p>
        </p:txBody>
      </p:sp>
      <p:sp>
        <p:nvSpPr>
          <p:cNvPr id="7" name="Rounded Rectangle 6"/>
          <p:cNvSpPr/>
          <p:nvPr/>
        </p:nvSpPr>
        <p:spPr>
          <a:xfrm>
            <a:off x="502920" y="1627632"/>
            <a:ext cx="11185855" cy="4617720"/>
          </a:xfrm>
          <a:prstGeom prst="roundRect">
            <a:avLst>
              <a:gd name="adj" fmla="val 6000"/>
            </a:avLst>
          </a:prstGeom>
          <a:solidFill>
            <a:srgbClr val="F0F0F0"/>
          </a:solidFill>
          <a:ln>
            <a:noFill/>
          </a:ln>
          <a:effectLst/>
        </p:spPr>
        <p:txBody>
          <a:bodyPr rtlCol="0" anchor="ctr"/>
          <a:lstStyle/>
          <a:p/>
        </p:txBody>
      </p:sp>
      <p:sp>
        <p:nvSpPr>
          <p:cNvPr id="8" name="Rectangle 7"/>
          <p:cNvSpPr/>
          <p:nvPr/>
        </p:nvSpPr>
        <p:spPr>
          <a:xfrm>
            <a:off x="502920" y="1627632"/>
            <a:ext cx="118872" cy="4617720"/>
          </a:xfrm>
          <a:prstGeom prst="rect">
            <a:avLst/>
          </a:prstGeom>
          <a:solidFill>
            <a:srgbClr val="3E8E41"/>
          </a:solidFill>
          <a:ln>
            <a:noFill/>
          </a:ln>
          <a:effectLst/>
        </p:spPr>
        <p:txBody>
          <a:bodyPr rtlCol="0" anchor="ctr"/>
          <a:lstStyle/>
          <a:p/>
        </p:txBody>
      </p:sp>
      <p:sp>
        <p:nvSpPr>
          <p:cNvPr id="9" name="TextBox 8"/>
          <p:cNvSpPr txBox="1"/>
          <p:nvPr/>
        </p:nvSpPr>
        <p:spPr>
          <a:xfrm>
            <a:off x="777240" y="1627632"/>
            <a:ext cx="10774375" cy="4617720"/>
          </a:xfrm>
          <a:prstGeom prst="rect">
            <a:avLst/>
          </a:prstGeom>
          <a:noFill/>
        </p:spPr>
        <p:txBody>
          <a:bodyPr wrap="square" anchor="ctr" lIns="73152" rIns="73152" tIns="36576" bIns="36576">
            <a:noAutofit/>
          </a:bodyPr>
          <a:lstStyle/>
          <a:p>
            <a:pPr algn="l">
              <a:spcBef>
                <a:spcPts val="0"/>
              </a:spcBef>
              <a:spcAft>
                <a:spcPts val="1147"/>
              </a:spcAft>
            </a:pPr>
            <a:r>
              <a:rPr lang="tr-TR" sz="2200" b="0" i="0">
                <a:solidFill>
                  <a:srgbClr val="262626"/>
                </a:solidFill>
                <a:latin typeface="Calibri"/>
              </a:rPr>
              <a:t>Dünyada artan sıcaklıklar, tropikal ürünlerin daha önce olmadığı kadar kuzey ve güneydeki bölgelerde yetişmesine olanak sağlıyor. Örneğin avokado, artık İtalya’nın Sicilya Adası’nda da yetiştirilmektedir. Son araştırmalar, günümüzde tropikal bölgedeki kahve üretimine uygun alanların sayısında 2050 yılına kadar genel bir azalma öngörüyor. Bu anlamda tropikal bölgenin dışındaki ülkelerde, kahve üretimine uygun alanların artacağı görülebilir.</a:t>
            </a:r>
          </a:p>
          <a:p>
            <a:pPr algn="l">
              <a:spcBef>
                <a:spcPts val="0"/>
              </a:spcBef>
              <a:spcAft>
                <a:spcPts val="0"/>
              </a:spcAft>
            </a:pPr>
            <a:r>
              <a:rPr lang="tr-TR" sz="2200" b="0" i="0">
                <a:solidFill>
                  <a:srgbClr val="262626"/>
                </a:solidFill>
                <a:latin typeface="Calibri"/>
              </a:rPr>
              <a:t>Yapılan çalışmalara göre kaju, avokado ve kahve arasında, küresel ısınmadan en çok kahvenin etkileneceği düşünülmektedir. Brezilya, Vietnam, Kolombiya ve Endonezya kahve yetiştirmek için en uygun alanlara sahip olan ülkelerdir. Ancak bu ülkelerin kahve üretim alanlarında, küresel ısınmanın etkisiyle küçülme öngörülüyor. Artan sıcaklık ve yağışların yanı sıra toprağın pH değeri ve yapısındaki değişiklikler de bu durumun en önemli nedenlerindendir. Buna karşılık ABD, Arjantin, Uruguay ve Çin gibi bazı ülkelerde de kahve yetiştirmeye uygun alanlarda artış görülmesi bekleniyor.</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158 / 166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6-8: dünyada en çok kahve üreten ülkeler</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6-8</a:t>
            </a:r>
          </a:p>
        </p:txBody>
      </p:sp>
      <p:pic>
        <p:nvPicPr>
          <p:cNvPr id="6" name="Picture 5" descr="sonu_eba_kahve.jpg"/>
          <p:cNvPicPr>
            <a:picLocks noChangeAspect="1"/>
          </p:cNvPicPr>
          <p:nvPr/>
        </p:nvPicPr>
        <p:blipFill>
          <a:blip r:embed="rId3"/>
          <a:stretch>
            <a:fillRect/>
          </a:stretch>
        </p:blipFill>
        <p:spPr>
          <a:xfrm>
            <a:off x="502920" y="1216152"/>
            <a:ext cx="11185855" cy="3034027"/>
          </a:xfrm>
          <a:prstGeom prst="rect">
            <a:avLst/>
          </a:prstGeom>
          <a:ln w="9525">
            <a:solidFill>
              <a:srgbClr val="D9D9D9"/>
            </a:solidFill>
          </a:ln>
        </p:spPr>
      </p:pic>
      <p:sp>
        <p:nvSpPr>
          <p:cNvPr id="7" name="TextBox 6"/>
          <p:cNvSpPr txBox="1"/>
          <p:nvPr/>
        </p:nvSpPr>
        <p:spPr>
          <a:xfrm>
            <a:off x="502920" y="4268467"/>
            <a:ext cx="11185855"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Kitabın karekod içeriği (EBA) · 9.5-Tema Sonu E-Ölçme, 6-8. sorular</a:t>
            </a:r>
          </a:p>
        </p:txBody>
      </p:sp>
      <p:sp>
        <p:nvSpPr>
          <p:cNvPr id="8" name="Rounded Rectangle 7"/>
          <p:cNvSpPr/>
          <p:nvPr/>
        </p:nvSpPr>
        <p:spPr>
          <a:xfrm>
            <a:off x="502920" y="5696712"/>
            <a:ext cx="11185855" cy="566928"/>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1800" b="0" i="1">
                <a:solidFill>
                  <a:srgbClr val="262626"/>
                </a:solidFill>
                <a:latin typeface="Calibri"/>
              </a:rPr>
              <a:t>“Dünyada en çok kahve üreten ülkeler ve üretim miktarları haritada verilmiştir.”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0" name="Rounded Rectangle 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11" name="TextBox 1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159 / 166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6: kahvenin ekvatoral kuşakta yoğunlaşması</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6</a:t>
            </a:r>
          </a:p>
        </p:txBody>
      </p:sp>
      <p:sp>
        <p:nvSpPr>
          <p:cNvPr id="6" name="Rounded Rectangle 5"/>
          <p:cNvSpPr/>
          <p:nvPr/>
        </p:nvSpPr>
        <p:spPr>
          <a:xfrm>
            <a:off x="502920" y="1216152"/>
            <a:ext cx="11185855" cy="960120"/>
          </a:xfrm>
          <a:prstGeom prst="roundRect">
            <a:avLst>
              <a:gd name="adj" fmla="val 12000"/>
            </a:avLst>
          </a:prstGeom>
          <a:solidFill>
            <a:srgbClr val="F0F0F0"/>
          </a:solidFill>
          <a:ln>
            <a:noFill/>
          </a:ln>
          <a:effectLst/>
        </p:spPr>
        <p:txBody>
          <a:bodyPr rtlCol="0" anchor="ctr"/>
          <a:lstStyle/>
          <a:p/>
        </p:txBody>
      </p:sp>
      <p:sp>
        <p:nvSpPr>
          <p:cNvPr id="7" name="Oval 6"/>
          <p:cNvSpPr/>
          <p:nvPr/>
        </p:nvSpPr>
        <p:spPr>
          <a:xfrm>
            <a:off x="612648" y="142189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6</a:t>
            </a:r>
          </a:p>
        </p:txBody>
      </p:sp>
      <p:sp>
        <p:nvSpPr>
          <p:cNvPr id="8" name="TextBox 7"/>
          <p:cNvSpPr txBox="1"/>
          <p:nvPr/>
        </p:nvSpPr>
        <p:spPr>
          <a:xfrm>
            <a:off x="1280160" y="1216152"/>
            <a:ext cx="10317175" cy="9601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Kahve üretim alanlarının ekvatoral kuşakta yoğunlaşmasını sağlayan doğal faktörleri bularak yanındaki kutucuğa işaretleyiniz. (Birden fazla seçenek işaretleyebilirsiniz.)</a:t>
            </a:r>
          </a:p>
        </p:txBody>
      </p:sp>
      <p:sp>
        <p:nvSpPr>
          <p:cNvPr id="9" name="Rounded Rectangle 8"/>
          <p:cNvSpPr/>
          <p:nvPr/>
        </p:nvSpPr>
        <p:spPr>
          <a:xfrm>
            <a:off x="502920" y="2359152"/>
            <a:ext cx="3606698" cy="1222248"/>
          </a:xfrm>
          <a:prstGeom prst="roundRect">
            <a:avLst>
              <a:gd name="adj" fmla="val 7481"/>
            </a:avLst>
          </a:prstGeom>
          <a:solidFill>
            <a:srgbClr val="FFFFFF"/>
          </a:solidFill>
          <a:ln w="12700">
            <a:solidFill>
              <a:srgbClr val="D9D9D9"/>
            </a:solidFill>
          </a:ln>
          <a:effectLst/>
        </p:spPr>
        <p:txBody>
          <a:bodyPr rtlCol="0" anchor="ctr"/>
          <a:lstStyle/>
          <a:p/>
        </p:txBody>
      </p:sp>
      <p:sp>
        <p:nvSpPr>
          <p:cNvPr id="10" name="Rectangle 9"/>
          <p:cNvSpPr/>
          <p:nvPr/>
        </p:nvSpPr>
        <p:spPr>
          <a:xfrm>
            <a:off x="630936" y="2778252"/>
            <a:ext cx="384048" cy="384048"/>
          </a:xfrm>
          <a:prstGeom prst="rect">
            <a:avLst/>
          </a:prstGeom>
          <a:solidFill>
            <a:srgbClr val="FFFFFF"/>
          </a:solidFill>
          <a:ln w="19050">
            <a:solidFill>
              <a:srgbClr val="4F4F4F"/>
            </a:solidFill>
          </a:ln>
          <a:effectLst/>
        </p:spPr>
        <p:txBody>
          <a:bodyPr rtlCol="0" anchor="ctr"/>
          <a:lstStyle/>
          <a:p/>
        </p:txBody>
      </p:sp>
      <p:sp>
        <p:nvSpPr>
          <p:cNvPr id="11" name="TextBox 10"/>
          <p:cNvSpPr txBox="1"/>
          <p:nvPr/>
        </p:nvSpPr>
        <p:spPr>
          <a:xfrm>
            <a:off x="1143000" y="2359152"/>
            <a:ext cx="2893466" cy="1222248"/>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İklim</a:t>
            </a:r>
          </a:p>
        </p:txBody>
      </p:sp>
      <p:sp>
        <p:nvSpPr>
          <p:cNvPr id="12" name="Rounded Rectangle 11"/>
          <p:cNvSpPr/>
          <p:nvPr/>
        </p:nvSpPr>
        <p:spPr>
          <a:xfrm>
            <a:off x="4292498" y="2359152"/>
            <a:ext cx="3606698" cy="1222248"/>
          </a:xfrm>
          <a:prstGeom prst="roundRect">
            <a:avLst>
              <a:gd name="adj" fmla="val 7481"/>
            </a:avLst>
          </a:prstGeom>
          <a:solidFill>
            <a:srgbClr val="FFFFFF"/>
          </a:solidFill>
          <a:ln w="12700">
            <a:solidFill>
              <a:srgbClr val="D9D9D9"/>
            </a:solidFill>
          </a:ln>
          <a:effectLst/>
        </p:spPr>
        <p:txBody>
          <a:bodyPr rtlCol="0" anchor="ctr"/>
          <a:lstStyle/>
          <a:p/>
        </p:txBody>
      </p:sp>
      <p:sp>
        <p:nvSpPr>
          <p:cNvPr id="13" name="Rectangle 12"/>
          <p:cNvSpPr/>
          <p:nvPr/>
        </p:nvSpPr>
        <p:spPr>
          <a:xfrm>
            <a:off x="4420514" y="2778252"/>
            <a:ext cx="384048" cy="384048"/>
          </a:xfrm>
          <a:prstGeom prst="rect">
            <a:avLst/>
          </a:prstGeom>
          <a:solidFill>
            <a:srgbClr val="FFFFFF"/>
          </a:solidFill>
          <a:ln w="19050">
            <a:solidFill>
              <a:srgbClr val="4F4F4F"/>
            </a:solidFill>
          </a:ln>
          <a:effectLst/>
        </p:spPr>
        <p:txBody>
          <a:bodyPr rtlCol="0" anchor="ctr"/>
          <a:lstStyle/>
          <a:p/>
        </p:txBody>
      </p:sp>
      <p:sp>
        <p:nvSpPr>
          <p:cNvPr id="14" name="TextBox 13"/>
          <p:cNvSpPr txBox="1"/>
          <p:nvPr/>
        </p:nvSpPr>
        <p:spPr>
          <a:xfrm>
            <a:off x="4932578" y="2359152"/>
            <a:ext cx="2893466" cy="1222248"/>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Yer altı kaynakları</a:t>
            </a:r>
          </a:p>
        </p:txBody>
      </p:sp>
      <p:sp>
        <p:nvSpPr>
          <p:cNvPr id="15" name="Rounded Rectangle 14"/>
          <p:cNvSpPr/>
          <p:nvPr/>
        </p:nvSpPr>
        <p:spPr>
          <a:xfrm>
            <a:off x="8082076" y="2359152"/>
            <a:ext cx="3606698" cy="1222248"/>
          </a:xfrm>
          <a:prstGeom prst="roundRect">
            <a:avLst>
              <a:gd name="adj" fmla="val 7481"/>
            </a:avLst>
          </a:prstGeom>
          <a:solidFill>
            <a:srgbClr val="FFFFFF"/>
          </a:solidFill>
          <a:ln w="12700">
            <a:solidFill>
              <a:srgbClr val="D9D9D9"/>
            </a:solidFill>
          </a:ln>
          <a:effectLst/>
        </p:spPr>
        <p:txBody>
          <a:bodyPr rtlCol="0" anchor="ctr"/>
          <a:lstStyle/>
          <a:p/>
        </p:txBody>
      </p:sp>
      <p:sp>
        <p:nvSpPr>
          <p:cNvPr id="16" name="Rectangle 15"/>
          <p:cNvSpPr/>
          <p:nvPr/>
        </p:nvSpPr>
        <p:spPr>
          <a:xfrm>
            <a:off x="8210092" y="2778252"/>
            <a:ext cx="384048" cy="384048"/>
          </a:xfrm>
          <a:prstGeom prst="rect">
            <a:avLst/>
          </a:prstGeom>
          <a:solidFill>
            <a:srgbClr val="FFFFFF"/>
          </a:solidFill>
          <a:ln w="19050">
            <a:solidFill>
              <a:srgbClr val="4F4F4F"/>
            </a:solidFill>
          </a:ln>
          <a:effectLst/>
        </p:spPr>
        <p:txBody>
          <a:bodyPr rtlCol="0" anchor="ctr"/>
          <a:lstStyle/>
          <a:p/>
        </p:txBody>
      </p:sp>
      <p:sp>
        <p:nvSpPr>
          <p:cNvPr id="17" name="TextBox 16"/>
          <p:cNvSpPr txBox="1"/>
          <p:nvPr/>
        </p:nvSpPr>
        <p:spPr>
          <a:xfrm>
            <a:off x="8722156" y="2359152"/>
            <a:ext cx="2893466" cy="1222248"/>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Ham madde</a:t>
            </a:r>
          </a:p>
        </p:txBody>
      </p:sp>
      <p:sp>
        <p:nvSpPr>
          <p:cNvPr id="18" name="Rounded Rectangle 17"/>
          <p:cNvSpPr/>
          <p:nvPr/>
        </p:nvSpPr>
        <p:spPr>
          <a:xfrm>
            <a:off x="502920" y="3691128"/>
            <a:ext cx="3606698" cy="1222248"/>
          </a:xfrm>
          <a:prstGeom prst="roundRect">
            <a:avLst>
              <a:gd name="adj" fmla="val 7481"/>
            </a:avLst>
          </a:prstGeom>
          <a:solidFill>
            <a:srgbClr val="FFFFFF"/>
          </a:solidFill>
          <a:ln w="12700">
            <a:solidFill>
              <a:srgbClr val="D9D9D9"/>
            </a:solidFill>
          </a:ln>
          <a:effectLst/>
        </p:spPr>
        <p:txBody>
          <a:bodyPr rtlCol="0" anchor="ctr"/>
          <a:lstStyle/>
          <a:p/>
        </p:txBody>
      </p:sp>
      <p:sp>
        <p:nvSpPr>
          <p:cNvPr id="19" name="Rectangle 18"/>
          <p:cNvSpPr/>
          <p:nvPr/>
        </p:nvSpPr>
        <p:spPr>
          <a:xfrm>
            <a:off x="630936" y="4110228"/>
            <a:ext cx="384048" cy="384048"/>
          </a:xfrm>
          <a:prstGeom prst="rect">
            <a:avLst/>
          </a:prstGeom>
          <a:solidFill>
            <a:srgbClr val="FFFFFF"/>
          </a:solidFill>
          <a:ln w="19050">
            <a:solidFill>
              <a:srgbClr val="4F4F4F"/>
            </a:solidFill>
          </a:ln>
          <a:effectLst/>
        </p:spPr>
        <p:txBody>
          <a:bodyPr rtlCol="0" anchor="ctr"/>
          <a:lstStyle/>
          <a:p/>
        </p:txBody>
      </p:sp>
      <p:sp>
        <p:nvSpPr>
          <p:cNvPr id="20" name="TextBox 19"/>
          <p:cNvSpPr txBox="1"/>
          <p:nvPr/>
        </p:nvSpPr>
        <p:spPr>
          <a:xfrm>
            <a:off x="1143000" y="3691128"/>
            <a:ext cx="2893466" cy="1222248"/>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Toprak</a:t>
            </a:r>
          </a:p>
        </p:txBody>
      </p:sp>
      <p:sp>
        <p:nvSpPr>
          <p:cNvPr id="21" name="Rounded Rectangle 20"/>
          <p:cNvSpPr/>
          <p:nvPr/>
        </p:nvSpPr>
        <p:spPr>
          <a:xfrm>
            <a:off x="4292498" y="3691128"/>
            <a:ext cx="3606698" cy="1222248"/>
          </a:xfrm>
          <a:prstGeom prst="roundRect">
            <a:avLst>
              <a:gd name="adj" fmla="val 7481"/>
            </a:avLst>
          </a:prstGeom>
          <a:solidFill>
            <a:srgbClr val="FFFFFF"/>
          </a:solidFill>
          <a:ln w="12700">
            <a:solidFill>
              <a:srgbClr val="D9D9D9"/>
            </a:solidFill>
          </a:ln>
          <a:effectLst/>
        </p:spPr>
        <p:txBody>
          <a:bodyPr rtlCol="0" anchor="ctr"/>
          <a:lstStyle/>
          <a:p/>
        </p:txBody>
      </p:sp>
      <p:sp>
        <p:nvSpPr>
          <p:cNvPr id="22" name="Rectangle 21"/>
          <p:cNvSpPr/>
          <p:nvPr/>
        </p:nvSpPr>
        <p:spPr>
          <a:xfrm>
            <a:off x="4420514" y="4110228"/>
            <a:ext cx="384048" cy="384048"/>
          </a:xfrm>
          <a:prstGeom prst="rect">
            <a:avLst/>
          </a:prstGeom>
          <a:solidFill>
            <a:srgbClr val="FFFFFF"/>
          </a:solidFill>
          <a:ln w="19050">
            <a:solidFill>
              <a:srgbClr val="4F4F4F"/>
            </a:solidFill>
          </a:ln>
          <a:effectLst/>
        </p:spPr>
        <p:txBody>
          <a:bodyPr rtlCol="0" anchor="ctr"/>
          <a:lstStyle/>
          <a:p/>
        </p:txBody>
      </p:sp>
      <p:sp>
        <p:nvSpPr>
          <p:cNvPr id="23" name="TextBox 22"/>
          <p:cNvSpPr txBox="1"/>
          <p:nvPr/>
        </p:nvSpPr>
        <p:spPr>
          <a:xfrm>
            <a:off x="4932578" y="3691128"/>
            <a:ext cx="2893466" cy="1222248"/>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Gübreleme</a:t>
            </a:r>
          </a:p>
        </p:txBody>
      </p:sp>
      <p:sp>
        <p:nvSpPr>
          <p:cNvPr id="24" name="Rounded Rectangle 23"/>
          <p:cNvSpPr/>
          <p:nvPr/>
        </p:nvSpPr>
        <p:spPr>
          <a:xfrm>
            <a:off x="8082076" y="3691128"/>
            <a:ext cx="3606698" cy="1222248"/>
          </a:xfrm>
          <a:prstGeom prst="roundRect">
            <a:avLst>
              <a:gd name="adj" fmla="val 7481"/>
            </a:avLst>
          </a:prstGeom>
          <a:solidFill>
            <a:srgbClr val="FFFFFF"/>
          </a:solidFill>
          <a:ln w="12700">
            <a:solidFill>
              <a:srgbClr val="D9D9D9"/>
            </a:solidFill>
          </a:ln>
          <a:effectLst/>
        </p:spPr>
        <p:txBody>
          <a:bodyPr rtlCol="0" anchor="ctr"/>
          <a:lstStyle/>
          <a:p/>
        </p:txBody>
      </p:sp>
      <p:sp>
        <p:nvSpPr>
          <p:cNvPr id="25" name="Rectangle 24"/>
          <p:cNvSpPr/>
          <p:nvPr/>
        </p:nvSpPr>
        <p:spPr>
          <a:xfrm>
            <a:off x="8210092" y="4110228"/>
            <a:ext cx="384048" cy="384048"/>
          </a:xfrm>
          <a:prstGeom prst="rect">
            <a:avLst/>
          </a:prstGeom>
          <a:solidFill>
            <a:srgbClr val="FFFFFF"/>
          </a:solidFill>
          <a:ln w="19050">
            <a:solidFill>
              <a:srgbClr val="4F4F4F"/>
            </a:solidFill>
          </a:ln>
          <a:effectLst/>
        </p:spPr>
        <p:txBody>
          <a:bodyPr rtlCol="0" anchor="ctr"/>
          <a:lstStyle/>
          <a:p/>
        </p:txBody>
      </p:sp>
      <p:sp>
        <p:nvSpPr>
          <p:cNvPr id="26" name="TextBox 25"/>
          <p:cNvSpPr txBox="1"/>
          <p:nvPr/>
        </p:nvSpPr>
        <p:spPr>
          <a:xfrm>
            <a:off x="8722156" y="3691128"/>
            <a:ext cx="2893466" cy="1222248"/>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İş gücü</a:t>
            </a:r>
          </a:p>
        </p:txBody>
      </p:sp>
      <p:sp>
        <p:nvSpPr>
          <p:cNvPr id="27" name="Rounded Rectangle 26"/>
          <p:cNvSpPr/>
          <p:nvPr/>
        </p:nvSpPr>
        <p:spPr>
          <a:xfrm>
            <a:off x="502920" y="5023104"/>
            <a:ext cx="3606698" cy="1222248"/>
          </a:xfrm>
          <a:prstGeom prst="roundRect">
            <a:avLst>
              <a:gd name="adj" fmla="val 7481"/>
            </a:avLst>
          </a:prstGeom>
          <a:solidFill>
            <a:srgbClr val="FFFFFF"/>
          </a:solidFill>
          <a:ln w="12700">
            <a:solidFill>
              <a:srgbClr val="D9D9D9"/>
            </a:solidFill>
          </a:ln>
          <a:effectLst/>
        </p:spPr>
        <p:txBody>
          <a:bodyPr rtlCol="0" anchor="ctr"/>
          <a:lstStyle/>
          <a:p/>
        </p:txBody>
      </p:sp>
      <p:sp>
        <p:nvSpPr>
          <p:cNvPr id="28" name="Rectangle 27"/>
          <p:cNvSpPr/>
          <p:nvPr/>
        </p:nvSpPr>
        <p:spPr>
          <a:xfrm>
            <a:off x="630936" y="5442204"/>
            <a:ext cx="384048" cy="384048"/>
          </a:xfrm>
          <a:prstGeom prst="rect">
            <a:avLst/>
          </a:prstGeom>
          <a:solidFill>
            <a:srgbClr val="FFFFFF"/>
          </a:solidFill>
          <a:ln w="19050">
            <a:solidFill>
              <a:srgbClr val="4F4F4F"/>
            </a:solidFill>
          </a:ln>
          <a:effectLst/>
        </p:spPr>
        <p:txBody>
          <a:bodyPr rtlCol="0" anchor="ctr"/>
          <a:lstStyle/>
          <a:p/>
        </p:txBody>
      </p:sp>
      <p:sp>
        <p:nvSpPr>
          <p:cNvPr id="29" name="TextBox 28"/>
          <p:cNvSpPr txBox="1"/>
          <p:nvPr/>
        </p:nvSpPr>
        <p:spPr>
          <a:xfrm>
            <a:off x="1143000" y="5023104"/>
            <a:ext cx="2893466" cy="1222248"/>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Teknoloji</a:t>
            </a:r>
          </a:p>
        </p:txBody>
      </p:sp>
      <p:sp>
        <p:nvSpPr>
          <p:cNvPr id="30" name="Rounded Rectangle 29"/>
          <p:cNvSpPr/>
          <p:nvPr/>
        </p:nvSpPr>
        <p:spPr>
          <a:xfrm>
            <a:off x="4292498" y="5023104"/>
            <a:ext cx="3606698" cy="1222248"/>
          </a:xfrm>
          <a:prstGeom prst="roundRect">
            <a:avLst>
              <a:gd name="adj" fmla="val 7481"/>
            </a:avLst>
          </a:prstGeom>
          <a:solidFill>
            <a:srgbClr val="FFFFFF"/>
          </a:solidFill>
          <a:ln w="12700">
            <a:solidFill>
              <a:srgbClr val="D9D9D9"/>
            </a:solidFill>
          </a:ln>
          <a:effectLst/>
        </p:spPr>
        <p:txBody>
          <a:bodyPr rtlCol="0" anchor="ctr"/>
          <a:lstStyle/>
          <a:p/>
        </p:txBody>
      </p:sp>
      <p:sp>
        <p:nvSpPr>
          <p:cNvPr id="31" name="Rectangle 30"/>
          <p:cNvSpPr/>
          <p:nvPr/>
        </p:nvSpPr>
        <p:spPr>
          <a:xfrm>
            <a:off x="4420514" y="5442204"/>
            <a:ext cx="384048" cy="384048"/>
          </a:xfrm>
          <a:prstGeom prst="rect">
            <a:avLst/>
          </a:prstGeom>
          <a:solidFill>
            <a:srgbClr val="FFFFFF"/>
          </a:solidFill>
          <a:ln w="19050">
            <a:solidFill>
              <a:srgbClr val="4F4F4F"/>
            </a:solidFill>
          </a:ln>
          <a:effectLst/>
        </p:spPr>
        <p:txBody>
          <a:bodyPr rtlCol="0" anchor="ctr"/>
          <a:lstStyle/>
          <a:p/>
        </p:txBody>
      </p:sp>
      <p:sp>
        <p:nvSpPr>
          <p:cNvPr id="32" name="TextBox 31"/>
          <p:cNvSpPr txBox="1"/>
          <p:nvPr/>
        </p:nvSpPr>
        <p:spPr>
          <a:xfrm>
            <a:off x="4932578" y="5023104"/>
            <a:ext cx="2893466" cy="1222248"/>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Topoğrafya</a:t>
            </a:r>
          </a:p>
        </p:txBody>
      </p:sp>
      <p:sp>
        <p:nvSpPr>
          <p:cNvPr id="33" name="Rounded Rectangle 32"/>
          <p:cNvSpPr/>
          <p:nvPr/>
        </p:nvSpPr>
        <p:spPr>
          <a:xfrm>
            <a:off x="8082076" y="5023104"/>
            <a:ext cx="3606698" cy="1222248"/>
          </a:xfrm>
          <a:prstGeom prst="roundRect">
            <a:avLst>
              <a:gd name="adj" fmla="val 7481"/>
            </a:avLst>
          </a:prstGeom>
          <a:solidFill>
            <a:srgbClr val="FFFFFF"/>
          </a:solidFill>
          <a:ln w="12700">
            <a:solidFill>
              <a:srgbClr val="D9D9D9"/>
            </a:solidFill>
          </a:ln>
          <a:effectLst/>
        </p:spPr>
        <p:txBody>
          <a:bodyPr rtlCol="0" anchor="ctr"/>
          <a:lstStyle/>
          <a:p/>
        </p:txBody>
      </p:sp>
      <p:sp>
        <p:nvSpPr>
          <p:cNvPr id="34" name="Rectangle 33"/>
          <p:cNvSpPr/>
          <p:nvPr/>
        </p:nvSpPr>
        <p:spPr>
          <a:xfrm>
            <a:off x="8210092" y="5442204"/>
            <a:ext cx="384048" cy="384048"/>
          </a:xfrm>
          <a:prstGeom prst="rect">
            <a:avLst/>
          </a:prstGeom>
          <a:solidFill>
            <a:srgbClr val="FFFFFF"/>
          </a:solidFill>
          <a:ln w="19050">
            <a:solidFill>
              <a:srgbClr val="4F4F4F"/>
            </a:solidFill>
          </a:ln>
          <a:effectLst/>
        </p:spPr>
        <p:txBody>
          <a:bodyPr rtlCol="0" anchor="ctr"/>
          <a:lstStyle/>
          <a:p/>
        </p:txBody>
      </p:sp>
      <p:sp>
        <p:nvSpPr>
          <p:cNvPr id="35" name="TextBox 34"/>
          <p:cNvSpPr txBox="1"/>
          <p:nvPr/>
        </p:nvSpPr>
        <p:spPr>
          <a:xfrm>
            <a:off x="8722156" y="5023104"/>
            <a:ext cx="2893466" cy="1222248"/>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Coğrafi konum</a:t>
            </a:r>
          </a:p>
        </p:txBody>
      </p:sp>
      <p:sp>
        <p:nvSpPr>
          <p:cNvPr id="36" name="TextBox 3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7" name="Rounded Rectangle 3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38" name="TextBox 3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160 / 166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6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6</a:t>
            </a:r>
          </a:p>
        </p:txBody>
      </p:sp>
      <p:sp>
        <p:nvSpPr>
          <p:cNvPr id="6" name="Rounded Rectangle 5"/>
          <p:cNvSpPr/>
          <p:nvPr/>
        </p:nvSpPr>
        <p:spPr>
          <a:xfrm>
            <a:off x="502920" y="1216152"/>
            <a:ext cx="3606698" cy="1603248"/>
          </a:xfrm>
          <a:prstGeom prst="roundRect">
            <a:avLst>
              <a:gd name="adj" fmla="val 5703"/>
            </a:avLst>
          </a:prstGeom>
          <a:solidFill>
            <a:srgbClr val="E3F1E4"/>
          </a:solidFill>
          <a:ln w="22225">
            <a:solidFill>
              <a:srgbClr val="2E7D32"/>
            </a:solidFill>
          </a:ln>
          <a:effectLst/>
        </p:spPr>
        <p:txBody>
          <a:bodyPr rtlCol="0" anchor="ctr"/>
          <a:lstStyle/>
          <a:p/>
        </p:txBody>
      </p:sp>
      <p:sp>
        <p:nvSpPr>
          <p:cNvPr id="7" name="Rectangle 6"/>
          <p:cNvSpPr/>
          <p:nvPr/>
        </p:nvSpPr>
        <p:spPr>
          <a:xfrm>
            <a:off x="630936" y="1825752"/>
            <a:ext cx="384048" cy="384048"/>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8" name="TextBox 7"/>
          <p:cNvSpPr txBox="1"/>
          <p:nvPr/>
        </p:nvSpPr>
        <p:spPr>
          <a:xfrm>
            <a:off x="1143000" y="1216152"/>
            <a:ext cx="2893466" cy="1603248"/>
          </a:xfrm>
          <a:prstGeom prst="rect">
            <a:avLst/>
          </a:prstGeom>
          <a:noFill/>
        </p:spPr>
        <p:txBody>
          <a:bodyPr wrap="square" anchor="ctr" lIns="73152" rIns="73152" tIns="36576" bIns="36576">
            <a:noAutofit/>
          </a:bodyPr>
          <a:lstStyle/>
          <a:p>
            <a:pPr algn="l">
              <a:spcBef>
                <a:spcPts val="0"/>
              </a:spcBef>
              <a:spcAft>
                <a:spcPts val="200"/>
              </a:spcAft>
            </a:pPr>
            <a:r>
              <a:rPr lang="tr-TR" sz="2200" b="1" i="0">
                <a:solidFill>
                  <a:srgbClr val="262626"/>
                </a:solidFill>
                <a:latin typeface="Calibri"/>
              </a:rPr>
              <a:t>İklim</a:t>
            </a:r>
          </a:p>
          <a:p>
            <a:pPr algn="l">
              <a:spcBef>
                <a:spcPts val="0"/>
              </a:spcBef>
              <a:spcAft>
                <a:spcPts val="0"/>
              </a:spcAft>
            </a:pPr>
            <a:r>
              <a:rPr lang="tr-TR" sz="1628" b="0" i="0">
                <a:solidFill>
                  <a:srgbClr val="2E7D32"/>
                </a:solidFill>
                <a:latin typeface="Calibri"/>
              </a:rPr>
              <a:t>Sıcak ve yağışlı kuşak; metin: sıcaklık ve yağış</a:t>
            </a:r>
          </a:p>
        </p:txBody>
      </p:sp>
      <p:sp>
        <p:nvSpPr>
          <p:cNvPr id="9" name="Rounded Rectangle 8"/>
          <p:cNvSpPr/>
          <p:nvPr/>
        </p:nvSpPr>
        <p:spPr>
          <a:xfrm>
            <a:off x="4292498" y="1216152"/>
            <a:ext cx="3606698" cy="1603248"/>
          </a:xfrm>
          <a:prstGeom prst="roundRect">
            <a:avLst>
              <a:gd name="adj" fmla="val 5703"/>
            </a:avLst>
          </a:prstGeom>
          <a:solidFill>
            <a:srgbClr val="F9E1E1"/>
          </a:solidFill>
          <a:ln w="22225">
            <a:solidFill>
              <a:srgbClr val="D3373A"/>
            </a:solidFill>
          </a:ln>
          <a:effectLst/>
        </p:spPr>
        <p:txBody>
          <a:bodyPr rtlCol="0" anchor="ctr"/>
          <a:lstStyle/>
          <a:p/>
        </p:txBody>
      </p:sp>
      <p:sp>
        <p:nvSpPr>
          <p:cNvPr id="10" name="Rectangle 9"/>
          <p:cNvSpPr/>
          <p:nvPr/>
        </p:nvSpPr>
        <p:spPr>
          <a:xfrm>
            <a:off x="4420514" y="1825752"/>
            <a:ext cx="384048" cy="384048"/>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1" name="TextBox 10"/>
          <p:cNvSpPr txBox="1"/>
          <p:nvPr/>
        </p:nvSpPr>
        <p:spPr>
          <a:xfrm>
            <a:off x="4932578" y="1216152"/>
            <a:ext cx="2893466" cy="1603248"/>
          </a:xfrm>
          <a:prstGeom prst="rect">
            <a:avLst/>
          </a:prstGeom>
          <a:noFill/>
        </p:spPr>
        <p:txBody>
          <a:bodyPr wrap="square" anchor="ctr" lIns="73152" rIns="73152" tIns="36576" bIns="36576">
            <a:noAutofit/>
          </a:bodyPr>
          <a:lstStyle/>
          <a:p>
            <a:pPr algn="l">
              <a:spcBef>
                <a:spcPts val="0"/>
              </a:spcBef>
              <a:spcAft>
                <a:spcPts val="200"/>
              </a:spcAft>
            </a:pPr>
            <a:r>
              <a:rPr lang="tr-TR" sz="2200" b="0" i="0">
                <a:solidFill>
                  <a:srgbClr val="262626"/>
                </a:solidFill>
                <a:latin typeface="Calibri"/>
              </a:rPr>
              <a:t>Yer altı kaynakları</a:t>
            </a:r>
          </a:p>
          <a:p>
            <a:pPr algn="l">
              <a:spcBef>
                <a:spcPts val="0"/>
              </a:spcBef>
              <a:spcAft>
                <a:spcPts val="0"/>
              </a:spcAft>
            </a:pPr>
            <a:r>
              <a:rPr lang="tr-TR" sz="1628" b="0" i="0">
                <a:solidFill>
                  <a:srgbClr val="D3373A"/>
                </a:solidFill>
                <a:latin typeface="Calibri"/>
              </a:rPr>
              <a:t>Doğal ama kahvenin yetişmesini açıklamaz</a:t>
            </a:r>
          </a:p>
        </p:txBody>
      </p:sp>
      <p:sp>
        <p:nvSpPr>
          <p:cNvPr id="12" name="Rounded Rectangle 11"/>
          <p:cNvSpPr/>
          <p:nvPr/>
        </p:nvSpPr>
        <p:spPr>
          <a:xfrm>
            <a:off x="8082076" y="1216152"/>
            <a:ext cx="3606698" cy="1603248"/>
          </a:xfrm>
          <a:prstGeom prst="roundRect">
            <a:avLst>
              <a:gd name="adj" fmla="val 5703"/>
            </a:avLst>
          </a:prstGeom>
          <a:solidFill>
            <a:srgbClr val="F9E1E1"/>
          </a:solidFill>
          <a:ln w="22225">
            <a:solidFill>
              <a:srgbClr val="D3373A"/>
            </a:solidFill>
          </a:ln>
          <a:effectLst/>
        </p:spPr>
        <p:txBody>
          <a:bodyPr rtlCol="0" anchor="ctr"/>
          <a:lstStyle/>
          <a:p/>
        </p:txBody>
      </p:sp>
      <p:sp>
        <p:nvSpPr>
          <p:cNvPr id="13" name="Rectangle 12"/>
          <p:cNvSpPr/>
          <p:nvPr/>
        </p:nvSpPr>
        <p:spPr>
          <a:xfrm>
            <a:off x="8210092" y="1825752"/>
            <a:ext cx="384048" cy="384048"/>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4" name="TextBox 13"/>
          <p:cNvSpPr txBox="1"/>
          <p:nvPr/>
        </p:nvSpPr>
        <p:spPr>
          <a:xfrm>
            <a:off x="8722156" y="1216152"/>
            <a:ext cx="2893466" cy="1603248"/>
          </a:xfrm>
          <a:prstGeom prst="rect">
            <a:avLst/>
          </a:prstGeom>
          <a:noFill/>
        </p:spPr>
        <p:txBody>
          <a:bodyPr wrap="square" anchor="ctr" lIns="73152" rIns="73152" tIns="36576" bIns="36576">
            <a:noAutofit/>
          </a:bodyPr>
          <a:lstStyle/>
          <a:p>
            <a:pPr algn="l">
              <a:spcBef>
                <a:spcPts val="0"/>
              </a:spcBef>
              <a:spcAft>
                <a:spcPts val="200"/>
              </a:spcAft>
            </a:pPr>
            <a:r>
              <a:rPr lang="tr-TR" sz="2200" b="0" i="0">
                <a:solidFill>
                  <a:srgbClr val="262626"/>
                </a:solidFill>
                <a:latin typeface="Calibri"/>
              </a:rPr>
              <a:t>Ham madde</a:t>
            </a:r>
          </a:p>
          <a:p>
            <a:pPr algn="l">
              <a:spcBef>
                <a:spcPts val="0"/>
              </a:spcBef>
              <a:spcAft>
                <a:spcPts val="0"/>
              </a:spcAft>
            </a:pPr>
            <a:r>
              <a:rPr lang="tr-TR" sz="1628" b="0" i="0">
                <a:solidFill>
                  <a:srgbClr val="D3373A"/>
                </a:solidFill>
                <a:latin typeface="Calibri"/>
              </a:rPr>
              <a:t>Kahvenin kendisi ham maddedir; doğal faktör değil</a:t>
            </a:r>
          </a:p>
        </p:txBody>
      </p:sp>
      <p:sp>
        <p:nvSpPr>
          <p:cNvPr id="15" name="Rounded Rectangle 14"/>
          <p:cNvSpPr/>
          <p:nvPr/>
        </p:nvSpPr>
        <p:spPr>
          <a:xfrm>
            <a:off x="502920" y="2929128"/>
            <a:ext cx="3606698" cy="1603248"/>
          </a:xfrm>
          <a:prstGeom prst="roundRect">
            <a:avLst>
              <a:gd name="adj" fmla="val 5703"/>
            </a:avLst>
          </a:prstGeom>
          <a:solidFill>
            <a:srgbClr val="E3F1E4"/>
          </a:solidFill>
          <a:ln w="22225">
            <a:solidFill>
              <a:srgbClr val="2E7D32"/>
            </a:solidFill>
          </a:ln>
          <a:effectLst/>
        </p:spPr>
        <p:txBody>
          <a:bodyPr rtlCol="0" anchor="ctr"/>
          <a:lstStyle/>
          <a:p/>
        </p:txBody>
      </p:sp>
      <p:sp>
        <p:nvSpPr>
          <p:cNvPr id="16" name="Rectangle 15"/>
          <p:cNvSpPr/>
          <p:nvPr/>
        </p:nvSpPr>
        <p:spPr>
          <a:xfrm>
            <a:off x="630936" y="3538728"/>
            <a:ext cx="384048" cy="384048"/>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7" name="TextBox 16"/>
          <p:cNvSpPr txBox="1"/>
          <p:nvPr/>
        </p:nvSpPr>
        <p:spPr>
          <a:xfrm>
            <a:off x="1143000" y="2929128"/>
            <a:ext cx="2893466" cy="1603248"/>
          </a:xfrm>
          <a:prstGeom prst="rect">
            <a:avLst/>
          </a:prstGeom>
          <a:noFill/>
        </p:spPr>
        <p:txBody>
          <a:bodyPr wrap="square" anchor="ctr" lIns="73152" rIns="73152" tIns="36576" bIns="36576">
            <a:noAutofit/>
          </a:bodyPr>
          <a:lstStyle/>
          <a:p>
            <a:pPr algn="l">
              <a:spcBef>
                <a:spcPts val="0"/>
              </a:spcBef>
              <a:spcAft>
                <a:spcPts val="200"/>
              </a:spcAft>
            </a:pPr>
            <a:r>
              <a:rPr lang="tr-TR" sz="2200" b="1" i="0">
                <a:solidFill>
                  <a:srgbClr val="262626"/>
                </a:solidFill>
                <a:latin typeface="Calibri"/>
              </a:rPr>
              <a:t>Toprak</a:t>
            </a:r>
          </a:p>
          <a:p>
            <a:pPr algn="l">
              <a:spcBef>
                <a:spcPts val="0"/>
              </a:spcBef>
              <a:spcAft>
                <a:spcPts val="0"/>
              </a:spcAft>
            </a:pPr>
            <a:r>
              <a:rPr lang="tr-TR" sz="1628" b="0" i="0">
                <a:solidFill>
                  <a:srgbClr val="2E7D32"/>
                </a:solidFill>
                <a:latin typeface="Calibri"/>
              </a:rPr>
              <a:t>Metin: toprağın pH değeri ve yapısı</a:t>
            </a:r>
          </a:p>
        </p:txBody>
      </p:sp>
      <p:sp>
        <p:nvSpPr>
          <p:cNvPr id="18" name="Rounded Rectangle 17"/>
          <p:cNvSpPr/>
          <p:nvPr/>
        </p:nvSpPr>
        <p:spPr>
          <a:xfrm>
            <a:off x="4292498" y="2929128"/>
            <a:ext cx="3606698" cy="1603248"/>
          </a:xfrm>
          <a:prstGeom prst="roundRect">
            <a:avLst>
              <a:gd name="adj" fmla="val 5703"/>
            </a:avLst>
          </a:prstGeom>
          <a:solidFill>
            <a:srgbClr val="F9E1E1"/>
          </a:solidFill>
          <a:ln w="22225">
            <a:solidFill>
              <a:srgbClr val="D3373A"/>
            </a:solidFill>
          </a:ln>
          <a:effectLst/>
        </p:spPr>
        <p:txBody>
          <a:bodyPr rtlCol="0" anchor="ctr"/>
          <a:lstStyle/>
          <a:p/>
        </p:txBody>
      </p:sp>
      <p:sp>
        <p:nvSpPr>
          <p:cNvPr id="19" name="Rectangle 18"/>
          <p:cNvSpPr/>
          <p:nvPr/>
        </p:nvSpPr>
        <p:spPr>
          <a:xfrm>
            <a:off x="4420514" y="3538728"/>
            <a:ext cx="384048" cy="384048"/>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0" name="TextBox 19"/>
          <p:cNvSpPr txBox="1"/>
          <p:nvPr/>
        </p:nvSpPr>
        <p:spPr>
          <a:xfrm>
            <a:off x="4932578" y="2929128"/>
            <a:ext cx="2893466" cy="1603248"/>
          </a:xfrm>
          <a:prstGeom prst="rect">
            <a:avLst/>
          </a:prstGeom>
          <a:noFill/>
        </p:spPr>
        <p:txBody>
          <a:bodyPr wrap="square" anchor="ctr" lIns="73152" rIns="73152" tIns="36576" bIns="36576">
            <a:noAutofit/>
          </a:bodyPr>
          <a:lstStyle/>
          <a:p>
            <a:pPr algn="l">
              <a:spcBef>
                <a:spcPts val="0"/>
              </a:spcBef>
              <a:spcAft>
                <a:spcPts val="200"/>
              </a:spcAft>
            </a:pPr>
            <a:r>
              <a:rPr lang="tr-TR" sz="2200" b="0" i="0">
                <a:solidFill>
                  <a:srgbClr val="262626"/>
                </a:solidFill>
                <a:latin typeface="Calibri"/>
              </a:rPr>
              <a:t>Gübreleme</a:t>
            </a:r>
          </a:p>
          <a:p>
            <a:pPr algn="l">
              <a:spcBef>
                <a:spcPts val="0"/>
              </a:spcBef>
              <a:spcAft>
                <a:spcPts val="0"/>
              </a:spcAft>
            </a:pPr>
            <a:r>
              <a:rPr lang="tr-TR" sz="1628" b="0" i="0">
                <a:solidFill>
                  <a:srgbClr val="D3373A"/>
                </a:solidFill>
                <a:latin typeface="Calibri"/>
              </a:rPr>
              <a:t>İnsanın uygulaması: beşerî</a:t>
            </a:r>
          </a:p>
        </p:txBody>
      </p:sp>
      <p:sp>
        <p:nvSpPr>
          <p:cNvPr id="21" name="Rounded Rectangle 20"/>
          <p:cNvSpPr/>
          <p:nvPr/>
        </p:nvSpPr>
        <p:spPr>
          <a:xfrm>
            <a:off x="8082076" y="2929128"/>
            <a:ext cx="3606698" cy="1603248"/>
          </a:xfrm>
          <a:prstGeom prst="roundRect">
            <a:avLst>
              <a:gd name="adj" fmla="val 5703"/>
            </a:avLst>
          </a:prstGeom>
          <a:solidFill>
            <a:srgbClr val="F9E1E1"/>
          </a:solidFill>
          <a:ln w="22225">
            <a:solidFill>
              <a:srgbClr val="D3373A"/>
            </a:solidFill>
          </a:ln>
          <a:effectLst/>
        </p:spPr>
        <p:txBody>
          <a:bodyPr rtlCol="0" anchor="ctr"/>
          <a:lstStyle/>
          <a:p/>
        </p:txBody>
      </p:sp>
      <p:sp>
        <p:nvSpPr>
          <p:cNvPr id="22" name="Rectangle 21"/>
          <p:cNvSpPr/>
          <p:nvPr/>
        </p:nvSpPr>
        <p:spPr>
          <a:xfrm>
            <a:off x="8210092" y="3538728"/>
            <a:ext cx="384048" cy="384048"/>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3" name="TextBox 22"/>
          <p:cNvSpPr txBox="1"/>
          <p:nvPr/>
        </p:nvSpPr>
        <p:spPr>
          <a:xfrm>
            <a:off x="8722156" y="2929128"/>
            <a:ext cx="2893466" cy="1603248"/>
          </a:xfrm>
          <a:prstGeom prst="rect">
            <a:avLst/>
          </a:prstGeom>
          <a:noFill/>
        </p:spPr>
        <p:txBody>
          <a:bodyPr wrap="square" anchor="ctr" lIns="73152" rIns="73152" tIns="36576" bIns="36576">
            <a:noAutofit/>
          </a:bodyPr>
          <a:lstStyle/>
          <a:p>
            <a:pPr algn="l">
              <a:spcBef>
                <a:spcPts val="0"/>
              </a:spcBef>
              <a:spcAft>
                <a:spcPts val="200"/>
              </a:spcAft>
            </a:pPr>
            <a:r>
              <a:rPr lang="tr-TR" sz="2200" b="0" i="0">
                <a:solidFill>
                  <a:srgbClr val="262626"/>
                </a:solidFill>
                <a:latin typeface="Calibri"/>
              </a:rPr>
              <a:t>İş gücü</a:t>
            </a:r>
          </a:p>
          <a:p>
            <a:pPr algn="l">
              <a:spcBef>
                <a:spcPts val="0"/>
              </a:spcBef>
              <a:spcAft>
                <a:spcPts val="0"/>
              </a:spcAft>
            </a:pPr>
            <a:r>
              <a:rPr lang="tr-TR" sz="1628" b="0" i="0">
                <a:solidFill>
                  <a:srgbClr val="D3373A"/>
                </a:solidFill>
                <a:latin typeface="Calibri"/>
              </a:rPr>
              <a:t>Beşerî faktör (kitap s. 177)</a:t>
            </a:r>
          </a:p>
        </p:txBody>
      </p:sp>
      <p:sp>
        <p:nvSpPr>
          <p:cNvPr id="24" name="Rounded Rectangle 23"/>
          <p:cNvSpPr/>
          <p:nvPr/>
        </p:nvSpPr>
        <p:spPr>
          <a:xfrm>
            <a:off x="502920" y="4642104"/>
            <a:ext cx="3606698" cy="1603248"/>
          </a:xfrm>
          <a:prstGeom prst="roundRect">
            <a:avLst>
              <a:gd name="adj" fmla="val 5703"/>
            </a:avLst>
          </a:prstGeom>
          <a:solidFill>
            <a:srgbClr val="F9E1E1"/>
          </a:solidFill>
          <a:ln w="22225">
            <a:solidFill>
              <a:srgbClr val="D3373A"/>
            </a:solidFill>
          </a:ln>
          <a:effectLst/>
        </p:spPr>
        <p:txBody>
          <a:bodyPr rtlCol="0" anchor="ctr"/>
          <a:lstStyle/>
          <a:p/>
        </p:txBody>
      </p:sp>
      <p:sp>
        <p:nvSpPr>
          <p:cNvPr id="25" name="Rectangle 24"/>
          <p:cNvSpPr/>
          <p:nvPr/>
        </p:nvSpPr>
        <p:spPr>
          <a:xfrm>
            <a:off x="630936" y="5251704"/>
            <a:ext cx="384048" cy="384048"/>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6" name="TextBox 25"/>
          <p:cNvSpPr txBox="1"/>
          <p:nvPr/>
        </p:nvSpPr>
        <p:spPr>
          <a:xfrm>
            <a:off x="1143000" y="4642104"/>
            <a:ext cx="2893466" cy="1603248"/>
          </a:xfrm>
          <a:prstGeom prst="rect">
            <a:avLst/>
          </a:prstGeom>
          <a:noFill/>
        </p:spPr>
        <p:txBody>
          <a:bodyPr wrap="square" anchor="ctr" lIns="73152" rIns="73152" tIns="36576" bIns="36576">
            <a:noAutofit/>
          </a:bodyPr>
          <a:lstStyle/>
          <a:p>
            <a:pPr algn="l">
              <a:spcBef>
                <a:spcPts val="0"/>
              </a:spcBef>
              <a:spcAft>
                <a:spcPts val="200"/>
              </a:spcAft>
            </a:pPr>
            <a:r>
              <a:rPr lang="tr-TR" sz="2200" b="0" i="0">
                <a:solidFill>
                  <a:srgbClr val="262626"/>
                </a:solidFill>
                <a:latin typeface="Calibri"/>
              </a:rPr>
              <a:t>Teknoloji</a:t>
            </a:r>
          </a:p>
          <a:p>
            <a:pPr algn="l">
              <a:spcBef>
                <a:spcPts val="0"/>
              </a:spcBef>
              <a:spcAft>
                <a:spcPts val="0"/>
              </a:spcAft>
            </a:pPr>
            <a:r>
              <a:rPr lang="tr-TR" sz="1628" b="0" i="0">
                <a:solidFill>
                  <a:srgbClr val="D3373A"/>
                </a:solidFill>
                <a:latin typeface="Calibri"/>
              </a:rPr>
              <a:t>Beşerî faktör (kitap s. 178)</a:t>
            </a:r>
          </a:p>
        </p:txBody>
      </p:sp>
      <p:sp>
        <p:nvSpPr>
          <p:cNvPr id="27" name="Rounded Rectangle 26"/>
          <p:cNvSpPr/>
          <p:nvPr/>
        </p:nvSpPr>
        <p:spPr>
          <a:xfrm>
            <a:off x="4292498" y="4642104"/>
            <a:ext cx="3606698" cy="1603248"/>
          </a:xfrm>
          <a:prstGeom prst="roundRect">
            <a:avLst>
              <a:gd name="adj" fmla="val 5703"/>
            </a:avLst>
          </a:prstGeom>
          <a:solidFill>
            <a:srgbClr val="E3F1E4"/>
          </a:solidFill>
          <a:ln w="22225">
            <a:solidFill>
              <a:srgbClr val="2E7D32"/>
            </a:solidFill>
          </a:ln>
          <a:effectLst/>
        </p:spPr>
        <p:txBody>
          <a:bodyPr rtlCol="0" anchor="ctr"/>
          <a:lstStyle/>
          <a:p/>
        </p:txBody>
      </p:sp>
      <p:sp>
        <p:nvSpPr>
          <p:cNvPr id="28" name="Rectangle 27"/>
          <p:cNvSpPr/>
          <p:nvPr/>
        </p:nvSpPr>
        <p:spPr>
          <a:xfrm>
            <a:off x="4420514" y="5251704"/>
            <a:ext cx="384048" cy="384048"/>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9" name="TextBox 28"/>
          <p:cNvSpPr txBox="1"/>
          <p:nvPr/>
        </p:nvSpPr>
        <p:spPr>
          <a:xfrm>
            <a:off x="4932578" y="4642104"/>
            <a:ext cx="2893466" cy="1603248"/>
          </a:xfrm>
          <a:prstGeom prst="rect">
            <a:avLst/>
          </a:prstGeom>
          <a:noFill/>
        </p:spPr>
        <p:txBody>
          <a:bodyPr wrap="square" anchor="ctr" lIns="73152" rIns="73152" tIns="36576" bIns="36576">
            <a:noAutofit/>
          </a:bodyPr>
          <a:lstStyle/>
          <a:p>
            <a:pPr algn="l">
              <a:spcBef>
                <a:spcPts val="0"/>
              </a:spcBef>
              <a:spcAft>
                <a:spcPts val="200"/>
              </a:spcAft>
            </a:pPr>
            <a:r>
              <a:rPr lang="tr-TR" sz="2200" b="1" i="0">
                <a:solidFill>
                  <a:srgbClr val="262626"/>
                </a:solidFill>
                <a:latin typeface="Calibri"/>
              </a:rPr>
              <a:t>Topoğrafya</a:t>
            </a:r>
          </a:p>
          <a:p>
            <a:pPr algn="l">
              <a:spcBef>
                <a:spcPts val="0"/>
              </a:spcBef>
              <a:spcAft>
                <a:spcPts val="0"/>
              </a:spcAft>
            </a:pPr>
            <a:r>
              <a:rPr lang="tr-TR" sz="1628" b="0" i="0">
                <a:solidFill>
                  <a:srgbClr val="2E7D32"/>
                </a:solidFill>
                <a:latin typeface="Calibri"/>
              </a:rPr>
              <a:t>Yükselti ve eğim sıcaklığı, nemi değiştirir</a:t>
            </a:r>
          </a:p>
        </p:txBody>
      </p:sp>
      <p:sp>
        <p:nvSpPr>
          <p:cNvPr id="30" name="Rounded Rectangle 29"/>
          <p:cNvSpPr/>
          <p:nvPr/>
        </p:nvSpPr>
        <p:spPr>
          <a:xfrm>
            <a:off x="8082076" y="4642104"/>
            <a:ext cx="3606698" cy="1603248"/>
          </a:xfrm>
          <a:prstGeom prst="roundRect">
            <a:avLst>
              <a:gd name="adj" fmla="val 5703"/>
            </a:avLst>
          </a:prstGeom>
          <a:solidFill>
            <a:srgbClr val="E3F1E4"/>
          </a:solidFill>
          <a:ln w="22225">
            <a:solidFill>
              <a:srgbClr val="2E7D32"/>
            </a:solidFill>
          </a:ln>
          <a:effectLst/>
        </p:spPr>
        <p:txBody>
          <a:bodyPr rtlCol="0" anchor="ctr"/>
          <a:lstStyle/>
          <a:p/>
        </p:txBody>
      </p:sp>
      <p:sp>
        <p:nvSpPr>
          <p:cNvPr id="31" name="Rectangle 30"/>
          <p:cNvSpPr/>
          <p:nvPr/>
        </p:nvSpPr>
        <p:spPr>
          <a:xfrm>
            <a:off x="8210092" y="5251704"/>
            <a:ext cx="384048" cy="384048"/>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32" name="TextBox 31"/>
          <p:cNvSpPr txBox="1"/>
          <p:nvPr/>
        </p:nvSpPr>
        <p:spPr>
          <a:xfrm>
            <a:off x="8722156" y="4642104"/>
            <a:ext cx="2893466" cy="1603248"/>
          </a:xfrm>
          <a:prstGeom prst="rect">
            <a:avLst/>
          </a:prstGeom>
          <a:noFill/>
        </p:spPr>
        <p:txBody>
          <a:bodyPr wrap="square" anchor="ctr" lIns="73152" rIns="73152" tIns="36576" bIns="36576">
            <a:noAutofit/>
          </a:bodyPr>
          <a:lstStyle/>
          <a:p>
            <a:pPr algn="l">
              <a:spcBef>
                <a:spcPts val="0"/>
              </a:spcBef>
              <a:spcAft>
                <a:spcPts val="200"/>
              </a:spcAft>
            </a:pPr>
            <a:r>
              <a:rPr lang="tr-TR" sz="2200" b="1" i="0">
                <a:solidFill>
                  <a:srgbClr val="262626"/>
                </a:solidFill>
                <a:latin typeface="Calibri"/>
              </a:rPr>
              <a:t>Coğrafi konum</a:t>
            </a:r>
          </a:p>
          <a:p>
            <a:pPr algn="l">
              <a:spcBef>
                <a:spcPts val="0"/>
              </a:spcBef>
              <a:spcAft>
                <a:spcPts val="0"/>
              </a:spcAft>
            </a:pPr>
            <a:r>
              <a:rPr lang="tr-TR" sz="1628" b="0" i="0">
                <a:solidFill>
                  <a:srgbClr val="2E7D32"/>
                </a:solidFill>
                <a:latin typeface="Calibri"/>
              </a:rPr>
              <a:t>Ekvator'a yakınlık (enlem)</a:t>
            </a:r>
          </a:p>
        </p:txBody>
      </p:sp>
      <p:sp>
        <p:nvSpPr>
          <p:cNvPr id="33" name="TextBox 3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4" name="Rounded Rectangle 3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161 / 166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7</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7</a:t>
            </a:r>
          </a:p>
        </p:txBody>
      </p:sp>
      <p:sp>
        <p:nvSpPr>
          <p:cNvPr id="6" name="Rounded Rectangle 5"/>
          <p:cNvSpPr/>
          <p:nvPr/>
        </p:nvSpPr>
        <p:spPr>
          <a:xfrm>
            <a:off x="502920" y="1216152"/>
            <a:ext cx="11185855" cy="1051560"/>
          </a:xfrm>
          <a:prstGeom prst="roundRect">
            <a:avLst>
              <a:gd name="adj" fmla="val 6000"/>
            </a:avLst>
          </a:prstGeom>
          <a:solidFill>
            <a:srgbClr val="FFF3D1"/>
          </a:solidFill>
          <a:ln>
            <a:noFill/>
          </a:ln>
          <a:effectLst/>
        </p:spPr>
        <p:txBody>
          <a:bodyPr rtlCol="0" anchor="ctr"/>
          <a:lstStyle/>
          <a:p/>
        </p:txBody>
      </p:sp>
      <p:sp>
        <p:nvSpPr>
          <p:cNvPr id="7" name="Oval 6"/>
          <p:cNvSpPr/>
          <p:nvPr/>
        </p:nvSpPr>
        <p:spPr>
          <a:xfrm>
            <a:off x="640080" y="1353312"/>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7</a:t>
            </a:r>
          </a:p>
        </p:txBody>
      </p:sp>
      <p:sp>
        <p:nvSpPr>
          <p:cNvPr id="8" name="TextBox 7"/>
          <p:cNvSpPr txBox="1"/>
          <p:nvPr/>
        </p:nvSpPr>
        <p:spPr>
          <a:xfrm>
            <a:off x="1325880" y="1289304"/>
            <a:ext cx="10271455" cy="905256"/>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262626"/>
                </a:solidFill>
                <a:latin typeface="Calibri"/>
              </a:rPr>
              <a:t>Kahve üretiminde azalma veya artış görülebilecek ülkelerde bu durumun nedenlerini metin ve haritadan yararlanarak açıklayınız.</a:t>
            </a:r>
          </a:p>
        </p:txBody>
      </p:sp>
      <p:pic>
        <p:nvPicPr>
          <p:cNvPr id="9" name="Picture 8" descr="sonu_eba_kahve.jpg"/>
          <p:cNvPicPr>
            <a:picLocks noChangeAspect="1"/>
          </p:cNvPicPr>
          <p:nvPr/>
        </p:nvPicPr>
        <p:blipFill>
          <a:blip r:embed="rId3"/>
          <a:stretch>
            <a:fillRect/>
          </a:stretch>
        </p:blipFill>
        <p:spPr>
          <a:xfrm>
            <a:off x="1051560" y="2377440"/>
            <a:ext cx="10088575" cy="2736403"/>
          </a:xfrm>
          <a:prstGeom prst="rect">
            <a:avLst/>
          </a:prstGeom>
          <a:ln w="9525">
            <a:solidFill>
              <a:srgbClr val="D9D9D9"/>
            </a:solidFill>
          </a:ln>
        </p:spPr>
      </p:pic>
      <p:sp>
        <p:nvSpPr>
          <p:cNvPr id="10" name="TextBox 9"/>
          <p:cNvSpPr txBox="1"/>
          <p:nvPr/>
        </p:nvSpPr>
        <p:spPr>
          <a:xfrm>
            <a:off x="1051560" y="5132131"/>
            <a:ext cx="10088575"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Harita: Kitabın karekod içeriği (EBA) · 9.5-Tema Sonu E-Ölçme, 6-8. sorular</a:t>
            </a:r>
          </a:p>
        </p:txBody>
      </p:sp>
      <p:sp>
        <p:nvSpPr>
          <p:cNvPr id="11" name="Rounded Rectangle 10"/>
          <p:cNvSpPr/>
          <p:nvPr/>
        </p:nvSpPr>
        <p:spPr>
          <a:xfrm>
            <a:off x="502920" y="5461315"/>
            <a:ext cx="11185855" cy="829757"/>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Metinde arayın: nerede azalma, nerede artış bekleniyor? Nedenleri neler?</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162 / 166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7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7</a:t>
            </a:r>
          </a:p>
        </p:txBody>
      </p:sp>
      <p:pic>
        <p:nvPicPr>
          <p:cNvPr id="6" name="Picture 5" descr="sonu_eba_kahve.jpg"/>
          <p:cNvPicPr>
            <a:picLocks noChangeAspect="1"/>
          </p:cNvPicPr>
          <p:nvPr/>
        </p:nvPicPr>
        <p:blipFill>
          <a:blip r:embed="rId3"/>
          <a:stretch>
            <a:fillRect/>
          </a:stretch>
        </p:blipFill>
        <p:spPr>
          <a:xfrm>
            <a:off x="502920" y="1216152"/>
            <a:ext cx="6812280" cy="1847748"/>
          </a:xfrm>
          <a:prstGeom prst="rect">
            <a:avLst/>
          </a:prstGeom>
          <a:ln w="9525">
            <a:solidFill>
              <a:srgbClr val="D9D9D9"/>
            </a:solidFill>
          </a:ln>
        </p:spPr>
      </p:pic>
      <p:sp>
        <p:nvSpPr>
          <p:cNvPr id="7" name="TextBox 6"/>
          <p:cNvSpPr txBox="1"/>
          <p:nvPr/>
        </p:nvSpPr>
        <p:spPr>
          <a:xfrm>
            <a:off x="502920" y="3082188"/>
            <a:ext cx="681228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İşaretler sunuma aittir · Kitabın karekod içeriği (EBA) · 9.5-Tema Sonu E-Ölçme, 6-8. sorular</a:t>
            </a:r>
          </a:p>
        </p:txBody>
      </p:sp>
      <p:sp>
        <p:nvSpPr>
          <p:cNvPr id="8" name="Rounded Rectangle 7"/>
          <p:cNvSpPr/>
          <p:nvPr/>
        </p:nvSpPr>
        <p:spPr>
          <a:xfrm>
            <a:off x="525328" y="2552215"/>
            <a:ext cx="1441634" cy="243873"/>
          </a:xfrm>
          <a:prstGeom prst="roundRect">
            <a:avLst>
              <a:gd name="adj" fmla="val 18000"/>
            </a:avLst>
          </a:prstGeom>
          <a:noFill/>
          <a:ln w="28575">
            <a:solidFill>
              <a:srgbClr val="D3373A"/>
            </a:solidFill>
          </a:ln>
          <a:effectLst/>
        </p:spPr>
        <p:txBody>
          <a:bodyPr rtlCol="0" anchor="ctr"/>
          <a:lstStyle/>
          <a:p/>
        </p:txBody>
      </p:sp>
      <p:sp>
        <p:nvSpPr>
          <p:cNvPr id="9" name="Rounded Rectangle 8"/>
          <p:cNvSpPr/>
          <p:nvPr/>
        </p:nvSpPr>
        <p:spPr>
          <a:xfrm>
            <a:off x="525328" y="2073447"/>
            <a:ext cx="1496909" cy="243873"/>
          </a:xfrm>
          <a:prstGeom prst="roundRect">
            <a:avLst>
              <a:gd name="adj" fmla="val 18000"/>
            </a:avLst>
          </a:prstGeom>
          <a:noFill/>
          <a:ln w="28575">
            <a:solidFill>
              <a:srgbClr val="D3373A"/>
            </a:solidFill>
          </a:ln>
          <a:effectLst/>
        </p:spPr>
        <p:txBody>
          <a:bodyPr rtlCol="0" anchor="ctr"/>
          <a:lstStyle/>
          <a:p/>
        </p:txBody>
      </p:sp>
      <p:sp>
        <p:nvSpPr>
          <p:cNvPr id="10" name="Rounded Rectangle 9"/>
          <p:cNvSpPr/>
          <p:nvPr/>
        </p:nvSpPr>
        <p:spPr>
          <a:xfrm>
            <a:off x="5770485" y="1850520"/>
            <a:ext cx="1441634" cy="243873"/>
          </a:xfrm>
          <a:prstGeom prst="roundRect">
            <a:avLst>
              <a:gd name="adj" fmla="val 18000"/>
            </a:avLst>
          </a:prstGeom>
          <a:noFill/>
          <a:ln w="28575">
            <a:solidFill>
              <a:srgbClr val="D3373A"/>
            </a:solidFill>
          </a:ln>
          <a:effectLst/>
        </p:spPr>
        <p:txBody>
          <a:bodyPr rtlCol="0" anchor="ctr"/>
          <a:lstStyle/>
          <a:p/>
        </p:txBody>
      </p:sp>
      <p:sp>
        <p:nvSpPr>
          <p:cNvPr id="11" name="Rounded Rectangle 10"/>
          <p:cNvSpPr/>
          <p:nvPr/>
        </p:nvSpPr>
        <p:spPr>
          <a:xfrm>
            <a:off x="5724174" y="2089904"/>
            <a:ext cx="1487945" cy="243873"/>
          </a:xfrm>
          <a:prstGeom prst="roundRect">
            <a:avLst>
              <a:gd name="adj" fmla="val 18000"/>
            </a:avLst>
          </a:prstGeom>
          <a:noFill/>
          <a:ln w="28575">
            <a:solidFill>
              <a:srgbClr val="D3373A"/>
            </a:solidFill>
          </a:ln>
          <a:effectLst/>
        </p:spPr>
        <p:txBody>
          <a:bodyPr rtlCol="0" anchor="ctr"/>
          <a:lstStyle/>
          <a:p/>
        </p:txBody>
      </p:sp>
      <p:sp>
        <p:nvSpPr>
          <p:cNvPr id="12" name="Rounded Rectangle 11"/>
          <p:cNvSpPr/>
          <p:nvPr/>
        </p:nvSpPr>
        <p:spPr>
          <a:xfrm>
            <a:off x="7516368" y="1216152"/>
            <a:ext cx="4172407" cy="2076348"/>
          </a:xfrm>
          <a:prstGeom prst="roundRect">
            <a:avLst>
              <a:gd name="adj" fmla="val 6000"/>
            </a:avLst>
          </a:prstGeom>
          <a:solidFill>
            <a:srgbClr val="E3F1E4"/>
          </a:solidFill>
          <a:ln>
            <a:noFill/>
          </a:ln>
          <a:effectLst/>
        </p:spPr>
        <p:txBody>
          <a:bodyPr rtlCol="0" anchor="ctr"/>
          <a:lstStyle/>
          <a:p/>
        </p:txBody>
      </p:sp>
      <p:sp>
        <p:nvSpPr>
          <p:cNvPr id="13" name="Rectangle 12"/>
          <p:cNvSpPr/>
          <p:nvPr/>
        </p:nvSpPr>
        <p:spPr>
          <a:xfrm>
            <a:off x="7516368" y="1216152"/>
            <a:ext cx="109728" cy="2076348"/>
          </a:xfrm>
          <a:prstGeom prst="rect">
            <a:avLst/>
          </a:prstGeom>
          <a:solidFill>
            <a:srgbClr val="2E7D32"/>
          </a:solidFill>
          <a:ln>
            <a:noFill/>
          </a:ln>
          <a:effectLst/>
        </p:spPr>
        <p:txBody>
          <a:bodyPr rtlCol="0" anchor="ctr"/>
          <a:lstStyle/>
          <a:p/>
        </p:txBody>
      </p:sp>
      <p:sp>
        <p:nvSpPr>
          <p:cNvPr id="14" name="TextBox 13"/>
          <p:cNvSpPr txBox="1"/>
          <p:nvPr/>
        </p:nvSpPr>
        <p:spPr>
          <a:xfrm>
            <a:off x="7744968" y="1271016"/>
            <a:ext cx="3852367" cy="1966620"/>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Sonuç</a:t>
            </a:r>
          </a:p>
          <a:p>
            <a:pPr algn="l">
              <a:spcBef>
                <a:spcPts val="0"/>
              </a:spcBef>
              <a:spcAft>
                <a:spcPts val="0"/>
              </a:spcAft>
            </a:pPr>
            <a:r>
              <a:rPr lang="tr-TR" sz="2000" b="0" i="0">
                <a:solidFill>
                  <a:srgbClr val="262626"/>
                </a:solidFill>
                <a:latin typeface="Calibri"/>
              </a:rPr>
              <a:t>Kahve üretim alanları ekvatoral kuşaktan kuzeye ve güneye doğru genişleyebilir.</a:t>
            </a:r>
          </a:p>
        </p:txBody>
      </p:sp>
      <p:sp>
        <p:nvSpPr>
          <p:cNvPr id="15" name="Rounded Rectangle 14"/>
          <p:cNvSpPr/>
          <p:nvPr/>
        </p:nvSpPr>
        <p:spPr>
          <a:xfrm>
            <a:off x="502920" y="3383940"/>
            <a:ext cx="5510631" cy="2907132"/>
          </a:xfrm>
          <a:prstGeom prst="roundRect">
            <a:avLst>
              <a:gd name="adj" fmla="val 5000"/>
            </a:avLst>
          </a:prstGeom>
          <a:solidFill>
            <a:srgbClr val="E3F1E4"/>
          </a:solidFill>
          <a:ln>
            <a:noFill/>
          </a:ln>
          <a:effectLst/>
        </p:spPr>
        <p:txBody>
          <a:bodyPr rtlCol="0" anchor="ctr"/>
          <a:lstStyle/>
          <a:p/>
        </p:txBody>
      </p:sp>
      <p:sp>
        <p:nvSpPr>
          <p:cNvPr id="16" name="Rounded Rectangle 15"/>
          <p:cNvSpPr/>
          <p:nvPr/>
        </p:nvSpPr>
        <p:spPr>
          <a:xfrm>
            <a:off x="502920" y="3383940"/>
            <a:ext cx="5510631" cy="457200"/>
          </a:xfrm>
          <a:prstGeom prst="roundRect">
            <a:avLst>
              <a:gd name="adj" fmla="val 25000"/>
            </a:avLst>
          </a:prstGeom>
          <a:solidFill>
            <a:srgbClr val="2E7D32"/>
          </a:solidFill>
          <a:ln>
            <a:noFill/>
          </a:ln>
          <a:effectLst/>
        </p:spPr>
        <p:txBody>
          <a:bodyPr rtlCol="0" anchor="ctr"/>
          <a:lstStyle/>
          <a:p/>
        </p:txBody>
      </p:sp>
      <p:sp>
        <p:nvSpPr>
          <p:cNvPr id="17" name="Rectangle 16"/>
          <p:cNvSpPr/>
          <p:nvPr/>
        </p:nvSpPr>
        <p:spPr>
          <a:xfrm>
            <a:off x="502920" y="3612540"/>
            <a:ext cx="5510631" cy="228600"/>
          </a:xfrm>
          <a:prstGeom prst="rect">
            <a:avLst/>
          </a:prstGeom>
          <a:solidFill>
            <a:srgbClr val="2E7D32"/>
          </a:solidFill>
          <a:ln>
            <a:noFill/>
          </a:ln>
          <a:effectLst/>
        </p:spPr>
        <p:txBody>
          <a:bodyPr rtlCol="0" anchor="ctr"/>
          <a:lstStyle/>
          <a:p/>
        </p:txBody>
      </p:sp>
      <p:sp>
        <p:nvSpPr>
          <p:cNvPr id="18" name="TextBox 17"/>
          <p:cNvSpPr txBox="1"/>
          <p:nvPr/>
        </p:nvSpPr>
        <p:spPr>
          <a:xfrm>
            <a:off x="594360" y="3383940"/>
            <a:ext cx="5327751" cy="45720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Azalma: Brezilya · Vietnam · Kolombiya · Endonezya</a:t>
            </a:r>
          </a:p>
        </p:txBody>
      </p:sp>
      <p:sp>
        <p:nvSpPr>
          <p:cNvPr id="19" name="TextBox 18"/>
          <p:cNvSpPr txBox="1"/>
          <p:nvPr/>
        </p:nvSpPr>
        <p:spPr>
          <a:xfrm>
            <a:off x="612648" y="3914292"/>
            <a:ext cx="5291175" cy="2303628"/>
          </a:xfrm>
          <a:prstGeom prst="rect">
            <a:avLst/>
          </a:prstGeom>
          <a:noFill/>
        </p:spPr>
        <p:txBody>
          <a:bodyPr wrap="square" anchor="t" lIns="73152" rIns="73152" tIns="36576" bIns="36576">
            <a:noAutofit/>
          </a:bodyPr>
          <a:lstStyle/>
          <a:p>
            <a:pPr algn="l" marL="236189" indent="-236189">
              <a:spcBef>
                <a:spcPts val="0"/>
              </a:spcBef>
              <a:spcAft>
                <a:spcPts val="600"/>
              </a:spcAft>
            </a:pPr>
            <a:r>
              <a:rPr lang="tr-TR" sz="1900" b="1" i="0">
                <a:solidFill>
                  <a:srgbClr val="2C6696"/>
                </a:solidFill>
                <a:latin typeface="Calibri"/>
              </a:rPr>
              <a:t>•  </a:t>
            </a:r>
            <a:r>
              <a:rPr lang="tr-TR" sz="1900" b="0" i="0">
                <a:solidFill>
                  <a:srgbClr val="262626"/>
                </a:solidFill>
                <a:latin typeface="Calibri"/>
              </a:rPr>
              <a:t>Tropikal bölgede; haritada en çok üretenler arasında</a:t>
            </a:r>
          </a:p>
          <a:p>
            <a:pPr algn="l" marL="236189" indent="-236189">
              <a:spcBef>
                <a:spcPts val="0"/>
              </a:spcBef>
              <a:spcAft>
                <a:spcPts val="0"/>
              </a:spcAft>
            </a:pPr>
            <a:r>
              <a:rPr lang="tr-TR" sz="1900" b="1" i="0">
                <a:solidFill>
                  <a:srgbClr val="2C6696"/>
                </a:solidFill>
                <a:latin typeface="Calibri"/>
              </a:rPr>
              <a:t>•  </a:t>
            </a:r>
            <a:r>
              <a:rPr lang="tr-TR" sz="1900" b="0" i="0">
                <a:solidFill>
                  <a:srgbClr val="262626"/>
                </a:solidFill>
                <a:latin typeface="Calibri"/>
              </a:rPr>
              <a:t>Neden: artan sıcaklık ve yağışlar; toprağın pH değeri ve yapısı değişiyor</a:t>
            </a:r>
          </a:p>
        </p:txBody>
      </p:sp>
      <p:sp>
        <p:nvSpPr>
          <p:cNvPr id="20" name="Rounded Rectangle 19"/>
          <p:cNvSpPr/>
          <p:nvPr/>
        </p:nvSpPr>
        <p:spPr>
          <a:xfrm>
            <a:off x="6178143" y="3383940"/>
            <a:ext cx="5510631" cy="2907132"/>
          </a:xfrm>
          <a:prstGeom prst="roundRect">
            <a:avLst>
              <a:gd name="adj" fmla="val 5000"/>
            </a:avLst>
          </a:prstGeom>
          <a:solidFill>
            <a:srgbClr val="E3F1E4"/>
          </a:solidFill>
          <a:ln>
            <a:noFill/>
          </a:ln>
          <a:effectLst/>
        </p:spPr>
        <p:txBody>
          <a:bodyPr rtlCol="0" anchor="ctr"/>
          <a:lstStyle/>
          <a:p/>
        </p:txBody>
      </p:sp>
      <p:sp>
        <p:nvSpPr>
          <p:cNvPr id="21" name="Rounded Rectangle 20"/>
          <p:cNvSpPr/>
          <p:nvPr/>
        </p:nvSpPr>
        <p:spPr>
          <a:xfrm>
            <a:off x="6178143" y="3383940"/>
            <a:ext cx="5510631" cy="457200"/>
          </a:xfrm>
          <a:prstGeom prst="roundRect">
            <a:avLst>
              <a:gd name="adj" fmla="val 25000"/>
            </a:avLst>
          </a:prstGeom>
          <a:solidFill>
            <a:srgbClr val="2E7D32"/>
          </a:solidFill>
          <a:ln>
            <a:noFill/>
          </a:ln>
          <a:effectLst/>
        </p:spPr>
        <p:txBody>
          <a:bodyPr rtlCol="0" anchor="ctr"/>
          <a:lstStyle/>
          <a:p/>
        </p:txBody>
      </p:sp>
      <p:sp>
        <p:nvSpPr>
          <p:cNvPr id="22" name="Rectangle 21"/>
          <p:cNvSpPr/>
          <p:nvPr/>
        </p:nvSpPr>
        <p:spPr>
          <a:xfrm>
            <a:off x="6178143" y="3612540"/>
            <a:ext cx="5510631" cy="228600"/>
          </a:xfrm>
          <a:prstGeom prst="rect">
            <a:avLst/>
          </a:prstGeom>
          <a:solidFill>
            <a:srgbClr val="2E7D32"/>
          </a:solidFill>
          <a:ln>
            <a:noFill/>
          </a:ln>
          <a:effectLst/>
        </p:spPr>
        <p:txBody>
          <a:bodyPr rtlCol="0" anchor="ctr"/>
          <a:lstStyle/>
          <a:p/>
        </p:txBody>
      </p:sp>
      <p:sp>
        <p:nvSpPr>
          <p:cNvPr id="23" name="TextBox 22"/>
          <p:cNvSpPr txBox="1"/>
          <p:nvPr/>
        </p:nvSpPr>
        <p:spPr>
          <a:xfrm>
            <a:off x="6269583" y="3383940"/>
            <a:ext cx="5327751" cy="45720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Artış: ABD · Arjantin · Uruguay · Çin</a:t>
            </a:r>
          </a:p>
        </p:txBody>
      </p:sp>
      <p:sp>
        <p:nvSpPr>
          <p:cNvPr id="24" name="TextBox 23"/>
          <p:cNvSpPr txBox="1"/>
          <p:nvPr/>
        </p:nvSpPr>
        <p:spPr>
          <a:xfrm>
            <a:off x="6287871" y="3914292"/>
            <a:ext cx="5291175" cy="2303628"/>
          </a:xfrm>
          <a:prstGeom prst="rect">
            <a:avLst/>
          </a:prstGeom>
          <a:noFill/>
        </p:spPr>
        <p:txBody>
          <a:bodyPr wrap="square" anchor="t" lIns="73152" rIns="73152" tIns="36576" bIns="36576">
            <a:noAutofit/>
          </a:bodyPr>
          <a:lstStyle/>
          <a:p>
            <a:pPr algn="l" marL="236189" indent="-236189">
              <a:spcBef>
                <a:spcPts val="0"/>
              </a:spcBef>
              <a:spcAft>
                <a:spcPts val="600"/>
              </a:spcAft>
            </a:pPr>
            <a:r>
              <a:rPr lang="tr-TR" sz="1900" b="1" i="0">
                <a:solidFill>
                  <a:srgbClr val="2C6696"/>
                </a:solidFill>
                <a:latin typeface="Calibri"/>
              </a:rPr>
              <a:t>•  </a:t>
            </a:r>
            <a:r>
              <a:rPr lang="tr-TR" sz="1900" b="0" i="0">
                <a:solidFill>
                  <a:srgbClr val="262626"/>
                </a:solidFill>
                <a:latin typeface="Calibri"/>
              </a:rPr>
              <a:t>Tropikal bölgenin dışında: büyük üreticilerin kuzeyinde ya da güneyinde</a:t>
            </a:r>
          </a:p>
          <a:p>
            <a:pPr algn="l" marL="236189" indent="-236189">
              <a:spcBef>
                <a:spcPts val="0"/>
              </a:spcBef>
              <a:spcAft>
                <a:spcPts val="0"/>
              </a:spcAft>
            </a:pPr>
            <a:r>
              <a:rPr lang="tr-TR" sz="1900" b="1" i="0">
                <a:solidFill>
                  <a:srgbClr val="2C6696"/>
                </a:solidFill>
                <a:latin typeface="Calibri"/>
              </a:rPr>
              <a:t>•  </a:t>
            </a:r>
            <a:r>
              <a:rPr lang="tr-TR" sz="1900" b="0" i="0">
                <a:solidFill>
                  <a:srgbClr val="262626"/>
                </a:solidFill>
                <a:latin typeface="Calibri"/>
              </a:rPr>
              <a:t>Neden: artan sıcaklıklar tropikal ürünlerin daha kuzeyde ve güneyde yetişmesini sağlıyor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163 / 166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8</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8</a:t>
            </a:r>
          </a:p>
        </p:txBody>
      </p:sp>
      <p:sp>
        <p:nvSpPr>
          <p:cNvPr id="6" name="Rounded Rectangle 5"/>
          <p:cNvSpPr/>
          <p:nvPr/>
        </p:nvSpPr>
        <p:spPr>
          <a:xfrm>
            <a:off x="502920" y="1216152"/>
            <a:ext cx="11185855" cy="1371600"/>
          </a:xfrm>
          <a:prstGeom prst="roundRect">
            <a:avLst>
              <a:gd name="adj" fmla="val 6000"/>
            </a:avLst>
          </a:prstGeom>
          <a:solidFill>
            <a:srgbClr val="FFF3D1"/>
          </a:solidFill>
          <a:ln>
            <a:noFill/>
          </a:ln>
          <a:effectLst/>
        </p:spPr>
        <p:txBody>
          <a:bodyPr rtlCol="0" anchor="ctr"/>
          <a:lstStyle/>
          <a:p/>
        </p:txBody>
      </p:sp>
      <p:sp>
        <p:nvSpPr>
          <p:cNvPr id="7" name="Oval 6"/>
          <p:cNvSpPr/>
          <p:nvPr/>
        </p:nvSpPr>
        <p:spPr>
          <a:xfrm>
            <a:off x="640080" y="1353312"/>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8</a:t>
            </a:r>
          </a:p>
        </p:txBody>
      </p:sp>
      <p:sp>
        <p:nvSpPr>
          <p:cNvPr id="8" name="TextBox 7"/>
          <p:cNvSpPr txBox="1"/>
          <p:nvPr/>
        </p:nvSpPr>
        <p:spPr>
          <a:xfrm>
            <a:off x="1325880" y="1289304"/>
            <a:ext cx="10271455" cy="1225296"/>
          </a:xfrm>
          <a:prstGeom prst="rect">
            <a:avLst/>
          </a:prstGeom>
          <a:noFill/>
        </p:spPr>
        <p:txBody>
          <a:bodyPr wrap="square" anchor="ctr" lIns="73152" rIns="73152" tIns="36576" bIns="36576">
            <a:noAutofit/>
          </a:bodyPr>
          <a:lstStyle/>
          <a:p>
            <a:pPr algn="l">
              <a:spcBef>
                <a:spcPts val="0"/>
              </a:spcBef>
              <a:spcAft>
                <a:spcPts val="0"/>
              </a:spcAft>
            </a:pPr>
            <a:r>
              <a:rPr lang="tr-TR" sz="2550" b="1" i="0">
                <a:solidFill>
                  <a:srgbClr val="262626"/>
                </a:solidFill>
                <a:latin typeface="Calibri"/>
              </a:rPr>
              <a:t>Ülkelerin kahve üretiminde meydana gelecek olası artış, dünya genelinde kahve tüketimini nasıl etkileyecektir? Gerekçeleriyle açıklayınız.</a:t>
            </a:r>
          </a:p>
        </p:txBody>
      </p:sp>
      <p:sp>
        <p:nvSpPr>
          <p:cNvPr id="9" name="Rounded Rectangle 8"/>
          <p:cNvSpPr/>
          <p:nvPr/>
        </p:nvSpPr>
        <p:spPr>
          <a:xfrm>
            <a:off x="502920" y="2770632"/>
            <a:ext cx="3606698" cy="352044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2770632"/>
            <a:ext cx="3606698" cy="594360"/>
          </a:xfrm>
          <a:prstGeom prst="roundRect">
            <a:avLst>
              <a:gd name="adj" fmla="val 25000"/>
            </a:avLst>
          </a:prstGeom>
          <a:solidFill>
            <a:srgbClr val="2C6696"/>
          </a:solidFill>
          <a:ln>
            <a:noFill/>
          </a:ln>
          <a:effectLst/>
        </p:spPr>
        <p:txBody>
          <a:bodyPr rtlCol="0" anchor="ctr"/>
          <a:lstStyle/>
          <a:p/>
        </p:txBody>
      </p:sp>
      <p:sp>
        <p:nvSpPr>
          <p:cNvPr id="11" name="Rectangle 10"/>
          <p:cNvSpPr/>
          <p:nvPr/>
        </p:nvSpPr>
        <p:spPr>
          <a:xfrm>
            <a:off x="502920" y="3067812"/>
            <a:ext cx="3606698" cy="297180"/>
          </a:xfrm>
          <a:prstGeom prst="rect">
            <a:avLst/>
          </a:prstGeom>
          <a:solidFill>
            <a:srgbClr val="2C6696"/>
          </a:solidFill>
          <a:ln>
            <a:noFill/>
          </a:ln>
          <a:effectLst/>
        </p:spPr>
        <p:txBody>
          <a:bodyPr rtlCol="0" anchor="ctr"/>
          <a:lstStyle/>
          <a:p/>
        </p:txBody>
      </p:sp>
      <p:sp>
        <p:nvSpPr>
          <p:cNvPr id="12" name="TextBox 11"/>
          <p:cNvSpPr txBox="1"/>
          <p:nvPr/>
        </p:nvSpPr>
        <p:spPr>
          <a:xfrm>
            <a:off x="594360" y="2770632"/>
            <a:ext cx="3423818" cy="594360"/>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FFFFFF"/>
                </a:solidFill>
                <a:latin typeface="Calibri"/>
              </a:rPr>
              <a:t>Üretim</a:t>
            </a:r>
          </a:p>
        </p:txBody>
      </p:sp>
      <p:sp>
        <p:nvSpPr>
          <p:cNvPr id="13" name="TextBox 12"/>
          <p:cNvSpPr txBox="1"/>
          <p:nvPr/>
        </p:nvSpPr>
        <p:spPr>
          <a:xfrm>
            <a:off x="612648" y="3438144"/>
            <a:ext cx="3387242" cy="2779776"/>
          </a:xfrm>
          <a:prstGeom prst="rect">
            <a:avLst/>
          </a:prstGeom>
          <a:noFill/>
        </p:spPr>
        <p:txBody>
          <a:bodyPr wrap="square" anchor="ctr" lIns="73152" rIns="73152" tIns="36576" bIns="36576">
            <a:noAutofit/>
          </a:bodyPr>
          <a:lstStyle/>
          <a:p>
            <a:pPr algn="ctr">
              <a:spcBef>
                <a:spcPts val="0"/>
              </a:spcBef>
              <a:spcAft>
                <a:spcPts val="0"/>
              </a:spcAft>
            </a:pPr>
            <a:r>
              <a:rPr lang="tr-TR" sz="2300" b="0" i="0">
                <a:solidFill>
                  <a:srgbClr val="262626"/>
                </a:solidFill>
                <a:latin typeface="Calibri"/>
              </a:rPr>
              <a:t>Nerede artıyor, nerede azalıyor?</a:t>
            </a:r>
          </a:p>
        </p:txBody>
      </p:sp>
      <p:sp>
        <p:nvSpPr>
          <p:cNvPr id="14" name="Rounded Rectangle 13"/>
          <p:cNvSpPr/>
          <p:nvPr/>
        </p:nvSpPr>
        <p:spPr>
          <a:xfrm>
            <a:off x="4292498" y="2770632"/>
            <a:ext cx="3606698" cy="352044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4292498" y="2770632"/>
            <a:ext cx="3606698" cy="594360"/>
          </a:xfrm>
          <a:prstGeom prst="roundRect">
            <a:avLst>
              <a:gd name="adj" fmla="val 25000"/>
            </a:avLst>
          </a:prstGeom>
          <a:solidFill>
            <a:srgbClr val="B85C12"/>
          </a:solidFill>
          <a:ln>
            <a:noFill/>
          </a:ln>
          <a:effectLst/>
        </p:spPr>
        <p:txBody>
          <a:bodyPr rtlCol="0" anchor="ctr"/>
          <a:lstStyle/>
          <a:p/>
        </p:txBody>
      </p:sp>
      <p:sp>
        <p:nvSpPr>
          <p:cNvPr id="16" name="Rectangle 15"/>
          <p:cNvSpPr/>
          <p:nvPr/>
        </p:nvSpPr>
        <p:spPr>
          <a:xfrm>
            <a:off x="4292498" y="3067812"/>
            <a:ext cx="3606698" cy="297180"/>
          </a:xfrm>
          <a:prstGeom prst="rect">
            <a:avLst/>
          </a:prstGeom>
          <a:solidFill>
            <a:srgbClr val="B85C12"/>
          </a:solidFill>
          <a:ln>
            <a:noFill/>
          </a:ln>
          <a:effectLst/>
        </p:spPr>
        <p:txBody>
          <a:bodyPr rtlCol="0" anchor="ctr"/>
          <a:lstStyle/>
          <a:p/>
        </p:txBody>
      </p:sp>
      <p:sp>
        <p:nvSpPr>
          <p:cNvPr id="17" name="TextBox 16"/>
          <p:cNvSpPr txBox="1"/>
          <p:nvPr/>
        </p:nvSpPr>
        <p:spPr>
          <a:xfrm>
            <a:off x="4383938" y="2770632"/>
            <a:ext cx="3423818" cy="594360"/>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FFFFFF"/>
                </a:solidFill>
                <a:latin typeface="Calibri"/>
              </a:rPr>
              <a:t>Dağıtım</a:t>
            </a:r>
          </a:p>
        </p:txBody>
      </p:sp>
      <p:sp>
        <p:nvSpPr>
          <p:cNvPr id="18" name="TextBox 17"/>
          <p:cNvSpPr txBox="1"/>
          <p:nvPr/>
        </p:nvSpPr>
        <p:spPr>
          <a:xfrm>
            <a:off x="4402226" y="3438144"/>
            <a:ext cx="3387242" cy="2779776"/>
          </a:xfrm>
          <a:prstGeom prst="rect">
            <a:avLst/>
          </a:prstGeom>
          <a:noFill/>
        </p:spPr>
        <p:txBody>
          <a:bodyPr wrap="square" anchor="ctr" lIns="73152" rIns="73152" tIns="36576" bIns="36576">
            <a:noAutofit/>
          </a:bodyPr>
          <a:lstStyle/>
          <a:p>
            <a:pPr algn="ctr">
              <a:spcBef>
                <a:spcPts val="0"/>
              </a:spcBef>
              <a:spcAft>
                <a:spcPts val="0"/>
              </a:spcAft>
            </a:pPr>
            <a:r>
              <a:rPr lang="tr-TR" sz="2300" b="0" i="0">
                <a:solidFill>
                  <a:srgbClr val="262626"/>
                </a:solidFill>
                <a:latin typeface="Calibri"/>
              </a:rPr>
              <a:t>Kahve tüketiciye nasıl ve ne kadar kolay ulaşır?</a:t>
            </a:r>
          </a:p>
        </p:txBody>
      </p:sp>
      <p:sp>
        <p:nvSpPr>
          <p:cNvPr id="19" name="Rounded Rectangle 18"/>
          <p:cNvSpPr/>
          <p:nvPr/>
        </p:nvSpPr>
        <p:spPr>
          <a:xfrm>
            <a:off x="8082076" y="2770632"/>
            <a:ext cx="3606698" cy="3520440"/>
          </a:xfrm>
          <a:prstGeom prst="roundRect">
            <a:avLst>
              <a:gd name="adj" fmla="val 5000"/>
            </a:avLst>
          </a:prstGeom>
          <a:solidFill>
            <a:srgbClr val="F0F0F0"/>
          </a:solidFill>
          <a:ln>
            <a:noFill/>
          </a:ln>
          <a:effectLst/>
        </p:spPr>
        <p:txBody>
          <a:bodyPr rtlCol="0" anchor="ctr"/>
          <a:lstStyle/>
          <a:p/>
        </p:txBody>
      </p:sp>
      <p:sp>
        <p:nvSpPr>
          <p:cNvPr id="20" name="Rounded Rectangle 19"/>
          <p:cNvSpPr/>
          <p:nvPr/>
        </p:nvSpPr>
        <p:spPr>
          <a:xfrm>
            <a:off x="8082076" y="2770632"/>
            <a:ext cx="3606698" cy="594360"/>
          </a:xfrm>
          <a:prstGeom prst="roundRect">
            <a:avLst>
              <a:gd name="adj" fmla="val 25000"/>
            </a:avLst>
          </a:prstGeom>
          <a:solidFill>
            <a:srgbClr val="3E8E41"/>
          </a:solidFill>
          <a:ln>
            <a:noFill/>
          </a:ln>
          <a:effectLst/>
        </p:spPr>
        <p:txBody>
          <a:bodyPr rtlCol="0" anchor="ctr"/>
          <a:lstStyle/>
          <a:p/>
        </p:txBody>
      </p:sp>
      <p:sp>
        <p:nvSpPr>
          <p:cNvPr id="21" name="Rectangle 20"/>
          <p:cNvSpPr/>
          <p:nvPr/>
        </p:nvSpPr>
        <p:spPr>
          <a:xfrm>
            <a:off x="8082076" y="3067812"/>
            <a:ext cx="3606698" cy="297180"/>
          </a:xfrm>
          <a:prstGeom prst="rect">
            <a:avLst/>
          </a:prstGeom>
          <a:solidFill>
            <a:srgbClr val="3E8E41"/>
          </a:solidFill>
          <a:ln>
            <a:noFill/>
          </a:ln>
          <a:effectLst/>
        </p:spPr>
        <p:txBody>
          <a:bodyPr rtlCol="0" anchor="ctr"/>
          <a:lstStyle/>
          <a:p/>
        </p:txBody>
      </p:sp>
      <p:sp>
        <p:nvSpPr>
          <p:cNvPr id="22" name="TextBox 21"/>
          <p:cNvSpPr txBox="1"/>
          <p:nvPr/>
        </p:nvSpPr>
        <p:spPr>
          <a:xfrm>
            <a:off x="8173516" y="2770632"/>
            <a:ext cx="3423818" cy="594360"/>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FFFFFF"/>
                </a:solidFill>
                <a:latin typeface="Calibri"/>
              </a:rPr>
              <a:t>Tüketim</a:t>
            </a:r>
          </a:p>
        </p:txBody>
      </p:sp>
      <p:sp>
        <p:nvSpPr>
          <p:cNvPr id="23" name="TextBox 22"/>
          <p:cNvSpPr txBox="1"/>
          <p:nvPr/>
        </p:nvSpPr>
        <p:spPr>
          <a:xfrm>
            <a:off x="8191804" y="3438144"/>
            <a:ext cx="3387242" cy="2779776"/>
          </a:xfrm>
          <a:prstGeom prst="rect">
            <a:avLst/>
          </a:prstGeom>
          <a:noFill/>
        </p:spPr>
        <p:txBody>
          <a:bodyPr wrap="square" anchor="ctr" lIns="73152" rIns="73152" tIns="36576" bIns="36576">
            <a:noAutofit/>
          </a:bodyPr>
          <a:lstStyle/>
          <a:p>
            <a:pPr algn="ctr">
              <a:spcBef>
                <a:spcPts val="0"/>
              </a:spcBef>
              <a:spcAft>
                <a:spcPts val="0"/>
              </a:spcAft>
            </a:pPr>
            <a:r>
              <a:rPr lang="tr-TR" sz="2300" b="0" i="0">
                <a:solidFill>
                  <a:srgbClr val="262626"/>
                </a:solidFill>
                <a:latin typeface="Calibri"/>
              </a:rPr>
              <a:t>Fiyat ve ulaşılabilirlik tüketimi nasıl etkiler?</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164 / 166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 soru 8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EK SORU 8</a:t>
            </a:r>
          </a:p>
        </p:txBody>
      </p:sp>
      <p:sp>
        <p:nvSpPr>
          <p:cNvPr id="6" name="Rounded Rectangle 5"/>
          <p:cNvSpPr/>
          <p:nvPr/>
        </p:nvSpPr>
        <p:spPr>
          <a:xfrm>
            <a:off x="502920" y="1216152"/>
            <a:ext cx="11185855" cy="777240"/>
          </a:xfrm>
          <a:prstGeom prst="roundRect">
            <a:avLst>
              <a:gd name="adj" fmla="val 12000"/>
            </a:avLst>
          </a:prstGeom>
          <a:solidFill>
            <a:srgbClr val="F0F0F0"/>
          </a:solidFill>
          <a:ln>
            <a:noFill/>
          </a:ln>
          <a:effectLst/>
        </p:spPr>
        <p:txBody>
          <a:bodyPr rtlCol="0" anchor="ctr"/>
          <a:lstStyle/>
          <a:p/>
        </p:txBody>
      </p:sp>
      <p:sp>
        <p:nvSpPr>
          <p:cNvPr id="7" name="Oval 6"/>
          <p:cNvSpPr/>
          <p:nvPr/>
        </p:nvSpPr>
        <p:spPr>
          <a:xfrm>
            <a:off x="612648" y="133045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8</a:t>
            </a:r>
          </a:p>
        </p:txBody>
      </p:sp>
      <p:sp>
        <p:nvSpPr>
          <p:cNvPr id="8" name="TextBox 7"/>
          <p:cNvSpPr txBox="1"/>
          <p:nvPr/>
        </p:nvSpPr>
        <p:spPr>
          <a:xfrm>
            <a:off x="1280160" y="1216152"/>
            <a:ext cx="10317175" cy="77724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Ülkelerin kahve üretiminde meydana gelecek olası artış, dünya genelinde kahve tüketimini nasıl etkileyecektir? Gerekçeleriyle açıklayınız.</a:t>
            </a:r>
          </a:p>
        </p:txBody>
      </p:sp>
      <p:sp>
        <p:nvSpPr>
          <p:cNvPr id="9" name="Rounded Rectangle 8"/>
          <p:cNvSpPr/>
          <p:nvPr/>
        </p:nvSpPr>
        <p:spPr>
          <a:xfrm>
            <a:off x="502920" y="2130552"/>
            <a:ext cx="2508427" cy="1234440"/>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Kahve üretimi artar</a:t>
            </a:r>
          </a:p>
        </p:txBody>
      </p:sp>
      <p:cxnSp>
        <p:nvCxnSpPr>
          <p:cNvPr id="10" name="Connector 9"/>
          <p:cNvCxnSpPr/>
          <p:nvPr/>
        </p:nvCxnSpPr>
        <p:spPr>
          <a:xfrm>
            <a:off x="3057067" y="2747772"/>
            <a:ext cx="292608" cy="0"/>
          </a:xfrm>
          <a:prstGeom prst="line">
            <a:avLst/>
          </a:prstGeom>
          <a:ln w="38100">
            <a:solidFill>
              <a:srgbClr val="2E7D32"/>
            </a:solidFill>
            <a:tailEnd type="triangle" w="med" len="med"/>
          </a:ln>
        </p:spPr>
      </p:cxnSp>
      <p:sp>
        <p:nvSpPr>
          <p:cNvPr id="11" name="Rounded Rectangle 10"/>
          <p:cNvSpPr/>
          <p:nvPr/>
        </p:nvSpPr>
        <p:spPr>
          <a:xfrm>
            <a:off x="3395395" y="2130552"/>
            <a:ext cx="2508427" cy="1234440"/>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Piyasada daha çok kahve olur</a:t>
            </a:r>
          </a:p>
        </p:txBody>
      </p:sp>
      <p:cxnSp>
        <p:nvCxnSpPr>
          <p:cNvPr id="12" name="Connector 11"/>
          <p:cNvCxnSpPr/>
          <p:nvPr/>
        </p:nvCxnSpPr>
        <p:spPr>
          <a:xfrm>
            <a:off x="5949543" y="2747772"/>
            <a:ext cx="292608" cy="0"/>
          </a:xfrm>
          <a:prstGeom prst="line">
            <a:avLst/>
          </a:prstGeom>
          <a:ln w="38100">
            <a:solidFill>
              <a:srgbClr val="2E7D32"/>
            </a:solidFill>
            <a:tailEnd type="triangle" w="med" len="med"/>
          </a:ln>
        </p:spPr>
      </p:cxnSp>
      <p:sp>
        <p:nvSpPr>
          <p:cNvPr id="13" name="Rounded Rectangle 12"/>
          <p:cNvSpPr/>
          <p:nvPr/>
        </p:nvSpPr>
        <p:spPr>
          <a:xfrm>
            <a:off x="6287871" y="2130552"/>
            <a:ext cx="2508427" cy="1234440"/>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Kahve daha kolay bulunur, ucuzlayabilir</a:t>
            </a:r>
          </a:p>
        </p:txBody>
      </p:sp>
      <p:cxnSp>
        <p:nvCxnSpPr>
          <p:cNvPr id="14" name="Connector 13"/>
          <p:cNvCxnSpPr/>
          <p:nvPr/>
        </p:nvCxnSpPr>
        <p:spPr>
          <a:xfrm>
            <a:off x="8842019" y="2747772"/>
            <a:ext cx="292608" cy="0"/>
          </a:xfrm>
          <a:prstGeom prst="line">
            <a:avLst/>
          </a:prstGeom>
          <a:ln w="38100">
            <a:solidFill>
              <a:srgbClr val="2E7D32"/>
            </a:solidFill>
            <a:tailEnd type="triangle" w="med" len="med"/>
          </a:ln>
        </p:spPr>
      </p:cxnSp>
      <p:sp>
        <p:nvSpPr>
          <p:cNvPr id="15" name="Rounded Rectangle 14"/>
          <p:cNvSpPr/>
          <p:nvPr/>
        </p:nvSpPr>
        <p:spPr>
          <a:xfrm>
            <a:off x="9180347" y="2130552"/>
            <a:ext cx="2508427" cy="1234440"/>
          </a:xfrm>
          <a:prstGeom prst="roundRect">
            <a:avLst>
              <a:gd name="adj" fmla="val 15000"/>
            </a:avLst>
          </a:prstGeom>
          <a:solidFill>
            <a:srgbClr val="E3F1E4"/>
          </a:solidFill>
          <a:ln w="19050">
            <a:solidFill>
              <a:srgbClr val="2E7D32"/>
            </a:solid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Tüketim artabilir</a:t>
            </a:r>
          </a:p>
        </p:txBody>
      </p:sp>
      <p:sp>
        <p:nvSpPr>
          <p:cNvPr id="16" name="Rounded Rectangle 15"/>
          <p:cNvSpPr/>
          <p:nvPr/>
        </p:nvSpPr>
        <p:spPr>
          <a:xfrm>
            <a:off x="502920" y="3529584"/>
            <a:ext cx="5492343" cy="2761488"/>
          </a:xfrm>
          <a:prstGeom prst="roundRect">
            <a:avLst>
              <a:gd name="adj" fmla="val 6000"/>
            </a:avLst>
          </a:prstGeom>
          <a:solidFill>
            <a:srgbClr val="E3F1E4"/>
          </a:solidFill>
          <a:ln>
            <a:noFill/>
          </a:ln>
          <a:effectLst/>
        </p:spPr>
        <p:txBody>
          <a:bodyPr rtlCol="0" anchor="ctr"/>
          <a:lstStyle/>
          <a:p/>
        </p:txBody>
      </p:sp>
      <p:sp>
        <p:nvSpPr>
          <p:cNvPr id="17" name="Rectangle 16"/>
          <p:cNvSpPr/>
          <p:nvPr/>
        </p:nvSpPr>
        <p:spPr>
          <a:xfrm>
            <a:off x="502920" y="3529584"/>
            <a:ext cx="109728" cy="2761488"/>
          </a:xfrm>
          <a:prstGeom prst="rect">
            <a:avLst/>
          </a:prstGeom>
          <a:solidFill>
            <a:srgbClr val="2E7D32"/>
          </a:solidFill>
          <a:ln>
            <a:noFill/>
          </a:ln>
          <a:effectLst/>
        </p:spPr>
        <p:txBody>
          <a:bodyPr rtlCol="0" anchor="ctr"/>
          <a:lstStyle/>
          <a:p/>
        </p:txBody>
      </p:sp>
      <p:sp>
        <p:nvSpPr>
          <p:cNvPr id="18" name="TextBox 17"/>
          <p:cNvSpPr txBox="1"/>
          <p:nvPr/>
        </p:nvSpPr>
        <p:spPr>
          <a:xfrm>
            <a:off x="731520" y="3584448"/>
            <a:ext cx="5172303" cy="2651760"/>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Dağıtım da etkiler</a:t>
            </a:r>
          </a:p>
          <a:p>
            <a:pPr algn="l">
              <a:spcBef>
                <a:spcPts val="0"/>
              </a:spcBef>
              <a:spcAft>
                <a:spcPts val="500"/>
              </a:spcAft>
            </a:pPr>
            <a:r>
              <a:rPr lang="tr-TR" sz="1900" b="0" i="0">
                <a:solidFill>
                  <a:srgbClr val="262626"/>
                </a:solidFill>
                <a:latin typeface="Calibri"/>
              </a:rPr>
              <a:t>Yeni üretim alanları tüketicilere yakınsa taşıma kolaylaşır.</a:t>
            </a:r>
          </a:p>
          <a:p>
            <a:pPr algn="l">
              <a:spcBef>
                <a:spcPts val="0"/>
              </a:spcBef>
              <a:spcAft>
                <a:spcPts val="0"/>
              </a:spcAft>
            </a:pPr>
            <a:r>
              <a:rPr lang="tr-TR" sz="1600" b="0" i="1">
                <a:solidFill>
                  <a:srgbClr val="767676"/>
                </a:solidFill>
                <a:latin typeface="Calibri"/>
              </a:rPr>
              <a:t>Kitap s. 178: “Ulaşımın mal ve hizmetlerin üretim, dağıtım ve tüketiminde doğrudan etkisi vardır.”</a:t>
            </a:r>
          </a:p>
        </p:txBody>
      </p:sp>
      <p:sp>
        <p:nvSpPr>
          <p:cNvPr id="19" name="Rounded Rectangle 18"/>
          <p:cNvSpPr/>
          <p:nvPr/>
        </p:nvSpPr>
        <p:spPr>
          <a:xfrm>
            <a:off x="6196431" y="3529584"/>
            <a:ext cx="5492343" cy="2761488"/>
          </a:xfrm>
          <a:prstGeom prst="roundRect">
            <a:avLst>
              <a:gd name="adj" fmla="val 6000"/>
            </a:avLst>
          </a:prstGeom>
          <a:solidFill>
            <a:srgbClr val="FFF3D1"/>
          </a:solidFill>
          <a:ln>
            <a:noFill/>
          </a:ln>
          <a:effectLst/>
        </p:spPr>
        <p:txBody>
          <a:bodyPr rtlCol="0" anchor="ctr"/>
          <a:lstStyle/>
          <a:p/>
        </p:txBody>
      </p:sp>
      <p:sp>
        <p:nvSpPr>
          <p:cNvPr id="20" name="Rectangle 19"/>
          <p:cNvSpPr/>
          <p:nvPr/>
        </p:nvSpPr>
        <p:spPr>
          <a:xfrm>
            <a:off x="6196431" y="3529584"/>
            <a:ext cx="109728" cy="2761488"/>
          </a:xfrm>
          <a:prstGeom prst="rect">
            <a:avLst/>
          </a:prstGeom>
          <a:solidFill>
            <a:srgbClr val="B85C12"/>
          </a:solidFill>
          <a:ln>
            <a:noFill/>
          </a:ln>
          <a:effectLst/>
        </p:spPr>
        <p:txBody>
          <a:bodyPr rtlCol="0" anchor="ctr"/>
          <a:lstStyle/>
          <a:p/>
        </p:txBody>
      </p:sp>
      <p:sp>
        <p:nvSpPr>
          <p:cNvPr id="21" name="TextBox 20"/>
          <p:cNvSpPr txBox="1"/>
          <p:nvPr/>
        </p:nvSpPr>
        <p:spPr>
          <a:xfrm>
            <a:off x="6425031" y="3584448"/>
            <a:ext cx="5172303" cy="2651760"/>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B85C12"/>
                </a:solidFill>
                <a:latin typeface="Calibri"/>
              </a:rPr>
              <a:t>Ama</a:t>
            </a:r>
          </a:p>
          <a:p>
            <a:pPr algn="l">
              <a:spcBef>
                <a:spcPts val="0"/>
              </a:spcBef>
              <a:spcAft>
                <a:spcPts val="0"/>
              </a:spcAft>
            </a:pPr>
            <a:r>
              <a:rPr lang="tr-TR" sz="1900" b="0" i="0">
                <a:solidFill>
                  <a:srgbClr val="262626"/>
                </a:solidFill>
                <a:latin typeface="Calibri"/>
              </a:rPr>
              <a:t>Tropikal bölgedeki büyük üreticilerde üretim azalırsa artış bunu karşılamayabilir: kahve pahalanır, tüketim azalabilir.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185 · EBA</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165 / 166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Ünitenin özeti ve öz değerlendirme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ÜNİTE SONU</a:t>
            </a:r>
          </a:p>
        </p:txBody>
      </p:sp>
      <p:sp>
        <p:nvSpPr>
          <p:cNvPr id="6" name="Rounded Rectangle 5"/>
          <p:cNvSpPr/>
          <p:nvPr/>
        </p:nvSpPr>
        <p:spPr>
          <a:xfrm>
            <a:off x="502920" y="1216152"/>
            <a:ext cx="11185855" cy="566928"/>
          </a:xfrm>
          <a:prstGeom prst="roundRect">
            <a:avLst>
              <a:gd name="adj" fmla="val 8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COĞ.9.5.1 · Doğal ve beşerî faktörlerin ekonomik faaliyetlere etkilerini sorgulayabilme</a:t>
            </a:r>
          </a:p>
        </p:txBody>
      </p:sp>
      <p:sp>
        <p:nvSpPr>
          <p:cNvPr id="7" name="Rounded Rectangle 6"/>
          <p:cNvSpPr/>
          <p:nvPr/>
        </p:nvSpPr>
        <p:spPr>
          <a:xfrm>
            <a:off x="502920" y="1901952"/>
            <a:ext cx="5478627" cy="178308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1901952"/>
            <a:ext cx="5478627" cy="530352"/>
          </a:xfrm>
          <a:prstGeom prst="roundRect">
            <a:avLst>
              <a:gd name="adj" fmla="val 25000"/>
            </a:avLst>
          </a:prstGeom>
          <a:solidFill>
            <a:srgbClr val="3E8E41"/>
          </a:solidFill>
          <a:ln>
            <a:noFill/>
          </a:ln>
          <a:effectLst/>
        </p:spPr>
        <p:txBody>
          <a:bodyPr rtlCol="0" anchor="ctr"/>
          <a:lstStyle/>
          <a:p/>
        </p:txBody>
      </p:sp>
      <p:sp>
        <p:nvSpPr>
          <p:cNvPr id="9" name="Rectangle 8"/>
          <p:cNvSpPr/>
          <p:nvPr/>
        </p:nvSpPr>
        <p:spPr>
          <a:xfrm>
            <a:off x="502920" y="2167128"/>
            <a:ext cx="5478627" cy="265176"/>
          </a:xfrm>
          <a:prstGeom prst="rect">
            <a:avLst/>
          </a:prstGeom>
          <a:solidFill>
            <a:srgbClr val="3E8E41"/>
          </a:solidFill>
          <a:ln>
            <a:noFill/>
          </a:ln>
          <a:effectLst/>
        </p:spPr>
        <p:txBody>
          <a:bodyPr rtlCol="0" anchor="ctr"/>
          <a:lstStyle/>
          <a:p/>
        </p:txBody>
      </p:sp>
      <p:sp>
        <p:nvSpPr>
          <p:cNvPr id="10" name="TextBox 9"/>
          <p:cNvSpPr txBox="1"/>
          <p:nvPr/>
        </p:nvSpPr>
        <p:spPr>
          <a:xfrm>
            <a:off x="594360" y="1901952"/>
            <a:ext cx="5295747"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Doğal faktörler (s. 174-175)</a:t>
            </a:r>
          </a:p>
        </p:txBody>
      </p:sp>
      <p:sp>
        <p:nvSpPr>
          <p:cNvPr id="11" name="TextBox 10"/>
          <p:cNvSpPr txBox="1"/>
          <p:nvPr/>
        </p:nvSpPr>
        <p:spPr>
          <a:xfrm>
            <a:off x="612648" y="2505456"/>
            <a:ext cx="5259171" cy="1106424"/>
          </a:xfrm>
          <a:prstGeom prst="rect">
            <a:avLst/>
          </a:prstGeom>
          <a:noFill/>
        </p:spPr>
        <p:txBody>
          <a:bodyPr wrap="square" anchor="t" lIns="73152" rIns="73152" tIns="36576" bIns="36576">
            <a:noAutofit/>
          </a:bodyPr>
          <a:lstStyle/>
          <a:p>
            <a:pPr algn="l" marL="229974" indent="-229974">
              <a:spcBef>
                <a:spcPts val="0"/>
              </a:spcBef>
              <a:spcAft>
                <a:spcPts val="584"/>
              </a:spcAft>
            </a:pPr>
            <a:r>
              <a:rPr lang="tr-TR" sz="1850" b="1" i="0">
                <a:solidFill>
                  <a:srgbClr val="2C6696"/>
                </a:solidFill>
                <a:latin typeface="Calibri"/>
              </a:rPr>
              <a:t>•  </a:t>
            </a:r>
            <a:r>
              <a:rPr lang="tr-TR" sz="1850" b="0" i="0">
                <a:solidFill>
                  <a:srgbClr val="262626"/>
                </a:solidFill>
                <a:latin typeface="Calibri"/>
              </a:rPr>
              <a:t>Coğrafi konum · iklim · topoğrafya</a:t>
            </a:r>
          </a:p>
          <a:p>
            <a:pPr algn="l" marL="229974" indent="-229974">
              <a:spcBef>
                <a:spcPts val="0"/>
              </a:spcBef>
              <a:spcAft>
                <a:spcPts val="584"/>
              </a:spcAft>
            </a:pPr>
            <a:r>
              <a:rPr lang="tr-TR" sz="1850" b="1" i="0">
                <a:solidFill>
                  <a:srgbClr val="2C6696"/>
                </a:solidFill>
                <a:latin typeface="Calibri"/>
              </a:rPr>
              <a:t>•  </a:t>
            </a:r>
            <a:r>
              <a:rPr lang="tr-TR" sz="1850" b="0" i="0">
                <a:solidFill>
                  <a:srgbClr val="262626"/>
                </a:solidFill>
                <a:latin typeface="Calibri"/>
              </a:rPr>
              <a:t>Su kaynakları · toprak · bitki örtüsü</a:t>
            </a:r>
          </a:p>
          <a:p>
            <a:pPr algn="l" marL="229974" indent="-229974">
              <a:spcBef>
                <a:spcPts val="0"/>
              </a:spcBef>
              <a:spcAft>
                <a:spcPts val="0"/>
              </a:spcAft>
            </a:pPr>
            <a:r>
              <a:rPr lang="tr-TR" sz="1850" b="1" i="0">
                <a:solidFill>
                  <a:srgbClr val="2C6696"/>
                </a:solidFill>
                <a:latin typeface="Calibri"/>
              </a:rPr>
              <a:t>•  </a:t>
            </a:r>
            <a:r>
              <a:rPr lang="tr-TR" sz="1850" b="0" i="0">
                <a:solidFill>
                  <a:srgbClr val="262626"/>
                </a:solidFill>
                <a:latin typeface="Calibri"/>
              </a:rPr>
              <a:t>Madenler ve enerji kaynakları</a:t>
            </a:r>
          </a:p>
        </p:txBody>
      </p:sp>
      <p:sp>
        <p:nvSpPr>
          <p:cNvPr id="12" name="Rounded Rectangle 11"/>
          <p:cNvSpPr/>
          <p:nvPr/>
        </p:nvSpPr>
        <p:spPr>
          <a:xfrm>
            <a:off x="6210147" y="1901952"/>
            <a:ext cx="5478627" cy="178308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6210147" y="1901952"/>
            <a:ext cx="5478627" cy="530352"/>
          </a:xfrm>
          <a:prstGeom prst="roundRect">
            <a:avLst>
              <a:gd name="adj" fmla="val 25000"/>
            </a:avLst>
          </a:prstGeom>
          <a:solidFill>
            <a:srgbClr val="2C6696"/>
          </a:solidFill>
          <a:ln>
            <a:noFill/>
          </a:ln>
          <a:effectLst/>
        </p:spPr>
        <p:txBody>
          <a:bodyPr rtlCol="0" anchor="ctr"/>
          <a:lstStyle/>
          <a:p/>
        </p:txBody>
      </p:sp>
      <p:sp>
        <p:nvSpPr>
          <p:cNvPr id="14" name="Rectangle 13"/>
          <p:cNvSpPr/>
          <p:nvPr/>
        </p:nvSpPr>
        <p:spPr>
          <a:xfrm>
            <a:off x="6210147" y="2167128"/>
            <a:ext cx="5478627" cy="265176"/>
          </a:xfrm>
          <a:prstGeom prst="rect">
            <a:avLst/>
          </a:prstGeom>
          <a:solidFill>
            <a:srgbClr val="2C6696"/>
          </a:solidFill>
          <a:ln>
            <a:noFill/>
          </a:ln>
          <a:effectLst/>
        </p:spPr>
        <p:txBody>
          <a:bodyPr rtlCol="0" anchor="ctr"/>
          <a:lstStyle/>
          <a:p/>
        </p:txBody>
      </p:sp>
      <p:sp>
        <p:nvSpPr>
          <p:cNvPr id="15" name="TextBox 14"/>
          <p:cNvSpPr txBox="1"/>
          <p:nvPr/>
        </p:nvSpPr>
        <p:spPr>
          <a:xfrm>
            <a:off x="6301587" y="1901952"/>
            <a:ext cx="5295747"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Beşerî faktörler (s. 177-178)</a:t>
            </a:r>
          </a:p>
        </p:txBody>
      </p:sp>
      <p:sp>
        <p:nvSpPr>
          <p:cNvPr id="16" name="TextBox 15"/>
          <p:cNvSpPr txBox="1"/>
          <p:nvPr/>
        </p:nvSpPr>
        <p:spPr>
          <a:xfrm>
            <a:off x="6319875" y="2505456"/>
            <a:ext cx="5259171" cy="1106424"/>
          </a:xfrm>
          <a:prstGeom prst="rect">
            <a:avLst/>
          </a:prstGeom>
          <a:noFill/>
        </p:spPr>
        <p:txBody>
          <a:bodyPr wrap="square" anchor="t" lIns="73152" rIns="73152" tIns="36576" bIns="36576">
            <a:noAutofit/>
          </a:bodyPr>
          <a:lstStyle/>
          <a:p>
            <a:pPr algn="l" marL="236189" indent="-236189">
              <a:spcBef>
                <a:spcPts val="0"/>
              </a:spcBef>
              <a:spcAft>
                <a:spcPts val="600"/>
              </a:spcAft>
            </a:pPr>
            <a:r>
              <a:rPr lang="tr-TR" sz="1900" b="1" i="0">
                <a:solidFill>
                  <a:srgbClr val="2C6696"/>
                </a:solidFill>
                <a:latin typeface="Calibri"/>
              </a:rPr>
              <a:t>•  </a:t>
            </a:r>
            <a:r>
              <a:rPr lang="tr-TR" sz="1900" b="0" i="0">
                <a:solidFill>
                  <a:srgbClr val="262626"/>
                </a:solidFill>
                <a:latin typeface="Calibri"/>
              </a:rPr>
              <a:t>Nüfus · iş gücü · sermaye</a:t>
            </a:r>
          </a:p>
          <a:p>
            <a:pPr algn="l" marL="236189" indent="-236189">
              <a:spcBef>
                <a:spcPts val="0"/>
              </a:spcBef>
              <a:spcAft>
                <a:spcPts val="0"/>
              </a:spcAft>
            </a:pPr>
            <a:r>
              <a:rPr lang="tr-TR" sz="1900" b="1" i="0">
                <a:solidFill>
                  <a:srgbClr val="2C6696"/>
                </a:solidFill>
                <a:latin typeface="Calibri"/>
              </a:rPr>
              <a:t>•  </a:t>
            </a:r>
            <a:r>
              <a:rPr lang="tr-TR" sz="1900" b="0" i="0">
                <a:solidFill>
                  <a:srgbClr val="262626"/>
                </a:solidFill>
                <a:latin typeface="Calibri"/>
              </a:rPr>
              <a:t>Devlet politikaları · teknoloji · ulaşım</a:t>
            </a:r>
          </a:p>
        </p:txBody>
      </p:sp>
      <p:sp>
        <p:nvSpPr>
          <p:cNvPr id="17" name="Rounded Rectangle 16"/>
          <p:cNvSpPr/>
          <p:nvPr/>
        </p:nvSpPr>
        <p:spPr>
          <a:xfrm>
            <a:off x="502920" y="3822192"/>
            <a:ext cx="11185855" cy="77724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1900" b="0" i="0">
                <a:solidFill>
                  <a:srgbClr val="262626"/>
                </a:solidFill>
                <a:latin typeface="Calibri"/>
              </a:rPr>
              <a:t>Çay örneğinde — doğal: nem ve yağış, kireçsiz toprak, sıcaklık, enlem, yükselti · beşerî: iş gücü, işleme fabrikaları, ulaşım</a:t>
            </a:r>
          </a:p>
        </p:txBody>
      </p:sp>
      <p:sp>
        <p:nvSpPr>
          <p:cNvPr id="18" name="Rounded Rectangle 17"/>
          <p:cNvSpPr/>
          <p:nvPr/>
        </p:nvSpPr>
        <p:spPr>
          <a:xfrm>
            <a:off x="502920" y="4736592"/>
            <a:ext cx="3606698" cy="1554480"/>
          </a:xfrm>
          <a:prstGeom prst="roundRect">
            <a:avLst>
              <a:gd name="adj" fmla="val 8000"/>
            </a:avLst>
          </a:prstGeom>
          <a:solidFill>
            <a:srgbClr val="FFF3D1"/>
          </a:solidFill>
          <a:ln>
            <a:noFill/>
          </a:ln>
          <a:effectLst/>
        </p:spPr>
        <p:txBody>
          <a:bodyPr rtlCol="0" anchor="ctr"/>
          <a:lstStyle/>
          <a:p/>
        </p:txBody>
      </p:sp>
      <p:sp>
        <p:nvSpPr>
          <p:cNvPr id="19" name="Oval 18"/>
          <p:cNvSpPr/>
          <p:nvPr/>
        </p:nvSpPr>
        <p:spPr>
          <a:xfrm>
            <a:off x="612648" y="4846320"/>
            <a:ext cx="411480" cy="4114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1</a:t>
            </a:r>
          </a:p>
        </p:txBody>
      </p:sp>
      <p:sp>
        <p:nvSpPr>
          <p:cNvPr id="20" name="TextBox 19"/>
          <p:cNvSpPr txBox="1"/>
          <p:nvPr/>
        </p:nvSpPr>
        <p:spPr>
          <a:xfrm>
            <a:off x="1097280" y="4782312"/>
            <a:ext cx="2920898" cy="146304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Doğal ve beşerî faktörleri birer örnekle açıklayabiliyor muyum?</a:t>
            </a:r>
          </a:p>
        </p:txBody>
      </p:sp>
      <p:sp>
        <p:nvSpPr>
          <p:cNvPr id="21" name="Rounded Rectangle 20"/>
          <p:cNvSpPr/>
          <p:nvPr/>
        </p:nvSpPr>
        <p:spPr>
          <a:xfrm>
            <a:off x="4292498" y="4736592"/>
            <a:ext cx="3606698" cy="1554480"/>
          </a:xfrm>
          <a:prstGeom prst="roundRect">
            <a:avLst>
              <a:gd name="adj" fmla="val 8000"/>
            </a:avLst>
          </a:prstGeom>
          <a:solidFill>
            <a:srgbClr val="FFF3D1"/>
          </a:solidFill>
          <a:ln>
            <a:noFill/>
          </a:ln>
          <a:effectLst/>
        </p:spPr>
        <p:txBody>
          <a:bodyPr rtlCol="0" anchor="ctr"/>
          <a:lstStyle/>
          <a:p/>
        </p:txBody>
      </p:sp>
      <p:sp>
        <p:nvSpPr>
          <p:cNvPr id="22" name="Oval 21"/>
          <p:cNvSpPr/>
          <p:nvPr/>
        </p:nvSpPr>
        <p:spPr>
          <a:xfrm>
            <a:off x="4402226" y="4846320"/>
            <a:ext cx="411480" cy="4114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2</a:t>
            </a:r>
          </a:p>
        </p:txBody>
      </p:sp>
      <p:sp>
        <p:nvSpPr>
          <p:cNvPr id="23" name="TextBox 22"/>
          <p:cNvSpPr txBox="1"/>
          <p:nvPr/>
        </p:nvSpPr>
        <p:spPr>
          <a:xfrm>
            <a:off x="4886858" y="4782312"/>
            <a:ext cx="2920898" cy="146304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Bir ürünün nerede üretildiğini bu faktörlerle sorgulayabiliyor muyum?</a:t>
            </a:r>
          </a:p>
        </p:txBody>
      </p:sp>
      <p:sp>
        <p:nvSpPr>
          <p:cNvPr id="24" name="Rounded Rectangle 23"/>
          <p:cNvSpPr/>
          <p:nvPr/>
        </p:nvSpPr>
        <p:spPr>
          <a:xfrm>
            <a:off x="8082076" y="4736592"/>
            <a:ext cx="3606698" cy="1554480"/>
          </a:xfrm>
          <a:prstGeom prst="roundRect">
            <a:avLst>
              <a:gd name="adj" fmla="val 8000"/>
            </a:avLst>
          </a:prstGeom>
          <a:solidFill>
            <a:srgbClr val="FFF3D1"/>
          </a:solidFill>
          <a:ln>
            <a:noFill/>
          </a:ln>
          <a:effectLst/>
        </p:spPr>
        <p:txBody>
          <a:bodyPr rtlCol="0" anchor="ctr"/>
          <a:lstStyle/>
          <a:p/>
        </p:txBody>
      </p:sp>
      <p:sp>
        <p:nvSpPr>
          <p:cNvPr id="25" name="Oval 24"/>
          <p:cNvSpPr/>
          <p:nvPr/>
        </p:nvSpPr>
        <p:spPr>
          <a:xfrm>
            <a:off x="8191804" y="4846320"/>
            <a:ext cx="411480" cy="4114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3</a:t>
            </a:r>
          </a:p>
        </p:txBody>
      </p:sp>
      <p:sp>
        <p:nvSpPr>
          <p:cNvPr id="26" name="TextBox 25"/>
          <p:cNvSpPr txBox="1"/>
          <p:nvPr/>
        </p:nvSpPr>
        <p:spPr>
          <a:xfrm>
            <a:off x="8676436" y="4782312"/>
            <a:ext cx="2920898" cy="146304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Hangi soruda zorlandım, neyi tekrar etmeliyim?</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174-178</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166 / 166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500" b="1" i="0">
                <a:solidFill>
                  <a:srgbClr val="262626"/>
                </a:solidFill>
                <a:latin typeface="Calibri"/>
              </a:rPr>
              <a:t>Öğretim programı ve etkinlikler.</a:t>
            </a:r>
            <a:r>
              <a:rPr lang="tr-TR" sz="1500" b="0" i="0">
                <a:solidFill>
                  <a:srgbClr val="262626"/>
                </a:solidFill>
                <a:latin typeface="Calibri"/>
              </a:rPr>
              <a:t> Coğrafya dersi öğretim programı (2026 nüshası): Talim ve Terbiye Kurulunun 23.05.2024 tarihli ve 20 sayılı kararıyla kabul edilen, 13.05.2026 tarihli ve 53 sayılı kararıyla güncellenen program. Etkinliklerin bir bölümü MEB Ortaöğretim Genel Müdürlüğünün OGM Materyal platformundaki etkileşimli etkinliklerle paralel kurulmuştur. Bazı görseller ve sorular ders kitabının karekod içeriklerinden (EBA: ölçme araçları, tema sonu soruları, harita ve bilgi görselleri) alınmıştır.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Haklar ve lisans.</a:t>
            </a:r>
            <a:r>
              <a:rPr lang="tr-TR" sz="1650" b="0" i="0">
                <a:solidFill>
                  <a:srgbClr val="262626"/>
                </a:solidFill>
                <a:latin typeface="Calibri"/>
              </a:rPr>
              <a:t> Ders kitabından, kitabın karekod içeriklerinden (EBA)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GNL-COG9-SN-U5 — Ünite sonu · Ünite sonu ölçme ve değerlendirme (slayt 124-166)</dc:title>
  <dc:subject>9. Sınıf Coğrafya ders sunumu. Kaynak: Coğrafya 9. Sınıf Ders Kitabı (MEB, 2026-2027 baskısı) ve 2026 öğretim programı. okulapp.org/cografya</dc:subject>
  <dc:creator>okulapp.org</dc:creator>
  <cp:keywords/>
  <dc:description>Kitaptan, karekod içeriklerinden (EBA)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